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2" r:id="rId7"/>
    <p:sldId id="273" r:id="rId8"/>
    <p:sldId id="274" r:id="rId9"/>
    <p:sldId id="275" r:id="rId10"/>
    <p:sldId id="299" r:id="rId11"/>
    <p:sldId id="276" r:id="rId12"/>
    <p:sldId id="277" r:id="rId13"/>
    <p:sldId id="278" r:id="rId14"/>
    <p:sldId id="271" r:id="rId15"/>
    <p:sldId id="301" r:id="rId16"/>
    <p:sldId id="297" r:id="rId17"/>
    <p:sldId id="303" r:id="rId18"/>
    <p:sldId id="298" r:id="rId19"/>
    <p:sldId id="305" r:id="rId20"/>
    <p:sldId id="302" r:id="rId21"/>
    <p:sldId id="30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/21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sr-Latn-R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>
                <a:solidFill>
                  <a:schemeClr val="bg1">
                    <a:lumMod val="50000"/>
                  </a:schemeClr>
                </a:solidFill>
              </a:rPr>
              <a:t>Spring Boot </a:t>
            </a:r>
          </a:p>
          <a:p>
            <a:r>
              <a:rPr lang="sr-Latn-RS">
                <a:solidFill>
                  <a:schemeClr val="bg1">
                    <a:lumMod val="50000"/>
                  </a:schemeClr>
                </a:solidFill>
              </a:rPr>
              <a:t>REST Controllers &amp; Services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90BC6-1755-EE2A-C1CA-A9DAEDFDF6A2}"/>
              </a:ext>
            </a:extLst>
          </p:cNvPr>
          <p:cNvSpPr txBox="1"/>
          <p:nvPr/>
        </p:nvSpPr>
        <p:spPr>
          <a:xfrm>
            <a:off x="4416552" y="576072"/>
            <a:ext cx="4123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/>
              <a:t>SECONS projekat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5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3E9E091A-F9E0-7C08-3CEC-E77068C6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Uvod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986ECE6F-2D5E-DE6E-96CE-2EFF98420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9372600" cy="499745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sr-Latn-RS" altLang="sr-Latn-RS"/>
              <a:t>Kako frontend aplikacija komunicira sa backend-om?</a:t>
            </a:r>
          </a:p>
          <a:p>
            <a:pPr lvl="1"/>
            <a:r>
              <a:rPr lang="sr-Latn-RS" altLang="sr-Latn-RS"/>
              <a:t>Jedan način – preko REST poziva</a:t>
            </a:r>
          </a:p>
          <a:p>
            <a:pPr lvl="1" eaLnBrk="1" hangingPunct="1"/>
            <a:r>
              <a:rPr lang="sr-Latn-RS" altLang="sr-Latn-RS"/>
              <a:t>REpresentational State Transfer</a:t>
            </a:r>
          </a:p>
          <a:p>
            <a:pPr lvl="1" eaLnBrk="1" hangingPunct="1"/>
            <a:r>
              <a:rPr lang="sr-Latn-RS" altLang="sr-Latn-RS"/>
              <a:t>JavaScript kôd upućuje HTTP zahtev ka backendu</a:t>
            </a:r>
          </a:p>
          <a:p>
            <a:pPr lvl="2"/>
            <a:r>
              <a:rPr lang="sr-Latn-RS" altLang="sr-Latn-RS"/>
              <a:t>Sačeka HTTP odgovor i iskoristi ga</a:t>
            </a:r>
          </a:p>
          <a:p>
            <a:pPr eaLnBrk="1" hangingPunct="1"/>
            <a:r>
              <a:rPr lang="sr-Latn-RS" altLang="sr-Latn-RS"/>
              <a:t>Karakteristike</a:t>
            </a:r>
          </a:p>
          <a:p>
            <a:pPr lvl="1" eaLnBrk="1" hangingPunct="1"/>
            <a:r>
              <a:rPr lang="sr-Latn-RS" altLang="sr-Latn-RS"/>
              <a:t>Na backendu pišemo serverski kôd sa kojim će komunicirati klijenti (frontend aplikacije, mobilne aplikacije, drugi sistemi,…)</a:t>
            </a:r>
          </a:p>
          <a:p>
            <a:pPr lvl="1" eaLnBrk="1" hangingPunct="1"/>
            <a:r>
              <a:rPr lang="sr-Latn-RS" altLang="sr-Latn-RS"/>
              <a:t>Serverski kôd nisu servleti, već obične Java klase označene specijalnim anotacijama</a:t>
            </a:r>
          </a:p>
          <a:p>
            <a:pPr lvl="1" eaLnBrk="1" hangingPunct="1"/>
            <a:r>
              <a:rPr lang="sr-Latn-RS" altLang="sr-Latn-RS"/>
              <a:t>Poziv serverskom kodu je iniciran HTTP zahtevom</a:t>
            </a:r>
          </a:p>
          <a:p>
            <a:pPr lvl="2" eaLnBrk="1" hangingPunct="1"/>
            <a:r>
              <a:rPr lang="sr-Latn-RS" altLang="sr-Latn-RS"/>
              <a:t>GET, POST [, PUT, DELETE]</a:t>
            </a:r>
          </a:p>
          <a:p>
            <a:pPr lvl="1" eaLnBrk="1" hangingPunct="1"/>
            <a:r>
              <a:rPr lang="sr-Latn-RS" altLang="sr-Latn-RS"/>
              <a:t>Putanja u prvom redu zahteva identifikuje serversku klasu,  metodu i parametre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819470C-E814-105F-97C7-7165295D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Učesnici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347AB-A842-8AC4-ADA8-94D0F8F87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sr-Latn-RS"/>
              <a:t>REST server</a:t>
            </a:r>
          </a:p>
          <a:p>
            <a:pPr lvl="1">
              <a:defRPr/>
            </a:pPr>
            <a:r>
              <a:rPr lang="sr-Latn-RS"/>
              <a:t>sve na serveru je resurs (metode, parametri, povratne vrednosti)</a:t>
            </a:r>
          </a:p>
          <a:p>
            <a:pPr lvl="1">
              <a:defRPr/>
            </a:pPr>
            <a:r>
              <a:rPr lang="sr-Latn-RS"/>
              <a:t>metode se pozvaju kroz HTTP protokol</a:t>
            </a:r>
          </a:p>
          <a:p>
            <a:pPr>
              <a:defRPr/>
            </a:pPr>
            <a:r>
              <a:rPr lang="sr-Latn-RS"/>
              <a:t>REST klijent</a:t>
            </a:r>
          </a:p>
          <a:p>
            <a:pPr lvl="1">
              <a:defRPr/>
            </a:pPr>
            <a:r>
              <a:rPr lang="sr-Latn-RS"/>
              <a:t>šalje HTTP zahtev, čime ili dobavlja resurs od servera, ili ga modifikuje/dodaje/briše</a:t>
            </a:r>
          </a:p>
          <a:p>
            <a:pPr>
              <a:defRPr/>
            </a:pPr>
            <a:r>
              <a:rPr lang="sr-Latn-RS"/>
              <a:t>Medijum za prenos podataka je:</a:t>
            </a:r>
          </a:p>
          <a:p>
            <a:pPr lvl="1">
              <a:defRPr/>
            </a:pPr>
            <a:r>
              <a:rPr lang="sr-Latn-RS"/>
              <a:t>tekst (parametri u zahtevu)</a:t>
            </a:r>
          </a:p>
          <a:p>
            <a:pPr lvl="1">
              <a:defRPr/>
            </a:pPr>
            <a:r>
              <a:rPr lang="sr-Latn-RS"/>
              <a:t>XML</a:t>
            </a:r>
          </a:p>
          <a:p>
            <a:pPr lvl="1">
              <a:defRPr/>
            </a:pPr>
            <a:r>
              <a:rPr lang="sr-Latn-RS"/>
              <a:t>JSON</a:t>
            </a:r>
          </a:p>
          <a:p>
            <a:pPr lvl="1">
              <a:defRPr/>
            </a:pPr>
            <a:endParaRPr lang="sr-Latn-R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CEA9E278-E4F5-1E73-BBA6-9088FEF6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HTTP metode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24F6C3F3-E798-C446-AA95-7FC51AC81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9372600" cy="5068888"/>
          </a:xfrm>
        </p:spPr>
        <p:txBody>
          <a:bodyPr/>
          <a:lstStyle/>
          <a:p>
            <a:pPr eaLnBrk="1" hangingPunct="1">
              <a:defRPr/>
            </a:pPr>
            <a:r>
              <a:rPr lang="sr-Latn-RS" altLang="sr-Latn-RS"/>
              <a:t>GET – definiše pristup resursu (čitanje)</a:t>
            </a:r>
          </a:p>
          <a:p>
            <a:pPr lvl="1" eaLnBrk="1" hangingPunct="1">
              <a:defRPr/>
            </a:pPr>
            <a:r>
              <a:rPr lang="sr-Latn-RS" altLang="sr-Latn-RS"/>
              <a:t>resurs se ne menja dobavljanjem</a:t>
            </a:r>
          </a:p>
          <a:p>
            <a:pPr eaLnBrk="1" hangingPunct="1">
              <a:defRPr/>
            </a:pPr>
            <a:r>
              <a:rPr lang="sr-Latn-RS" altLang="sr-Latn-RS"/>
              <a:t>POST – kreira novi resurs</a:t>
            </a:r>
          </a:p>
          <a:p>
            <a:pPr eaLnBrk="1" hangingPunct="1">
              <a:defRPr/>
            </a:pPr>
            <a:r>
              <a:rPr lang="sr-Latn-RS" altLang="sr-Latn-RS"/>
              <a:t>PUT – ažurira postojeći resurs</a:t>
            </a:r>
          </a:p>
          <a:p>
            <a:pPr eaLnBrk="1" hangingPunct="1">
              <a:defRPr/>
            </a:pPr>
            <a:r>
              <a:rPr lang="sr-Latn-RS" altLang="sr-Latn-RS"/>
              <a:t>DELETE – briše postojeći resurs</a:t>
            </a:r>
          </a:p>
          <a:p>
            <a:pPr eaLnBrk="1" hangingPunct="1">
              <a:defRPr/>
            </a:pPr>
            <a:r>
              <a:rPr lang="sr-Latn-RS" altLang="sr-Latn-RS"/>
              <a:t>Uobičajen format zahteva:</a:t>
            </a:r>
          </a:p>
          <a:p>
            <a:pPr marL="457200" lvl="1" indent="0">
              <a:buNone/>
              <a:defRPr/>
            </a:pPr>
            <a:r>
              <a:rPr lang="sr-Latn-RS" altLang="sr-Latn-RS"/>
              <a:t>GET /api/v1/house HTTP/1.1</a:t>
            </a:r>
          </a:p>
          <a:p>
            <a:pPr marL="457200" lvl="1" indent="0">
              <a:buNone/>
              <a:defRPr/>
            </a:pPr>
            <a:r>
              <a:rPr lang="sr-Latn-RS" altLang="sr-Latn-RS"/>
              <a:t>GET /api/v1/house/1 HTTP/1.1</a:t>
            </a:r>
          </a:p>
          <a:p>
            <a:pPr marL="457200" lvl="1" indent="0">
              <a:buNone/>
              <a:defRPr/>
            </a:pPr>
            <a:endParaRPr lang="sr-Latn-RS" altLang="sr-Latn-RS"/>
          </a:p>
          <a:p>
            <a:pPr eaLnBrk="1" hangingPunct="1">
              <a:defRPr/>
            </a:pPr>
            <a:endParaRPr lang="sr-Latn-R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Web/REST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/>
              <a:t>Mi ćemo se fokusirati na REST</a:t>
            </a:r>
          </a:p>
          <a:p>
            <a:r>
              <a:rPr lang="sr-Latn-RS"/>
              <a:t>Osim REST podrške, potrebno nam je da obezbedimo podrazumevanu datoteku (index.html), kao i statičke resurse (.html, .js, .css, slike, itd.)</a:t>
            </a:r>
          </a:p>
          <a:p>
            <a:pPr lvl="1"/>
            <a:r>
              <a:rPr lang="sr-Latn-RS"/>
              <a:t>podrazumevana datoteka se podešava u klasičnom Spring MVC kontroleru</a:t>
            </a:r>
          </a:p>
          <a:p>
            <a:pPr lvl="1"/>
            <a:r>
              <a:rPr lang="sr-Latn-RS"/>
              <a:t>statički resursi se smeštaju u odgovarajući folder unutar Spring Boot projekta (/src/main/resources/static/)</a:t>
            </a:r>
          </a:p>
          <a:p>
            <a:pPr lvl="1"/>
            <a:r>
              <a:rPr lang="sr-Latn-RS"/>
              <a:t>ostaje nam posle svega ovoga samo da definišemo REST endpoint-e.</a:t>
            </a:r>
          </a:p>
        </p:txBody>
      </p:sp>
    </p:spTree>
    <p:extLst>
      <p:ext uri="{BB962C8B-B14F-4D97-AF65-F5344CB8AC3E}">
        <p14:creationId xmlns:p14="http://schemas.microsoft.com/office/powerpoint/2010/main" val="181695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9372600" cy="4893732"/>
          </a:xfrm>
        </p:spPr>
        <p:txBody>
          <a:bodyPr>
            <a:noAutofit/>
          </a:bodyPr>
          <a:lstStyle/>
          <a:p>
            <a:r>
              <a:rPr lang="sr-Latn-RS"/>
              <a:t>REST endpoint-i su Java klase i metode, označene specifičnim anotacijama.</a:t>
            </a:r>
          </a:p>
          <a:p>
            <a:r>
              <a:rPr lang="sr-Latn-RS"/>
              <a:t>REST endpoint-i se još zovu i REST kontroleri</a:t>
            </a:r>
          </a:p>
          <a:p>
            <a:r>
              <a:rPr lang="sr-Latn-RS"/>
              <a:t>Dakle, pišemo Java klase i metode, koje "gađamo" HTTP zahtevima</a:t>
            </a:r>
          </a:p>
          <a:p>
            <a:r>
              <a:rPr lang="sr-Latn-RS"/>
              <a:t>Bitno je da anotacijama označimo:</a:t>
            </a:r>
          </a:p>
          <a:p>
            <a:pPr lvl="1"/>
            <a:r>
              <a:rPr lang="sr-Latn-RS"/>
              <a:t>Kako se identifikuje klasa i metoda</a:t>
            </a:r>
          </a:p>
          <a:p>
            <a:pPr lvl="1"/>
            <a:r>
              <a:rPr lang="sr-Latn-RS"/>
              <a:t>Kojom metodom HTTP zahteva se "gađa" metoda (GET, POST, PUT, …)</a:t>
            </a:r>
          </a:p>
          <a:p>
            <a:pPr lvl="1"/>
            <a:r>
              <a:rPr lang="sr-Latn-RS"/>
              <a:t>Kako se parametri metoda mapiraju na HTTP zahtev</a:t>
            </a:r>
          </a:p>
          <a:p>
            <a:pPr lvl="1"/>
            <a:r>
              <a:rPr lang="sr-Latn-RS"/>
              <a:t>Kako će se konvertovati rezultat rada metode u HTTP odgovor</a:t>
            </a:r>
          </a:p>
        </p:txBody>
      </p:sp>
    </p:spTree>
    <p:extLst>
      <p:ext uri="{BB962C8B-B14F-4D97-AF65-F5344CB8AC3E}">
        <p14:creationId xmlns:p14="http://schemas.microsoft.com/office/powerpoint/2010/main" val="139079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/>
              <a:t>REST se u Spring Boot tehnologiji realizuje POJO Java klasama koje su anotirane @</a:t>
            </a:r>
            <a:r>
              <a:rPr lang="sr-Latn-RS" b="1"/>
              <a:t>RestController</a:t>
            </a:r>
            <a:r>
              <a:rPr lang="sr-Latn-RS"/>
              <a:t> anotacijom.</a:t>
            </a:r>
          </a:p>
          <a:p>
            <a:r>
              <a:rPr lang="sr-Latn-RS"/>
              <a:t>Svaka metoda u kontroleru se anotira @</a:t>
            </a:r>
            <a:r>
              <a:rPr lang="sr-Latn-RS" b="1"/>
              <a:t>RequestMapping</a:t>
            </a:r>
            <a:r>
              <a:rPr lang="sr-Latn-RS"/>
              <a:t> anotacijom, čime se definiše:</a:t>
            </a:r>
          </a:p>
          <a:p>
            <a:pPr lvl="1"/>
            <a:r>
              <a:rPr lang="sr-Latn-RS"/>
              <a:t>kako se parametri prenose,</a:t>
            </a:r>
          </a:p>
          <a:p>
            <a:pPr lvl="1"/>
            <a:r>
              <a:rPr lang="sr-Latn-RS"/>
              <a:t>kojom metodom iz HTTP zahteva se aktivira,</a:t>
            </a:r>
          </a:p>
          <a:p>
            <a:pPr lvl="1"/>
            <a:r>
              <a:rPr lang="sr-Latn-RS"/>
              <a:t>kako se povratna vrednost mapira u HTTP odgovor.</a:t>
            </a:r>
          </a:p>
          <a:p>
            <a:r>
              <a:rPr lang="sr-Latn-RS"/>
              <a:t>Alternativno imamo: @</a:t>
            </a:r>
            <a:r>
              <a:rPr lang="sr-Latn-RS" b="1"/>
              <a:t>GetMapping</a:t>
            </a:r>
            <a:r>
              <a:rPr lang="sr-Latn-RS"/>
              <a:t>, @</a:t>
            </a:r>
            <a:r>
              <a:rPr lang="sr-Latn-RS" b="1"/>
              <a:t>PostMapping</a:t>
            </a:r>
            <a:r>
              <a:rPr lang="sr-Latn-RS"/>
              <a:t>, @</a:t>
            </a:r>
            <a:r>
              <a:rPr lang="sr-Latn-RS" b="1"/>
              <a:t>PutMapping</a:t>
            </a:r>
            <a:r>
              <a:rPr lang="sr-Latn-RS"/>
              <a:t>, itd.</a:t>
            </a:r>
          </a:p>
        </p:txBody>
      </p:sp>
    </p:spTree>
    <p:extLst>
      <p:ext uri="{BB962C8B-B14F-4D97-AF65-F5344CB8AC3E}">
        <p14:creationId xmlns:p14="http://schemas.microsoft.com/office/powerpoint/2010/main" val="15098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@RestController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CrudController {</a:t>
            </a:r>
          </a:p>
          <a:p>
            <a:pPr marL="0" indent="0">
              <a:buNone/>
            </a:pP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@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RequestMapping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(value = "/rest/test", 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method = RequestMethod.</a:t>
            </a:r>
            <a:r>
              <a:rPr 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GET)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String hello()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return "Spring Boot Works.";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  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393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Prenos parametara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10943167" cy="4525963"/>
          </a:xfrm>
        </p:spPr>
        <p:txBody>
          <a:bodyPr>
            <a:normAutofit/>
          </a:bodyPr>
          <a:lstStyle/>
          <a:p>
            <a:r>
              <a:rPr lang="sr-Latn-RS"/>
              <a:t>Preko putanje (@</a:t>
            </a:r>
            <a:r>
              <a:rPr lang="sr-Latn-RS" b="1"/>
              <a:t>PathVariable</a:t>
            </a:r>
            <a:r>
              <a:rPr lang="sr-Latn-RS"/>
              <a:t> anotacija):</a:t>
            </a:r>
          </a:p>
          <a:p>
            <a:pPr marL="0" indent="0">
              <a:buNone/>
            </a:pP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RequestMapping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value = "/rest/findByImeAndPrezime/{ime}/{prezime}", 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method = RequestMethod.</a:t>
            </a:r>
            <a:r>
              <a:rPr 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GET)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List&lt;Student&gt; getStudents(@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PathVariable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String ime, @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PathVariable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String prezime)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return srv.getStudentsByImeAndPrezime(ime, prezime);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GET /rest/findByImeAndPrezime/pera/peric HTTP/1.1</a:t>
            </a:r>
          </a:p>
        </p:txBody>
      </p:sp>
    </p:spTree>
    <p:extLst>
      <p:ext uri="{BB962C8B-B14F-4D97-AF65-F5344CB8AC3E}">
        <p14:creationId xmlns:p14="http://schemas.microsoft.com/office/powerpoint/2010/main" val="242040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Prenos parametara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9722296" cy="4525963"/>
          </a:xfrm>
        </p:spPr>
        <p:txBody>
          <a:bodyPr>
            <a:normAutofit/>
          </a:bodyPr>
          <a:lstStyle/>
          <a:p>
            <a:r>
              <a:rPr lang="sr-Latn-RS"/>
              <a:t>Preko putanje (@</a:t>
            </a:r>
            <a:r>
              <a:rPr lang="sr-Latn-RS" b="1"/>
              <a:t>PathVariable</a:t>
            </a:r>
            <a:r>
              <a:rPr lang="sr-Latn-RS"/>
              <a:t> anotacija):</a:t>
            </a:r>
          </a:p>
          <a:p>
            <a:pPr marL="0" indent="0">
              <a:buNone/>
            </a:pPr>
            <a:endParaRPr lang="sr-Latn-RS" sz="2000" b="1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@GetMapping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("/rest/findByImeAndPrezime/{ime}/{prezime}")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List&lt;Student&gt; getStudents(@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PathVariable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String ime, @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PathVariable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String prezime)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return srv.getStudentsByImeAndPrezime(ime, prezime);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GET /rest/findByImeAndPrezime/pera/peric HTTP/1.1</a:t>
            </a:r>
          </a:p>
        </p:txBody>
      </p:sp>
    </p:spTree>
    <p:extLst>
      <p:ext uri="{BB962C8B-B14F-4D97-AF65-F5344CB8AC3E}">
        <p14:creationId xmlns:p14="http://schemas.microsoft.com/office/powerpoint/2010/main" val="335193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Prenos parametara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11065933" cy="4525963"/>
          </a:xfrm>
        </p:spPr>
        <p:txBody>
          <a:bodyPr>
            <a:normAutofit lnSpcReduction="10000"/>
          </a:bodyPr>
          <a:lstStyle/>
          <a:p>
            <a:r>
              <a:rPr lang="sr-Latn-RS"/>
              <a:t>Preko parametara forme u URL-u (@</a:t>
            </a:r>
            <a:r>
              <a:rPr lang="sr-Latn-RS" b="1"/>
              <a:t>RequestParam</a:t>
            </a:r>
            <a:r>
              <a:rPr lang="sr-Latn-RS"/>
              <a:t> anotacija):</a:t>
            </a:r>
          </a:p>
          <a:p>
            <a:pPr marL="0" indent="0">
              <a:buNone/>
            </a:pPr>
            <a:endParaRPr 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GetMapping</a:t>
            </a: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("/rest/findByAgeBetween")</a:t>
            </a:r>
            <a:endParaRPr lang="sr-Latn-RS" sz="2400" b="1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List&lt;Student&gt; findByDatumRodjenjaBetween(</a:t>
            </a:r>
          </a:p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@RequestParam("begin") </a:t>
            </a: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@RequestParam("end") </a:t>
            </a: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return findByAgeBetween(begin, end);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GET /rest/findByAgeBetween?</a:t>
            </a:r>
            <a:r>
              <a:rPr 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=25&amp;</a:t>
            </a:r>
            <a:r>
              <a:rPr 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=30 HTTP/1.1</a:t>
            </a:r>
          </a:p>
        </p:txBody>
      </p:sp>
    </p:spTree>
    <p:extLst>
      <p:ext uri="{BB962C8B-B14F-4D97-AF65-F5344CB8AC3E}">
        <p14:creationId xmlns:p14="http://schemas.microsoft.com/office/powerpoint/2010/main" val="309454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Prenos parametara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15133" cy="4351338"/>
          </a:xfrm>
        </p:spPr>
        <p:txBody>
          <a:bodyPr>
            <a:normAutofit/>
          </a:bodyPr>
          <a:lstStyle/>
          <a:p>
            <a:r>
              <a:rPr lang="sr-Latn-RS"/>
              <a:t>Kao JSON string u telu POST zahteva:</a:t>
            </a:r>
          </a:p>
          <a:p>
            <a:pPr marL="0" indent="0">
              <a:buNone/>
            </a:pPr>
            <a:endParaRPr lang="sr-Latn-RS" sz="2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600" b="1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sr-Latn-RS" sz="2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PostMapping</a:t>
            </a:r>
            <a:r>
              <a:rPr lang="sr-Latn-RS" sz="2600" b="1">
                <a:latin typeface="Courier New" panose="02070309020205020404" pitchFamily="49" charset="0"/>
                <a:cs typeface="Courier New" panose="02070309020205020404" pitchFamily="49" charset="0"/>
              </a:rPr>
              <a:t>("/rest/updateStudent")</a:t>
            </a:r>
          </a:p>
          <a:p>
            <a:pPr marL="0" indent="0">
              <a:buNone/>
            </a:pPr>
            <a:r>
              <a:rPr lang="en-US" sz="2600" b="1">
                <a:latin typeface="Courier New" panose="02070309020205020404" pitchFamily="49" charset="0"/>
                <a:cs typeface="Courier New" panose="02070309020205020404" pitchFamily="49" charset="0"/>
              </a:rPr>
              <a:t>public Student updateStudent(@</a:t>
            </a:r>
            <a:r>
              <a:rPr lang="en-US" sz="2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RequestBody</a:t>
            </a:r>
            <a:r>
              <a:rPr lang="en-US" sz="2600" b="1">
                <a:latin typeface="Courier New" panose="02070309020205020404" pitchFamily="49" charset="0"/>
                <a:cs typeface="Courier New" panose="02070309020205020404" pitchFamily="49" charset="0"/>
              </a:rPr>
              <a:t> Student s) {</a:t>
            </a:r>
          </a:p>
          <a:p>
            <a:pPr marL="0" indent="0">
              <a:buNone/>
            </a:pPr>
            <a:r>
              <a:rPr lang="sr-Latn-RS" sz="2600" b="1">
                <a:latin typeface="Courier New" panose="02070309020205020404" pitchFamily="49" charset="0"/>
                <a:cs typeface="Courier New" panose="02070309020205020404" pitchFamily="49" charset="0"/>
              </a:rPr>
              <a:t>  s = srv.save(s);</a:t>
            </a:r>
          </a:p>
          <a:p>
            <a:pPr marL="0" indent="0">
              <a:buNone/>
            </a:pPr>
            <a:r>
              <a:rPr lang="sr-Latn-RS" sz="2600" b="1"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None/>
            </a:pPr>
            <a:r>
              <a:rPr lang="sr-Latn-RS" sz="2600" b="1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33456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Injektovani parametri metoda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>
            <a:normAutofit/>
          </a:bodyPr>
          <a:lstStyle/>
          <a:p>
            <a:r>
              <a:rPr lang="sr-Latn-RS"/>
              <a:t>Atributi HTTP zaglavlja: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String readRequestHeader(@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RequestHeader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(value="User-Agent")</a:t>
            </a:r>
            <a:b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String userAgent) {...}</a:t>
            </a:r>
            <a:endParaRPr lang="sr-Latn-R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sr-Latn-RS"/>
              <a:t>HTTP zahtev i/ili odgovor:</a:t>
            </a:r>
          </a:p>
          <a:p>
            <a:pPr marL="0" indent="0">
              <a:buNone/>
            </a:pPr>
            <a:r>
              <a:rPr lang="sr-Latn-RS" sz="2000" b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User logout(</a:t>
            </a:r>
            <a:br>
              <a:rPr lang="sr-Latn-RS" sz="2000" b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HttpServletRequest</a:t>
            </a:r>
            <a:r>
              <a:rPr lang="sr-Latn-RS" sz="2000" b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request, 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HttpServletResponse</a:t>
            </a:r>
            <a:r>
              <a:rPr lang="sr-Latn-RS" sz="2000" b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response) {...}</a:t>
            </a:r>
            <a:endParaRPr lang="sr-Latn-RS" sz="2400"/>
          </a:p>
          <a:p>
            <a:endParaRPr lang="sr-Latn-RS"/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61281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625"/>
          </a:xfrm>
        </p:spPr>
        <p:txBody>
          <a:bodyPr/>
          <a:lstStyle/>
          <a:p>
            <a:r>
              <a:rPr lang="sr-Latn-RS"/>
              <a:t>Struktura Spring Boot aplikacije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580744-E5CC-C389-5498-BA055648C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3832" y="1206088"/>
            <a:ext cx="3096344" cy="5440719"/>
          </a:xfr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81D93C36-96AC-C930-AE20-CFCDEF0B263B}"/>
              </a:ext>
            </a:extLst>
          </p:cNvPr>
          <p:cNvSpPr/>
          <p:nvPr/>
        </p:nvSpPr>
        <p:spPr>
          <a:xfrm>
            <a:off x="8247566" y="1633073"/>
            <a:ext cx="3013100" cy="3108259"/>
          </a:xfrm>
          <a:prstGeom prst="wedgeRoundRectCallout">
            <a:avLst>
              <a:gd name="adj1" fmla="val -92582"/>
              <a:gd name="adj2" fmla="val -785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r-Latn-RS"/>
              <a:t>Bitno je da je glavna klasa sa </a:t>
            </a:r>
            <a:r>
              <a:rPr lang="sr-Latn-RS" i="1"/>
              <a:t>main</a:t>
            </a:r>
            <a:r>
              <a:rPr lang="sr-Latn-RS"/>
              <a:t> metodom na vrhu hijerarhije klasa.</a:t>
            </a:r>
          </a:p>
          <a:p>
            <a:r>
              <a:rPr lang="sr-Latn-RS"/>
              <a:t>Ako nije, onda mora da se eksplicitno kaže Springu gde da traži kontrolere, servise, repozitorijume, itd.</a:t>
            </a:r>
          </a:p>
        </p:txBody>
      </p:sp>
    </p:spTree>
    <p:extLst>
      <p:ext uri="{BB962C8B-B14F-4D97-AF65-F5344CB8AC3E}">
        <p14:creationId xmlns:p14="http://schemas.microsoft.com/office/powerpoint/2010/main" val="3612359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002D0-0E15-CFBE-2B2C-9074F597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Struktura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67C6A-06FC-F780-94E5-2C74B0680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Controllers</a:t>
            </a:r>
          </a:p>
          <a:p>
            <a:pPr lvl="1"/>
            <a:r>
              <a:rPr lang="sr-Latn-RS"/>
              <a:t>REST endpoint</a:t>
            </a:r>
          </a:p>
          <a:p>
            <a:r>
              <a:rPr lang="sr-Latn-RS"/>
              <a:t>Services</a:t>
            </a:r>
          </a:p>
          <a:p>
            <a:pPr lvl="1"/>
            <a:r>
              <a:rPr lang="sr-Latn-RS"/>
              <a:t>Bave se poslovnom logikom</a:t>
            </a:r>
          </a:p>
          <a:p>
            <a:pPr lvl="1"/>
            <a:r>
              <a:rPr lang="sr-Latn-RS"/>
              <a:t>Injektovani u kontrolere</a:t>
            </a:r>
          </a:p>
          <a:p>
            <a:r>
              <a:rPr lang="sr-Latn-RS"/>
              <a:t>Repositories</a:t>
            </a:r>
          </a:p>
          <a:p>
            <a:pPr lvl="1"/>
            <a:r>
              <a:rPr lang="sr-Latn-RS"/>
              <a:t>Bave se perzistencijom</a:t>
            </a:r>
          </a:p>
          <a:p>
            <a:pPr lvl="1"/>
            <a:r>
              <a:rPr lang="sr-Latn-RS"/>
              <a:t>Injektovani u servise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5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Aplikacija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@SpringBootApplication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Application { 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SpringApplication.run(Application.class);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7392144" y="908720"/>
            <a:ext cx="3168352" cy="1296144"/>
          </a:xfrm>
          <a:prstGeom prst="wedgeRoundRectCallout">
            <a:avLst>
              <a:gd name="adj1" fmla="val -108957"/>
              <a:gd name="adj2" fmla="val 456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Svemoćna anotacija!</a:t>
            </a:r>
          </a:p>
          <a:p>
            <a:pPr algn="ctr"/>
            <a:r>
              <a:rPr lang="sr-Latn-RS" i="1"/>
              <a:t>zamenjuje: </a:t>
            </a:r>
            <a:r>
              <a:rPr lang="en-US" i="1"/>
              <a:t>@Configuration @EnableAutoConfiguration @ComponentScan</a:t>
            </a:r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295098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CD19-C274-68F3-E1C5-F6B335143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795"/>
            <a:ext cx="10515600" cy="871008"/>
          </a:xfrm>
        </p:spPr>
        <p:txBody>
          <a:bodyPr/>
          <a:lstStyle/>
          <a:p>
            <a:r>
              <a:rPr lang="sr-Latn-RS"/>
              <a:t>Kontroleri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617EB-39CB-E0DB-A90C-5E562F339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3801"/>
            <a:ext cx="10236201" cy="54755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@RestController</a:t>
            </a:r>
          </a:p>
          <a:p>
            <a:pPr marL="0" indent="0">
              <a:buNone/>
            </a:pP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@RequestMapping("/api/v2/student")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StudentController {</a:t>
            </a:r>
          </a:p>
          <a:p>
            <a:pPr marL="0" indent="0">
              <a:buNone/>
            </a:pPr>
            <a:r>
              <a:rPr lang="sr-Latn-RS" sz="14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</a:p>
          <a:p>
            <a:pPr marL="0" indent="0">
              <a:buNone/>
            </a:pPr>
            <a:r>
              <a:rPr lang="sr-Latn-R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IStudentService service;</a:t>
            </a:r>
          </a:p>
          <a:p>
            <a:pPr marL="0" indent="0">
              <a:buNone/>
            </a:pPr>
            <a:r>
              <a:rPr lang="sr-Latn-R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@GetMapping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 Collection&lt;Student&gt; getStudents() 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.getAll();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@GetMapping("/{studentId}")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 Student findStudent(</a:t>
            </a: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@PathVariable Long studentId) 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.findStudent(studentId);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@PostMapping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 Student insert(</a:t>
            </a:r>
            <a:r>
              <a:rPr lang="nl-NL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@RequestBody Student student) 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.insert(student);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964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1D29-AF0A-0AF6-34D3-16AD7C0A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Servisi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4308D-B064-54AF-12E8-B150044D1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Servisi se bave poslovnom logikom</a:t>
            </a:r>
          </a:p>
          <a:p>
            <a:r>
              <a:rPr lang="sr-Latn-RS"/>
              <a:t>Servisi se injektuju u kontrolere i kontroler prepušta izvršenje servisu</a:t>
            </a:r>
          </a:p>
          <a:p>
            <a:r>
              <a:rPr lang="sr-Latn-RS"/>
              <a:t>Rezultat rada servisa se vraća kontroleru (ako ga ima), a kontroler to prosleđuje klijentu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2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D9F8-DC53-8EE5-B6F4-D21A53149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Interfejs servisa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31703-55A7-B4FC-862B-85F2562DC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7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IStudentService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Collection&lt;Student&gt; getAll();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Student findStudent(Long studentId);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Student insert(Student student);</a:t>
            </a:r>
          </a:p>
          <a:p>
            <a:pPr marL="0" indent="0">
              <a:buNone/>
            </a:pPr>
            <a:endParaRPr 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Student update(Student student);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Student delete(Long studentId);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void deleteAll();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2887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B217E-F9D9-9787-C6C1-581B6F6AB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Servisi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1B8FC-7A4A-1E57-7597-43D16A813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@Service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StudentServiceImpl implements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IStudentService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sr-Latn-RS" sz="18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</a:p>
          <a:p>
            <a:pPr marL="0" indent="0">
              <a:buNone/>
            </a:pPr>
            <a:r>
              <a:rPr 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StudentRepository allStudents;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Collection&lt;Student&gt; getAll() {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System.out.println(allStudents.findAll());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return allStudents.findAll();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99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5B36-9EC9-F43F-DB1D-1FE02434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Repozitorijumi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5B3E5-6F94-8B4B-CCC1-47448971F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0201"/>
            <a:ext cx="10295467" cy="4525963"/>
          </a:xfrm>
        </p:spPr>
        <p:txBody>
          <a:bodyPr>
            <a:normAutofit/>
          </a:bodyPr>
          <a:lstStyle/>
          <a:p>
            <a:r>
              <a:rPr lang="sr-Latn-RS"/>
              <a:t>Bave se perzistencijom (JPA)</a:t>
            </a:r>
          </a:p>
          <a:p>
            <a:r>
              <a:rPr lang="sr-Latn-RS"/>
              <a:t>Wrapperi oko CRUD (Create, Read, Update, Delete) funkcionalnosti</a:t>
            </a:r>
          </a:p>
          <a:p>
            <a:r>
              <a:rPr lang="sr-Latn-RS"/>
              <a:t>Injektuju se u servise</a:t>
            </a:r>
          </a:p>
          <a:p>
            <a:endParaRPr lang="sr-Latn-RS"/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StudentRepository extends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JpaRepository&lt;Student, Long&gt;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5063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1139</Words>
  <Application>Microsoft Office PowerPoint</Application>
  <PresentationFormat>Widescreen</PresentationFormat>
  <Paragraphs>193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Office Theme</vt:lpstr>
      <vt:lpstr>Inženjerstvo Serverskog Sloja prof. dr Milan Vidaković</vt:lpstr>
      <vt:lpstr>Uvod</vt:lpstr>
      <vt:lpstr>Učesnici</vt:lpstr>
      <vt:lpstr>HTTP metode</vt:lpstr>
      <vt:lpstr>Spring Web/REST</vt:lpstr>
      <vt:lpstr>Spring REST</vt:lpstr>
      <vt:lpstr>Spring REST</vt:lpstr>
      <vt:lpstr>Primer</vt:lpstr>
      <vt:lpstr>Prenos parametara</vt:lpstr>
      <vt:lpstr>Prenos parametara</vt:lpstr>
      <vt:lpstr>Prenos parametara</vt:lpstr>
      <vt:lpstr>Prenos parametara</vt:lpstr>
      <vt:lpstr>Injektovani parametri metoda</vt:lpstr>
      <vt:lpstr>Struktura Spring Boot aplikacije</vt:lpstr>
      <vt:lpstr>Struktura</vt:lpstr>
      <vt:lpstr>Aplikacija</vt:lpstr>
      <vt:lpstr>Kontroleri</vt:lpstr>
      <vt:lpstr>Servisi</vt:lpstr>
      <vt:lpstr>Interfejs servisa</vt:lpstr>
      <vt:lpstr>Servisi</vt:lpstr>
      <vt:lpstr>Repozitorijumi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107</cp:revision>
  <dcterms:created xsi:type="dcterms:W3CDTF">2024-06-23T14:59:21Z</dcterms:created>
  <dcterms:modified xsi:type="dcterms:W3CDTF">2024-12-01T07:00:28Z</dcterms:modified>
</cp:coreProperties>
</file>