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576E668-F506-C3FC-A520-C3B0250CB64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8213" y="3933826"/>
            <a:ext cx="7772400" cy="1470025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Mrežno programiranje u Javi</a:t>
            </a:r>
            <a:endParaRPr lang="en-GB" altLang="sr-Latn-RS" sz="2800"/>
          </a:p>
        </p:txBody>
      </p:sp>
      <p:sp>
        <p:nvSpPr>
          <p:cNvPr id="4099" name="TextBox 1">
            <a:extLst>
              <a:ext uri="{FF2B5EF4-FFF2-40B4-BE49-F238E27FC236}">
                <a16:creationId xmlns:a16="http://schemas.microsoft.com/office/drawing/2014/main" id="{046DD16F-8F96-E72A-F301-C864619D5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2276475"/>
            <a:ext cx="7772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r-Latn-CS" altLang="sr-Latn-RS" sz="4400"/>
              <a:t>Inženjerstvo Serverskog Sloja</a:t>
            </a:r>
            <a:br>
              <a:rPr lang="sr-Latn-CS" altLang="sr-Latn-RS" sz="4400"/>
            </a:br>
            <a:r>
              <a:rPr lang="sr-Latn-CS" altLang="sr-Latn-RS" sz="2800"/>
              <a:t>prof. dr Milan Vidaković</a:t>
            </a:r>
            <a:endParaRPr lang="sr-Latn-RS" altLang="sr-Latn-R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5FC99D16-B469-1554-F76D-742A8C77A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Osnovne odrednice</a:t>
            </a:r>
            <a:endParaRPr lang="en-GB" altLang="sr-Latn-RS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19573324-E069-A2FD-039B-F3B85F3DE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372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Oslanja se na IP mrežni protokol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Pojam </a:t>
            </a:r>
            <a:r>
              <a:rPr lang="sr-Latn-CS" altLang="sr-Latn-RS" i="1"/>
              <a:t>socket</a:t>
            </a:r>
            <a:r>
              <a:rPr lang="sr-Latn-CS" altLang="sr-Latn-RS"/>
              <a:t>-a: par (IP adresa, port)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Mogućnost korišćenja TCP i UDP protokola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Komunikacija se odvija kroz </a:t>
            </a:r>
            <a:r>
              <a:rPr lang="sr-Latn-CS" altLang="sr-Latn-RS" i="1"/>
              <a:t>stream</a:t>
            </a:r>
            <a:r>
              <a:rPr lang="sr-Latn-CS" altLang="sr-Latn-RS"/>
              <a:t>-ove; jednako kao i sa fajlovima u okviru fajl-sistema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Paket </a:t>
            </a:r>
            <a:r>
              <a:rPr lang="sr-Latn-CS" altLang="sr-Latn-RS" b="1">
                <a:latin typeface="Courier New" panose="02070309020205020404" pitchFamily="49" charset="0"/>
              </a:rPr>
              <a:t>java.net</a:t>
            </a:r>
            <a:endParaRPr lang="en-GB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82265CCC-148E-7A08-44F7-662C34113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Socket</a:t>
            </a:r>
            <a:r>
              <a:rPr lang="sr-Latn-CS" altLang="sr-Latn-RS"/>
              <a:t> </a:t>
            </a:r>
            <a:r>
              <a:rPr lang="sr-Latn-CS" altLang="sr-Latn-RS" baseline="-25000"/>
              <a:t>1/2</a:t>
            </a:r>
            <a:endParaRPr lang="en-GB" altLang="sr-Latn-RS"/>
          </a:p>
        </p:txBody>
      </p:sp>
      <p:pic>
        <p:nvPicPr>
          <p:cNvPr id="5126" name="Picture 5">
            <a:extLst>
              <a:ext uri="{FF2B5EF4-FFF2-40B4-BE49-F238E27FC236}">
                <a16:creationId xmlns:a16="http://schemas.microsoft.com/office/drawing/2014/main" id="{D1CF33EF-6D85-ED43-E86C-079D01BF78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3" y="3652837"/>
            <a:ext cx="5835967" cy="1060804"/>
          </a:xfrm>
          <a:noFill/>
        </p:spPr>
      </p:pic>
      <p:sp>
        <p:nvSpPr>
          <p:cNvPr id="5124" name="Rectangle 3">
            <a:extLst>
              <a:ext uri="{FF2B5EF4-FFF2-40B4-BE49-F238E27FC236}">
                <a16:creationId xmlns:a16="http://schemas.microsoft.com/office/drawing/2014/main" id="{A1F87963-B62B-F727-8D76-B1C19371492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1600200"/>
            <a:ext cx="8231188" cy="2541588"/>
          </a:xfrm>
        </p:spPr>
        <p:txBody>
          <a:bodyPr/>
          <a:lstStyle/>
          <a:p>
            <a:pPr eaLnBrk="1" hangingPunct="1"/>
            <a:r>
              <a:rPr lang="en-US" altLang="sr-Latn-RS"/>
              <a:t>P</a:t>
            </a:r>
            <a:r>
              <a:rPr lang="sr-Latn-CS" altLang="sr-Latn-RS"/>
              <a:t>ar (IP adresa, port)</a:t>
            </a:r>
            <a:endParaRPr lang="en-US" altLang="sr-Latn-RS"/>
          </a:p>
          <a:p>
            <a:pPr eaLnBrk="1" hangingPunct="1"/>
            <a:r>
              <a:rPr lang="en-US" altLang="sr-Latn-RS"/>
              <a:t>Uspostavljena veza i</a:t>
            </a:r>
            <a:r>
              <a:rPr lang="sr-Latn-CS" altLang="sr-Latn-RS"/>
              <a:t>zmeđu dva programa određena je parom socket-a</a:t>
            </a: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F333D984-0204-E3D4-14DD-3BF30CBE0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D8D8315D-3698-058E-A730-7BD165DDC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Socket</a:t>
            </a:r>
            <a:r>
              <a:rPr lang="sr-Latn-CS" altLang="sr-Latn-RS"/>
              <a:t> </a:t>
            </a:r>
            <a:r>
              <a:rPr lang="sr-Latn-CS" altLang="sr-Latn-RS" baseline="-25000"/>
              <a:t>2/2</a:t>
            </a:r>
            <a:endParaRPr lang="en-GB" altLang="sr-Latn-RS"/>
          </a:p>
        </p:txBody>
      </p:sp>
      <p:pic>
        <p:nvPicPr>
          <p:cNvPr id="6150" name="Picture 5">
            <a:extLst>
              <a:ext uri="{FF2B5EF4-FFF2-40B4-BE49-F238E27FC236}">
                <a16:creationId xmlns:a16="http://schemas.microsoft.com/office/drawing/2014/main" id="{8779C26C-5015-4774-97B6-03180FE04B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031" y="2636839"/>
            <a:ext cx="5193393" cy="3087963"/>
          </a:xfrm>
          <a:noFill/>
        </p:spPr>
      </p:pic>
      <p:sp>
        <p:nvSpPr>
          <p:cNvPr id="6148" name="Rectangle 3">
            <a:extLst>
              <a:ext uri="{FF2B5EF4-FFF2-40B4-BE49-F238E27FC236}">
                <a16:creationId xmlns:a16="http://schemas.microsoft.com/office/drawing/2014/main" id="{B8D97AE3-4BB5-4226-49F7-07DDE73CDA2D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1600200"/>
            <a:ext cx="8078788" cy="1036638"/>
          </a:xfrm>
        </p:spPr>
        <p:txBody>
          <a:bodyPr/>
          <a:lstStyle/>
          <a:p>
            <a:pPr eaLnBrk="1" hangingPunct="1"/>
            <a:r>
              <a:rPr lang="en-US" altLang="sr-Latn-RS"/>
              <a:t>V</a:t>
            </a:r>
            <a:r>
              <a:rPr lang="sr-Latn-CS" altLang="sr-Latn-RS"/>
              <a:t>iše programa u vezi</a:t>
            </a:r>
            <a:endParaRPr lang="en-US" altLang="sr-Latn-RS"/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BB2AD6B0-F1D0-50C3-6062-CA3398739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935DF86C-E5B8-38E9-42B8-5AA5A97F1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Identifikacija čvorova mreže</a:t>
            </a:r>
            <a:endParaRPr lang="en-GB" altLang="sr-Latn-RS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B5A71196-8244-1637-B557-27CE593F5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981200"/>
            <a:ext cx="9971015" cy="4400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P</a:t>
            </a:r>
            <a:r>
              <a:rPr lang="sr-Latn-CS" altLang="sr-Latn-RS"/>
              <a:t>omoću simboličke adrese, npr. www.yahoo.com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sr-Latn-RS"/>
              <a:t>P</a:t>
            </a:r>
            <a:r>
              <a:rPr lang="sr-Latn-CS" altLang="sr-Latn-RS"/>
              <a:t>omoću numeričke adrese, podeljene u oktete, npr. 147.91.177.196</a:t>
            </a:r>
          </a:p>
          <a:p>
            <a:pPr eaLnBrk="1" hangingPunct="1">
              <a:lnSpc>
                <a:spcPct val="90000"/>
              </a:lnSpc>
            </a:pPr>
            <a:r>
              <a:rPr lang="en-US" altLang="sr-Latn-RS"/>
              <a:t>K</a:t>
            </a:r>
            <a:r>
              <a:rPr lang="sr-Latn-CS" altLang="sr-Latn-RS"/>
              <a:t>lasa </a:t>
            </a:r>
            <a:r>
              <a:rPr lang="sr-Latn-CS" altLang="sr-Latn-RS" b="1">
                <a:latin typeface="Courier New" panose="02070309020205020404" pitchFamily="49" charset="0"/>
              </a:rPr>
              <a:t>InetAddress</a:t>
            </a:r>
            <a:r>
              <a:rPr lang="sr-Latn-CS" altLang="sr-Latn-RS"/>
              <a:t> predstavlja adresu čvora u mreži: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sr-Latn-RS" sz="1600" b="1">
                <a:latin typeface="Courier New" panose="02070309020205020404" pitchFamily="49" charset="0"/>
              </a:rPr>
              <a:t>InetAddress a = InetAddress.getByName(</a:t>
            </a:r>
            <a:r>
              <a:rPr lang="sr-Latn-RS" altLang="sr-Latn-RS" sz="1600" b="1">
                <a:latin typeface="Courier New" panose="02070309020205020404" pitchFamily="49" charset="0"/>
              </a:rPr>
              <a:t>"</a:t>
            </a:r>
            <a:r>
              <a:rPr lang="sr-Latn-CS" altLang="sr-Latn-RS" sz="1600" b="1">
                <a:latin typeface="Courier New" panose="02070309020205020404" pitchFamily="49" charset="0"/>
              </a:rPr>
              <a:t>www.yahoo.com</a:t>
            </a:r>
            <a:r>
              <a:rPr lang="en-GB" altLang="sr-Latn-RS" sz="1600" b="1">
                <a:latin typeface="Courier New" panose="02070309020205020404" pitchFamily="49" charset="0"/>
              </a:rPr>
              <a:t>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sr-Latn-RS" sz="1600" b="1">
                <a:latin typeface="Courier New" panose="02070309020205020404" pitchFamily="49" charset="0"/>
              </a:rPr>
              <a:t>InetAddress b = InetAddress.getByName("147.91.177.196");</a:t>
            </a:r>
            <a:endParaRPr lang="sr-Latn-C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sr-Latn-RS" sz="1600" b="1">
                <a:latin typeface="Courier New" panose="02070309020205020404" pitchFamily="49" charset="0"/>
              </a:rPr>
              <a:t>InetAddress c = InetAddress.getLocalHost();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sr-Latn-RS" sz="1600" b="1">
                <a:latin typeface="Courier New" panose="02070309020205020404" pitchFamily="49" charset="0"/>
              </a:rPr>
              <a:t>byte[] bytes = a.getAddress();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sr-Latn-RS" sz="1600" b="1">
                <a:latin typeface="Courier New" panose="02070309020205020404" pitchFamily="49" charset="0"/>
              </a:rPr>
              <a:t>InetAddress[] addresses = a.getAllByName(host);</a:t>
            </a:r>
          </a:p>
          <a:p>
            <a:pPr eaLnBrk="1" hangingPunct="1">
              <a:lnSpc>
                <a:spcPct val="90000"/>
              </a:lnSpc>
            </a:pPr>
            <a:endParaRPr lang="en-GB" altLang="sr-Latn-RS" sz="16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42E3A2AE-3632-4DA0-F46E-12582B17D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Socket</a:t>
            </a:r>
            <a:endParaRPr lang="en-GB" altLang="sr-Latn-RS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8EF1B35-4309-8857-CEC3-11859D719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829801" cy="4114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Predstavlja TCP konekciju između dva čvora na mreži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Socket(InetAddress address, int port)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Socket(String host, int port)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M</a:t>
            </a:r>
            <a:r>
              <a:rPr lang="sr-Latn-CS" altLang="sr-Latn-RS" sz="2400"/>
              <a:t>etoda </a:t>
            </a:r>
            <a:r>
              <a:rPr lang="sr-Latn-CS" altLang="sr-Latn-RS" sz="2400" b="1">
                <a:latin typeface="Courier New" panose="02070309020205020404" pitchFamily="49" charset="0"/>
              </a:rPr>
              <a:t>getInputStream()</a:t>
            </a:r>
            <a:r>
              <a:rPr lang="sr-Latn-CS" altLang="sr-Latn-RS" sz="240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M</a:t>
            </a:r>
            <a:r>
              <a:rPr lang="sr-Latn-CS" altLang="sr-Latn-RS" sz="2400"/>
              <a:t>etoda </a:t>
            </a:r>
            <a:r>
              <a:rPr lang="sr-Latn-CS" altLang="sr-Latn-RS" sz="2400" b="1">
                <a:latin typeface="Courier New" panose="02070309020205020404" pitchFamily="49" charset="0"/>
              </a:rPr>
              <a:t>getOutputStream()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Timeout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sr-Latn-RS" sz="2000" b="1">
                <a:latin typeface="Courier New" panose="02070309020205020404" pitchFamily="49" charset="0"/>
              </a:rPr>
              <a:t>socket.setSoTimeout(10000);</a:t>
            </a:r>
          </a:p>
          <a:p>
            <a:pPr lvl="1" eaLnBrk="1" hangingPunct="1">
              <a:lnSpc>
                <a:spcPct val="80000"/>
              </a:lnSpc>
            </a:pPr>
            <a:r>
              <a:rPr lang="sr-Latn-RS" altLang="sr-Latn-RS" sz="2000"/>
              <a:t>alternativno</a:t>
            </a:r>
            <a:r>
              <a:rPr lang="en-US" altLang="sr-Latn-RS" sz="2000"/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	socket.</a:t>
            </a:r>
            <a:r>
              <a:rPr lang="en-GB" altLang="sr-Latn-RS" sz="2400" b="1">
                <a:latin typeface="Courier New" panose="02070309020205020404" pitchFamily="49" charset="0"/>
              </a:rPr>
              <a:t>connect(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2400" b="1">
                <a:latin typeface="Courier New" panose="02070309020205020404" pitchFamily="49" charset="0"/>
              </a:rPr>
              <a:t>		new InetSocketAddress(host,</a:t>
            </a:r>
            <a:r>
              <a:rPr lang="sr-Latn-RS" altLang="sr-Latn-RS" sz="2400" b="1">
                <a:latin typeface="Courier New" panose="02070309020205020404" pitchFamily="49" charset="0"/>
              </a:rPr>
              <a:t> </a:t>
            </a:r>
            <a:r>
              <a:rPr lang="en-GB" altLang="sr-Latn-RS" sz="2400" b="1">
                <a:latin typeface="Courier New" panose="02070309020205020404" pitchFamily="49" charset="0"/>
              </a:rPr>
              <a:t>port),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2400" b="1">
                <a:latin typeface="Courier New" panose="02070309020205020404" pitchFamily="49" charset="0"/>
              </a:rPr>
              <a:t>     timeout);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1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334F3527-CB15-9283-F0F1-00991C1D2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ServerSocket</a:t>
            </a:r>
            <a:endParaRPr lang="en-GB" altLang="sr-Latn-RS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13072D7-2556-7CB8-BFDB-6A3C140E7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Predstavlja serverski socket</a:t>
            </a:r>
          </a:p>
          <a:p>
            <a:pPr lvl="1"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ServerSocket(int port) </a:t>
            </a:r>
          </a:p>
          <a:p>
            <a:pPr eaLnBrk="1" hangingPunct="1"/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sr-Latn-RS"/>
              <a:t>M</a:t>
            </a:r>
            <a:r>
              <a:rPr lang="sr-Latn-CS" altLang="sr-Latn-RS"/>
              <a:t>etoda </a:t>
            </a:r>
            <a:r>
              <a:rPr lang="sr-Latn-CS" altLang="sr-Latn-RS" b="1">
                <a:latin typeface="Courier New" panose="02070309020205020404" pitchFamily="49" charset="0"/>
              </a:rPr>
              <a:t>accept()</a:t>
            </a:r>
            <a:r>
              <a:rPr lang="sr-Latn-CS" altLang="sr-Latn-RS"/>
              <a:t> blokira izvršenje sve dok neki klijent ne uspostavi vezu; </a:t>
            </a:r>
          </a:p>
          <a:p>
            <a:pPr lvl="1" eaLnBrk="1" hangingPunct="1"/>
            <a:r>
              <a:rPr lang="sr-Latn-CS" altLang="sr-Latn-RS"/>
              <a:t>tada vraća konstruisan </a:t>
            </a:r>
            <a:r>
              <a:rPr lang="sr-Latn-CS" altLang="sr-Latn-RS" b="1">
                <a:latin typeface="Courier New" panose="02070309020205020404" pitchFamily="49" charset="0"/>
              </a:rPr>
              <a:t>Socket</a:t>
            </a:r>
            <a:r>
              <a:rPr lang="sr-Latn-CS" altLang="sr-Latn-RS"/>
              <a:t> objekat preko koga se komunicira sa klijentom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>
            <a:extLst>
              <a:ext uri="{FF2B5EF4-FFF2-40B4-BE49-F238E27FC236}">
                <a16:creationId xmlns:a16="http://schemas.microsoft.com/office/drawing/2014/main" id="{41A20DAE-E7F4-F079-0F3E-E10C88152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// inicijalizacija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Socket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 = new Socket(addr, port);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BufferedReader 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sr-Latn-CS" altLang="sr-Latn-RS" sz="1800" b="1">
                <a:latin typeface="Courier New" panose="02070309020205020404" pitchFamily="49" charset="0"/>
              </a:rPr>
              <a:t> = new BufferedReader(...(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PrintWriter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out</a:t>
            </a:r>
            <a:r>
              <a:rPr lang="sr-Latn-CS" altLang="sr-Latn-RS" sz="1800" b="1">
                <a:latin typeface="Courier New" panose="02070309020205020404" pitchFamily="49" charset="0"/>
              </a:rPr>
              <a:t> = new PrintWriter(...(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// komunikacija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out</a:t>
            </a:r>
            <a:r>
              <a:rPr lang="sr-Latn-CS" altLang="sr-Latn-RS" sz="1800" b="1">
                <a:latin typeface="Courier New" panose="02070309020205020404" pitchFamily="49" charset="0"/>
              </a:rPr>
              <a:t>.println("zahtev");           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šaljem zahtev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String response = 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sr-Latn-CS" altLang="sr-Latn-RS" sz="1800" b="1">
                <a:latin typeface="Courier New" panose="02070309020205020404" pitchFamily="49" charset="0"/>
              </a:rPr>
              <a:t>.readLine(); 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čitam odgovor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// prekid veze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sr-Latn-CS" altLang="sr-Latn-RS" sz="1800" b="1">
                <a:latin typeface="Courier New" panose="02070309020205020404" pitchFamily="49" charset="0"/>
              </a:rPr>
              <a:t>.close();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out</a:t>
            </a:r>
            <a:r>
              <a:rPr lang="sr-Latn-CS" altLang="sr-Latn-RS" sz="1800" b="1">
                <a:latin typeface="Courier New" panose="02070309020205020404" pitchFamily="49" charset="0"/>
              </a:rPr>
              <a:t>.close();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.close();</a:t>
            </a:r>
            <a:endParaRPr lang="en-GB" altLang="sr-Latn-RS" sz="1800" b="1">
              <a:latin typeface="Courier New" panose="02070309020205020404" pitchFamily="49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67E93D7-F588-7DE0-B133-A1242728161E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CS" altLang="sr-Latn-RS" sz="4400"/>
              <a:t>Tipičan tok komunikacije – klijent strana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>
            <a:extLst>
              <a:ext uri="{FF2B5EF4-FFF2-40B4-BE49-F238E27FC236}">
                <a16:creationId xmlns:a16="http://schemas.microsoft.com/office/drawing/2014/main" id="{F34773F8-4960-CB66-817D-75BA04B82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01628"/>
            <a:ext cx="9144000" cy="5096021"/>
          </a:xfrm>
          <a:noFill/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// čekam klijenta...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ServerSocket </a:t>
            </a:r>
            <a:r>
              <a:rPr lang="sr-Latn-CS" altLang="sr-Latn-RS" sz="1800" b="1">
                <a:solidFill>
                  <a:schemeClr val="accent5"/>
                </a:solidFill>
                <a:latin typeface="Courier New" panose="02070309020205020404" pitchFamily="49" charset="0"/>
              </a:rPr>
              <a:t>ss</a:t>
            </a:r>
            <a:r>
              <a:rPr lang="sr-Latn-CS" altLang="sr-Latn-RS" sz="1800" b="1">
                <a:latin typeface="Courier New" panose="02070309020205020404" pitchFamily="49" charset="0"/>
              </a:rPr>
              <a:t> = new ServerSocket(port);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while(true)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Socket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 = ss.accept();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// inicijalizacija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BufferedReader 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sr-Latn-CS" altLang="sr-Latn-RS" sz="1800" b="1">
                <a:latin typeface="Courier New" panose="02070309020205020404" pitchFamily="49" charset="0"/>
              </a:rPr>
              <a:t> = new BufferedReader(...(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PrintWriter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out</a:t>
            </a:r>
            <a:r>
              <a:rPr lang="sr-Latn-CS" altLang="sr-Latn-RS" sz="1800" b="1">
                <a:latin typeface="Courier New" panose="02070309020205020404" pitchFamily="49" charset="0"/>
              </a:rPr>
              <a:t> = new PrintWriter(...(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// komunikacija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String request = 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sr-Latn-CS" altLang="sr-Latn-RS" sz="1800" b="1">
                <a:latin typeface="Courier New" panose="02070309020205020404" pitchFamily="49" charset="0"/>
              </a:rPr>
              <a:t>.readLine();  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čitam zahtev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out</a:t>
            </a:r>
            <a:r>
              <a:rPr lang="sr-Latn-CS" altLang="sr-Latn-RS" sz="1800" b="1">
                <a:latin typeface="Courier New" panose="02070309020205020404" pitchFamily="49" charset="0"/>
              </a:rPr>
              <a:t>.println("odgovor");          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šaljem odgovor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// prekid veze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sr-Latn-CS" altLang="sr-Latn-RS" sz="1800" b="1">
                <a:latin typeface="Courier New" panose="02070309020205020404" pitchFamily="49" charset="0"/>
              </a:rPr>
              <a:t>.close();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out</a:t>
            </a:r>
            <a:r>
              <a:rPr lang="sr-Latn-CS" altLang="sr-Latn-RS" sz="1800" b="1">
                <a:latin typeface="Courier New" panose="02070309020205020404" pitchFamily="49" charset="0"/>
              </a:rPr>
              <a:t>.close();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.close();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  <a:endParaRPr lang="en-GB" altLang="sr-Latn-RS" sz="1800" b="1">
              <a:latin typeface="Courier New" panose="020703090202050204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10B3CD0-0FF2-E248-89A9-8DECA9CD4D0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040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CS" altLang="sr-Latn-RS" sz="4400"/>
              <a:t>Tipičan tok komunikacije – klijent strana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2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2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26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26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26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>
            <a:extLst>
              <a:ext uri="{FF2B5EF4-FFF2-40B4-BE49-F238E27FC236}">
                <a16:creationId xmlns:a16="http://schemas.microsoft.com/office/drawing/2014/main" id="{16F40964-9141-CF59-68E0-F73DB0730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9144000" cy="4800600"/>
          </a:xfrm>
          <a:noFill/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// Serverska petlja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ServerSocket </a:t>
            </a:r>
            <a:r>
              <a:rPr lang="sr-Latn-CS" altLang="sr-Latn-RS" sz="1800" b="1">
                <a:solidFill>
                  <a:schemeClr val="accent5"/>
                </a:solidFill>
                <a:latin typeface="Courier New" panose="02070309020205020404" pitchFamily="49" charset="0"/>
              </a:rPr>
              <a:t>ss</a:t>
            </a:r>
            <a:r>
              <a:rPr lang="sr-Latn-CS" altLang="sr-Latn-RS" sz="1800" b="1">
                <a:latin typeface="Courier New" panose="02070309020205020404" pitchFamily="49" charset="0"/>
              </a:rPr>
              <a:t> = new ServerSocket(port);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while (true)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Socket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 = ss.accept();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ServerThread </a:t>
            </a:r>
            <a:r>
              <a:rPr lang="sr-Latn-CS" altLang="sr-Latn-RS" sz="1800" b="1">
                <a:solidFill>
                  <a:srgbClr val="FFC000"/>
                </a:solidFill>
                <a:latin typeface="Courier New" panose="02070309020205020404" pitchFamily="49" charset="0"/>
              </a:rPr>
              <a:t>st</a:t>
            </a:r>
            <a:r>
              <a:rPr lang="sr-Latn-CS" altLang="sr-Latn-RS" sz="1800" b="1">
                <a:latin typeface="Courier New" panose="02070309020205020404" pitchFamily="49" charset="0"/>
              </a:rPr>
              <a:t> = new ServerThread(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soc</a:t>
            </a:r>
            <a:r>
              <a:rPr lang="sr-Latn-CS" altLang="sr-Latn-RS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// poseban thread – obrada pojedinačnog zahteva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ServerThread extends Thread {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...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public void run()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inicijalizacija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 // komunikacija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 // prekid veze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BBA883-086E-535A-BDFA-30A37542BF87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CS" altLang="sr-Latn-RS" sz="4400"/>
              <a:t>Server koji opslužuje više klijenata</a:t>
            </a:r>
            <a:endParaRPr lang="en-GB" altLang="sr-Latn-R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E2E0B51-8DE4-0F05-6588-5F13266A9FEE}"/>
              </a:ext>
            </a:extLst>
          </p:cNvPr>
          <p:cNvSpPr/>
          <p:nvPr/>
        </p:nvSpPr>
        <p:spPr>
          <a:xfrm>
            <a:off x="7126448" y="2118220"/>
            <a:ext cx="2252444" cy="809538"/>
          </a:xfrm>
          <a:prstGeom prst="wedgeRoundRectCallout">
            <a:avLst>
              <a:gd name="adj1" fmla="val -75954"/>
              <a:gd name="adj2" fmla="val -3439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Koliko klijenata može da opsluži?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2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2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29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29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29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uiExpand="1" build="p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6D0F507A-0D8B-423C-086E-5D2C3A7BA9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Praćenje korisničke sesije</a:t>
            </a:r>
            <a:endParaRPr lang="en-GB" altLang="sr-Latn-RS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03434C2-4462-56B9-2585-E49BFDCBE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</a:t>
            </a:r>
            <a:r>
              <a:rPr lang="sr-Latn-CS" altLang="sr-Latn-RS"/>
              <a:t>tateful protokoli: čuvaju stanje tokom komunikacije</a:t>
            </a:r>
            <a:endParaRPr lang="en-US" altLang="sr-Latn-RS"/>
          </a:p>
          <a:p>
            <a:pPr lvl="1" eaLnBrk="1" hangingPunct="1"/>
            <a:r>
              <a:rPr lang="en-US" altLang="sr-Latn-RS"/>
              <a:t>primer: </a:t>
            </a:r>
            <a:r>
              <a:rPr lang="sr-Latn-RS" altLang="sr-Latn-RS"/>
              <a:t>IMAP, </a:t>
            </a:r>
            <a:r>
              <a:rPr lang="en-US" altLang="sr-Latn-RS"/>
              <a:t>POP3, SMTP protokol</a:t>
            </a:r>
            <a:endParaRPr lang="sr-Latn-CS" altLang="sr-Latn-RS"/>
          </a:p>
          <a:p>
            <a:pPr eaLnBrk="1" hangingPunct="1"/>
            <a:r>
              <a:rPr lang="en-US" altLang="sr-Latn-RS"/>
              <a:t>S</a:t>
            </a:r>
            <a:r>
              <a:rPr lang="sr-Latn-CS" altLang="sr-Latn-RS"/>
              <a:t>tateless protokoli: ne čuvaju stanje komunikacije između dva klijentska zahteva</a:t>
            </a:r>
            <a:endParaRPr lang="en-US" altLang="sr-Latn-RS"/>
          </a:p>
          <a:p>
            <a:pPr lvl="1" eaLnBrk="1" hangingPunct="1"/>
            <a:r>
              <a:rPr lang="en-GB" altLang="sr-Latn-RS"/>
              <a:t>primer: HTTP protokol (osnovni, bez pro</a:t>
            </a:r>
            <a:r>
              <a:rPr lang="sr-Latn-CS" altLang="sr-Latn-RS"/>
              <a:t>širenja za praćenje sesije).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A956DA59-CFFA-2E6F-8DAC-E34137321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</a:t>
            </a:r>
            <a:r>
              <a:rPr lang="sr-Latn-CS" altLang="sr-Latn-RS"/>
              <a:t>re</a:t>
            </a:r>
            <a:r>
              <a:rPr lang="en-US" altLang="sr-Latn-RS"/>
              <a:t>nos podataka</a:t>
            </a:r>
            <a:endParaRPr lang="sr-Latn-CS" altLang="sr-Latn-RS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6D677353-089A-66AC-DF02-084D72E4A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Metode </a:t>
            </a:r>
            <a:r>
              <a:rPr lang="en-US" altLang="sr-Latn-RS">
                <a:solidFill>
                  <a:schemeClr val="tx2"/>
                </a:solidFill>
              </a:rPr>
              <a:t>getInputStream()</a:t>
            </a:r>
            <a:r>
              <a:rPr lang="en-US" altLang="sr-Latn-RS"/>
              <a:t> i </a:t>
            </a:r>
            <a:r>
              <a:rPr lang="en-US" altLang="sr-Latn-RS">
                <a:solidFill>
                  <a:schemeClr val="tx2"/>
                </a:solidFill>
              </a:rPr>
              <a:t>getOutputStream()</a:t>
            </a:r>
            <a:r>
              <a:rPr lang="en-US" altLang="sr-Latn-RS"/>
              <a:t> daju ulazni, odn. izlazni tok</a:t>
            </a:r>
            <a:r>
              <a:rPr lang="sr-Latn-CS" altLang="sr-Latn-RS"/>
              <a:t> p</a:t>
            </a:r>
            <a:r>
              <a:rPr lang="en-US" altLang="sr-Latn-RS"/>
              <a:t>odataka od/ka klijentu</a:t>
            </a:r>
          </a:p>
          <a:p>
            <a:pPr eaLnBrk="1" hangingPunct="1"/>
            <a:r>
              <a:rPr lang="en-US" altLang="sr-Latn-RS"/>
              <a:t>Ne pru</a:t>
            </a:r>
            <a:r>
              <a:rPr lang="sr-Latn-CS" altLang="sr-Latn-RS"/>
              <a:t>žaju više od čitanja jednog ili niza bajtova</a:t>
            </a:r>
          </a:p>
          <a:p>
            <a:pPr eaLnBrk="1" hangingPunct="1"/>
            <a:r>
              <a:rPr lang="sr-Latn-CS" altLang="sr-Latn-RS"/>
              <a:t>Moraju se ubaciti u filter klase za prenos složenijih tipova podataka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45DE6178-8522-9C68-9C32-95225B9B0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0" y="497680"/>
            <a:ext cx="109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800">
                <a:latin typeface="Tahoma" panose="020B0604030504040204" pitchFamily="34" charset="0"/>
              </a:rPr>
              <a:t>primer01</a:t>
            </a:r>
            <a:endParaRPr lang="en-GB" altLang="sr-Latn-RS" sz="1800">
              <a:latin typeface="Tahoma" panose="020B0604030504040204" pitchFamily="34" charset="0"/>
            </a:endParaRPr>
          </a:p>
        </p:txBody>
      </p:sp>
      <p:sp>
        <p:nvSpPr>
          <p:cNvPr id="14342" name="Text Box 5">
            <a:extLst>
              <a:ext uri="{FF2B5EF4-FFF2-40B4-BE49-F238E27FC236}">
                <a16:creationId xmlns:a16="http://schemas.microsoft.com/office/drawing/2014/main" id="{E6AB3449-1482-BFA4-9C8F-5F4D0221A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0" y="1052513"/>
            <a:ext cx="1092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800">
                <a:latin typeface="Tahoma" panose="020B0604030504040204" pitchFamily="34" charset="0"/>
              </a:rPr>
              <a:t>primer02</a:t>
            </a:r>
            <a:endParaRPr lang="en-GB" altLang="sr-Latn-R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7C58597C-4EFC-34D6-518F-3EB42DC4A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 – hello klijent/server</a:t>
            </a:r>
            <a:endParaRPr lang="en-GB" altLang="sr-Latn-RS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0984FC58-A0D3-061A-590E-141A83887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1440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Klijent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klijent uspostavlja vezu sa serverom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šalje tekst “HELLO” (zahtev)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čita odgovor servera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završava komunikaciju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Server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čeka klijente u beskonačnoj petlji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za svakog klijenta pokreće poseban thread za obradu: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/>
              <a:t>čita zahtev klijenta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/>
              <a:t>šalje odgovor – redni broj obrađenog zahteva</a:t>
            </a:r>
            <a:endParaRPr lang="en-GB" altLang="sr-Latn-RS"/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4E74DAB3-ADA1-F3A1-FD6D-D1346C9F0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0" y="1412876"/>
            <a:ext cx="109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800">
                <a:latin typeface="Tahoma" panose="020B0604030504040204" pitchFamily="34" charset="0"/>
              </a:rPr>
              <a:t>primer03</a:t>
            </a:r>
            <a:endParaRPr lang="en-GB" altLang="sr-Latn-R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4A1F0437-E75D-3A10-E0C8-CE01ACDC3E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Prenos podataka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CF93831-9E13-6059-F09E-F30383420E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Prenos varijabilne količine podataka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Problem: kako da server zna kada smo završili sa prenosom podataka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kod datoteka smo imali indikator kraja datoteke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kod mrežnih </a:t>
            </a:r>
            <a:r>
              <a:rPr lang="en-US" altLang="sr-Latn-RS"/>
              <a:t>tokova </a:t>
            </a:r>
            <a:r>
              <a:rPr lang="sr-Latn-CS" altLang="sr-Latn-RS"/>
              <a:t>to </a:t>
            </a:r>
            <a:r>
              <a:rPr lang="sr-Latn-CS" altLang="sr-Latn-RS" b="1"/>
              <a:t>nemamo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Rešenje: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unapred poslati broj elemenata, pa same elemente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poslati elemente, pa zatim marker kraja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specijalna oznaka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oznaka novog reda kod prenosa podataka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1F641660-088A-05DB-98ED-2823A32C3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Primer – listanje direktorijuma na serveru</a:t>
            </a:r>
            <a:endParaRPr lang="en-GB" altLang="sr-Latn-RS" sz="4000"/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A2076E9-61A5-4272-8545-A902306A2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1440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Klijent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klijent uspostavlja vezu sa serverom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šalje putanju na serveru koja se lista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čita odgovor servera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završava komunikaciju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Server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čeka klijente u beskonačnoj petlji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za svakog klijenta pokreće poseban thread za obradu: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čita putanju koju je klijent poslao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lista zadati direktorijum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šalje odgovor – spisak stavki iz direktorijuma</a:t>
            </a:r>
            <a:endParaRPr lang="en-GB" altLang="sr-Latn-RS"/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F310E735-82D7-FE89-4D37-DE21C726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0" y="1125538"/>
            <a:ext cx="1092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800">
                <a:latin typeface="Tahoma" panose="020B0604030504040204" pitchFamily="34" charset="0"/>
              </a:rPr>
              <a:t>primer04</a:t>
            </a:r>
            <a:endParaRPr lang="en-GB" altLang="sr-Latn-R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4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4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49104BB7-40F2-0B76-B267-AEEF4BF51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Primer – registracija korisnika na serveru</a:t>
            </a:r>
            <a:endParaRPr lang="en-GB" altLang="sr-Latn-RS" sz="4000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6FEF208-0899-B86C-F0C4-C33F24B1A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1440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Klijent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klijent uspostavlja vezu sa serverom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šalje korisničko ime za registraciju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čita odgovor servera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završava komunikaciju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Server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čeka klijente u beskonačnoj petlji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za svakog klijenta pokreće poseban thread za obradu: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čita korisničko ime koj</a:t>
            </a:r>
            <a:r>
              <a:rPr lang="en-US" altLang="sr-Latn-RS"/>
              <a:t>e</a:t>
            </a:r>
            <a:r>
              <a:rPr lang="sr-Latn-CS" altLang="sr-Latn-RS"/>
              <a:t> je klijent poslao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doda to ime u listu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izlista spisak prijavljenih korisnika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šalje odgovor – spisak registrovanih korisnika</a:t>
            </a:r>
            <a:endParaRPr lang="en-GB" altLang="sr-Latn-RS"/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01425E38-5E6A-F5CF-6313-BD494BF2C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0" y="1052513"/>
            <a:ext cx="1092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800">
                <a:latin typeface="Tahoma" panose="020B0604030504040204" pitchFamily="34" charset="0"/>
              </a:rPr>
              <a:t>primer05</a:t>
            </a:r>
            <a:endParaRPr lang="en-GB" altLang="sr-Latn-R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4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819</Words>
  <Application>Microsoft Office PowerPoint</Application>
  <PresentationFormat>Widescreen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Tahoma</vt:lpstr>
      <vt:lpstr>Office Theme</vt:lpstr>
      <vt:lpstr>Mrežno programiranje u Javi</vt:lpstr>
      <vt:lpstr>Osnovne odrednice</vt:lpstr>
      <vt:lpstr>Socket 1/2</vt:lpstr>
      <vt:lpstr>Socket 2/2</vt:lpstr>
      <vt:lpstr>Identifikacija čvorova mreže</vt:lpstr>
      <vt:lpstr>Klasa Socket</vt:lpstr>
      <vt:lpstr>Klasa ServerSocket</vt:lpstr>
      <vt:lpstr>PowerPoint Presentation</vt:lpstr>
      <vt:lpstr>PowerPoint Presentation</vt:lpstr>
      <vt:lpstr>PowerPoint Presentation</vt:lpstr>
      <vt:lpstr>Praćenje korisničke sesije</vt:lpstr>
      <vt:lpstr>Prenos podataka</vt:lpstr>
      <vt:lpstr>Primer – hello klijent/server</vt:lpstr>
      <vt:lpstr>Prenos podataka</vt:lpstr>
      <vt:lpstr>Primer – listanje direktorijuma na serveru</vt:lpstr>
      <vt:lpstr>Primer – registracija korisnika na serveru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319</cp:revision>
  <dcterms:created xsi:type="dcterms:W3CDTF">2024-06-23T14:59:21Z</dcterms:created>
  <dcterms:modified xsi:type="dcterms:W3CDTF">2024-09-23T17:41:37Z</dcterms:modified>
</cp:coreProperties>
</file>