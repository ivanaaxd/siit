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21" r:id="rId2"/>
    <p:sldId id="286" r:id="rId3"/>
    <p:sldId id="287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290" r:id="rId12"/>
    <p:sldId id="301" r:id="rId13"/>
    <p:sldId id="291" r:id="rId14"/>
    <p:sldId id="329" r:id="rId15"/>
    <p:sldId id="330" r:id="rId16"/>
    <p:sldId id="338" r:id="rId17"/>
    <p:sldId id="362" r:id="rId18"/>
    <p:sldId id="339" r:id="rId19"/>
    <p:sldId id="331" r:id="rId20"/>
    <p:sldId id="332" r:id="rId21"/>
    <p:sldId id="333" r:id="rId22"/>
    <p:sldId id="345" r:id="rId23"/>
    <p:sldId id="346" r:id="rId24"/>
    <p:sldId id="347" r:id="rId25"/>
    <p:sldId id="348" r:id="rId26"/>
    <p:sldId id="349" r:id="rId27"/>
    <p:sldId id="350" r:id="rId28"/>
    <p:sldId id="359" r:id="rId29"/>
    <p:sldId id="351" r:id="rId30"/>
    <p:sldId id="352" r:id="rId31"/>
    <p:sldId id="353" r:id="rId32"/>
    <p:sldId id="354" r:id="rId33"/>
    <p:sldId id="355" r:id="rId34"/>
    <p:sldId id="356" r:id="rId35"/>
    <p:sldId id="358" r:id="rId36"/>
    <p:sldId id="361" r:id="rId37"/>
    <p:sldId id="341" r:id="rId38"/>
    <p:sldId id="335" r:id="rId39"/>
    <p:sldId id="342" r:id="rId40"/>
    <p:sldId id="360" r:id="rId41"/>
    <p:sldId id="337" r:id="rId42"/>
    <p:sldId id="363" r:id="rId43"/>
    <p:sldId id="292" r:id="rId44"/>
    <p:sldId id="302" r:id="rId45"/>
    <p:sldId id="312" r:id="rId46"/>
    <p:sldId id="303" r:id="rId47"/>
    <p:sldId id="344" r:id="rId48"/>
    <p:sldId id="343" r:id="rId49"/>
    <p:sldId id="364" r:id="rId50"/>
    <p:sldId id="314" r:id="rId51"/>
    <p:sldId id="315" r:id="rId52"/>
    <p:sldId id="316" r:id="rId53"/>
    <p:sldId id="317" r:id="rId54"/>
    <p:sldId id="318" r:id="rId55"/>
    <p:sldId id="31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0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C524C-9C41-4B4F-9CCC-D74CA0161345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F5700-BB15-4C20-98EF-D210316F5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6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E12FDC7-FF14-14AA-B091-DDAA52BC7B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72754EE-53A6-D1F8-149F-914D4982BF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E131699-0F9C-7BFC-BBBF-BD4B984CEC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BEC9FA6-D8CA-8D22-1FCB-734DF23BD2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072DA0-E95F-3755-10BF-09053DF160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60783D7-CC88-9CD1-5D49-AF22558820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F1997E8-2066-A72C-349C-9D43337D38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71FA887-8482-834C-C78B-5B7930CA75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2F4A40B-38A5-D008-285D-092DAEEC55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8B791BD-8AA2-3597-0305-F534FFC0DF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F346EEA-7A32-5794-7ABE-06253D83D9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BDE678A-B164-A0E8-FE4C-CA318D14E6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r-Latn-CS" altLang="sr-Latn-R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7040-93A9-4675-F7FF-508C4166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A772B-A4AF-B0FA-045D-3C731EDA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8-0253-A9B5-1691-3C82C315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D4AA-F227-24A8-ED64-A09DA2CD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4AAD-7DDE-E3C3-416D-C09A8C5B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6B4-3AF4-0DF1-5651-C10D0557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86D4-7B03-F5A5-6BC2-5E4911AA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7FC6-AF0A-6FEA-972C-291CA53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5F42-147D-984F-1359-CFC559C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320F-4A9F-99BE-E1DE-0EE74FB818B7}"/>
              </a:ext>
            </a:extLst>
          </p:cNvPr>
          <p:cNvSpPr txBox="1"/>
          <p:nvPr userDrawn="1"/>
        </p:nvSpPr>
        <p:spPr>
          <a:xfrm>
            <a:off x="8531784" y="6356350"/>
            <a:ext cx="2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A14D2B-0CBB-457A-9F05-29C63F22DBAF}" type="slidenum">
              <a:rPr lang="en-US" smtClean="0"/>
              <a:pPr algn="r"/>
              <a:t>‹#›</a:t>
            </a:fld>
            <a:r>
              <a:rPr lang="sr-Latn-RS"/>
              <a:t>/55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158-600A-7B44-F8E6-0EEE2873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1524-A0EC-4343-1405-80E1F59C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4C26-C1DC-110F-A852-9234C89B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5CE8-579C-2FE6-7AE0-87827B0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08A-6073-E947-02D3-29A25A91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18CD-52B1-84C9-C244-6C19987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54D6-36C9-DA0B-5793-91AF99B2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6BAA-2951-D0F8-E265-8908FEF3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B99FA-8A27-77D0-85B7-651C6013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FC90-137A-3AE2-4BCD-069328F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121C-4C6B-3B90-5CDA-7E06B81F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E6D-0755-409D-87A3-7037D3F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9466-4B5B-5912-7427-D124BB9E7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7CFB-B240-851F-0788-AE020D853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704A-8CA9-C9BE-B430-2975CAED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9802-AF13-DFFC-E3B5-2C42A8AF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DF7AA-FD47-4B47-337F-F3DDB1D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75B2-7F6A-D27D-3EE6-7DE6EB63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0D707-682E-D171-5A09-8E3A617C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42C-F193-6542-A8F5-0F48D87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C420-B93B-8386-002F-A9F6CC3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86D5-C2BB-6CF3-566C-EC28D943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5D73C-0D1A-13BE-488F-3AAFF4A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B729-1076-5C6E-5CF0-D958D3B7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05B74-5AC7-B0A8-791E-58405A07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E23-0854-520F-9ED3-7193F48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07AB-C89F-4C24-1FC5-2BFE3775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2849-2E96-C422-D56E-4D7BA73A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117B-3719-B75E-4A8F-0350D2D8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8244-9FFE-D1E5-E260-44D99EF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BA5A-B6F7-4B01-89C6-ACBE0CD3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471-A51A-9389-972B-536BF46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976-7786-93A4-8A7B-B996F877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259C9-F4A4-D731-65EC-8D3CE449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C94F-D5CA-85EA-E0AD-8AAC9FE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5B2C-05F2-6241-2174-126402FC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F83E-9529-D344-3253-163A24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617A-45A4-6BCA-0712-C6F750A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9B1-189B-EB36-770E-EF00F7C0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84DA-E3D6-03A6-52B0-3367EE0A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2624-182F-293A-1401-9EA45A61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9A9E-685B-C336-E5D2-3C01DED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1E30-E19B-513E-01CE-FA7F366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1AC05-A6BA-3ED2-228C-9D14FF8A6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33D21-662C-E5D0-805A-F229B846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FC67-3709-C7CD-9EC5-05F810DC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63EC-D458-FEE4-5004-B1F6D8D9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F920-1FBA-8A8E-D54E-4EFA46C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8D2FE-161B-52B0-AA8C-E8ECB0CE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4B048-4B83-3B0B-95E3-6C551EF5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48C-F85D-4492-BF34-6C798212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37E-F23C-3F89-595D-34947AE3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572-F303-313B-C97E-5EF31BA0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2DBF219F-D5FE-180D-880C-F57634D915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US" altLang="sr-Latn-RS"/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64412E7D-A814-B442-469D-BD9F47A16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altLang="sr-Latn-RS"/>
              <a:t>Aspekt-orijentisano programiranje</a:t>
            </a:r>
            <a:endParaRPr lang="sr-Latn-RS" altLang="sr-Latn-R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523C647-09D9-2A21-4AB9-B54F494C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AOP – uvod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3FAC6558-DD61-00DD-DC11-DB9AFC16D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Aspect Oriented Programming</a:t>
            </a:r>
          </a:p>
          <a:p>
            <a:pPr eaLnBrk="1" hangingPunct="1"/>
            <a:r>
              <a:rPr lang="en-US" altLang="sr-Latn-RS"/>
              <a:t>Aspekt-orijentisano programiranje</a:t>
            </a:r>
          </a:p>
          <a:p>
            <a:pPr eaLnBrk="1" hangingPunct="1"/>
            <a:r>
              <a:rPr lang="en-US" altLang="sr-Latn-RS"/>
              <a:t>Bazira se na razdvajanju zaduženja</a:t>
            </a:r>
          </a:p>
          <a:p>
            <a:pPr lvl="1" eaLnBrk="1" hangingPunct="1"/>
            <a:r>
              <a:rPr lang="en-US" altLang="sr-Latn-RS"/>
              <a:t>sa postojećom OO paradigmom nije jednostavno/moguće razdvojiti zaduženja</a:t>
            </a:r>
          </a:p>
          <a:p>
            <a:pPr lvl="1" eaLnBrk="1" hangingPunct="1"/>
            <a:r>
              <a:rPr lang="en-US" altLang="sr-Latn-RS"/>
              <a:t>modularnost deli zaduženja po jednoj osi (na klase), a po drugoj ostaje puno funkcionalnosti upletene u postojeće module/klase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A6E8FD2-BCCB-6678-7FDD-B7A70C30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AOP – uvod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216BF3F7-3CFB-BDC4-BEB7-910AFA8D1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1433"/>
            <a:ext cx="9372600" cy="4394731"/>
          </a:xfrm>
        </p:spPr>
        <p:txBody>
          <a:bodyPr/>
          <a:lstStyle/>
          <a:p>
            <a:pPr eaLnBrk="1" hangingPunct="1"/>
            <a:r>
              <a:rPr lang="en-US" altLang="sr-Latn-RS"/>
              <a:t>Moduli/klase su često sa izmešanim zaduženjem:</a:t>
            </a:r>
          </a:p>
          <a:p>
            <a:pPr lvl="1" eaLnBrk="1" hangingPunct="1"/>
            <a:r>
              <a:rPr lang="en-US" altLang="sr-Latn-RS"/>
              <a:t>poslovna logika</a:t>
            </a:r>
          </a:p>
          <a:p>
            <a:pPr lvl="1" eaLnBrk="1" hangingPunct="1"/>
            <a:r>
              <a:rPr lang="en-US" altLang="sr-Latn-RS"/>
              <a:t>bezbednost</a:t>
            </a:r>
          </a:p>
          <a:p>
            <a:pPr lvl="1" eaLnBrk="1" hangingPunct="1"/>
            <a:r>
              <a:rPr lang="en-US" altLang="sr-Latn-RS"/>
              <a:t>logovanje</a:t>
            </a:r>
          </a:p>
          <a:p>
            <a:pPr lvl="1" eaLnBrk="1" hangingPunct="1"/>
            <a:r>
              <a:rPr lang="en-US" altLang="sr-Latn-RS"/>
              <a:t>perzistencija</a:t>
            </a:r>
          </a:p>
          <a:p>
            <a:pPr eaLnBrk="1" hangingPunct="1"/>
            <a:r>
              <a:rPr lang="en-US" altLang="sr-Latn-RS"/>
              <a:t>U okviru svake klase, pa čak i metode, često imamo navedena zaduženja</a:t>
            </a:r>
          </a:p>
          <a:p>
            <a:pPr eaLnBrk="1" hangingPunct="1"/>
            <a:r>
              <a:rPr lang="en-US" altLang="sr-Latn-RS"/>
              <a:t>AOP ne zamenjuje OOP, već ga dopunjuje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7FCEC1A-246E-F42C-EE57-55F2968E74B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Motivacija (code scattering)</a:t>
            </a:r>
            <a:endParaRPr lang="sr-Latn-CS" altLang="sr-Latn-RS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35AF637B-D19B-15FE-79F2-65F4B0F5E7D4}"/>
              </a:ext>
            </a:extLst>
          </p:cNvPr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8214" y="1557338"/>
            <a:ext cx="7786687" cy="403225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95048FE-A0F4-B1BC-FB3A-690D761EBA3A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Motivacija (code scattering)</a:t>
            </a:r>
            <a:endParaRPr lang="sr-Latn-CS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71DC0F6-3990-BA7E-211C-8722A177BAB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981200" y="1412876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sr-Latn-RS" sz="2000"/>
              <a:t>public void  credit(Money m)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/>
              <a:t>  </a:t>
            </a:r>
            <a:r>
              <a:rPr lang="en-US" altLang="sr-Latn-RS" sz="2000">
                <a:solidFill>
                  <a:srgbClr val="33CC33"/>
                </a:solidFill>
              </a:rPr>
              <a:t>if (unauthorized())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>
                <a:solidFill>
                  <a:srgbClr val="33CC33"/>
                </a:solidFill>
              </a:rPr>
              <a:t>    throw new ...();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/>
              <a:t>  </a:t>
            </a:r>
            <a:r>
              <a:rPr lang="en-US" altLang="sr-Latn-RS" sz="2000">
                <a:solidFill>
                  <a:schemeClr val="hlink"/>
                </a:solidFill>
              </a:rPr>
              <a:t>Money saveBalance = balance;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>
                <a:solidFill>
                  <a:schemeClr val="hlink"/>
                </a:solidFill>
              </a:rPr>
              <a:t>  try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>
                <a:solidFill>
                  <a:schemeClr val="hlink"/>
                </a:solidFill>
              </a:rPr>
              <a:t>    beginTransaction();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/>
              <a:t>    balance += m;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/>
              <a:t>    </a:t>
            </a:r>
            <a:r>
              <a:rPr lang="en-US" altLang="sr-Latn-RS" sz="2000">
                <a:solidFill>
                  <a:srgbClr val="FF9900"/>
                </a:solidFill>
              </a:rPr>
              <a:t>persistBalance(balance);  </a:t>
            </a:r>
            <a:endParaRPr lang="sr-Latn-CS" altLang="sr-Latn-RS" sz="2000">
              <a:solidFill>
                <a:srgbClr val="FF9900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latin typeface="Arial" panose="020B0604020202020204" pitchFamily="34" charset="0"/>
              </a:rPr>
              <a:t>  } </a:t>
            </a:r>
            <a:endParaRPr lang="en-US" altLang="sr-Latn-RS" sz="200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solidFill>
                  <a:srgbClr val="FF00FF"/>
                </a:solidFill>
                <a:latin typeface="Arial" panose="020B0604020202020204" pitchFamily="34" charset="0"/>
              </a:rPr>
              <a:t>catch (...) {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solidFill>
                  <a:srgbClr val="FF00FF"/>
                </a:solidFill>
                <a:latin typeface="Arial" panose="020B0604020202020204" pitchFamily="34" charset="0"/>
              </a:rPr>
              <a:t>    balance = savedBalance;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latin typeface="Arial" panose="020B0604020202020204" pitchFamily="34" charset="0"/>
              </a:rPr>
              <a:t>  } finally {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solidFill>
                  <a:schemeClr val="hlink"/>
                </a:solidFill>
                <a:latin typeface="Arial" panose="020B0604020202020204" pitchFamily="34" charset="0"/>
              </a:rPr>
              <a:t>    endTransaction();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latin typeface="Arial" panose="020B0604020202020204" pitchFamily="34" charset="0"/>
              </a:rPr>
              <a:t>  }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CS" altLang="sr-Latn-RS" sz="2000">
                <a:latin typeface="Arial" panose="020B0604020202020204" pitchFamily="34" charset="0"/>
              </a:rPr>
              <a:t>}</a:t>
            </a:r>
            <a:r>
              <a:rPr lang="sr-Latn-CS" altLang="sr-Latn-RS" sz="2000"/>
              <a:t> 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E1F1322-2CB2-2804-2FEF-CB541D64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578" y="3467097"/>
            <a:ext cx="2305050" cy="2889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>
              <a:latin typeface="Arial" panose="020B0604020202020204" pitchFamily="34" charset="0"/>
            </a:endParaRP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E9C46D49-4D8B-FAB8-BD74-34EA4B9079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676" y="3068639"/>
            <a:ext cx="2305050" cy="5550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9BE94123-A63D-682F-9B6D-769C01A6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6" y="2781300"/>
            <a:ext cx="35274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sr-Latn-RS" sz="1800">
                <a:latin typeface="Arial" panose="020B0604020202020204" pitchFamily="34" charset="0"/>
              </a:rPr>
              <a:t>samo ovo je kod koji implementira poslovnu logiku!</a:t>
            </a:r>
            <a:endParaRPr lang="sr-Latn-CS" altLang="sr-Latn-R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94E6C91-0B61-5B2D-F932-EFB8766B4A1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Motivacija (code scattering)</a:t>
            </a:r>
            <a:endParaRPr lang="sr-Latn-CS" altLang="sr-Latn-RS"/>
          </a:p>
        </p:txBody>
      </p:sp>
      <p:pic>
        <p:nvPicPr>
          <p:cNvPr id="9219" name="Picture 5">
            <a:extLst>
              <a:ext uri="{FF2B5EF4-FFF2-40B4-BE49-F238E27FC236}">
                <a16:creationId xmlns:a16="http://schemas.microsoft.com/office/drawing/2014/main" id="{A2CA7DB7-CB31-BC99-73B7-EA8BE688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2349500"/>
            <a:ext cx="7272337" cy="399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6">
            <a:extLst>
              <a:ext uri="{FF2B5EF4-FFF2-40B4-BE49-F238E27FC236}">
                <a16:creationId xmlns:a16="http://schemas.microsoft.com/office/drawing/2014/main" id="{6ECF24C9-963F-5A98-8796-4A3FBEBE2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1341438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sr-Latn-RS" sz="2400">
                <a:latin typeface="Arial" panose="020B0604020202020204" pitchFamily="34" charset="0"/>
              </a:rPr>
              <a:t>Trenutno stanje:</a:t>
            </a:r>
            <a:endParaRPr lang="sr-Latn-CS" altLang="sr-Latn-R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7104FD-58CF-A88D-FD88-20F5536A825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Motivacija (code scattering) - Cilj</a:t>
            </a:r>
            <a:endParaRPr lang="sr-Latn-CS" altLang="sr-Latn-RS"/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A2D6E0A2-8EB1-363E-77B0-05F065DADBF2}"/>
              </a:ext>
            </a:extLst>
          </p:cNvPr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659A998E-3A38-94BB-142C-B3A77F65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Motivacija (code scattering)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4387620-454B-56FA-4A33-8BC33E98F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Primer: </a:t>
            </a:r>
            <a:r>
              <a:rPr lang="sr-Latn-R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pisanje loga</a:t>
            </a:r>
            <a:r>
              <a:rPr lang="en-U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 u aplikaciji</a:t>
            </a:r>
          </a:p>
          <a:p>
            <a:pPr lvl="1" eaLnBrk="1" hangingPunct="1"/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nalazi se svuda, u svakoj metodi</a:t>
            </a:r>
          </a:p>
          <a:p>
            <a:pPr lvl="1" eaLnBrk="1" hangingPunct="1"/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ako se izvadi iz metoda i ubaci u aspekte, kod ostaje čist</a:t>
            </a:r>
          </a:p>
          <a:p>
            <a:r>
              <a:rPr lang="sr-Latn-C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Potrebno je logovati:</a:t>
            </a:r>
          </a:p>
          <a:p>
            <a:pPr lvl="1"/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ime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endParaRPr lang="sr-Latn-CS" altLang="sr-Latn-R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ime i vrednost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svih </a:t>
            </a:r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pa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rametara</a:t>
            </a:r>
            <a:endParaRPr lang="sr-Latn-CS" altLang="sr-Latn-R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ime korisnik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 koji je pokrenuo </a:t>
            </a:r>
            <a:r>
              <a:rPr lang="en-US" altLang="sr-Latn-RS">
                <a:latin typeface="Arial" panose="020B0604020202020204" pitchFamily="34" charset="0"/>
                <a:cs typeface="Arial" panose="020B0604020202020204" pitchFamily="34" charset="0"/>
              </a:rPr>
              <a:t>poslovnu </a:t>
            </a:r>
            <a:r>
              <a:rPr lang="sr-Latn-CS" altLang="sr-Latn-RS">
                <a:latin typeface="Arial" panose="020B0604020202020204" pitchFamily="34" charset="0"/>
                <a:cs typeface="Arial" panose="020B0604020202020204" pitchFamily="34" charset="0"/>
              </a:rPr>
              <a:t>transakciju</a:t>
            </a:r>
            <a:endParaRPr lang="en-US" altLang="sr-Latn-R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C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Šta ako je zahtev za logovanjem stigao naknadno (u fazi održavanja)?</a:t>
            </a:r>
            <a:endParaRPr lang="en-US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0A33EDB-2509-09D7-343B-D8553EA807A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Motivacija (code scattering)</a:t>
            </a:r>
            <a:endParaRPr lang="sr-Latn-CS" altLang="sr-Latn-RS">
              <a:latin typeface="Arial" panose="020B0604020202020204" pitchFamily="34" charset="0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056D70EA-F863-6A58-7B8C-C27B178D700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825625"/>
            <a:ext cx="10515600" cy="4667250"/>
          </a:xfrm>
          <a:noFill/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aspect LoggingAspect {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private static Logger _logger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= Logger.getLogger("banking");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pointcut loggedOperations() : execution(* banking..*.*(..))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&amp;&amp; !within(LoggingAspect);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before() : loggedOperations() {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Signature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thisJoinPointStaticPart.getSignature();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_logger.logp(</a:t>
            </a:r>
            <a:endParaRPr lang="sr-Latn-R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Level.INFO,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.getDeclaringType().getName(),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.getName(), "Entering");</a:t>
            </a:r>
            <a:endParaRPr lang="sr-Latn-C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sr-Latn-C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//preuzeti jos parametre i ispisati ih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519CC1-2873-5256-E4F3-CF77500B3BC4}"/>
              </a:ext>
            </a:extLst>
          </p:cNvPr>
          <p:cNvGrpSpPr/>
          <p:nvPr/>
        </p:nvGrpSpPr>
        <p:grpSpPr>
          <a:xfrm>
            <a:off x="5665789" y="3327400"/>
            <a:ext cx="3007253" cy="963487"/>
            <a:chOff x="5665789" y="3327400"/>
            <a:chExt cx="3007253" cy="963487"/>
          </a:xfrm>
        </p:grpSpPr>
        <p:sp>
          <p:nvSpPr>
            <p:cNvPr id="12293" name="Line 6">
              <a:extLst>
                <a:ext uri="{FF2B5EF4-FFF2-40B4-BE49-F238E27FC236}">
                  <a16:creationId xmlns:a16="http://schemas.microsoft.com/office/drawing/2014/main" id="{DE74D79E-9167-70C0-61B8-D24A8FC61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3577166"/>
              <a:ext cx="424392" cy="3349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Text Box 7">
              <a:extLst>
                <a:ext uri="{FF2B5EF4-FFF2-40B4-BE49-F238E27FC236}">
                  <a16:creationId xmlns:a16="http://schemas.microsoft.com/office/drawing/2014/main" id="{15DE8762-2175-835E-6A73-0314DDC05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7992" y="3767667"/>
              <a:ext cx="23050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sr-Latn-CS" altLang="sr-Latn-RS" sz="1400">
                  <a:solidFill>
                    <a:schemeClr val="accent2"/>
                  </a:solidFill>
                  <a:latin typeface="Arial" panose="020B0604020202020204" pitchFamily="34" charset="0"/>
                </a:rPr>
                <a:t>ime paketa koji sadrži poslovnu logiku</a:t>
              </a:r>
            </a:p>
          </p:txBody>
        </p:sp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CAB2134A-0C3F-1177-7D49-AE9B45C68D4E}"/>
                </a:ext>
              </a:extLst>
            </p:cNvPr>
            <p:cNvSpPr/>
            <p:nvPr/>
          </p:nvSpPr>
          <p:spPr>
            <a:xfrm rot="5400000">
              <a:off x="5824539" y="3168650"/>
              <a:ext cx="249766" cy="56726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EB7A47C-C46B-F339-67E3-21AF872B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3600"/>
              <a:t>Motivacija (crosscutting functionalities)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513D2354-4ADD-0788-8EC2-BACB9D1D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364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sr-Latn-RS" sz="3200"/>
              <a:t>Primer: mušterije imaju narudžbe</a:t>
            </a:r>
          </a:p>
          <a:p>
            <a:pPr lvl="1" eaLnBrk="1" hangingPunct="1"/>
            <a:r>
              <a:rPr lang="en-US" altLang="sr-Latn-RS" sz="2800"/>
              <a:t>mušteriju ne smemo obrisati dokle god postoje neplaćene narudžbe</a:t>
            </a:r>
          </a:p>
          <a:p>
            <a:pPr lvl="2" eaLnBrk="1" hangingPunct="1"/>
            <a:r>
              <a:rPr lang="en-US" altLang="sr-Latn-RS" sz="2400"/>
              <a:t>mušteriju generalno ne treba brisati, ali za svrhu primera, analiziraćemo ovaj scenario</a:t>
            </a:r>
          </a:p>
          <a:p>
            <a:pPr lvl="1" eaLnBrk="1" hangingPunct="1"/>
            <a:r>
              <a:rPr lang="en-US" altLang="sr-Latn-RS" sz="2800"/>
              <a:t>klasu koja reprezentuje mušteriju ne bi trebalo da proširujemo proverom neplaćenih narudžbi zbog ponovne upotrebe u nekom drugom projektu</a:t>
            </a:r>
          </a:p>
          <a:p>
            <a:pPr lvl="2" eaLnBrk="1" hangingPunct="1"/>
            <a:r>
              <a:rPr lang="en-US" altLang="sr-Latn-RS" sz="2400"/>
              <a:t>možda nekim referencijalnim integritetom, ali onda se ugrađuje u bazu podataka, a ne u biznis-logiku</a:t>
            </a:r>
          </a:p>
          <a:p>
            <a:pPr lvl="1" eaLnBrk="1" hangingPunct="1"/>
            <a:r>
              <a:rPr lang="en-US" altLang="sr-Latn-RS" sz="2800"/>
              <a:t>aspekti bi ovo rešili relativno elegantno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1B4DCC9-3D2D-3C45-71ED-B51A60234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Motivacija (relativno jednostavno)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AF28983D-12D8-2DDC-B5C7-13CBE72EB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 sz="3600"/>
              <a:t>Prema JPA specifikaciji, promena vrednosti atributa nekog objekta mora da se snimi u bazu podataka</a:t>
            </a:r>
          </a:p>
          <a:p>
            <a:pPr lvl="1" eaLnBrk="1" hangingPunct="1"/>
            <a:r>
              <a:rPr lang="en-US" altLang="sr-Latn-RS" sz="3200"/>
              <a:t>lak način realizacije ovog koncepta </a:t>
            </a:r>
            <a:r>
              <a:rPr lang="sr-Latn-RS" altLang="sr-Latn-RS" sz="3200"/>
              <a:t>je </a:t>
            </a:r>
            <a:r>
              <a:rPr lang="en-US" altLang="sr-Latn-RS" sz="3200"/>
              <a:t>upotreb</a:t>
            </a:r>
            <a:r>
              <a:rPr lang="sr-Latn-RS" altLang="sr-Latn-RS" sz="3200"/>
              <a:t>om</a:t>
            </a:r>
            <a:r>
              <a:rPr lang="en-US" altLang="sr-Latn-RS" sz="3200"/>
              <a:t> AOP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5C86C95-2CA4-26ED-6782-4A0BE2F1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Motivacija (relativno jednostavno)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1FFC70B8-047D-FCBF-1BB4-D2F39BD0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r-Latn-RS" sz="3600"/>
              <a:t>EJB3.0, Spring i druga okruženja podržavaju </a:t>
            </a:r>
            <a:r>
              <a:rPr lang="en-US" altLang="sr-Latn-RS" sz="3600" i="1"/>
              <a:t>Dependancy Injection</a:t>
            </a:r>
            <a:r>
              <a:rPr lang="en-US" altLang="sr-Latn-RS" sz="3600"/>
              <a:t> koncept</a:t>
            </a:r>
          </a:p>
          <a:p>
            <a:pPr lvl="1"/>
            <a:r>
              <a:rPr lang="en-US" altLang="sr-Latn-RS" sz="3200"/>
              <a:t>u atribut označen specijalnom anotacijom se "ubaci" (injektuje) referenca na objekat do kojeg bi se inače došlo ručnim lookup-om po nekom JNDI stablu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43A2134-852F-9228-5A4F-AD31B681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Motivacija – rezime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3E07B3A-22F7-AD35-7613-71B24F11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625" y="4857751"/>
            <a:ext cx="8229600" cy="900113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/>
              <a:t> Bez upotrebe aspekata                Sa aspektima</a:t>
            </a: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10D766E2-F0C6-249A-72DF-8437A7A5E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4" y="1714501"/>
            <a:ext cx="2408237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>
            <a:extLst>
              <a:ext uri="{FF2B5EF4-FFF2-40B4-BE49-F238E27FC236}">
                <a16:creationId xmlns:a16="http://schemas.microsoft.com/office/drawing/2014/main" id="{8E1E8270-27AF-E761-D1F9-459F53C79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4" y="1643063"/>
            <a:ext cx="32035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C8ACE10-91FD-DE62-E4AB-67E463672D3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r-Latn-CS" altLang="sr-Latn-RS">
                <a:latin typeface="Arial" panose="020B0604020202020204" pitchFamily="34" charset="0"/>
              </a:rPr>
              <a:t>Terminologija</a:t>
            </a:r>
            <a:endParaRPr lang="en-US" altLang="sr-Latn-RS">
              <a:latin typeface="Arial" panose="020B0604020202020204" pitchFamily="34" charset="0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CBD8C38-9520-7E9A-35E8-01DBA69A353E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sr-Latn-RS" sz="2400" b="1"/>
              <a:t>Cross-cutting</a:t>
            </a:r>
            <a:r>
              <a:rPr lang="en-US" altLang="sr-Latn-RS" sz="2400"/>
              <a:t> – </a:t>
            </a:r>
            <a:r>
              <a:rPr lang="sr-Latn-CS" altLang="sr-Latn-RS" sz="2400">
                <a:latin typeface="Arial" panose="020B0604020202020204" pitchFamily="34" charset="0"/>
              </a:rPr>
              <a:t>izolovanje preseka – identifikacija rasutog koda sa sličnom funkcionalnošću</a:t>
            </a:r>
            <a:r>
              <a:rPr lang="en-US" altLang="sr-Latn-RS" sz="2400"/>
              <a:t> </a:t>
            </a:r>
            <a:br>
              <a:rPr lang="en-US" altLang="sr-Latn-RS" sz="2400"/>
            </a:br>
            <a:endParaRPr lang="en-US" altLang="sr-Latn-RS" sz="2400"/>
          </a:p>
          <a:p>
            <a:pPr>
              <a:lnSpc>
                <a:spcPct val="80000"/>
              </a:lnSpc>
            </a:pPr>
            <a:r>
              <a:rPr lang="en-US" altLang="sr-Latn-RS" sz="2400" b="1"/>
              <a:t>Advice</a:t>
            </a:r>
            <a:r>
              <a:rPr lang="en-US" altLang="sr-Latn-RS" sz="2400"/>
              <a:t> – </a:t>
            </a:r>
            <a:r>
              <a:rPr lang="sr-Latn-CS" altLang="sr-Latn-RS" sz="2400">
                <a:latin typeface="Arial" panose="020B0604020202020204" pitchFamily="34" charset="0"/>
              </a:rPr>
              <a:t>Savet – kod koji se ubacuje u postojeću klasu</a:t>
            </a:r>
            <a:r>
              <a:rPr lang="en-US" altLang="sr-Latn-RS" sz="2400">
                <a:latin typeface="Arial" panose="020B0604020202020204" pitchFamily="34" charset="0"/>
              </a:rPr>
              <a:t>/</a:t>
            </a:r>
            <a:r>
              <a:rPr lang="sr-Latn-CS" altLang="sr-Latn-RS" sz="2400">
                <a:latin typeface="Arial" panose="020B0604020202020204" pitchFamily="34" charset="0"/>
              </a:rPr>
              <a:t>metodu</a:t>
            </a:r>
            <a:endParaRPr lang="en-US" altLang="sr-Latn-RS" sz="240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sr-Latn-RS" sz="2400"/>
          </a:p>
          <a:p>
            <a:pPr>
              <a:lnSpc>
                <a:spcPct val="80000"/>
              </a:lnSpc>
            </a:pPr>
            <a:r>
              <a:rPr lang="en-US" altLang="sr-Latn-RS" sz="2400" b="1"/>
              <a:t>Joinpoint</a:t>
            </a:r>
            <a:r>
              <a:rPr lang="en-US" altLang="sr-Latn-RS" sz="2400"/>
              <a:t> – specifikacija </a:t>
            </a:r>
            <a:r>
              <a:rPr lang="sr-Latn-CS" altLang="sr-Latn-RS" sz="2400">
                <a:latin typeface="Arial" panose="020B0604020202020204" pitchFamily="34" charset="0"/>
              </a:rPr>
              <a:t>mesta u okviru jedne ili više klasa</a:t>
            </a:r>
            <a:r>
              <a:rPr lang="en-US" altLang="sr-Latn-RS" sz="2400">
                <a:latin typeface="Arial" panose="020B0604020202020204" pitchFamily="34" charset="0"/>
              </a:rPr>
              <a:t>/metoda </a:t>
            </a:r>
            <a:r>
              <a:rPr lang="sr-Latn-CS" altLang="sr-Latn-RS" sz="2400">
                <a:latin typeface="Arial" panose="020B0604020202020204" pitchFamily="34" charset="0"/>
              </a:rPr>
              <a:t>na koje se kod ubacuje</a:t>
            </a:r>
          </a:p>
          <a:p>
            <a:pPr>
              <a:lnSpc>
                <a:spcPct val="80000"/>
              </a:lnSpc>
            </a:pPr>
            <a:endParaRPr lang="en-US" altLang="sr-Latn-RS" sz="2400"/>
          </a:p>
          <a:p>
            <a:pPr>
              <a:lnSpc>
                <a:spcPct val="80000"/>
              </a:lnSpc>
            </a:pPr>
            <a:r>
              <a:rPr lang="en-US" altLang="sr-Latn-RS" sz="2400" b="1"/>
              <a:t>Pointcut</a:t>
            </a:r>
            <a:r>
              <a:rPr lang="en-US" altLang="sr-Latn-RS" sz="2400"/>
              <a:t> – skup joinpoint-a</a:t>
            </a:r>
          </a:p>
          <a:p>
            <a:pPr>
              <a:lnSpc>
                <a:spcPct val="80000"/>
              </a:lnSpc>
            </a:pPr>
            <a:endParaRPr lang="en-US" altLang="sr-Latn-RS" sz="2400"/>
          </a:p>
          <a:p>
            <a:pPr>
              <a:lnSpc>
                <a:spcPct val="80000"/>
              </a:lnSpc>
            </a:pPr>
            <a:r>
              <a:rPr lang="en-US" altLang="sr-Latn-RS" sz="2400" b="1"/>
              <a:t>Aspect</a:t>
            </a:r>
            <a:r>
              <a:rPr lang="en-US" altLang="sr-Latn-RS" sz="2400"/>
              <a:t> –</a:t>
            </a:r>
            <a:r>
              <a:rPr lang="sr-Latn-CS" altLang="sr-Latn-RS" sz="2400">
                <a:latin typeface="Arial" panose="020B0604020202020204" pitchFamily="34" charset="0"/>
              </a:rPr>
              <a:t> analogno klasi u OO programiranju. Sadrži jedan ili više saveta i pointcut-ova. Može se nasleđivati.</a:t>
            </a:r>
            <a:endParaRPr lang="en-US" altLang="sr-Latn-R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70E8DB8-53DA-5B48-3148-9A17EF56B63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solidFill>
            <a:srgbClr val="C0C0C0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3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200"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200"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200">
              <a:latin typeface="Courier New" panose="02070309020205020404" pitchFamily="49" charset="0"/>
            </a:endParaRPr>
          </a:p>
          <a:p>
            <a:pPr lvl="3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20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package com.aspect;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60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public </a:t>
            </a:r>
            <a:r>
              <a:rPr lang="en-US" altLang="sr-Latn-RS" sz="1600" b="1">
                <a:solidFill>
                  <a:srgbClr val="0000FF"/>
                </a:solidFill>
                <a:latin typeface="Courier New" panose="02070309020205020404" pitchFamily="49" charset="0"/>
              </a:rPr>
              <a:t>aspect</a:t>
            </a:r>
            <a:r>
              <a:rPr lang="en-US" altLang="sr-Latn-RS" sz="1600">
                <a:latin typeface="Courier New" panose="02070309020205020404" pitchFamily="49" charset="0"/>
              </a:rPr>
              <a:t> DemoAspect {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rgbClr val="0000FF"/>
                </a:solidFill>
                <a:latin typeface="Courier New" panose="02070309020205020404" pitchFamily="49" charset="0"/>
              </a:rPr>
              <a:t>pointcut</a:t>
            </a:r>
            <a:r>
              <a:rPr lang="en-US" altLang="sr-Latn-RS" sz="1600">
                <a:latin typeface="Courier New" panose="02070309020205020404" pitchFamily="49" charset="0"/>
              </a:rPr>
              <a:t> setterNotification() : </a:t>
            </a:r>
            <a:r>
              <a:rPr lang="en-US" altLang="sr-Latn-RS" sz="1600" b="1">
                <a:solidFill>
                  <a:srgbClr val="0000FF"/>
                </a:solidFill>
                <a:latin typeface="Courier New" panose="02070309020205020404" pitchFamily="49" charset="0"/>
              </a:rPr>
              <a:t>call</a:t>
            </a:r>
            <a:r>
              <a:rPr lang="en-US" altLang="sr-Latn-RS" sz="1600">
                <a:latin typeface="Courier New" panose="02070309020205020404" pitchFamily="49" charset="0"/>
              </a:rPr>
              <a:t>(* *.set*(..));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</a:t>
            </a:r>
            <a:r>
              <a:rPr lang="en-US" altLang="sr-Latn-RS" sz="1600" b="1">
                <a:solidFill>
                  <a:srgbClr val="0000FF"/>
                </a:solidFill>
                <a:latin typeface="Courier New" panose="02070309020205020404" pitchFamily="49" charset="0"/>
              </a:rPr>
              <a:t>before</a:t>
            </a:r>
            <a:r>
              <a:rPr lang="en-US" altLang="sr-Latn-RS" sz="1600">
                <a:latin typeface="Courier New" panose="02070309020205020404" pitchFamily="49" charset="0"/>
              </a:rPr>
              <a:t>() : setterNotification(){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	System.out.println("setting data...");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	}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sr-Latn-RS" sz="160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3205C86-E9A3-5C8A-F6DB-FE7DD2B8160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r-Latn-CS" altLang="sr-Latn-RS">
                <a:latin typeface="Arial" panose="020B0604020202020204" pitchFamily="34" charset="0"/>
              </a:rPr>
              <a:t>Terminologija</a:t>
            </a:r>
            <a:endParaRPr lang="en-US" altLang="sr-Latn-RS">
              <a:latin typeface="Arial" panose="020B0604020202020204" pitchFamily="34" charset="0"/>
            </a:endParaRP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B5E1C08-4E5E-8874-80A3-8EBF8592D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644900"/>
            <a:ext cx="6629400" cy="381000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>
              <a:latin typeface="Arial" panose="020B0604020202020204" pitchFamily="34" charset="0"/>
            </a:endParaRPr>
          </a:p>
        </p:txBody>
      </p:sp>
      <p:sp>
        <p:nvSpPr>
          <p:cNvPr id="19462" name="Line 6">
            <a:extLst>
              <a:ext uri="{FF2B5EF4-FFF2-40B4-BE49-F238E27FC236}">
                <a16:creationId xmlns:a16="http://schemas.microsoft.com/office/drawing/2014/main" id="{AC039A14-AE7E-93F4-38F0-C538C02F8F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46533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26BCFDDC-ED34-D7A0-61CC-41A6BE13B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232275"/>
            <a:ext cx="5029200" cy="838200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>
              <a:latin typeface="Arial" panose="020B0604020202020204" pitchFamily="34" charset="0"/>
            </a:endParaRP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AD19F3CF-0E37-2EA6-21BD-EF24DCF14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1533" y="3094039"/>
            <a:ext cx="7543800" cy="2590800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>
              <a:latin typeface="Arial" panose="020B0604020202020204" pitchFamily="34" charset="0"/>
            </a:endParaRPr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243DBCF6-B932-8D4A-A1DB-1186082E1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933" y="4368273"/>
            <a:ext cx="914400" cy="28098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solidFill>
                  <a:schemeClr val="bg1"/>
                </a:solidFill>
                <a:latin typeface="Arial" panose="020B0604020202020204" pitchFamily="34" charset="0"/>
              </a:rPr>
              <a:t>Advice</a:t>
            </a:r>
          </a:p>
        </p:txBody>
      </p:sp>
      <p:sp>
        <p:nvSpPr>
          <p:cNvPr id="19466" name="Line 10">
            <a:extLst>
              <a:ext uri="{FF2B5EF4-FFF2-40B4-BE49-F238E27FC236}">
                <a16:creationId xmlns:a16="http://schemas.microsoft.com/office/drawing/2014/main" id="{018C6533-6C64-C574-CAA2-5DCE6FEE18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6333" y="4444472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CA300499-15C1-998B-799B-F4998BD79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533" y="2555348"/>
            <a:ext cx="914400" cy="280987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solidFill>
                  <a:schemeClr val="bg1"/>
                </a:solidFill>
                <a:latin typeface="Arial" panose="020B0604020202020204" pitchFamily="34" charset="0"/>
              </a:rPr>
              <a:t>Aspect</a:t>
            </a:r>
          </a:p>
        </p:txBody>
      </p:sp>
      <p:sp>
        <p:nvSpPr>
          <p:cNvPr id="19468" name="Line 12">
            <a:extLst>
              <a:ext uri="{FF2B5EF4-FFF2-40B4-BE49-F238E27FC236}">
                <a16:creationId xmlns:a16="http://schemas.microsoft.com/office/drawing/2014/main" id="{4274F4C9-3DF4-D67E-AFEE-A9A07F86C5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1933" y="2783947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FE6BCFFB-7073-A251-04D8-5CE95160C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5133" y="3429000"/>
            <a:ext cx="914400" cy="28098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sr-Latn-RS" sz="1200">
                <a:solidFill>
                  <a:schemeClr val="bg1"/>
                </a:solidFill>
                <a:latin typeface="Arial" panose="020B0604020202020204" pitchFamily="34" charset="0"/>
              </a:rPr>
              <a:t>Point-cut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FBD9ED14-9578-2E99-6F69-A6DB694A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Joinpoint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BF448885-4495-0A68-95BC-1E6D631AA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 sz="3600"/>
              <a:t>Tačka u izvršenju koda gde se aspekt može primeniti</a:t>
            </a:r>
          </a:p>
          <a:p>
            <a:pPr lvl="1" eaLnBrk="1" hangingPunct="1"/>
            <a:r>
              <a:rPr lang="en-US" altLang="sr-Latn-RS" sz="3200"/>
              <a:t>metode</a:t>
            </a:r>
          </a:p>
          <a:p>
            <a:pPr lvl="1" eaLnBrk="1" hangingPunct="1"/>
            <a:r>
              <a:rPr lang="en-US" altLang="sr-Latn-RS" sz="3200"/>
              <a:t>atributi</a:t>
            </a:r>
          </a:p>
          <a:p>
            <a:pPr lvl="1" eaLnBrk="1" hangingPunct="1"/>
            <a:r>
              <a:rPr lang="en-US" altLang="sr-Latn-RS" sz="3200"/>
              <a:t>izuzeci</a:t>
            </a:r>
          </a:p>
          <a:p>
            <a:pPr lvl="1" eaLnBrk="1" hangingPunct="1"/>
            <a:r>
              <a:rPr lang="en-US" altLang="sr-Latn-RS" sz="3200"/>
              <a:t>konstruktori</a:t>
            </a:r>
          </a:p>
          <a:p>
            <a:pPr lvl="1" eaLnBrk="1" hangingPunct="1"/>
            <a:r>
              <a:rPr lang="en-US" altLang="sr-Latn-RS" sz="3200"/>
              <a:t>statička inicijalizacija (static blok)</a:t>
            </a:r>
          </a:p>
          <a:p>
            <a:pPr eaLnBrk="1" hangingPunct="1"/>
            <a:endParaRPr lang="en-US" altLang="sr-Latn-RS" sz="3600"/>
          </a:p>
          <a:p>
            <a:pPr eaLnBrk="1" hangingPunct="1"/>
            <a:endParaRPr lang="en-US" altLang="sr-Latn-R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EDE2-1F23-A41A-B62F-03A8717F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Pointcut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095B8-CBE5-F207-7CA4-464CA2851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54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3F5EADE-DE94-8669-5A26-0748986B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Pointcut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77E6066-C93A-E352-3EB9-13988020A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Skup joinpoint-ova gde se primenjuje aspekt</a:t>
            </a:r>
          </a:p>
          <a:p>
            <a:pPr eaLnBrk="1" hangingPunct="1"/>
            <a:r>
              <a:rPr lang="en-US" altLang="sr-Latn-RS"/>
              <a:t>Poincut definiše na koji/koje od joinpoint-ova će biti primenjen aspekt</a:t>
            </a:r>
          </a:p>
          <a:p>
            <a:pPr eaLnBrk="1" hangingPunct="1"/>
            <a:r>
              <a:rPr lang="en-US" altLang="sr-Latn-RS"/>
              <a:t>Primer: poin</a:t>
            </a:r>
            <a:r>
              <a:rPr lang="sr-Latn-RS" altLang="sr-Latn-RS"/>
              <a:t>t</a:t>
            </a:r>
            <a:r>
              <a:rPr lang="en-US" altLang="sr-Latn-RS"/>
              <a:t>cut </a:t>
            </a:r>
            <a:r>
              <a:rPr lang="en-US" altLang="sr-Latn-RS" b="1"/>
              <a:t>calls()</a:t>
            </a:r>
            <a:r>
              <a:rPr lang="en-US" altLang="sr-Latn-RS"/>
              <a:t> koji obeležava poziv bilo koje metode klase C, bez obzira na parametre: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calls(): call(void C.*(..))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BB2FE52-B09A-D279-F2CB-87FA5B5FF11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Vrste pointcut-ova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FDE6BEB-44DF-835B-83D0-697405A68A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sr-Latn-RS" sz="3200" b="1"/>
              <a:t>call(</a:t>
            </a:r>
            <a:r>
              <a:rPr lang="en-US" altLang="sr-Latn-RS" sz="3200" i="1"/>
              <a:t>method expr</a:t>
            </a:r>
            <a:r>
              <a:rPr lang="en-US" altLang="sr-Latn-RS" sz="3200" b="1"/>
              <a:t>)</a:t>
            </a:r>
            <a:endParaRPr lang="en-US" altLang="sr-Latn-RS" sz="3200"/>
          </a:p>
          <a:p>
            <a:pPr lvl="1">
              <a:buFont typeface="Arial" charset="0"/>
              <a:buChar char="–"/>
              <a:defRPr/>
            </a:pPr>
            <a:r>
              <a:rPr lang="en-US" altLang="sr-Latn-RS" sz="2800">
                <a:latin typeface="+mj-lt"/>
                <a:cs typeface="Arial" panose="020B0604020202020204" pitchFamily="34" charset="0"/>
              </a:rPr>
              <a:t>poziv metode</a:t>
            </a:r>
            <a:r>
              <a:rPr lang="sr-Latn-RS" altLang="sr-Latn-RS" sz="2800">
                <a:latin typeface="+mj-lt"/>
                <a:cs typeface="Arial" panose="020B0604020202020204" pitchFamily="34" charset="0"/>
              </a:rPr>
              <a:t>, onaj ko poziva mora da bude upreden</a:t>
            </a:r>
            <a:endParaRPr lang="en-US" altLang="sr-Latn-RS" sz="2800">
              <a:latin typeface="+mj-lt"/>
              <a:cs typeface="Arial" panose="020B0604020202020204" pitchFamily="34" charset="0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sr-Latn-RS" sz="3200" b="1"/>
              <a:t>execution(</a:t>
            </a:r>
            <a:r>
              <a:rPr lang="en-US" altLang="sr-Latn-RS" sz="3200" i="1"/>
              <a:t>method expr</a:t>
            </a:r>
            <a:r>
              <a:rPr lang="en-US" altLang="sr-Latn-RS" sz="3200" b="1"/>
              <a:t>)</a:t>
            </a:r>
            <a:endParaRPr lang="en-US" altLang="sr-Latn-RS" sz="3200"/>
          </a:p>
          <a:p>
            <a:pPr lvl="1">
              <a:buFont typeface="Arial" charset="0"/>
              <a:buChar char="–"/>
              <a:defRPr/>
            </a:pPr>
            <a:r>
              <a:rPr lang="sr-Latn-CS" altLang="sr-Latn-RS" sz="2800">
                <a:latin typeface="+mj-lt"/>
              </a:rPr>
              <a:t>izvršavanje metode, objekat u kojem je metoda koja se presreće (target) mora da bude upreden</a:t>
            </a:r>
            <a:endParaRPr lang="en-US" altLang="sr-Latn-RS" sz="2800">
              <a:latin typeface="+mj-lt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sr-Latn-RS" sz="3200" b="1"/>
              <a:t>handler(</a:t>
            </a:r>
            <a:r>
              <a:rPr lang="en-US" altLang="sr-Latn-RS" sz="3200" i="1"/>
              <a:t>exception expr</a:t>
            </a:r>
            <a:r>
              <a:rPr lang="en-US" altLang="sr-Latn-RS" sz="3200" b="1"/>
              <a:t>)</a:t>
            </a:r>
          </a:p>
          <a:p>
            <a:pPr lvl="1">
              <a:buFont typeface="Arial" charset="0"/>
              <a:buChar char="–"/>
              <a:defRPr/>
            </a:pPr>
            <a:r>
              <a:rPr lang="sr-Latn-CS" altLang="sr-Latn-RS" sz="2800">
                <a:latin typeface="+mj-lt"/>
              </a:rPr>
              <a:t>izvršavanje izuzetka</a:t>
            </a:r>
            <a:endParaRPr lang="en-US" altLang="sr-Latn-RS" sz="2800">
              <a:latin typeface="+mj-lt"/>
            </a:endParaRPr>
          </a:p>
          <a:p>
            <a:pPr lvl="1">
              <a:buFont typeface="Arial" charset="0"/>
              <a:buNone/>
              <a:defRPr/>
            </a:pPr>
            <a:endParaRPr lang="en-US" altLang="sr-Latn-R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BFD9636-1051-53B3-801E-8F05AC13E4E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Vrste pointcut-ova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BFD2533-867D-3906-BC28-75705F95B9B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sr-Latn-RS" sz="3200" b="1"/>
              <a:t>get(</a:t>
            </a:r>
            <a:r>
              <a:rPr lang="en-US" altLang="sr-Latn-RS" sz="3200" i="1"/>
              <a:t>field expr</a:t>
            </a:r>
            <a:r>
              <a:rPr lang="en-US" altLang="sr-Latn-RS" sz="3200" b="1"/>
              <a:t>)</a:t>
            </a:r>
            <a:endParaRPr lang="en-US" altLang="sr-Latn-RS" sz="3200"/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čitanje atributa</a:t>
            </a:r>
            <a:endParaRPr lang="en-US" altLang="sr-Latn-RS" sz="2800">
              <a:latin typeface="Arial" panose="020B0604020202020204" pitchFamily="34" charset="0"/>
            </a:endParaRPr>
          </a:p>
          <a:p>
            <a:r>
              <a:rPr lang="en-US" altLang="sr-Latn-RS" sz="3200" b="1"/>
              <a:t>set(</a:t>
            </a:r>
            <a:r>
              <a:rPr lang="en-US" altLang="sr-Latn-RS" sz="3200" i="1"/>
              <a:t>field expr</a:t>
            </a:r>
            <a:r>
              <a:rPr lang="en-US" altLang="sr-Latn-RS" sz="3200" b="1"/>
              <a:t>)</a:t>
            </a:r>
            <a:endParaRPr lang="en-US" altLang="sr-Latn-RS" sz="3200"/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izmena vrednosti atributa</a:t>
            </a:r>
            <a:endParaRPr lang="en-US" altLang="sr-Latn-RS" sz="2800">
              <a:latin typeface="Arial" panose="020B0604020202020204" pitchFamily="34" charset="0"/>
            </a:endParaRPr>
          </a:p>
          <a:p>
            <a:r>
              <a:rPr lang="en-US" altLang="sr-Latn-RS" sz="3200" b="1"/>
              <a:t>staticinitialization(</a:t>
            </a:r>
            <a:r>
              <a:rPr lang="en-US" altLang="sr-Latn-RS" sz="3200" i="1"/>
              <a:t>class expr</a:t>
            </a:r>
            <a:r>
              <a:rPr lang="en-US" altLang="sr-Latn-RS" sz="3200" b="1"/>
              <a:t>)</a:t>
            </a:r>
            <a:endParaRPr lang="en-US" altLang="sr-Latn-RS" sz="3200"/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izvršavanje bloka za statičku inicijalizaciju klase</a:t>
            </a:r>
            <a:endParaRPr lang="en-US" altLang="sr-Latn-RS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C58A300-F9E6-5F40-0D75-EDE72117FA2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Vrste pointcut-ova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C51D213-2EEC-B6A9-26B6-60D2ACF2C67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sr-Latn-RS" sz="3200" b="1"/>
              <a:t>initialization(</a:t>
            </a:r>
            <a:r>
              <a:rPr lang="en-US" altLang="sr-Latn-RS" sz="3200" i="1"/>
              <a:t>constructor expr</a:t>
            </a:r>
            <a:r>
              <a:rPr lang="en-US" altLang="sr-Latn-RS" sz="3200" b="1"/>
              <a:t>)</a:t>
            </a:r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izvršavanje konstruktora</a:t>
            </a:r>
            <a:endParaRPr lang="en-US" altLang="sr-Latn-RS" sz="2800">
              <a:latin typeface="Arial" panose="020B0604020202020204" pitchFamily="34" charset="0"/>
            </a:endParaRPr>
          </a:p>
          <a:p>
            <a:r>
              <a:rPr lang="en-US" altLang="sr-Latn-RS" sz="3200" b="1"/>
              <a:t>preinitialization(</a:t>
            </a:r>
            <a:r>
              <a:rPr lang="en-US" altLang="sr-Latn-RS" sz="3200" i="1"/>
              <a:t>constructor expr</a:t>
            </a:r>
            <a:r>
              <a:rPr lang="en-US" altLang="sr-Latn-RS" sz="3200" b="1"/>
              <a:t>)</a:t>
            </a:r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izvršavanje pre poziva super() (nasleđenog konstruktora)</a:t>
            </a:r>
            <a:endParaRPr lang="en-US" altLang="sr-Latn-RS" sz="2800"/>
          </a:p>
          <a:p>
            <a:r>
              <a:rPr lang="en-US" altLang="sr-Latn-RS" sz="3200" b="1"/>
              <a:t>adviceexecution()</a:t>
            </a:r>
          </a:p>
          <a:p>
            <a:pPr lvl="1"/>
            <a:r>
              <a:rPr lang="sr-Latn-CS" altLang="sr-Latn-RS" sz="2800">
                <a:latin typeface="Arial" panose="020B0604020202020204" pitchFamily="34" charset="0"/>
              </a:rPr>
              <a:t>izvršavanje advice-a (u okviru aspekta)</a:t>
            </a:r>
            <a:endParaRPr lang="en-US" altLang="sr-Latn-R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F86F872-DBBC-835C-CB7D-A45C7360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Metode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A9BAF37-13F2-42AD-B81E-E8D07E05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D</a:t>
            </a:r>
            <a:r>
              <a:rPr lang="sr-Latn-RS" altLang="sr-Latn-RS"/>
              <a:t>e</a:t>
            </a:r>
            <a:r>
              <a:rPr lang="en-US" altLang="sr-Latn-RS"/>
              <a:t>finicija:</a:t>
            </a:r>
          </a:p>
          <a:p>
            <a:pPr lvl="1" eaLnBrk="1" hangingPunct="1"/>
            <a:r>
              <a:rPr lang="en-US" altLang="sr-Latn-RS"/>
              <a:t>navodi se opseg vidljivosti, povratna vrednost, </a:t>
            </a:r>
            <a:r>
              <a:rPr lang="sr-Latn-RS" altLang="sr-Latn-RS"/>
              <a:t>paket.</a:t>
            </a:r>
            <a:r>
              <a:rPr lang="en-US" altLang="sr-Latn-RS"/>
              <a:t>naziv_klase.ime_metode(parametri):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ordrs.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Order.addItem(Item)</a:t>
            </a:r>
          </a:p>
          <a:p>
            <a:pPr eaLnBrk="1" hangingPunct="1"/>
            <a:r>
              <a:rPr lang="en-US" altLang="sr-Latn-RS"/>
              <a:t>Može se koristiti i zvezdica (*) da označi bilo koju vrednost: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proba.narudzba.*.*(String,int)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b="1"/>
              <a:t>	</a:t>
            </a:r>
            <a:r>
              <a:rPr lang="en-US" altLang="sr-Latn-RS"/>
              <a:t>bilo koja klasa i bilo koja </a:t>
            </a:r>
            <a:r>
              <a:rPr lang="en-US" altLang="sr-Latn-RS" b="1"/>
              <a:t>public void</a:t>
            </a:r>
            <a:r>
              <a:rPr lang="en-US" altLang="sr-Latn-RS"/>
              <a:t> metoda u paketu </a:t>
            </a:r>
            <a:r>
              <a:rPr lang="en-US" altLang="sr-Latn-RS" b="1"/>
              <a:t>proba.narudzba</a:t>
            </a:r>
            <a:r>
              <a:rPr lang="en-US" altLang="sr-Latn-RS"/>
              <a:t>, koja prima argumente </a:t>
            </a:r>
            <a:r>
              <a:rPr lang="en-US" altLang="sr-Latn-RS" b="1"/>
              <a:t>String</a:t>
            </a:r>
            <a:r>
              <a:rPr lang="en-US" altLang="sr-Latn-RS"/>
              <a:t> i </a:t>
            </a:r>
            <a:r>
              <a:rPr lang="en-US" altLang="sr-Latn-RS" b="1"/>
              <a:t>int</a:t>
            </a:r>
            <a:r>
              <a:rPr lang="en-US" altLang="sr-Latn-RS"/>
              <a:t> i koja ne vraća vrednost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9C979CE-CAA3-6678-56F6-392CD9FB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F445016-4883-9A7D-F083-69BAA5C3F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Parametri (argumenti) metoda se ne moraju navesti – tada se koriste dve tačke (..):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proba.narudzba.Order.*(..)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b="1"/>
              <a:t>	</a:t>
            </a:r>
            <a:r>
              <a:rPr lang="en-US" altLang="sr-Latn-RS"/>
              <a:t>bilo koja public void metoda klase Order, sa bilo kojim parametrima</a:t>
            </a:r>
          </a:p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* proba.narudzba.Order.*(..)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 sz="2800"/>
              <a:t>bilo koja metoda bilo kog opsega vidljivosti koja vraća bilo šta i sa bilo kakvim argumentima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22D70D2-2F07-820E-5362-C0620A99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Paketi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1B72B715-4323-BC5E-9B88-C4A39FBB1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Paketi se navode ili se koriste džoker znakovi: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proba.Order.*(..)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b="1"/>
              <a:t>	</a:t>
            </a:r>
            <a:r>
              <a:rPr lang="en-US" altLang="sr-Latn-RS"/>
              <a:t>bilo koja metoda klase </a:t>
            </a:r>
            <a:r>
              <a:rPr lang="en-US" altLang="sr-Latn-RS" b="1"/>
              <a:t>Order</a:t>
            </a:r>
            <a:r>
              <a:rPr lang="en-US" altLang="sr-Latn-RS"/>
              <a:t> koja se nalazi u paketu proba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proba..Order.*(..)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b="1"/>
              <a:t>	</a:t>
            </a:r>
            <a:r>
              <a:rPr lang="en-US" altLang="sr-Latn-RS"/>
              <a:t>bilo koja metoda klase </a:t>
            </a:r>
            <a:r>
              <a:rPr lang="en-US" altLang="sr-Latn-RS" b="1"/>
              <a:t>Order</a:t>
            </a:r>
            <a:r>
              <a:rPr lang="en-US" altLang="sr-Latn-RS"/>
              <a:t> koja se nalazi bilo gde unutar paketa proba (u bilo kom potpaketu)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proba.*.Order.*(..)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b="1"/>
              <a:t>	</a:t>
            </a:r>
            <a:r>
              <a:rPr lang="en-US" altLang="sr-Latn-RS"/>
              <a:t>bilo koja metoda klase </a:t>
            </a:r>
            <a:r>
              <a:rPr lang="en-US" altLang="sr-Latn-RS" b="1"/>
              <a:t>Order</a:t>
            </a:r>
            <a:r>
              <a:rPr lang="en-US" altLang="sr-Latn-RS"/>
              <a:t> koja se nalazi u prvom nivou potpaketa paketa proba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88DA771-CE2E-2B4B-E00E-D4587DCE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Introspekcija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7F94BEFC-BCA4-6C99-48C9-862179A5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Unutar aspekta, moguće je dospeti do nekih bitnih elemenata preko ključne reči </a:t>
            </a:r>
            <a:r>
              <a:rPr lang="en-US" altLang="sr-Latn-RS" b="1"/>
              <a:t>thisJoinPoint</a:t>
            </a:r>
            <a:r>
              <a:rPr lang="en-US" altLang="sr-Latn-RS"/>
              <a:t>:</a:t>
            </a:r>
          </a:p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Object[] getArgs()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argumente presretnute metode</a:t>
            </a:r>
          </a:p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Signature getSignature()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informacije o metodi (opseg vidljivosti, tip povratn</a:t>
            </a:r>
            <a:r>
              <a:rPr lang="sr-Latn-CS" altLang="sr-Latn-RS"/>
              <a:t>e</a:t>
            </a:r>
            <a:r>
              <a:rPr lang="en-US" altLang="sr-Latn-RS"/>
              <a:t> vrednost</a:t>
            </a:r>
            <a:r>
              <a:rPr lang="sr-Latn-CS" altLang="sr-Latn-RS"/>
              <a:t>i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2997F954-B522-8370-1678-146E98B3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Introspekcija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61DC9889-0B3B-FCA7-BF36-7B55829D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SourceLocation getSourceLocation()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podatke o izvornom kodu joinpoint-a (ime datoteke, broj linije u program</a:t>
            </a:r>
            <a:r>
              <a:rPr lang="sr-Latn-CS" altLang="sr-Latn-RS"/>
              <a:t>u</a:t>
            </a:r>
            <a:r>
              <a:rPr lang="en-US" altLang="sr-Latn-RS"/>
              <a:t> itd.)</a:t>
            </a:r>
          </a:p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 getTarget()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ciljni objekat joinpoint-a</a:t>
            </a:r>
          </a:p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 getThis()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referencu na sam objekat u kojem je joinpoint</a:t>
            </a:r>
          </a:p>
          <a:p>
            <a:pPr marL="0" indent="0" eaLnBrk="1" hangingPunct="1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String getKind() 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sr-Latn-RS"/>
              <a:t>vraća vrstu joinpoint-a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53892DDD-0E52-1300-23E4-2D8896AE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Atributi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92B51348-2899-F0E8-D168-3BA2B6868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Čitanje i pisanje atributa se može presresti aspektima</a:t>
            </a:r>
          </a:p>
          <a:p>
            <a:pPr eaLnBrk="1" hangingPunct="1"/>
            <a:r>
              <a:rPr lang="en-US" altLang="sr-Latn-RS"/>
              <a:t>Definicija pointcut-a: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et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ArrayList Order.items)</a:t>
            </a:r>
          </a:p>
          <a:p>
            <a:pPr eaLnBrk="1" hangingPunct="1"/>
            <a:r>
              <a:rPr lang="en-US" altLang="sr-Latn-RS"/>
              <a:t>Primer iznad definiše pointcut za atribut </a:t>
            </a:r>
            <a:r>
              <a:rPr lang="en-US" altLang="sr-Latn-RS" b="1"/>
              <a:t>items</a:t>
            </a:r>
            <a:r>
              <a:rPr lang="en-US" altLang="sr-Latn-RS"/>
              <a:t>, klase </a:t>
            </a:r>
            <a:r>
              <a:rPr lang="en-US" altLang="sr-Latn-RS" b="1"/>
              <a:t>Order</a:t>
            </a:r>
            <a:r>
              <a:rPr lang="en-US" altLang="sr-Latn-RS"/>
              <a:t>, koji je tipa </a:t>
            </a:r>
            <a:r>
              <a:rPr lang="en-US" altLang="sr-Latn-RS" b="1"/>
              <a:t>ArrayList</a:t>
            </a:r>
            <a:r>
              <a:rPr lang="en-US" altLang="sr-Latn-RS"/>
              <a:t>. </a:t>
            </a:r>
          </a:p>
          <a:p>
            <a:pPr eaLnBrk="1" hangingPunct="1"/>
            <a:r>
              <a:rPr lang="en-US" altLang="sr-Latn-RS"/>
              <a:t>Ako se koristi </a:t>
            </a:r>
            <a:r>
              <a:rPr lang="en-US" altLang="sr-Latn-RS" b="1"/>
              <a:t>around</a:t>
            </a:r>
            <a:r>
              <a:rPr lang="en-US" altLang="sr-Latn-RS"/>
              <a:t> advice, može se saznati vrednost atribut</a:t>
            </a:r>
            <a:r>
              <a:rPr lang="sr-Latn-CS" altLang="sr-Latn-RS"/>
              <a:t>a</a:t>
            </a:r>
            <a:r>
              <a:rPr lang="en-US" altLang="sr-Latn-RS"/>
              <a:t> </a:t>
            </a:r>
            <a:r>
              <a:rPr lang="en-US" altLang="sr-Latn-RS" b="1"/>
              <a:t>pre</a:t>
            </a:r>
            <a:r>
              <a:rPr lang="en-US" altLang="sr-Latn-RS"/>
              <a:t> i </a:t>
            </a:r>
            <a:r>
              <a:rPr lang="en-US" altLang="sr-Latn-RS" b="1"/>
              <a:t>posle</a:t>
            </a:r>
            <a:r>
              <a:rPr lang="en-US" altLang="sr-Latn-RS"/>
              <a:t> dodele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0CFA11C-A07F-DB58-2583-9ACCCD50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Atributi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F4B1705E-B12E-945C-0D34-6A4C528F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Primer: pointcut </a:t>
            </a:r>
            <a:r>
              <a:rPr lang="en-US" altLang="sr-Latn-RS" b="1"/>
              <a:t>dataModification</a:t>
            </a:r>
            <a:r>
              <a:rPr lang="en-US" altLang="sr-Latn-RS"/>
              <a:t>() koji obeležava promenu bilo kojeg atributa klase </a:t>
            </a:r>
            <a:r>
              <a:rPr lang="en-US" altLang="sr-Latn-RS" b="1"/>
              <a:t>C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dataModification(): set(* C.*)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604FE9D7-F514-C57E-56C3-38242446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Izuzeci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149CF8D0-0E3C-03EE-333B-DE1C08137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Izuzeci se mogu uhvatiti definicijom handler pointcut-a: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izuzetak() : handler (Exception+);</a:t>
            </a:r>
          </a:p>
          <a:p>
            <a:r>
              <a:rPr lang="en-US" altLang="sr-Latn-RS"/>
              <a:t>Primer iznad definiše pointcut za one metode koje bacaju izuzetak klase </a:t>
            </a:r>
            <a:r>
              <a:rPr lang="en-US" altLang="sr-Latn-RS" b="1"/>
              <a:t>Exception</a:t>
            </a:r>
            <a:r>
              <a:rPr lang="en-US" altLang="sr-Latn-RS"/>
              <a:t> ili njegove klase naslednice</a:t>
            </a:r>
          </a:p>
          <a:p>
            <a:r>
              <a:rPr lang="en-US" altLang="sr-Latn-RS"/>
              <a:t>Jedini dozvoljeni advice je </a:t>
            </a:r>
            <a:r>
              <a:rPr lang="en-US" altLang="sr-Latn-RS" b="1"/>
              <a:t>before</a:t>
            </a:r>
            <a:r>
              <a:rPr lang="en-US" altLang="sr-Latn-RS"/>
              <a:t> i izvršava se </a:t>
            </a:r>
            <a:r>
              <a:rPr lang="en-US" altLang="sr-Latn-RS" b="1"/>
              <a:t>pre</a:t>
            </a:r>
            <a:r>
              <a:rPr lang="en-US" altLang="sr-Latn-RS"/>
              <a:t> </a:t>
            </a:r>
            <a:r>
              <a:rPr lang="en-US" altLang="sr-Latn-RS" b="1"/>
              <a:t>catch</a:t>
            </a:r>
            <a:r>
              <a:rPr lang="en-US" altLang="sr-Latn-RS"/>
              <a:t> bloka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727E332E-C55F-B673-CC02-3AB84A94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Konstruktori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995A87B1-9B52-A19D-5FE1-1058AEA19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92299"/>
            <a:ext cx="11654367" cy="4233863"/>
          </a:xfrm>
        </p:spPr>
        <p:txBody>
          <a:bodyPr/>
          <a:lstStyle/>
          <a:p>
            <a:r>
              <a:rPr lang="en-US" altLang="sr-Latn-RS"/>
              <a:t>Mogu da se presretnu konstruktori upotrebom </a:t>
            </a:r>
            <a:r>
              <a:rPr lang="en-US" altLang="sr-Latn-RS" i="1"/>
              <a:t>initiali</a:t>
            </a:r>
            <a:r>
              <a:rPr lang="sr-Latn-CS" altLang="sr-Latn-RS" i="1"/>
              <a:t>z</a:t>
            </a:r>
            <a:r>
              <a:rPr lang="en-US" altLang="sr-Latn-RS" i="1"/>
              <a:t>ation</a:t>
            </a:r>
            <a:r>
              <a:rPr lang="en-US" altLang="sr-Latn-RS"/>
              <a:t> pointcut-a: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konstruktor() : initialization (Proba.new(..));</a:t>
            </a:r>
          </a:p>
          <a:p>
            <a:r>
              <a:rPr lang="en-US" altLang="sr-Latn-RS"/>
              <a:t>Ako je potrebno da se presretne i pre poziva super() i pre inicijalizacije atributa, koristi se preinitiaization pointcut: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konstruktorPre() : preinitialization (Drugi.new(..));</a:t>
            </a:r>
          </a:p>
          <a:p>
            <a:r>
              <a:rPr lang="en-US" altLang="sr-Latn-RS"/>
              <a:t>Dozvoljeni advice-ovi su: </a:t>
            </a:r>
            <a:r>
              <a:rPr lang="en-US" altLang="sr-Latn-RS" b="1"/>
              <a:t>before</a:t>
            </a:r>
            <a:r>
              <a:rPr lang="en-US" altLang="sr-Latn-RS"/>
              <a:t> i </a:t>
            </a:r>
            <a:r>
              <a:rPr lang="en-US" altLang="sr-Latn-RS" b="1"/>
              <a:t>after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EB9DFA81-B74A-DB1C-8EA5-720E40F73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Statički blok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C72C0621-F466-F0B9-22BE-AB076096F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Može da se presretne statički blok upotrebom </a:t>
            </a:r>
            <a:r>
              <a:rPr lang="en-US" altLang="sr-Latn-RS" i="1"/>
              <a:t>staticinitiali</a:t>
            </a:r>
            <a:r>
              <a:rPr lang="sr-Latn-CS" altLang="sr-Latn-RS" i="1"/>
              <a:t>z</a:t>
            </a:r>
            <a:r>
              <a:rPr lang="en-US" altLang="sr-Latn-RS" i="1"/>
              <a:t>ation</a:t>
            </a:r>
            <a:r>
              <a:rPr lang="en-US" altLang="sr-Latn-RS"/>
              <a:t> pointcut-a: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staticki() : staticinitialization (Proba);</a:t>
            </a:r>
          </a:p>
          <a:p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1107DA55-CC45-0DEB-8F76-80031E5B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Filtriranje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805F244A-1DDF-FBBE-9447-06F37DADC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4767" cy="4351338"/>
          </a:xfrm>
        </p:spPr>
        <p:txBody>
          <a:bodyPr/>
          <a:lstStyle/>
          <a:p>
            <a:r>
              <a:rPr lang="en-US" altLang="sr-Latn-RS"/>
              <a:t>Mogu se koristiti i logički izrazi u definiciji pointcut-a: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atributSaAnotacijom() : set (private * Proba.*) &amp;&amp;(@annotation(MojaAnotacija));</a:t>
            </a:r>
          </a:p>
          <a:p>
            <a:r>
              <a:rPr lang="en-US" altLang="sr-Latn-RS"/>
              <a:t>Gornji primer definiše pointcut koji "hvata" sva postavljanja bilo kog atributa klase </a:t>
            </a:r>
            <a:r>
              <a:rPr lang="en-US" altLang="sr-Latn-RS" b="1"/>
              <a:t>Proba</a:t>
            </a:r>
            <a:r>
              <a:rPr lang="en-US" altLang="sr-Latn-RS"/>
              <a:t>, ali samo ako poseduje anotaciju @</a:t>
            </a:r>
            <a:r>
              <a:rPr lang="en-US" altLang="sr-Latn-RS" b="1"/>
              <a:t>MojaAnotacija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951587F9-4FF7-AA4F-8FC0-6137D54F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Filtriranje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2ACE6CA-9AF6-CD52-C1C8-877F53E49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2233" cy="4351338"/>
          </a:xfrm>
        </p:spPr>
        <p:txBody>
          <a:bodyPr/>
          <a:lstStyle/>
          <a:p>
            <a:r>
              <a:rPr lang="en-US" altLang="sr-Latn-RS"/>
              <a:t>Ključna reč </a:t>
            </a:r>
            <a:r>
              <a:rPr lang="en-US" altLang="sr-Latn-RS" b="1"/>
              <a:t>within(Klasa)</a:t>
            </a:r>
            <a:r>
              <a:rPr lang="en-US" altLang="sr-Latn-RS"/>
              <a:t> vraća boolean ako se kod izvršava u kodu date klase</a:t>
            </a:r>
          </a:p>
          <a:p>
            <a:r>
              <a:rPr lang="en-US" altLang="sr-Latn-RS"/>
              <a:t>Primer metode koja se presreće samo ako se poziva unutar klase </a:t>
            </a:r>
            <a:r>
              <a:rPr lang="en-US" altLang="sr-Latn-RS" b="1"/>
              <a:t>Proba</a:t>
            </a:r>
            <a:r>
              <a:rPr lang="en-US" altLang="sr-Latn-RS"/>
              <a:t>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gresni() : call ( * 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.f4() ) &amp;&amp; within (Proba);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71E9D75B-C1F4-D19C-B8DE-89AFF576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Filtriranje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5C09AAD0-9E78-C301-5BC5-3D7BA552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sr-Latn-RS" sz="3600"/>
              <a:t>U definicije pointcut-a, koriste se i ključne reči </a:t>
            </a:r>
            <a:r>
              <a:rPr lang="en-US" altLang="sr-Latn-RS" sz="3600" b="1"/>
              <a:t>this(Type)</a:t>
            </a:r>
            <a:r>
              <a:rPr lang="en-US" altLang="sr-Latn-RS" sz="3600"/>
              <a:t> i </a:t>
            </a:r>
            <a:r>
              <a:rPr lang="en-US" altLang="sr-Latn-RS" sz="3600" b="1"/>
              <a:t>target(Type)</a:t>
            </a:r>
          </a:p>
          <a:p>
            <a:pPr lvl="1"/>
            <a:r>
              <a:rPr lang="en-US" altLang="sr-Latn-RS" sz="3200"/>
              <a:t>ključna reč </a:t>
            </a:r>
            <a:r>
              <a:rPr lang="en-US" altLang="sr-Latn-RS" sz="3200" b="1"/>
              <a:t>this</a:t>
            </a:r>
            <a:r>
              <a:rPr lang="en-US" altLang="sr-Latn-RS" sz="3200" i="1"/>
              <a:t> </a:t>
            </a:r>
            <a:r>
              <a:rPr lang="en-US" altLang="sr-Latn-RS" sz="3200"/>
              <a:t>definiše ko je izvor (source) </a:t>
            </a:r>
          </a:p>
          <a:p>
            <a:pPr lvl="2"/>
            <a:r>
              <a:rPr lang="en-US" altLang="sr-Latn-RS" sz="2800"/>
              <a:t>svi joinpoint-i gde je </a:t>
            </a:r>
            <a:r>
              <a:rPr lang="en-US" altLang="sr-Latn-RS" sz="2800" b="1"/>
              <a:t>this</a:t>
            </a:r>
            <a:r>
              <a:rPr lang="en-US" altLang="sr-Latn-RS" sz="2800"/>
              <a:t> zadatog tipa</a:t>
            </a:r>
          </a:p>
          <a:p>
            <a:pPr lvl="1"/>
            <a:r>
              <a:rPr lang="en-US" altLang="sr-Latn-RS" sz="3200"/>
              <a:t>ključna reč </a:t>
            </a:r>
            <a:r>
              <a:rPr lang="en-US" altLang="sr-Latn-RS" sz="3200" b="1"/>
              <a:t>target</a:t>
            </a:r>
            <a:r>
              <a:rPr lang="en-US" altLang="sr-Latn-RS" sz="3200" i="1"/>
              <a:t> </a:t>
            </a:r>
            <a:r>
              <a:rPr lang="en-US" altLang="sr-Latn-RS" sz="3200"/>
              <a:t>definiše ko je odredište (target) </a:t>
            </a:r>
          </a:p>
          <a:p>
            <a:pPr lvl="2"/>
            <a:r>
              <a:rPr lang="en-US" altLang="sr-Latn-RS" sz="2800"/>
              <a:t>svi joinpoint-i gde se poziva metoda, a objekat čija metoda se poziva je zadatog tipa</a:t>
            </a:r>
          </a:p>
          <a:p>
            <a:pPr lvl="1"/>
            <a:endParaRPr lang="en-US" altLang="sr-Latn-R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2F853E88-C8A7-DF39-EDB9-A6012A32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Deklaracije compile-time grešaka i upozorenja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AF0F0A85-AFF1-F4E7-B857-3C90C514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sr-Latn-RS"/>
              <a:t>Moguće je definisati pointcut za koji se generiše run-time upozorenje ili greška: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declare error : gresni() : "Poziv metode f4() je zabranjen iz klase Proba!";</a:t>
            </a:r>
          </a:p>
          <a:p>
            <a:r>
              <a:rPr lang="en-US" altLang="sr-Latn-RS"/>
              <a:t>Pointcut za gornji primer je: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pointcut gresni() : call ( * Proba.f4() ) &amp;&amp; within (Proba);</a:t>
            </a:r>
          </a:p>
          <a:p>
            <a:r>
              <a:rPr lang="en-US" altLang="sr-Latn-RS"/>
              <a:t>Poziv iz druge klase je dozvoljen: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d2()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p.f4();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Arial" panose="020B0604020202020204" pitchFamily="34" charset="0"/>
              <a:buNone/>
            </a:pP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F49B-209C-1A8D-E2C5-BD617C34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Advice code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33070-071C-25EB-BB52-28714B43B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24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569D050-93B5-CA7B-8E1B-C1317EEE2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Advice code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01CC6D55-5AD3-4F88-121E-FE8F37F1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Definiše ponašanje aspekta</a:t>
            </a:r>
          </a:p>
          <a:p>
            <a:pPr lvl="1" eaLnBrk="1" hangingPunct="1"/>
            <a:r>
              <a:rPr lang="en-US" altLang="sr-Latn-RS"/>
              <a:t>kada će se aktivirati i šta će raditi</a:t>
            </a:r>
          </a:p>
          <a:p>
            <a:pPr lvl="1" eaLnBrk="1" hangingPunct="1"/>
            <a:r>
              <a:rPr lang="en-US" altLang="sr-Latn-RS"/>
              <a:t>tu se zapravo piše programski kod aspekta</a:t>
            </a:r>
          </a:p>
          <a:p>
            <a:pPr eaLnBrk="1" hangingPunct="1"/>
            <a:r>
              <a:rPr lang="en-US" altLang="sr-Latn-RS"/>
              <a:t>Tri vrste:</a:t>
            </a:r>
          </a:p>
          <a:p>
            <a:pPr lvl="1" eaLnBrk="1" hangingPunct="1"/>
            <a:r>
              <a:rPr lang="en-US" altLang="sr-Latn-RS" b="1"/>
              <a:t>before</a:t>
            </a:r>
            <a:r>
              <a:rPr lang="en-US" altLang="sr-Latn-RS"/>
              <a:t> – advice code se izvrši pre joinpoint-a</a:t>
            </a:r>
          </a:p>
          <a:p>
            <a:pPr lvl="1" eaLnBrk="1" hangingPunct="1"/>
            <a:r>
              <a:rPr lang="en-US" altLang="sr-Latn-RS" b="1"/>
              <a:t>after</a:t>
            </a:r>
            <a:r>
              <a:rPr lang="en-US" altLang="sr-Latn-RS"/>
              <a:t> – advice code se izvrši posle joinpoint-a</a:t>
            </a:r>
          </a:p>
          <a:p>
            <a:pPr lvl="2" eaLnBrk="1" hangingPunct="1"/>
            <a:r>
              <a:rPr lang="en-US" altLang="sr-Latn-RS"/>
              <a:t>ako se ne stavi after() returning, onda se svakako izvršava, bez obzira da li je bio izuzetak ili ne</a:t>
            </a:r>
          </a:p>
          <a:p>
            <a:pPr lvl="1" eaLnBrk="1" hangingPunct="1"/>
            <a:r>
              <a:rPr lang="en-US" altLang="sr-Latn-RS" b="1"/>
              <a:t>around</a:t>
            </a:r>
            <a:r>
              <a:rPr lang="en-US" altLang="sr-Latn-RS"/>
              <a:t> – advice code se izvrši pre i posle joinpoint-a; postoji ključna reč </a:t>
            </a:r>
            <a:r>
              <a:rPr lang="en-US" altLang="sr-Latn-RS" b="1"/>
              <a:t>proceed</a:t>
            </a:r>
            <a:r>
              <a:rPr lang="en-US" altLang="sr-Latn-RS"/>
              <a:t> kojom se nastavlja izvršenje normalnog koda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F81924E-EF57-2B23-0E61-63B06B4FB3AA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sr-Latn-CS" altLang="sr-Latn-RS">
                <a:latin typeface="Arial" panose="020B0604020202020204" pitchFamily="34" charset="0"/>
              </a:rPr>
              <a:t>After advice code</a:t>
            </a:r>
            <a:endParaRPr lang="en-US" altLang="sr-Latn-RS">
              <a:latin typeface="Arial" panose="020B0604020202020204" pitchFamily="34" charset="0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CFD4963-BFBF-7802-C6D5-C6F6FC2EDD7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2006599"/>
            <a:ext cx="10515600" cy="4170363"/>
          </a:xfrm>
          <a:noFill/>
        </p:spPr>
        <p:txBody>
          <a:bodyPr/>
          <a:lstStyle/>
          <a:p>
            <a:r>
              <a:rPr lang="en-US" altLang="sr-Latn-RS" b="1"/>
              <a:t>after() returning [(</a:t>
            </a:r>
            <a:r>
              <a:rPr lang="en-US" altLang="sr-Latn-RS" i="1"/>
              <a:t>type expr</a:t>
            </a:r>
            <a:r>
              <a:rPr lang="en-US" altLang="sr-Latn-RS" b="1"/>
              <a:t>)]</a:t>
            </a:r>
            <a:endParaRPr lang="en-US" altLang="sr-Latn-RS"/>
          </a:p>
          <a:p>
            <a:pPr lvl="1"/>
            <a:r>
              <a:rPr lang="sr-Latn-CS" altLang="sr-Latn-RS">
                <a:latin typeface="Arial" panose="020B0604020202020204" pitchFamily="34" charset="0"/>
              </a:rPr>
              <a:t>posle “normalnog” izvršenja</a:t>
            </a:r>
          </a:p>
          <a:p>
            <a:r>
              <a:rPr lang="en-US" altLang="sr-Latn-RS" b="1"/>
              <a:t>after() throwing [(</a:t>
            </a:r>
            <a:r>
              <a:rPr lang="en-US" altLang="sr-Latn-RS" i="1"/>
              <a:t>exception expr</a:t>
            </a:r>
            <a:r>
              <a:rPr lang="en-US" altLang="sr-Latn-RS" b="1"/>
              <a:t>)]</a:t>
            </a:r>
          </a:p>
          <a:p>
            <a:pPr lvl="1"/>
            <a:r>
              <a:rPr lang="sr-Latn-CS" altLang="sr-Latn-RS">
                <a:latin typeface="Arial" panose="020B0604020202020204" pitchFamily="34" charset="0"/>
              </a:rPr>
              <a:t>ako dođe do izuzetka navedene vrste </a:t>
            </a:r>
          </a:p>
          <a:p>
            <a:r>
              <a:rPr lang="sr-Latn-RS" altLang="sr-Latn-RS" b="1"/>
              <a:t>af</a:t>
            </a:r>
            <a:r>
              <a:rPr lang="en-US" altLang="sr-Latn-RS" b="1"/>
              <a:t>ter()</a:t>
            </a:r>
            <a:r>
              <a:rPr lang="en-US" altLang="sr-Latn-RS"/>
              <a:t> </a:t>
            </a:r>
          </a:p>
          <a:p>
            <a:pPr lvl="1"/>
            <a:r>
              <a:rPr lang="sr-Latn-CS" altLang="sr-Latn-RS">
                <a:latin typeface="Arial" panose="020B0604020202020204" pitchFamily="34" charset="0"/>
              </a:rPr>
              <a:t>poziva se uvek (nešto kao </a:t>
            </a:r>
            <a:r>
              <a:rPr lang="en-US" altLang="sr-Latn-RS"/>
              <a:t>finally)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FBF7A326-122B-03C7-C0FB-8B69FB51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433" y="604839"/>
            <a:ext cx="8229600" cy="654050"/>
          </a:xfrm>
        </p:spPr>
        <p:txBody>
          <a:bodyPr>
            <a:noAutofit/>
          </a:bodyPr>
          <a:lstStyle/>
          <a:p>
            <a:pPr eaLnBrk="1" hangingPunct="1"/>
            <a:r>
              <a:rPr lang="sr-Latn-RS" altLang="sr-Latn-RS"/>
              <a:t>A</a:t>
            </a:r>
            <a:r>
              <a:rPr lang="en-US" altLang="sr-Latn-RS"/>
              <a:t>round advice code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5983D19F-66BB-A850-CD64-8D9FD40E5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67" y="1443567"/>
            <a:ext cx="9643533" cy="5177366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sr-Latn-RS"/>
              <a:t>Program se normalno izvršava</a:t>
            </a:r>
          </a:p>
          <a:p>
            <a:pPr eaLnBrk="1" hangingPunct="1"/>
            <a:r>
              <a:rPr lang="en-US" altLang="sr-Latn-RS"/>
              <a:t>Pre dostizanja joinpoint-a, izvršava se početak ovog advice-a</a:t>
            </a:r>
          </a:p>
          <a:p>
            <a:pPr eaLnBrk="1" hangingPunct="1"/>
            <a:r>
              <a:rPr lang="en-US" altLang="sr-Latn-RS"/>
              <a:t>U samom kodu around advice-a se pozove </a:t>
            </a:r>
            <a:r>
              <a:rPr lang="en-US" altLang="sr-Latn-RS" b="1" i="1"/>
              <a:t>proceed</a:t>
            </a:r>
            <a:r>
              <a:rPr lang="en-US" altLang="sr-Latn-RS" i="1"/>
              <a:t>()</a:t>
            </a:r>
            <a:r>
              <a:rPr lang="en-US" altLang="sr-Latn-RS"/>
              <a:t>, čime se nastavlja izvršenje programa</a:t>
            </a:r>
          </a:p>
          <a:p>
            <a:pPr eaLnBrk="1" hangingPunct="1"/>
            <a:r>
              <a:rPr lang="en-US" altLang="sr-Latn-RS"/>
              <a:t>Nakon toga se kontrola vraća u around advice code, gde se nastavlja izvršenje aspekta</a:t>
            </a:r>
          </a:p>
          <a:p>
            <a:pPr eaLnBrk="1" hangingPunct="1"/>
            <a:r>
              <a:rPr lang="en-US" altLang="sr-Latn-RS"/>
              <a:t>Primer: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around void a() 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System.out.println("before joinpoint");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proceed();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System.out.println("after joinpoint");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sr-Latn-R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E32F600-0E7F-342C-AAEE-39BCF7C7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AOP – implementacije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42B4BE47-007B-591F-F090-9B4E98BD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Poznate implementacije AOP:</a:t>
            </a:r>
          </a:p>
          <a:p>
            <a:pPr lvl="1"/>
            <a:r>
              <a:rPr lang="en-US" altLang="sr-Latn-RS"/>
              <a:t>AspectJ</a:t>
            </a:r>
            <a:endParaRPr lang="sr-Latn-RS" altLang="sr-Latn-RS"/>
          </a:p>
          <a:p>
            <a:pPr lvl="1"/>
            <a:r>
              <a:rPr lang="en-US" altLang="sr-Latn-RS"/>
              <a:t>Spring AOP</a:t>
            </a:r>
          </a:p>
          <a:p>
            <a:pPr lvl="1"/>
            <a:r>
              <a:rPr lang="en-US" altLang="sr-Latn-RS"/>
              <a:t>JBoss AOP</a:t>
            </a:r>
          </a:p>
          <a:p>
            <a:pPr lvl="1"/>
            <a:r>
              <a:rPr lang="en-US" altLang="sr-Latn-RS"/>
              <a:t>Java Aspect Components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7A8B68B-71A3-2634-078A-1770BA15188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sr-Latn-RS"/>
              <a:t>AOP projekat</a:t>
            </a:r>
            <a:endParaRPr lang="sr-Latn-CS" altLang="sr-Latn-R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BFF1FBE-B896-AE45-5EB7-582CE5FA154B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sr-Latn-RS" altLang="sr-Latn-RS"/>
              <a:t>I</a:t>
            </a:r>
            <a:r>
              <a:rPr lang="en-US" altLang="sr-Latn-RS"/>
              <a:t>mplementirati klase</a:t>
            </a:r>
          </a:p>
          <a:p>
            <a:r>
              <a:rPr lang="sr-Latn-RS" altLang="sr-Latn-RS"/>
              <a:t>I</a:t>
            </a:r>
            <a:r>
              <a:rPr lang="en-US" altLang="sr-Latn-RS"/>
              <a:t>mplementirati aspekte</a:t>
            </a:r>
          </a:p>
          <a:p>
            <a:endParaRPr lang="en-US" altLang="sr-Latn-RS"/>
          </a:p>
          <a:p>
            <a:r>
              <a:rPr lang="sr-Latn-RS" altLang="sr-Latn-RS"/>
              <a:t>U</a:t>
            </a:r>
            <a:r>
              <a:rPr lang="en-US" altLang="sr-Latn-RS"/>
              <a:t>predanje (weaving)</a:t>
            </a:r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F7A5-5EE5-7E65-5328-9D815F7D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Upredanje (weaving)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32CE6-6368-768D-64A0-488D4F41E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92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6DFB470E-8CE9-F1A2-508E-8602B0E8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Upredanje (weaving)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926FE6E5-3ED8-58D1-DD0E-E17672C2E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Aspekti se upredaju (weaving) u regularan kod</a:t>
            </a:r>
          </a:p>
          <a:p>
            <a:pPr eaLnBrk="1" hangingPunct="1"/>
            <a:r>
              <a:rPr lang="en-US" altLang="sr-Latn-RS"/>
              <a:t>Dve vrste upredanja:</a:t>
            </a:r>
          </a:p>
          <a:p>
            <a:pPr lvl="1" eaLnBrk="1" hangingPunct="1"/>
            <a:r>
              <a:rPr lang="en-US" altLang="sr-Latn-RS"/>
              <a:t>compile-time</a:t>
            </a:r>
          </a:p>
          <a:p>
            <a:pPr lvl="2" eaLnBrk="1" hangingPunct="1"/>
            <a:r>
              <a:rPr lang="en-US" altLang="sr-Latn-RS"/>
              <a:t>bytecode weaving</a:t>
            </a:r>
          </a:p>
          <a:p>
            <a:pPr lvl="2" eaLnBrk="1" hangingPunct="1"/>
            <a:r>
              <a:rPr lang="en-US" altLang="sr-Latn-RS"/>
              <a:t>source code weaving</a:t>
            </a:r>
          </a:p>
          <a:p>
            <a:pPr lvl="1" eaLnBrk="1" hangingPunct="1"/>
            <a:r>
              <a:rPr lang="en-US" altLang="sr-Latn-RS"/>
              <a:t>run-time </a:t>
            </a:r>
          </a:p>
          <a:p>
            <a:pPr lvl="2" eaLnBrk="1" hangingPunct="1"/>
            <a:r>
              <a:rPr lang="en-US" altLang="sr-Latn-RS"/>
              <a:t>menjaju bytecode pre učitavanja u VM</a:t>
            </a:r>
          </a:p>
          <a:p>
            <a:pPr lvl="2" eaLnBrk="1" hangingPunct="1"/>
            <a:r>
              <a:rPr lang="en-US" altLang="sr-Latn-RS"/>
              <a:t>ubacuju kuke (hooks) u kod gde se potencijalno mogu uključiti aspekti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5D39C424-F3B4-F9A3-29C4-053CF0DD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Compile-time weaving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FDC886D9-6C8E-ED3A-F9C8-C8D513704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bytecode weaving</a:t>
            </a:r>
          </a:p>
          <a:p>
            <a:pPr lvl="1" eaLnBrk="1" hangingPunct="1"/>
            <a:r>
              <a:rPr lang="en-US" altLang="sr-Latn-RS"/>
              <a:t>rezultat je uvek byte code</a:t>
            </a:r>
          </a:p>
          <a:p>
            <a:pPr lvl="1" eaLnBrk="1" hangingPunct="1"/>
            <a:r>
              <a:rPr lang="en-US" altLang="sr-Latn-RS"/>
              <a:t>ako se dodaje ili uklanja aspekt, kod se mora ponovo upresti</a:t>
            </a:r>
          </a:p>
          <a:p>
            <a:pPr eaLnBrk="1" hangingPunct="1"/>
            <a:r>
              <a:rPr lang="en-US" altLang="sr-Latn-RS"/>
              <a:t>source code weaving</a:t>
            </a:r>
          </a:p>
          <a:p>
            <a:pPr lvl="1" eaLnBrk="1" hangingPunct="1"/>
            <a:r>
              <a:rPr lang="en-US" altLang="sr-Latn-RS"/>
              <a:t>rezultat je source code koji se zatim mora kompajlirati</a:t>
            </a:r>
          </a:p>
          <a:p>
            <a:pPr eaLnBrk="1" hangingPunct="1"/>
            <a:endParaRPr lang="en-US" altLang="sr-Latn-RS"/>
          </a:p>
          <a:p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334C1A7-75A8-40B5-6394-D8F57116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Izvršenje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846DC5CE-8B03-4439-5D85-9F80A9E2A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Ako je upredanje compile-time, potrebno je staviti u CLASSPATH odgovarajući</a:t>
            </a:r>
            <a:r>
              <a:rPr lang="sr-Latn-RS" altLang="sr-Latn-RS"/>
              <a:t> run-time </a:t>
            </a:r>
            <a:r>
              <a:rPr lang="en-US" altLang="sr-Latn-RS"/>
              <a:t>jar (</a:t>
            </a:r>
            <a:r>
              <a:rPr lang="en-US" altLang="sr-Latn-RS" b="1"/>
              <a:t>aspectjrt.jar</a:t>
            </a:r>
            <a:r>
              <a:rPr lang="en-US" altLang="sr-Latn-RS"/>
              <a:t>) i startovati program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0CD4A44C-C9A3-8961-E8C3-1808C540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Run-time weaving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F845ACE0-2658-680B-90AA-D6AC42D9A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Menjaju bytecode pre učitavanja u VM</a:t>
            </a:r>
          </a:p>
          <a:p>
            <a:pPr eaLnBrk="1" hangingPunct="1"/>
            <a:r>
              <a:rPr lang="en-US" altLang="sr-Latn-RS"/>
              <a:t>Prednost je da mogu da se dinamički menjaju aspekti bez </a:t>
            </a:r>
            <a:r>
              <a:rPr lang="sr-Latn-RS" altLang="sr-Latn-RS"/>
              <a:t>kompajliranja </a:t>
            </a:r>
            <a:r>
              <a:rPr lang="en-US" altLang="sr-Latn-RS"/>
              <a:t>aplikacije</a:t>
            </a:r>
          </a:p>
          <a:p>
            <a:pPr eaLnBrk="1" hangingPunct="1"/>
            <a:r>
              <a:rPr lang="en-US" altLang="sr-Latn-RS"/>
              <a:t>Ubacivanje kuka (hooks) u kod gde se potencijalno mogu uključiti aspekti se izvodi u trenutku učitavanja byte code-a u VM (class loading)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D482BB51-3099-9B99-F5FB-FCFB9598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Run-time weaving – AspectJ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C7DD2304-DD12-D167-2D5C-2B6C732E0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Prilikom startovanja Java programa, potrebno je:</a:t>
            </a:r>
          </a:p>
          <a:p>
            <a:pPr lvl="1"/>
            <a:r>
              <a:rPr lang="en-US" altLang="sr-Latn-RS"/>
              <a:t>proslediti parametar </a:t>
            </a:r>
            <a:r>
              <a:rPr lang="en-US" altLang="sr-Latn-RS" b="1"/>
              <a:t>–javaagent </a:t>
            </a:r>
            <a:r>
              <a:rPr lang="en-US" altLang="sr-Latn-RS"/>
              <a:t>sa vrednošću putanje do foldera gde je weaver: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-javaagent:D:\lib\aspectjweaver.jar</a:t>
            </a:r>
            <a:r>
              <a:rPr lang="en-US" altLang="sr-Latn-RS"/>
              <a:t>	</a:t>
            </a:r>
          </a:p>
          <a:p>
            <a:pPr lvl="1"/>
            <a:r>
              <a:rPr lang="en-US" altLang="sr-Latn-RS"/>
              <a:t>u </a:t>
            </a:r>
            <a:r>
              <a:rPr lang="en-US" altLang="sr-Latn-RS" b="1"/>
              <a:t>META-INF</a:t>
            </a:r>
            <a:r>
              <a:rPr lang="en-US" altLang="sr-Latn-RS"/>
              <a:t> folder aplikacije staviti datoteku</a:t>
            </a:r>
            <a:br>
              <a:rPr lang="sr-Latn-RS" altLang="sr-Latn-RS"/>
            </a:br>
            <a:r>
              <a:rPr lang="en-US" altLang="sr-Latn-RS" b="1"/>
              <a:t>aop-ajc.xml </a:t>
            </a:r>
            <a:r>
              <a:rPr lang="en-US" altLang="sr-Latn-RS"/>
              <a:t>sa uputs</a:t>
            </a:r>
            <a:r>
              <a:rPr lang="sr-Latn-RS" altLang="sr-Latn-RS"/>
              <a:t>t</a:t>
            </a:r>
            <a:r>
              <a:rPr lang="en-US" altLang="sr-Latn-RS"/>
              <a:t>vom za upredanje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CFC1284D-FBE6-6B79-01CB-BD722B8A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Run-time weaving – AspectJ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199554C6-6661-F1D0-59FB-7392E9B2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Datoteka </a:t>
            </a:r>
            <a:r>
              <a:rPr lang="en-US" altLang="sr-Latn-RS" sz="2400" b="1">
                <a:latin typeface="Arial" panose="020B0604020202020204" pitchFamily="34" charset="0"/>
                <a:cs typeface="Arial" panose="020B0604020202020204" pitchFamily="34" charset="0"/>
              </a:rPr>
              <a:t>aop-ajc.xml</a:t>
            </a:r>
            <a:r>
              <a:rPr lang="en-U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, u </a:t>
            </a:r>
            <a:r>
              <a:rPr lang="en-US" altLang="sr-Latn-RS" sz="2400" b="1">
                <a:latin typeface="Arial" panose="020B0604020202020204" pitchFamily="34" charset="0"/>
                <a:cs typeface="Arial" panose="020B0604020202020204" pitchFamily="34" charset="0"/>
              </a:rPr>
              <a:t>META-INF</a:t>
            </a:r>
            <a:r>
              <a:rPr lang="en-US" altLang="sr-Latn-RS" sz="2400">
                <a:latin typeface="Arial" panose="020B0604020202020204" pitchFamily="34" charset="0"/>
                <a:cs typeface="Arial" panose="020B0604020202020204" pitchFamily="34" charset="0"/>
              </a:rPr>
              <a:t> folderu aplikacije koja se upreda:</a:t>
            </a:r>
          </a:p>
          <a:p>
            <a:pPr>
              <a:buFont typeface="Arial" panose="020B0604020202020204" pitchFamily="34" charset="0"/>
              <a:buNone/>
            </a:pP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&lt;aspectj&gt;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&lt;aspects&gt;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&lt;aspect name=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"tomcat.MBInterceptor"/&gt;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&lt;/aspects&gt;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&lt;weaver options=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"-Xset:weaveJavaxPackages=true"/&gt;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&lt;/aspectj&gt;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4F37-0EE2-5661-AC6D-2A390FF4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AOP uz pomoć anotacija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EA4F2-B46C-7154-F8B3-98466232D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779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38FBCD77-AFBF-F0A1-A3CF-16F0DA5F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Drugi oblik - anotacije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9433CFB2-AC22-BDE0-F55D-6385964E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Umesto da se piše *.aj datoteka, koriste se "obične" Java klase, </a:t>
            </a:r>
            <a:endParaRPr lang="sr-Latn-RS" altLang="sr-Latn-RS"/>
          </a:p>
          <a:p>
            <a:pPr lvl="1"/>
            <a:r>
              <a:rPr lang="en-US" altLang="sr-Latn-RS"/>
              <a:t>u kojima se uz pomoć anotacija @</a:t>
            </a:r>
            <a:r>
              <a:rPr lang="en-US" altLang="sr-Latn-RS" b="1"/>
              <a:t>Aspect</a:t>
            </a:r>
            <a:r>
              <a:rPr lang="en-US" altLang="sr-Latn-RS"/>
              <a:t>, @</a:t>
            </a:r>
            <a:r>
              <a:rPr lang="en-US" altLang="sr-Latn-RS" b="1"/>
              <a:t>Pointcut</a:t>
            </a:r>
            <a:r>
              <a:rPr lang="en-US" altLang="sr-Latn-RS"/>
              <a:t>, @</a:t>
            </a:r>
            <a:r>
              <a:rPr lang="en-US" altLang="sr-Latn-RS" b="1"/>
              <a:t>Before</a:t>
            </a:r>
            <a:r>
              <a:rPr lang="en-US" altLang="sr-Latn-RS"/>
              <a:t> i sl. definišu pointcut-ovi i advice-ovi</a:t>
            </a:r>
          </a:p>
          <a:p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3853D0E6-B49A-669E-B44B-D24DA640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Aspekt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FC59774D-9C04-5DDB-EA63-6EE981152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Anotacijom @</a:t>
            </a:r>
            <a:r>
              <a:rPr lang="en-US" altLang="sr-Latn-RS" b="1"/>
              <a:t>Aspect</a:t>
            </a:r>
            <a:r>
              <a:rPr lang="en-US" altLang="sr-Latn-RS"/>
              <a:t> iznad klase se označava da će zadata klasa biti zapravo kontejner za aspekte: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@Aspect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Aspekti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86E4C2FD-B9E5-4831-1FA9-0921ED51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Pointcut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DA06135E-5F5C-7F58-B651-943CFBBA8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Anotacija @</a:t>
            </a:r>
            <a:r>
              <a:rPr lang="en-US" altLang="sr-Latn-RS" b="1"/>
              <a:t>Pointcut</a:t>
            </a:r>
            <a:r>
              <a:rPr lang="en-US" altLang="sr-Latn-RS"/>
              <a:t> se stavlja iznad prazne metode, na koju ćemo se referencirati iz advice-a: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@Pointcut ( "call( public void Test.f()) "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void okoF() {}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1D3A4C1B-05C5-4E16-046E-78EAA5C5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Advice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C7755C71-E211-BB35-085E-618423A09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9686925" cy="4525963"/>
          </a:xfrm>
        </p:spPr>
        <p:txBody>
          <a:bodyPr/>
          <a:lstStyle/>
          <a:p>
            <a:r>
              <a:rPr lang="en-US" altLang="sr-Latn-RS"/>
              <a:t>Anotacija @</a:t>
            </a:r>
            <a:r>
              <a:rPr lang="en-US" altLang="sr-Latn-RS" b="1"/>
              <a:t>Before</a:t>
            </a:r>
            <a:r>
              <a:rPr lang="en-US" altLang="sr-Latn-RS"/>
              <a:t>, @</a:t>
            </a:r>
            <a:r>
              <a:rPr lang="en-US" altLang="sr-Latn-RS" b="1"/>
              <a:t>After</a:t>
            </a:r>
            <a:r>
              <a:rPr lang="en-US" altLang="sr-Latn-RS"/>
              <a:t> ili @</a:t>
            </a:r>
            <a:r>
              <a:rPr lang="en-US" altLang="sr-Latn-RS" b="1"/>
              <a:t>Around</a:t>
            </a:r>
            <a:r>
              <a:rPr lang="en-US" altLang="sr-Latn-RS"/>
              <a:t> se stavlja iznad metode koja će implementirati aspekt: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@Around("okoF()")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aroundOkoF(ProceedingJoinPoint jp) {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System.out.println("* okoF(), pre poziva funkcije f()");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jp.proceed();</a:t>
            </a:r>
          </a:p>
          <a:p>
            <a:pPr>
              <a:buFont typeface="Arial" panose="020B0604020202020204" pitchFamily="34" charset="0"/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System.out.println("* okoF(), posle poziva funkcije f()");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Arial" panose="020B0604020202020204" pitchFamily="34" charset="0"/>
              <a:buNone/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84C06E3F-19A2-9545-99CA-4929114B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Izuzeci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AA551C48-F58E-6558-44D9-762E4477E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1"/>
            <a:ext cx="11154833" cy="4525963"/>
          </a:xfrm>
        </p:spPr>
        <p:txBody>
          <a:bodyPr/>
          <a:lstStyle/>
          <a:p>
            <a:r>
              <a:rPr lang="en-US" altLang="sr-Latn-RS"/>
              <a:t>Metoda koja presreće izuzetak se označava anotacijom @</a:t>
            </a:r>
            <a:r>
              <a:rPr lang="en-US" altLang="sr-Latn-RS" b="1"/>
              <a:t>AfterThrowing</a:t>
            </a:r>
            <a:r>
              <a:rPr lang="en-US" altLang="sr-Latn-RS"/>
              <a:t>:</a:t>
            </a:r>
            <a:endParaRPr lang="sr-Latn-RS" altLang="sr-Latn-RS"/>
          </a:p>
          <a:p>
            <a:endParaRPr lang="en-US" altLang="sr-Latn-RS"/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@AfterThrowing(pointcut="call (* Test.*(..))", throwing="e")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void izuzetak(Exception e) 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System.out.println("## izuzetak(): 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System.out.println("&gt;&gt;  izuzetak: " + e);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System.out.println("## izuzetak(), kraj ");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Arial" panose="020B0604020202020204" pitchFamily="34" charset="0"/>
              <a:buNone/>
            </a:pP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E2FDFB9B-3C87-8451-8F12-36B5C10B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r-Latn-RS"/>
              <a:t>Deklaracije upozorenja ili grešaka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AFEB437A-7CBD-72F3-92A1-2DA49E013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Anotacijama @</a:t>
            </a:r>
            <a:r>
              <a:rPr lang="en-US" altLang="sr-Latn-RS" b="1"/>
              <a:t>DeclareError</a:t>
            </a:r>
            <a:r>
              <a:rPr lang="en-US" altLang="sr-Latn-RS"/>
              <a:t> i @</a:t>
            </a:r>
            <a:r>
              <a:rPr lang="en-US" altLang="sr-Latn-RS" b="1"/>
              <a:t>DeclareWarning</a:t>
            </a:r>
            <a:r>
              <a:rPr lang="en-US" altLang="sr-Latn-RS"/>
              <a:t> koje su smeštene iznad </a:t>
            </a:r>
            <a:r>
              <a:rPr lang="en-US" altLang="sr-Latn-RS" b="1"/>
              <a:t>final</a:t>
            </a:r>
            <a:r>
              <a:rPr lang="en-US" altLang="sr-Latn-RS"/>
              <a:t> </a:t>
            </a:r>
            <a:r>
              <a:rPr lang="en-US" altLang="sr-Latn-RS" b="1"/>
              <a:t>static</a:t>
            </a:r>
            <a:r>
              <a:rPr lang="en-US" altLang="sr-Latn-RS"/>
              <a:t> atributa tipa </a:t>
            </a:r>
            <a:r>
              <a:rPr lang="en-US" altLang="sr-Latn-RS" b="1"/>
              <a:t>String</a:t>
            </a:r>
            <a:r>
              <a:rPr lang="en-US" altLang="sr-Latn-RS"/>
              <a:t> se koriste za definisanje compile-time upozorenja ili greške: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@DeclareError( " call ( * Test.f4() )"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final static String message = "Poziv metode f4() je zabranjen!";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2302</Words>
  <Application>Microsoft Office PowerPoint</Application>
  <PresentationFormat>Widescreen</PresentationFormat>
  <Paragraphs>335</Paragraphs>
  <Slides>55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Aptos</vt:lpstr>
      <vt:lpstr>Aptos Display</vt:lpstr>
      <vt:lpstr>Arial</vt:lpstr>
      <vt:lpstr>Courier New</vt:lpstr>
      <vt:lpstr>Office Theme</vt:lpstr>
      <vt:lpstr>Inženjerstvo Serverskog Sloja prof. dr Milan Vidaković</vt:lpstr>
      <vt:lpstr>AOP – uvod</vt:lpstr>
      <vt:lpstr>AOP – uvod</vt:lpstr>
      <vt:lpstr>Motivacija (code scattering)</vt:lpstr>
      <vt:lpstr>Motivacija (code scattering)</vt:lpstr>
      <vt:lpstr>Motivacija (code scattering)</vt:lpstr>
      <vt:lpstr>Motivacija (code scattering) - Cilj</vt:lpstr>
      <vt:lpstr>Motivacija (code scattering)</vt:lpstr>
      <vt:lpstr>Motivacija (code scattering)</vt:lpstr>
      <vt:lpstr>Motivacija (crosscutting functionalities)</vt:lpstr>
      <vt:lpstr>Motivacija (relativno jednostavno)</vt:lpstr>
      <vt:lpstr>Motivacija (relativno jednostavno)</vt:lpstr>
      <vt:lpstr>Motivacija – rezime</vt:lpstr>
      <vt:lpstr>Terminologija</vt:lpstr>
      <vt:lpstr>Terminologija</vt:lpstr>
      <vt:lpstr>Joinpoint</vt:lpstr>
      <vt:lpstr>Pointcut</vt:lpstr>
      <vt:lpstr>Pointcut</vt:lpstr>
      <vt:lpstr>Vrste pointcut-ova</vt:lpstr>
      <vt:lpstr>Vrste pointcut-ova</vt:lpstr>
      <vt:lpstr>Vrste pointcut-ova</vt:lpstr>
      <vt:lpstr>Metode</vt:lpstr>
      <vt:lpstr>Metode</vt:lpstr>
      <vt:lpstr>Paketi</vt:lpstr>
      <vt:lpstr>Introspekcija</vt:lpstr>
      <vt:lpstr>Introspekcija</vt:lpstr>
      <vt:lpstr>Atributi</vt:lpstr>
      <vt:lpstr>Atributi</vt:lpstr>
      <vt:lpstr>Izuzeci</vt:lpstr>
      <vt:lpstr>Konstruktori</vt:lpstr>
      <vt:lpstr>Statički blok</vt:lpstr>
      <vt:lpstr>Filtriranje</vt:lpstr>
      <vt:lpstr>Filtriranje</vt:lpstr>
      <vt:lpstr>Filtriranje</vt:lpstr>
      <vt:lpstr>Deklaracije compile-time grešaka i upozorenja</vt:lpstr>
      <vt:lpstr>Advice code</vt:lpstr>
      <vt:lpstr>Advice code</vt:lpstr>
      <vt:lpstr>After advice code</vt:lpstr>
      <vt:lpstr>Around advice code</vt:lpstr>
      <vt:lpstr>AOP – implementacije</vt:lpstr>
      <vt:lpstr>AOP projekat</vt:lpstr>
      <vt:lpstr>Upredanje (weaving)</vt:lpstr>
      <vt:lpstr>Upredanje (weaving)</vt:lpstr>
      <vt:lpstr>Compile-time weaving</vt:lpstr>
      <vt:lpstr>Izvršenje</vt:lpstr>
      <vt:lpstr>Run-time weaving</vt:lpstr>
      <vt:lpstr>Run-time weaving – AspectJ</vt:lpstr>
      <vt:lpstr>Run-time weaving – AspectJ</vt:lpstr>
      <vt:lpstr>AOP uz pomoć anotacija</vt:lpstr>
      <vt:lpstr>Drugi oblik - anotacije</vt:lpstr>
      <vt:lpstr>Aspekt</vt:lpstr>
      <vt:lpstr>Pointcut</vt:lpstr>
      <vt:lpstr>Advice</vt:lpstr>
      <vt:lpstr>Izuzeci</vt:lpstr>
      <vt:lpstr>Deklaracije upozorenja ili grešaka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116</cp:revision>
  <dcterms:created xsi:type="dcterms:W3CDTF">2024-06-23T05:47:25Z</dcterms:created>
  <dcterms:modified xsi:type="dcterms:W3CDTF">2024-07-01T19:52:54Z</dcterms:modified>
</cp:coreProperties>
</file>