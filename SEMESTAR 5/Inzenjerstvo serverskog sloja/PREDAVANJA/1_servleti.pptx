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9" r:id="rId2"/>
    <p:sldId id="30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8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29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A1E6-74B9-B007-5B8B-E3A5BEC7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5DC65-D9A3-8C91-D14F-135FD327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1B2D0-ABF2-DADC-98E8-D615EE8E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711A-EC7D-8349-D77F-89CD63C0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1356-1B18-3548-65B5-08AF3EB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62C9-9004-FAA2-0F2F-3B0AA391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8230-FC2A-7231-CFF5-8A749913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128B-F2A3-5D22-4112-A9C4323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C9AA-B4B6-1FE3-7822-7C8A415C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A48F-7FF1-5C4E-8940-5DF337B1AC88}"/>
              </a:ext>
            </a:extLst>
          </p:cNvPr>
          <p:cNvSpPr txBox="1"/>
          <p:nvPr userDrawn="1"/>
        </p:nvSpPr>
        <p:spPr>
          <a:xfrm>
            <a:off x="8606348" y="6356350"/>
            <a:ext cx="274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990961-FEE4-4147-85DF-F26C93E51AE9}" type="slidenum">
              <a:rPr lang="en-US" smtClean="0"/>
              <a:pPr algn="r"/>
              <a:t>‹#›</a:t>
            </a:fld>
            <a:r>
              <a:rPr lang="sr-Latn-RS"/>
              <a:t>/22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2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78E1-36ED-F2E5-5AE2-BBF0048D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37252-6392-D97E-A32E-DF0DF5B9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E1B3-93BA-60B1-5749-46AD8855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68F8-B119-91F9-ED23-0E303ACE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5E46-38EE-04FB-8F4C-08A7F14B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009-88D3-3972-F885-2A8BFD42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F20C-A309-F9DA-63F3-26BC519C9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2264E-8D42-E2BE-9287-EC0885F1C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CAA43-CF6B-E2D0-7E48-984532AB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7FBBB-A6A4-916E-C2F8-1713820F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F410-6D25-0349-92D2-8E61E524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540A-E0DF-243B-D9C7-EF52AC8C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0F96-DD89-F749-F6B7-CEAD4BAD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DF807-9C41-E99E-7F37-F4132EAA4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74686-207E-C685-98A0-419353DF2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5AE6D-D3CC-9A61-683C-598C5D833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5CADA-7E10-0255-BD45-26816E36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906F-F859-6D3D-3E05-12BDD9DE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D7164-45E3-3B46-BDD8-D7F3FAD6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7579-F4A2-BA42-2D55-A3A68C92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C16C9-DCA0-CB78-5FC9-2B190A96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CEFE-F0D9-C890-4083-336E657B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C13E0-9B4B-453E-17BA-F01D4E7D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C93AE-636C-EAE0-3F80-219438AD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733B9-E924-3C34-33B8-D3AC8F67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CC0E-1D47-0ED3-FFCB-C5540DAB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E3C8-5253-05F9-9412-7C9F274B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7C69-CD9D-604F-BE2C-EB26DFE4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42EF5-B3D6-56DA-92F8-36D1EADC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9160B-36E5-28B5-DD65-680BED93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F8A6-C26B-CB55-507E-CD7A98B3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75D1-C5AB-B42C-F0F8-6D1CDE29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7B1-508A-A836-2017-A1E1FF89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13571-0329-952B-89AA-B512A60AF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0C187-5142-7791-AA17-D5D69330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310CA-AB77-1BEC-92D7-F375EECB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4817-AB0E-5596-A378-05A0B1D1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87B7E-8673-C82E-3626-04A9E76E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8929-9984-F28E-2B3D-2C95D224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0EBCC-FB38-E1A6-C695-04589A11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4006F-CBAC-6702-15D4-A4C77997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036A-FD6E-7308-2B3D-B4E5FC21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6DCA0-62F2-F218-904D-EF522795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42F05-54B6-2C5A-F807-FEEB02216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4F83-82F3-0FDE-5BC4-A96CAF7B9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6EBDC-CDE1-E403-836B-C85FEDED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D518-2EEE-EEF6-B5AA-92138BC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B789C-1E49-4CE2-9965-82FD904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4C8D8-6766-8B92-F773-71A1DF94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7BD0-82D6-03A3-CB53-950A90FF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C2FD-5433-4460-9C48-9193FCBE6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68D8-10DC-445B-41A0-348DA8F26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E9E3-3351-81DD-B3EC-22EF79A9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04D9EC8-6535-4800-7781-D95D0812D29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351088" y="4292600"/>
            <a:ext cx="7772400" cy="1295400"/>
          </a:xfrm>
        </p:spPr>
        <p:txBody>
          <a:bodyPr/>
          <a:lstStyle/>
          <a:p>
            <a:pPr eaLnBrk="1" hangingPunct="1"/>
            <a:r>
              <a:rPr lang="sr-Latn-CS" altLang="sr-Latn-RS" sz="3200"/>
              <a:t>Dinamičko generisanje</a:t>
            </a:r>
            <a:br>
              <a:rPr lang="sr-Latn-CS" altLang="sr-Latn-RS" sz="3200"/>
            </a:br>
            <a:r>
              <a:rPr lang="sr-Latn-CS" altLang="sr-Latn-RS" sz="3200"/>
              <a:t>HTML-a i servleti</a:t>
            </a:r>
            <a:endParaRPr lang="en-GB" altLang="sr-Latn-RS" sz="32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6E67E3-2E77-1029-2A13-5F22CCDE8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050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en-GB" altLang="sr-Latn-RS" ker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74DABD29-5361-9740-7AB0-E0BF6F342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Tema</a:t>
            </a:r>
            <a:endParaRPr lang="en-US" altLang="en-US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C9731474-EF80-F93D-C29C-AE131A1161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Kako generisati web sadržaj na serveru?</a:t>
            </a:r>
          </a:p>
          <a:p>
            <a:pPr lvl="1"/>
            <a:r>
              <a:rPr lang="sr-Latn-RS" altLang="en-US"/>
              <a:t>Statički sadržaj (HTML stranice) uvek isto izgleda</a:t>
            </a:r>
          </a:p>
          <a:p>
            <a:pPr lvl="1"/>
            <a:r>
              <a:rPr lang="sr-Latn-RS" altLang="en-US"/>
              <a:t>Kako onda ubaciti promenljivi sadržaj na stranice?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20A8D21-137A-7DF9-95C7-E9FAEDB549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Vrste WWW sadržaja</a:t>
            </a:r>
            <a:endParaRPr lang="en-GB" altLang="sr-Latn-R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9BC6E72-D40F-A62E-7BB9-92CD2E95C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Statički (unapred uskladišteni) i </a:t>
            </a:r>
          </a:p>
          <a:p>
            <a:pPr eaLnBrk="1" hangingPunct="1"/>
            <a:r>
              <a:rPr lang="sr-Latn-CS" altLang="sr-Latn-RS"/>
              <a:t>Dinamički (generisani po zahtevu)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6C10438-EE5F-D1ED-C7C8-2234E0B8A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Isporuka statičkih sadržaja</a:t>
            </a:r>
            <a:endParaRPr lang="en-GB" altLang="sr-Latn-R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81F649C-0786-F745-7A7F-41D3F8192A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9372600" cy="1257300"/>
          </a:xfrm>
        </p:spPr>
        <p:txBody>
          <a:bodyPr/>
          <a:lstStyle/>
          <a:p>
            <a:pPr eaLnBrk="1" hangingPunct="1"/>
            <a:r>
              <a:rPr lang="sr-Latn-CS" altLang="sr-Latn-RS"/>
              <a:t>Statički sadržaji se nalaze u okviru datoteka WWW servera.</a:t>
            </a:r>
            <a:endParaRPr lang="en-GB" altLang="sr-Latn-RS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B1D5A708-C231-6262-D6EA-48D212DF7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96240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klijent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0D6ECB7F-21EE-56A7-2E7C-B92499FC3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3962400"/>
            <a:ext cx="884238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server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7174" name="Line 6">
            <a:extLst>
              <a:ext uri="{FF2B5EF4-FFF2-40B4-BE49-F238E27FC236}">
                <a16:creationId xmlns:a16="http://schemas.microsoft.com/office/drawing/2014/main" id="{C61606E5-2360-5354-DADE-0AB60B700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1148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5" name="Line 7">
            <a:extLst>
              <a:ext uri="{FF2B5EF4-FFF2-40B4-BE49-F238E27FC236}">
                <a16:creationId xmlns:a16="http://schemas.microsoft.com/office/drawing/2014/main" id="{D6282A4C-98B9-FDFB-C81C-C66EABDFDB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958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BE0E96C5-9D7D-E9AD-F69F-4AC2E2ECF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1" y="4648201"/>
            <a:ext cx="49180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sr-Latn-CS" altLang="sr-Latn-RS" sz="2000">
                <a:latin typeface="Tahoma" panose="020B0604030504040204" pitchFamily="34" charset="0"/>
              </a:rPr>
              <a:t>k</a:t>
            </a:r>
            <a:r>
              <a:rPr lang="en-US" altLang="sr-Latn-RS" sz="2000">
                <a:latin typeface="Tahoma" panose="020B0604030504040204" pitchFamily="34" charset="0"/>
              </a:rPr>
              <a:t>lijent zahteva datoteku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sr-Latn-RS" sz="2000">
                <a:latin typeface="Tahoma" panose="020B0604030504040204" pitchFamily="34" charset="0"/>
              </a:rPr>
              <a:t>server je u</a:t>
            </a:r>
            <a:r>
              <a:rPr lang="sr-Latn-CS" altLang="sr-Latn-RS" sz="2000">
                <a:latin typeface="Tahoma" panose="020B0604030504040204" pitchFamily="34" charset="0"/>
              </a:rPr>
              <a:t>čitava sa svog fajl-sistema i</a:t>
            </a:r>
            <a:br>
              <a:rPr lang="sr-Latn-CS" altLang="sr-Latn-RS" sz="2000">
                <a:latin typeface="Tahoma" panose="020B0604030504040204" pitchFamily="34" charset="0"/>
              </a:rPr>
            </a:br>
            <a:r>
              <a:rPr lang="sr-Latn-CS" altLang="sr-Latn-RS" sz="2000">
                <a:latin typeface="Tahoma" panose="020B0604030504040204" pitchFamily="34" charset="0"/>
              </a:rPr>
              <a:t>šalje je klijentu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7177" name="Text Box 9">
            <a:extLst>
              <a:ext uri="{FF2B5EF4-FFF2-40B4-BE49-F238E27FC236}">
                <a16:creationId xmlns:a16="http://schemas.microsoft.com/office/drawing/2014/main" id="{DFD3EB32-C121-8997-F73A-D75BEB7D1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00"/>
            <a:ext cx="2809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1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7178" name="Text Box 10">
            <a:extLst>
              <a:ext uri="{FF2B5EF4-FFF2-40B4-BE49-F238E27FC236}">
                <a16:creationId xmlns:a16="http://schemas.microsoft.com/office/drawing/2014/main" id="{966C5F8A-20EC-C394-7633-5802177C8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4191000"/>
            <a:ext cx="2809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2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95BE7D4-7DF5-F626-A0AA-A5E0D753C6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Isporuka dinamičkih sadržaja</a:t>
            </a:r>
            <a:endParaRPr lang="en-GB" altLang="sr-Latn-R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12CCCB5-C8E3-925F-808A-F5082CF94F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1"/>
            <a:ext cx="9372600" cy="1173163"/>
          </a:xfrm>
        </p:spPr>
        <p:txBody>
          <a:bodyPr/>
          <a:lstStyle/>
          <a:p>
            <a:pPr eaLnBrk="1" hangingPunct="1"/>
            <a:r>
              <a:rPr lang="sr-Latn-CS" altLang="sr-Latn-RS"/>
              <a:t>Traženi sadržaj se generiše po zahtevu i šalje klijentu.</a:t>
            </a:r>
            <a:endParaRPr lang="en-GB" altLang="sr-Latn-RS"/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44FFB719-96FB-B57D-B79B-FBFD82F56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96240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klijent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8197" name="Text Box 5">
            <a:extLst>
              <a:ext uri="{FF2B5EF4-FFF2-40B4-BE49-F238E27FC236}">
                <a16:creationId xmlns:a16="http://schemas.microsoft.com/office/drawing/2014/main" id="{8E384840-B04F-137F-CAFA-79B25D635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3962400"/>
            <a:ext cx="884238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server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8198" name="Line 6">
            <a:extLst>
              <a:ext uri="{FF2B5EF4-FFF2-40B4-BE49-F238E27FC236}">
                <a16:creationId xmlns:a16="http://schemas.microsoft.com/office/drawing/2014/main" id="{0F4F52E9-43A9-1C2B-BC16-2784B25BCB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1148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199" name="Line 7">
            <a:extLst>
              <a:ext uri="{FF2B5EF4-FFF2-40B4-BE49-F238E27FC236}">
                <a16:creationId xmlns:a16="http://schemas.microsoft.com/office/drawing/2014/main" id="{6189D65E-B290-4602-2829-632A35689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4958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200" name="Text Box 8">
            <a:extLst>
              <a:ext uri="{FF2B5EF4-FFF2-40B4-BE49-F238E27FC236}">
                <a16:creationId xmlns:a16="http://schemas.microsoft.com/office/drawing/2014/main" id="{4334F17E-8745-67E8-DAF2-F6A3949D8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521" y="4941888"/>
            <a:ext cx="842493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sr-Latn-CS" altLang="sr-Latn-RS" sz="2000">
                <a:latin typeface="Tahoma" panose="020B0604030504040204" pitchFamily="34" charset="0"/>
              </a:rPr>
              <a:t>k</a:t>
            </a:r>
            <a:r>
              <a:rPr lang="en-US" altLang="sr-Latn-RS" sz="2000">
                <a:latin typeface="Tahoma" panose="020B0604030504040204" pitchFamily="34" charset="0"/>
              </a:rPr>
              <a:t>lijent zahteva "datoteku"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sr-Latn-RS" sz="2000">
                <a:latin typeface="Tahoma" panose="020B0604030504040204" pitchFamily="34" charset="0"/>
              </a:rPr>
              <a:t>server </a:t>
            </a:r>
            <a:r>
              <a:rPr lang="sr-Latn-RS" altLang="sr-Latn-RS" sz="2000">
                <a:latin typeface="Tahoma" panose="020B0604030504040204" pitchFamily="34" charset="0"/>
              </a:rPr>
              <a:t>startuje "datoteku</a:t>
            </a:r>
            <a:r>
              <a:rPr lang="en-US" altLang="sr-Latn-RS" sz="2000">
                <a:latin typeface="Tahoma" panose="020B0604030504040204" pitchFamily="34" charset="0"/>
              </a:rPr>
              <a:t>"</a:t>
            </a:r>
            <a:r>
              <a:rPr lang="sr-Latn-CS" altLang="sr-Latn-RS" sz="2000">
                <a:latin typeface="Tahoma" panose="020B0604030504040204" pitchFamily="34" charset="0"/>
              </a:rPr>
              <a:t>, a ona generiše sadržaj klijentu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8201" name="Text Box 9">
            <a:extLst>
              <a:ext uri="{FF2B5EF4-FFF2-40B4-BE49-F238E27FC236}">
                <a16:creationId xmlns:a16="http://schemas.microsoft.com/office/drawing/2014/main" id="{E242C844-DDB5-72D0-219D-97A5E4FBC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10000"/>
            <a:ext cx="2809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1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8202" name="Text Box 10">
            <a:extLst>
              <a:ext uri="{FF2B5EF4-FFF2-40B4-BE49-F238E27FC236}">
                <a16:creationId xmlns:a16="http://schemas.microsoft.com/office/drawing/2014/main" id="{D636F314-DE51-1428-68F9-C71BD510B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0200" y="4191000"/>
            <a:ext cx="2809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2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3CBDF00-AF25-0F33-9511-8CF4C599EA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Servleti </a:t>
            </a:r>
            <a:r>
              <a:rPr lang="sr-Latn-CS" altLang="sr-Latn-RS" baseline="-25000"/>
              <a:t>1/2</a:t>
            </a:r>
            <a:endParaRPr lang="en-GB" altLang="sr-Latn-RS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C3204C3C-ED68-0124-6F86-CCD8A21175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Tehnologija za generisanje dinamičkih sadržaja.</a:t>
            </a:r>
          </a:p>
          <a:p>
            <a:pPr eaLnBrk="1" hangingPunct="1"/>
            <a:r>
              <a:rPr lang="sr-Latn-CS" altLang="sr-Latn-RS"/>
              <a:t>U kombinaciji sa WWW serverom omogućuje dinamičko kreiranje sadržaja.</a:t>
            </a:r>
          </a:p>
          <a:p>
            <a:pPr eaLnBrk="1" hangingPunct="1"/>
            <a:r>
              <a:rPr lang="sr-Latn-CS" altLang="sr-Latn-RS"/>
              <a:t>Rezultat izvršenja odabranih metoda servleta je dinamički kreiran </a:t>
            </a:r>
            <a:r>
              <a:rPr lang="en-US" altLang="sr-Latn-RS"/>
              <a:t>sadr</a:t>
            </a:r>
            <a:r>
              <a:rPr lang="sr-Latn-CS" altLang="sr-Latn-RS"/>
              <a:t>žaj.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AutoShape 4">
            <a:extLst>
              <a:ext uri="{FF2B5EF4-FFF2-40B4-BE49-F238E27FC236}">
                <a16:creationId xmlns:a16="http://schemas.microsoft.com/office/drawing/2014/main" id="{612FBB0E-BB1C-60F9-BD11-0337AEC6E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1226" y="620688"/>
            <a:ext cx="2184400" cy="1346200"/>
          </a:xfrm>
          <a:prstGeom prst="wedgeRoundRectCallout">
            <a:avLst>
              <a:gd name="adj1" fmla="val -138936"/>
              <a:gd name="adj2" fmla="val 39712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sr-Latn-CS" altLang="sr-Latn-RS" sz="2000">
                <a:solidFill>
                  <a:schemeClr val="bg1"/>
                </a:solidFill>
                <a:latin typeface="+mj-lt"/>
              </a:rPr>
              <a:t>redefini</a:t>
            </a:r>
            <a:r>
              <a:rPr lang="en-US" altLang="sr-Latn-RS" sz="2000">
                <a:solidFill>
                  <a:schemeClr val="bg1"/>
                </a:solidFill>
                <a:latin typeface="+mj-lt"/>
              </a:rPr>
              <a:t>sati</a:t>
            </a:r>
            <a:r>
              <a:rPr lang="sr-Latn-CS" altLang="sr-Latn-RS" sz="2000">
                <a:solidFill>
                  <a:schemeClr val="bg1"/>
                </a:solidFill>
                <a:latin typeface="+mj-lt"/>
              </a:rPr>
              <a:t> metod</a:t>
            </a:r>
            <a:r>
              <a:rPr lang="en-US" altLang="sr-Latn-RS" sz="2000">
                <a:solidFill>
                  <a:schemeClr val="bg1"/>
                </a:solidFill>
                <a:latin typeface="+mj-lt"/>
              </a:rPr>
              <a:t>u</a:t>
            </a:r>
            <a:r>
              <a:rPr lang="sr-Latn-CS" altLang="sr-Latn-RS" sz="2000">
                <a:solidFill>
                  <a:schemeClr val="bg1"/>
                </a:solidFill>
                <a:latin typeface="+mj-lt"/>
              </a:rPr>
              <a:t>:</a:t>
            </a:r>
          </a:p>
          <a:p>
            <a:pPr lvl="1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r-Latn-RS" sz="2000" b="1">
                <a:solidFill>
                  <a:schemeClr val="bg1"/>
                </a:solidFill>
                <a:latin typeface="+mj-lt"/>
              </a:rPr>
              <a:t>doGet(...)</a:t>
            </a:r>
          </a:p>
          <a:p>
            <a:pPr lvl="1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sr-Latn-RS" sz="2000" b="1">
                <a:solidFill>
                  <a:schemeClr val="bg1"/>
                </a:solidFill>
                <a:latin typeface="+mj-lt"/>
              </a:rPr>
              <a:t>doPost(...)</a:t>
            </a:r>
            <a:endParaRPr lang="sr-Latn-CS" altLang="sr-Latn-RS" sz="2000" b="1">
              <a:solidFill>
                <a:schemeClr val="bg1"/>
              </a:solidFill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sr-Latn-CS" altLang="sr-Latn-RS" sz="2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D8AC8428-07CC-C66E-C8EF-B106E5D95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767" y="1268761"/>
            <a:ext cx="10875433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klasa koja nasleđuje klasu </a:t>
            </a:r>
            <a:r>
              <a:rPr lang="en-US" altLang="sr-Latn-RS" sz="2000" b="1">
                <a:latin typeface="Courier New" panose="02070309020205020404" pitchFamily="49" charset="0"/>
              </a:rPr>
              <a:t>HttpS</a:t>
            </a:r>
            <a:r>
              <a:rPr lang="sr-Latn-CS" altLang="sr-Latn-RS" sz="2000" b="1">
                <a:latin typeface="Courier New" panose="02070309020205020404" pitchFamily="49" charset="0"/>
              </a:rPr>
              <a:t>ervlet: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public abstract class HttpServlet {</a:t>
            </a:r>
            <a:endParaRPr lang="sr-Latn-C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</a:t>
            </a:r>
            <a:r>
              <a:rPr lang="sr-Latn-CS" altLang="sr-Latn-RS" sz="1600" b="1">
                <a:solidFill>
                  <a:srgbClr val="FFC000"/>
                </a:solidFill>
                <a:latin typeface="Courier New" panose="02070309020205020404" pitchFamily="49" charset="0"/>
              </a:rPr>
              <a:t>protected void init(ServletConfig cnf) {}</a:t>
            </a:r>
            <a:endParaRPr lang="en-US" altLang="sr-Latn-RS" sz="1600" b="1">
              <a:solidFill>
                <a:srgbClr val="FFC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>
                <a:latin typeface="Courier New" panose="02070309020205020404" pitchFamily="49" charset="0"/>
              </a:rPr>
              <a:t>protected void </a:t>
            </a:r>
            <a:r>
              <a:rPr lang="en-US" altLang="sr-Latn-RS" sz="1600" b="1">
                <a:latin typeface="Courier New" panose="02070309020205020404" pitchFamily="49" charset="0"/>
              </a:rPr>
              <a:t>doGet</a:t>
            </a:r>
            <a:r>
              <a:rPr lang="en-US" altLang="sr-Latn-RS" sz="1600">
                <a:latin typeface="Courier New" panose="02070309020205020404" pitchFamily="49" charset="0"/>
              </a:rPr>
              <a:t>(HttpServletRequest </a:t>
            </a:r>
            <a:r>
              <a:rPr lang="en-US" altLang="sr-Latn-RS" sz="1600" b="1">
                <a:latin typeface="Courier New" panose="02070309020205020404" pitchFamily="49" charset="0"/>
              </a:rPr>
              <a:t>request</a:t>
            </a:r>
            <a:r>
              <a:rPr lang="en-US" altLang="sr-Latn-RS" sz="1600">
                <a:latin typeface="Courier New" panose="02070309020205020404" pitchFamily="49" charset="0"/>
              </a:rPr>
              <a:t>,</a:t>
            </a:r>
            <a:r>
              <a:rPr lang="sr-Latn-RS" altLang="sr-Latn-RS" sz="1600">
                <a:latin typeface="Courier New" panose="02070309020205020404" pitchFamily="49" charset="0"/>
              </a:rPr>
              <a:t> </a:t>
            </a:r>
            <a:r>
              <a:rPr lang="en-US" altLang="sr-Latn-RS" sz="1600">
                <a:latin typeface="Courier New" panose="02070309020205020404" pitchFamily="49" charset="0"/>
              </a:rPr>
              <a:t>HttpServletResponse </a:t>
            </a:r>
            <a:r>
              <a:rPr lang="en-US" altLang="sr-Latn-RS" sz="1600" b="1">
                <a:latin typeface="Courier New" panose="02070309020205020404" pitchFamily="49" charset="0"/>
              </a:rPr>
              <a:t>response</a:t>
            </a:r>
            <a:r>
              <a:rPr lang="en-US" altLang="sr-Latn-RS" sz="1600">
                <a:latin typeface="Courier New" panose="02070309020205020404" pitchFamily="49" charset="0"/>
              </a:rPr>
              <a:t>) {}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>
                <a:latin typeface="Courier New" panose="02070309020205020404" pitchFamily="49" charset="0"/>
              </a:rPr>
              <a:t>  protected void </a:t>
            </a:r>
            <a:r>
              <a:rPr lang="en-US" altLang="sr-Latn-RS" sz="1600" b="1">
                <a:latin typeface="Courier New" panose="02070309020205020404" pitchFamily="49" charset="0"/>
              </a:rPr>
              <a:t>doPost</a:t>
            </a:r>
            <a:r>
              <a:rPr lang="en-US" altLang="sr-Latn-RS" sz="1600">
                <a:latin typeface="Courier New" panose="02070309020205020404" pitchFamily="49" charset="0"/>
              </a:rPr>
              <a:t>(HttpServletRequest </a:t>
            </a:r>
            <a:r>
              <a:rPr lang="en-US" altLang="sr-Latn-RS" sz="1600" b="1">
                <a:latin typeface="Courier New" panose="02070309020205020404" pitchFamily="49" charset="0"/>
              </a:rPr>
              <a:t>request</a:t>
            </a:r>
            <a:r>
              <a:rPr lang="en-US" altLang="sr-Latn-RS" sz="1600">
                <a:latin typeface="Courier New" panose="02070309020205020404" pitchFamily="49" charset="0"/>
              </a:rPr>
              <a:t>, HttpServletResponse </a:t>
            </a:r>
            <a:r>
              <a:rPr lang="en-US" altLang="sr-Latn-RS" sz="1600" b="1">
                <a:latin typeface="Courier New" panose="02070309020205020404" pitchFamily="49" charset="0"/>
              </a:rPr>
              <a:t>response</a:t>
            </a:r>
            <a:r>
              <a:rPr lang="en-US" altLang="sr-Latn-RS" sz="1600">
                <a:latin typeface="Courier New" panose="02070309020205020404" pitchFamily="49" charset="0"/>
              </a:rPr>
              <a:t>) {}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>
                <a:latin typeface="Courier New" panose="02070309020205020404" pitchFamily="49" charset="0"/>
              </a:rPr>
              <a:t>  protected void </a:t>
            </a:r>
            <a:r>
              <a:rPr lang="en-US" altLang="sr-Latn-RS" sz="1600" b="1">
                <a:latin typeface="Courier New" panose="02070309020205020404" pitchFamily="49" charset="0"/>
              </a:rPr>
              <a:t>doPut</a:t>
            </a:r>
            <a:r>
              <a:rPr lang="en-US" altLang="sr-Latn-RS" sz="1600">
                <a:latin typeface="Courier New" panose="02070309020205020404" pitchFamily="49" charset="0"/>
              </a:rPr>
              <a:t>(HttpServletRequest </a:t>
            </a:r>
            <a:r>
              <a:rPr lang="en-US" altLang="sr-Latn-RS" sz="1600" b="1">
                <a:latin typeface="Courier New" panose="02070309020205020404" pitchFamily="49" charset="0"/>
              </a:rPr>
              <a:t>request</a:t>
            </a:r>
            <a:r>
              <a:rPr lang="en-US" altLang="sr-Latn-RS" sz="1600">
                <a:latin typeface="Courier New" panose="02070309020205020404" pitchFamily="49" charset="0"/>
              </a:rPr>
              <a:t>, HttpServletResponse </a:t>
            </a:r>
            <a:r>
              <a:rPr lang="en-US" altLang="sr-Latn-RS" sz="1600" b="1">
                <a:latin typeface="Courier New" panose="02070309020205020404" pitchFamily="49" charset="0"/>
              </a:rPr>
              <a:t>response</a:t>
            </a:r>
            <a:r>
              <a:rPr lang="en-US" altLang="sr-Latn-RS" sz="1600">
                <a:latin typeface="Courier New" panose="02070309020205020404" pitchFamily="49" charset="0"/>
              </a:rPr>
              <a:t>) {}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>
                <a:latin typeface="Courier New" panose="02070309020205020404" pitchFamily="49" charset="0"/>
              </a:rPr>
              <a:t>  </a:t>
            </a:r>
            <a:r>
              <a:rPr lang="en-US" altLang="sr-Latn-RS" sz="1600">
                <a:latin typeface="Courier New" panose="02070309020205020404" pitchFamily="49" charset="0"/>
              </a:rPr>
              <a:t>protected void </a:t>
            </a:r>
            <a:r>
              <a:rPr lang="en-US" altLang="sr-Latn-RS" sz="1600" b="1">
                <a:latin typeface="Courier New" panose="02070309020205020404" pitchFamily="49" charset="0"/>
              </a:rPr>
              <a:t>doDelete</a:t>
            </a:r>
            <a:r>
              <a:rPr lang="en-US" altLang="sr-Latn-RS" sz="1600">
                <a:latin typeface="Courier New" panose="02070309020205020404" pitchFamily="49" charset="0"/>
              </a:rPr>
              <a:t>(HttpServletRequest </a:t>
            </a:r>
            <a:r>
              <a:rPr lang="en-US" altLang="sr-Latn-RS" sz="1600" b="1">
                <a:latin typeface="Courier New" panose="02070309020205020404" pitchFamily="49" charset="0"/>
              </a:rPr>
              <a:t>request</a:t>
            </a:r>
            <a:r>
              <a:rPr lang="en-US" altLang="sr-Latn-RS" sz="1600">
                <a:latin typeface="Courier New" panose="02070309020205020404" pitchFamily="49" charset="0"/>
              </a:rPr>
              <a:t>, HttpServletResponse </a:t>
            </a:r>
            <a:r>
              <a:rPr lang="en-US" altLang="sr-Latn-RS" sz="1600" b="1">
                <a:latin typeface="Courier New" panose="02070309020205020404" pitchFamily="49" charset="0"/>
              </a:rPr>
              <a:t>response</a:t>
            </a:r>
            <a:r>
              <a:rPr lang="en-US" altLang="sr-Latn-RS" sz="1600">
                <a:latin typeface="Courier New" panose="02070309020205020404" pitchFamily="49" charset="0"/>
              </a:rPr>
              <a:t>) {}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>
                <a:latin typeface="Courier New" panose="02070309020205020404" pitchFamily="49" charset="0"/>
              </a:rPr>
              <a:t> </a:t>
            </a:r>
            <a:r>
              <a:rPr lang="sr-Latn-CS" altLang="sr-Latn-RS" sz="1600">
                <a:latin typeface="Courier New" panose="02070309020205020404" pitchFamily="49" charset="0"/>
              </a:rPr>
              <a:t> </a:t>
            </a:r>
            <a:r>
              <a:rPr lang="en-US" altLang="sr-Latn-RS" sz="1600">
                <a:latin typeface="Courier New" panose="02070309020205020404" pitchFamily="49" charset="0"/>
              </a:rPr>
              <a:t>protected void </a:t>
            </a:r>
            <a:r>
              <a:rPr lang="en-US" altLang="sr-Latn-RS" sz="1600" b="1">
                <a:latin typeface="Courier New" panose="02070309020205020404" pitchFamily="49" charset="0"/>
              </a:rPr>
              <a:t>doOptions</a:t>
            </a:r>
            <a:r>
              <a:rPr lang="en-US" altLang="sr-Latn-RS" sz="1600">
                <a:latin typeface="Courier New" panose="02070309020205020404" pitchFamily="49" charset="0"/>
              </a:rPr>
              <a:t>(HttpServletRequest </a:t>
            </a:r>
            <a:r>
              <a:rPr lang="en-US" altLang="sr-Latn-RS" sz="1600" b="1">
                <a:latin typeface="Courier New" panose="02070309020205020404" pitchFamily="49" charset="0"/>
              </a:rPr>
              <a:t>request</a:t>
            </a:r>
            <a:r>
              <a:rPr lang="en-US" altLang="sr-Latn-RS" sz="1600">
                <a:latin typeface="Courier New" panose="02070309020205020404" pitchFamily="49" charset="0"/>
              </a:rPr>
              <a:t>, HttpServletResponse </a:t>
            </a:r>
            <a:r>
              <a:rPr lang="en-US" altLang="sr-Latn-RS" sz="1600" b="1">
                <a:latin typeface="Courier New" panose="02070309020205020404" pitchFamily="49" charset="0"/>
              </a:rPr>
              <a:t>response</a:t>
            </a:r>
            <a:r>
              <a:rPr lang="en-US" altLang="sr-Latn-RS" sz="1600">
                <a:latin typeface="Courier New" panose="02070309020205020404" pitchFamily="49" charset="0"/>
              </a:rPr>
              <a:t>) {}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solidFill>
                  <a:srgbClr val="FFC000"/>
                </a:solidFill>
                <a:latin typeface="Courier New" panose="02070309020205020404" pitchFamily="49" charset="0"/>
              </a:rPr>
              <a:t>  protected void destroy() {}</a:t>
            </a:r>
            <a:endParaRPr lang="en-US" altLang="sr-Latn-RS" sz="1600" b="1">
              <a:solidFill>
                <a:srgbClr val="FFC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0070C0"/>
                </a:solidFill>
                <a:latin typeface="Courier New" panose="02070309020205020404" pitchFamily="49" charset="0"/>
              </a:rPr>
              <a:t>protected void service(HttpServletRequest request, HttpServletResponse response)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rgbClr val="0070C0"/>
                </a:solidFill>
                <a:latin typeface="Courier New" panose="02070309020205020404" pitchFamily="49" charset="0"/>
              </a:rPr>
              <a:t>    if (request.getMethod().equals("GET"))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rgbClr val="0070C0"/>
                </a:solidFill>
                <a:latin typeface="Courier New" panose="02070309020205020404" pitchFamily="49" charset="0"/>
              </a:rPr>
              <a:t>      doGet(request, response);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rgbClr val="0070C0"/>
                </a:solidFill>
                <a:latin typeface="Courier New" panose="02070309020205020404" pitchFamily="49" charset="0"/>
              </a:rPr>
              <a:t>    else if (request.getMethod().equals("POST"))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rgbClr val="0070C0"/>
                </a:solidFill>
                <a:latin typeface="Courier New" panose="02070309020205020404" pitchFamily="49" charset="0"/>
              </a:rPr>
              <a:t>      doPost(request, response);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rgbClr val="0070C0"/>
                </a:solidFill>
                <a:latin typeface="Courier New" panose="02070309020205020404" pitchFamily="49" charset="0"/>
              </a:rPr>
              <a:t>	else if 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rgbClr val="0070C0"/>
                </a:solidFill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}</a:t>
            </a:r>
            <a:endParaRPr lang="sr-Latn-CS" altLang="sr-Latn-RS" sz="1600" b="1">
              <a:latin typeface="Courier New" panose="020703090202050204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82D343-1D4B-6B76-2E9C-78710C292E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45608"/>
          </a:xfrm>
        </p:spPr>
        <p:txBody>
          <a:bodyPr/>
          <a:lstStyle/>
          <a:p>
            <a:pPr eaLnBrk="1" hangingPunct="1"/>
            <a:r>
              <a:rPr lang="sr-Latn-CS" altLang="sr-Latn-RS"/>
              <a:t>Servleti </a:t>
            </a:r>
            <a:r>
              <a:rPr lang="sr-Latn-CS" altLang="sr-Latn-RS" baseline="-25000"/>
              <a:t>2/2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2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2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2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24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24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24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A976A5F-6E9E-8139-FE1B-ABC21A35D1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HttpServlet.init()</a:t>
            </a:r>
            <a:endParaRPr lang="en-GB" altLang="sr-Latn-R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948F5C6-32CD-4CA3-9CB9-A87872025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1"/>
            <a:ext cx="9372600" cy="1223963"/>
          </a:xfrm>
        </p:spPr>
        <p:txBody>
          <a:bodyPr/>
          <a:lstStyle/>
          <a:p>
            <a:pPr eaLnBrk="1" hangingPunct="1"/>
            <a:r>
              <a:rPr lang="sr-Latn-CS" altLang="sr-Latn-RS"/>
              <a:t>Namenjena za inicijalizaciju prilikom pokretanja servleta.</a:t>
            </a:r>
            <a:endParaRPr lang="en-GB" altLang="sr-Latn-RS"/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6BD20679-5FA1-563E-2B82-5DFFAABE1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068638"/>
            <a:ext cx="9456739" cy="314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public void init() </a:t>
            </a:r>
            <a:r>
              <a:rPr lang="en-US" altLang="sr-Latn-RS" sz="1600" b="1">
                <a:latin typeface="Courier New" panose="02070309020205020404" pitchFamily="49" charset="0"/>
              </a:rPr>
              <a:t>{</a:t>
            </a:r>
            <a:br>
              <a:rPr lang="sr-Latn-CS" altLang="sr-Latn-RS" sz="1600" b="1">
                <a:latin typeface="Courier New" panose="02070309020205020404" pitchFamily="49" charset="0"/>
              </a:rPr>
            </a:br>
            <a:r>
              <a:rPr lang="sr-Latn-CS" altLang="sr-Latn-RS" sz="1600" b="1">
                <a:latin typeface="Courier New" panose="02070309020205020404" pitchFamily="49" charset="0"/>
              </a:rPr>
              <a:t>  Connection conn </a:t>
            </a:r>
            <a:r>
              <a:rPr lang="en-US" altLang="sr-Latn-RS" sz="1600" b="1">
                <a:latin typeface="Courier New" panose="02070309020205020404" pitchFamily="49" charset="0"/>
              </a:rPr>
              <a:t>= DriverManager.getConnection(...);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  ...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}</a:t>
            </a:r>
            <a:endParaRPr lang="en-GB" altLang="sr-Latn-RS" sz="16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sr-Latn-RS" sz="16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sr-Latn-RS" sz="16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public void init(ServletConfig cnf) </a:t>
            </a:r>
            <a:r>
              <a:rPr lang="en-US" altLang="sr-Latn-RS" sz="1600" b="1">
                <a:latin typeface="Courier New" panose="02070309020205020404" pitchFamily="49" charset="0"/>
              </a:rPr>
              <a:t>{</a:t>
            </a:r>
            <a:br>
              <a:rPr lang="sr-Latn-CS" altLang="sr-Latn-RS" sz="1600" b="1">
                <a:latin typeface="Courier New" panose="02070309020205020404" pitchFamily="49" charset="0"/>
              </a:rPr>
            </a:br>
            <a:r>
              <a:rPr lang="sr-Latn-CS" altLang="sr-Latn-RS" sz="1600" b="1">
                <a:latin typeface="Courier New" panose="02070309020205020404" pitchFamily="49" charset="0"/>
              </a:rPr>
              <a:t>  super.init(cnf);</a:t>
            </a:r>
            <a:br>
              <a:rPr lang="sr-Latn-CS" altLang="sr-Latn-RS" sz="1600" b="1">
                <a:latin typeface="Courier New" panose="02070309020205020404" pitchFamily="49" charset="0"/>
              </a:rPr>
            </a:br>
            <a:r>
              <a:rPr lang="sr-Latn-CS" altLang="sr-Latn-RS" sz="1600" b="1">
                <a:latin typeface="Courier New" panose="02070309020205020404" pitchFamily="49" charset="0"/>
              </a:rPr>
              <a:t>  Connection conn </a:t>
            </a:r>
            <a:r>
              <a:rPr lang="en-US" altLang="sr-Latn-RS" sz="1600" b="1">
                <a:latin typeface="Courier New" panose="02070309020205020404" pitchFamily="49" charset="0"/>
              </a:rPr>
              <a:t>= DriverManager.getConnection(...);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  ...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}</a:t>
            </a:r>
            <a:endParaRPr lang="en-GB" altLang="sr-Latn-RS" sz="16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DA68711-73A6-A2B5-A2DD-9482E1209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HttpServlet.destroy()</a:t>
            </a:r>
            <a:endParaRPr lang="en-GB" altLang="sr-Latn-R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0E6A469-0C50-5216-E55F-8BF9E7486E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1"/>
            <a:ext cx="9372600" cy="1306513"/>
          </a:xfrm>
        </p:spPr>
        <p:txBody>
          <a:bodyPr/>
          <a:lstStyle/>
          <a:p>
            <a:pPr eaLnBrk="1" hangingPunct="1"/>
            <a:r>
              <a:rPr lang="sr-Latn-RS" altLang="sr-Latn-RS"/>
              <a:t>N</a:t>
            </a:r>
            <a:r>
              <a:rPr lang="en-US" altLang="sr-Latn-RS"/>
              <a:t>amenjena za clean-up zadatke neposredno pre uni</a:t>
            </a:r>
            <a:r>
              <a:rPr lang="sr-Latn-CS" altLang="sr-Latn-RS"/>
              <a:t>št</a:t>
            </a:r>
            <a:r>
              <a:rPr lang="en-US" altLang="sr-Latn-RS"/>
              <a:t>e</a:t>
            </a:r>
            <a:r>
              <a:rPr lang="sr-Latn-CS" altLang="sr-Latn-RS"/>
              <a:t>nja servleta.</a:t>
            </a:r>
            <a:endParaRPr lang="en-GB" altLang="sr-Latn-RS"/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D9E52F76-FEC9-CC31-1102-8CF146C49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1" y="3667125"/>
            <a:ext cx="9458326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public void destroy() </a:t>
            </a:r>
            <a:r>
              <a:rPr lang="en-US" altLang="sr-Latn-RS" sz="1600" b="1">
                <a:latin typeface="Courier New" panose="02070309020205020404" pitchFamily="49" charset="0"/>
              </a:rPr>
              <a:t>{</a:t>
            </a:r>
            <a:br>
              <a:rPr lang="sr-Latn-CS" altLang="sr-Latn-RS" sz="1600" b="1">
                <a:latin typeface="Courier New" panose="02070309020205020404" pitchFamily="49" charset="0"/>
              </a:rPr>
            </a:br>
            <a:r>
              <a:rPr lang="sr-Latn-CS" altLang="sr-Latn-RS" sz="1600" b="1">
                <a:latin typeface="Courier New" panose="02070309020205020404" pitchFamily="49" charset="0"/>
              </a:rPr>
              <a:t>  conn.close</a:t>
            </a:r>
            <a:r>
              <a:rPr lang="en-US" altLang="sr-Latn-RS" sz="1600" b="1">
                <a:latin typeface="Courier New" panose="02070309020205020404" pitchFamily="49" charset="0"/>
              </a:rPr>
              <a:t>();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}</a:t>
            </a:r>
            <a:endParaRPr lang="en-GB" altLang="sr-Latn-RS" sz="16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4AE283B-32CE-CFFF-8127-694407F1A7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HttpServlet.doGet()</a:t>
            </a:r>
            <a:endParaRPr lang="en-GB" altLang="sr-Latn-R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2CEB2E4-F669-D94D-E0F7-9C0B042C76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Svaki poziv servleta se svodi na poziv ove metode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N</a:t>
            </a:r>
            <a:r>
              <a:rPr lang="en-US" altLang="sr-Latn-RS" sz="2400"/>
              <a:t>amenjena za obradu GET zahteva</a:t>
            </a:r>
            <a:endParaRPr lang="sr-Latn-CS" altLang="sr-Latn-RS" sz="2400"/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Tipičan scenario poziva: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postavi </a:t>
            </a:r>
            <a:r>
              <a:rPr lang="sr-Latn-CS" altLang="sr-Latn-RS" sz="2000" b="1"/>
              <a:t>Content-type</a:t>
            </a:r>
            <a:r>
              <a:rPr lang="sr-Latn-CS" altLang="sr-Latn-RS" sz="2000"/>
              <a:t> HTTP odgovora,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uzmi </a:t>
            </a:r>
            <a:r>
              <a:rPr lang="sr-Latn-CS" altLang="sr-Latn-RS" sz="2000" b="1"/>
              <a:t>PrintWriter</a:t>
            </a:r>
            <a:r>
              <a:rPr lang="sr-Latn-CS" altLang="sr-Latn-RS" sz="2000"/>
              <a:t> ka klijentu i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kroz </a:t>
            </a:r>
            <a:r>
              <a:rPr lang="sr-Latn-CS" altLang="sr-Latn-RS" sz="2000" b="1"/>
              <a:t>PrintWriter</a:t>
            </a:r>
            <a:r>
              <a:rPr lang="sr-Latn-CS" altLang="sr-Latn-RS" sz="2000"/>
              <a:t> šalji dinamički kreiran sadržaj.</a:t>
            </a:r>
            <a:endParaRPr lang="en-GB" altLang="sr-Latn-RS" sz="2000"/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E85BD2F7-1D13-8613-37F3-E5569F611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176" y="4292601"/>
            <a:ext cx="8886825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public void </a:t>
            </a:r>
            <a:r>
              <a:rPr lang="en-US" altLang="sr-Latn-RS" sz="1600" b="1">
                <a:latin typeface="Courier New" panose="02070309020205020404" pitchFamily="49" charset="0"/>
              </a:rPr>
              <a:t>doGet</a:t>
            </a:r>
            <a:r>
              <a:rPr lang="sr-Latn-CS" altLang="sr-Latn-RS" sz="1600" b="1">
                <a:latin typeface="Courier New" panose="02070309020205020404" pitchFamily="49" charset="0"/>
              </a:rPr>
              <a:t>(</a:t>
            </a:r>
            <a:r>
              <a:rPr lang="en-US" altLang="sr-Latn-RS" sz="1600" b="1">
                <a:latin typeface="Courier New" panose="02070309020205020404" pitchFamily="49" charset="0"/>
              </a:rPr>
              <a:t>HttpServletRequest </a:t>
            </a:r>
            <a:r>
              <a:rPr lang="en-U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req</a:t>
            </a:r>
            <a:r>
              <a:rPr lang="en-US" altLang="sr-Latn-RS" sz="1600" b="1">
                <a:latin typeface="Courier New" panose="02070309020205020404" pitchFamily="49" charset="0"/>
              </a:rPr>
              <a:t>, HttpServletResponse 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res</a:t>
            </a:r>
            <a:r>
              <a:rPr lang="sr-Latn-CS" altLang="sr-Latn-RS" sz="1600" b="1">
                <a:latin typeface="Courier New" panose="02070309020205020404" pitchFamily="49" charset="0"/>
              </a:rPr>
              <a:t>) </a:t>
            </a:r>
            <a:r>
              <a:rPr lang="en-US" altLang="sr-Latn-RS" sz="1600" b="1">
                <a:latin typeface="Courier New" panose="02070309020205020404" pitchFamily="49" charset="0"/>
              </a:rPr>
              <a:t>{</a:t>
            </a:r>
            <a:br>
              <a:rPr lang="sr-Latn-CS" altLang="sr-Latn-RS" sz="1600" b="1">
                <a:latin typeface="Courier New" panose="02070309020205020404" pitchFamily="49" charset="0"/>
              </a:rPr>
            </a:br>
            <a:r>
              <a:rPr lang="sr-Latn-C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res</a:t>
            </a:r>
            <a:r>
              <a:rPr lang="en-US" altLang="sr-Latn-RS" sz="1600" b="1">
                <a:latin typeface="Courier New" panose="02070309020205020404" pitchFamily="49" charset="0"/>
              </a:rPr>
              <a:t>.setContentType("text/html");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  PrintWriter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out</a:t>
            </a:r>
            <a:r>
              <a:rPr lang="en-US" altLang="sr-Latn-RS" sz="1600" b="1">
                <a:latin typeface="Courier New" panose="02070309020205020404" pitchFamily="49" charset="0"/>
              </a:rPr>
              <a:t> = 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res</a:t>
            </a:r>
            <a:r>
              <a:rPr lang="en-US" altLang="sr-Latn-RS" sz="1600" b="1">
                <a:latin typeface="Courier New" panose="02070309020205020404" pitchFamily="49" charset="0"/>
              </a:rPr>
              <a:t>.getWriter();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out</a:t>
            </a:r>
            <a:r>
              <a:rPr lang="en-US" altLang="sr-Latn-RS" sz="1600" b="1">
                <a:latin typeface="Courier New" panose="02070309020205020404" pitchFamily="49" charset="0"/>
              </a:rPr>
              <a:t>.println("&lt;HTML&gt;");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out</a:t>
            </a:r>
            <a:r>
              <a:rPr lang="en-US" altLang="sr-Latn-RS" sz="1600" b="1">
                <a:latin typeface="Courier New" panose="02070309020205020404" pitchFamily="49" charset="0"/>
              </a:rPr>
              <a:t>.println("&lt;HEAD&gt;&lt;TITLE&gt;Test&lt;/TITLE&gt;&lt;/HEAD&gt;");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out</a:t>
            </a:r>
            <a:r>
              <a:rPr lang="en-US" altLang="sr-Latn-RS" sz="1600" b="1">
                <a:latin typeface="Courier New" panose="02070309020205020404" pitchFamily="49" charset="0"/>
              </a:rPr>
              <a:t>.println("&lt;BODY&gt;");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  ... 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}</a:t>
            </a:r>
            <a:endParaRPr lang="en-GB" altLang="sr-Latn-RS" sz="16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  <p:bldP spid="133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6A15206-1703-70C7-2A37-271756FC8F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Konkurentni pristup servletu</a:t>
            </a:r>
            <a:endParaRPr lang="en-GB" altLang="sr-Latn-R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AD77AD7-F141-BC68-A556-210DE6889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812022"/>
            <a:ext cx="11095567" cy="4641167"/>
          </a:xfrm>
        </p:spPr>
        <p:txBody>
          <a:bodyPr/>
          <a:lstStyle/>
          <a:p>
            <a:pPr eaLnBrk="1" hangingPunct="1"/>
            <a:r>
              <a:rPr lang="sr-Latn-CS" altLang="sr-Latn-RS"/>
              <a:t>Z</a:t>
            </a:r>
            <a:r>
              <a:rPr lang="en-US" altLang="sr-Latn-RS"/>
              <a:t>a svaku servlet klasu instancira se </a:t>
            </a:r>
            <a:r>
              <a:rPr lang="en-US" altLang="sr-Latn-RS">
                <a:solidFill>
                  <a:schemeClr val="tx2"/>
                </a:solidFill>
              </a:rPr>
              <a:t>ta</a:t>
            </a:r>
            <a:r>
              <a:rPr lang="sr-Latn-CS" altLang="sr-Latn-RS">
                <a:solidFill>
                  <a:schemeClr val="tx2"/>
                </a:solidFill>
              </a:rPr>
              <a:t>čno jedan</a:t>
            </a:r>
            <a:r>
              <a:rPr lang="sr-Latn-CS" altLang="sr-Latn-RS"/>
              <a:t> objekat koji opslužuje sve klijente.</a:t>
            </a:r>
          </a:p>
          <a:p>
            <a:pPr eaLnBrk="1" hangingPunct="1"/>
            <a:r>
              <a:rPr lang="sr-Latn-CS" altLang="sr-Latn-RS"/>
              <a:t>Njegove </a:t>
            </a:r>
            <a:r>
              <a:rPr lang="sr-Latn-CS" altLang="sr-Latn-RS" b="1">
                <a:latin typeface="Courier New" panose="02070309020205020404" pitchFamily="49" charset="0"/>
              </a:rPr>
              <a:t>doGet()</a:t>
            </a:r>
            <a:r>
              <a:rPr lang="sr-Latn-CS" altLang="sr-Latn-RS"/>
              <a:t> i </a:t>
            </a:r>
            <a:r>
              <a:rPr lang="sr-Latn-CS" altLang="sr-Latn-RS" b="1">
                <a:latin typeface="Courier New" panose="02070309020205020404" pitchFamily="49" charset="0"/>
              </a:rPr>
              <a:t>doPost()</a:t>
            </a:r>
            <a:r>
              <a:rPr lang="sr-Latn-CS" altLang="sr-Latn-RS"/>
              <a:t> metode mogu biti istovremeno pozvane iz više programskih niti Web servera.</a:t>
            </a:r>
          </a:p>
          <a:p>
            <a:pPr eaLnBrk="1" hangingPunct="1"/>
            <a:r>
              <a:rPr lang="sr-Latn-CS" altLang="sr-Latn-RS"/>
              <a:t>Atributi predstavljaju potencijalni problem, pošto ih dele niti</a:t>
            </a:r>
          </a:p>
          <a:p>
            <a:pPr lvl="1" eaLnBrk="1" hangingPunct="1"/>
            <a:r>
              <a:rPr lang="sr-Latn-CS" altLang="sr-Latn-RS"/>
              <a:t>postoje "sigurni" repozitorijumi u koje će se smeštati deljene stvari: aplikacija, sesija, strana i zahtev.</a:t>
            </a:r>
            <a:endParaRPr lang="en-GB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E5BFB4C-D6F5-5316-1306-9A1500A7B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609600"/>
            <a:ext cx="8534400" cy="1143000"/>
          </a:xfrm>
        </p:spPr>
        <p:txBody>
          <a:bodyPr/>
          <a:lstStyle/>
          <a:p>
            <a:pPr eaLnBrk="1" hangingPunct="1"/>
            <a:r>
              <a:rPr lang="sr-Latn-CS" altLang="sr-Latn-RS"/>
              <a:t>Generisanje dinamičkih sadržaja</a:t>
            </a:r>
            <a:endParaRPr lang="en-GB" altLang="sr-Latn-RS"/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45BF0D41-C6D9-1F55-DBBF-E801916B1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82880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klijent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7351753B-7B88-699D-943E-B643E6BF8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828800"/>
            <a:ext cx="884238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server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15365" name="Line 5">
            <a:extLst>
              <a:ext uri="{FF2B5EF4-FFF2-40B4-BE49-F238E27FC236}">
                <a16:creationId xmlns:a16="http://schemas.microsoft.com/office/drawing/2014/main" id="{EDD25FB7-F234-6084-8F15-DD13FDE94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19812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6" name="Line 6">
            <a:extLst>
              <a:ext uri="{FF2B5EF4-FFF2-40B4-BE49-F238E27FC236}">
                <a16:creationId xmlns:a16="http://schemas.microsoft.com/office/drawing/2014/main" id="{80BBE0AB-282E-620E-CF40-4E80A71B2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3622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7" name="Text Box 7">
            <a:extLst>
              <a:ext uri="{FF2B5EF4-FFF2-40B4-BE49-F238E27FC236}">
                <a16:creationId xmlns:a16="http://schemas.microsoft.com/office/drawing/2014/main" id="{0073CB3C-AD75-6FBF-8CC7-47D7B7FF3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676400"/>
            <a:ext cx="2809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1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15368" name="Text Box 8">
            <a:extLst>
              <a:ext uri="{FF2B5EF4-FFF2-40B4-BE49-F238E27FC236}">
                <a16:creationId xmlns:a16="http://schemas.microsoft.com/office/drawing/2014/main" id="{FA097BCD-9479-12D0-5FFF-5D5BF1E57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057400"/>
            <a:ext cx="2809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3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15369" name="Text Box 9">
            <a:extLst>
              <a:ext uri="{FF2B5EF4-FFF2-40B4-BE49-F238E27FC236}">
                <a16:creationId xmlns:a16="http://schemas.microsoft.com/office/drawing/2014/main" id="{0F9B15F5-3C5C-3906-5BF4-D4F8D7464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75" y="2743200"/>
            <a:ext cx="2809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2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15370" name="Text Box 10">
            <a:extLst>
              <a:ext uri="{FF2B5EF4-FFF2-40B4-BE49-F238E27FC236}">
                <a16:creationId xmlns:a16="http://schemas.microsoft.com/office/drawing/2014/main" id="{E340B34D-7013-B1A8-B033-1A4E20B73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3352801"/>
            <a:ext cx="5422900" cy="1692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public void </a:t>
            </a:r>
            <a:r>
              <a:rPr lang="en-US" altLang="sr-Latn-RS" sz="1600" b="1">
                <a:latin typeface="Courier New" panose="02070309020205020404" pitchFamily="49" charset="0"/>
              </a:rPr>
              <a:t>doGet</a:t>
            </a:r>
            <a:r>
              <a:rPr lang="sr-Latn-CS" altLang="sr-Latn-RS" sz="1600" b="1">
                <a:latin typeface="Courier New" panose="02070309020205020404" pitchFamily="49" charset="0"/>
              </a:rPr>
              <a:t>(...) </a:t>
            </a:r>
            <a:r>
              <a:rPr lang="en-US" altLang="sr-Latn-RS" sz="1600" b="1">
                <a:latin typeface="Courier New" panose="02070309020205020404" pitchFamily="49" charset="0"/>
              </a:rPr>
              <a:t>{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  response.setContentType("text/html");</a:t>
            </a:r>
            <a:endParaRPr lang="sr-Latn-RS" altLang="sr-Latn-RS" sz="16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PrintWriter out = response.getWriter();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  out.println("&lt;HTML&gt;");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  ...</a:t>
            </a:r>
            <a:br>
              <a:rPr lang="en-US" altLang="sr-Latn-RS" sz="1600" b="1">
                <a:latin typeface="Courier New" panose="02070309020205020404" pitchFamily="49" charset="0"/>
              </a:rPr>
            </a:br>
            <a:r>
              <a:rPr lang="en-US" altLang="sr-Latn-RS" sz="1600" b="1">
                <a:latin typeface="Courier New" panose="02070309020205020404" pitchFamily="49" charset="0"/>
              </a:rPr>
              <a:t>}</a:t>
            </a:r>
            <a:endParaRPr lang="en-GB" altLang="sr-Latn-RS" sz="1600" b="1">
              <a:latin typeface="Courier New" panose="02070309020205020404" pitchFamily="49" charset="0"/>
            </a:endParaRPr>
          </a:p>
        </p:txBody>
      </p:sp>
      <p:sp>
        <p:nvSpPr>
          <p:cNvPr id="15371" name="Line 11">
            <a:extLst>
              <a:ext uri="{FF2B5EF4-FFF2-40B4-BE49-F238E27FC236}">
                <a16:creationId xmlns:a16="http://schemas.microsoft.com/office/drawing/2014/main" id="{6014DF7B-E74B-F216-794B-750F52330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1" y="2540000"/>
            <a:ext cx="942975" cy="81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E8F5C9E0-978F-5951-0BC9-1D50424A26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Pravljenje servleta</a:t>
            </a:r>
            <a:endParaRPr lang="en-US" altLang="en-US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6173035-CBC2-D5C0-0CA2-CB31737A6A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2034330"/>
            <a:ext cx="9578280" cy="4091834"/>
          </a:xfrm>
        </p:spPr>
        <p:txBody>
          <a:bodyPr/>
          <a:lstStyle/>
          <a:p>
            <a:r>
              <a:rPr lang="sr-Latn-RS" altLang="en-US"/>
              <a:t>Napiše se klasa koja nasleđuje </a:t>
            </a:r>
            <a:r>
              <a:rPr lang="sr-Latn-RS" altLang="en-US" b="1"/>
              <a:t>HttpServlet</a:t>
            </a:r>
            <a:r>
              <a:rPr lang="sr-Latn-RS" altLang="en-US"/>
              <a:t> baznu klasu.</a:t>
            </a:r>
          </a:p>
          <a:p>
            <a:r>
              <a:rPr lang="sr-Latn-RS" altLang="en-US"/>
              <a:t>Iznad servleta se stavi @</a:t>
            </a:r>
            <a:r>
              <a:rPr lang="sr-Latn-RS" altLang="en-US" b="1"/>
              <a:t>WebServlet</a:t>
            </a:r>
            <a:r>
              <a:rPr lang="sr-Latn-RS" altLang="en-US"/>
              <a:t>("/putanja") anotacija</a:t>
            </a:r>
          </a:p>
          <a:p>
            <a:pPr lvl="1"/>
            <a:r>
              <a:rPr lang="sr-Latn-RS" altLang="en-US"/>
              <a:t>ona mapira putanju iz HTTP zahteva na servlet</a:t>
            </a:r>
          </a:p>
          <a:p>
            <a:pPr lvl="1"/>
            <a:r>
              <a:rPr lang="sr-Latn-RS" altLang="en-US"/>
              <a:t>do verzije 3.0, koristila se </a:t>
            </a:r>
            <a:r>
              <a:rPr lang="sr-Latn-RS" altLang="en-US" i="1"/>
              <a:t>web.xml </a:t>
            </a:r>
            <a:r>
              <a:rPr lang="sr-Latn-RS" altLang="en-US"/>
              <a:t>datoteka.</a:t>
            </a:r>
          </a:p>
          <a:p>
            <a:r>
              <a:rPr lang="sr-Latn-RS" altLang="en-US"/>
              <a:t>Redefinišu se </a:t>
            </a:r>
            <a:r>
              <a:rPr lang="sr-Latn-RS" altLang="en-US" b="1"/>
              <a:t>doGet</a:t>
            </a:r>
            <a:r>
              <a:rPr lang="sr-Latn-RS" altLang="en-US"/>
              <a:t>, </a:t>
            </a:r>
            <a:r>
              <a:rPr lang="sr-Latn-RS" altLang="en-US" b="1"/>
              <a:t>doPost</a:t>
            </a:r>
            <a:r>
              <a:rPr lang="sr-Latn-RS" altLang="en-US"/>
              <a:t>, itd. metode.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B608162F-D7D6-DF1B-9829-205D092E7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Apache Tomcat</a:t>
            </a:r>
            <a:endParaRPr lang="en-US" altLang="sr-Latn-RS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38BAF579-683C-AEDF-67AE-FD44C90F31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Servletski kontejner</a:t>
            </a:r>
            <a:endParaRPr lang="en-US" altLang="sr-Latn-RS"/>
          </a:p>
        </p:txBody>
      </p:sp>
      <p:pic>
        <p:nvPicPr>
          <p:cNvPr id="17412" name="Picture 2">
            <a:extLst>
              <a:ext uri="{FF2B5EF4-FFF2-40B4-BE49-F238E27FC236}">
                <a16:creationId xmlns:a16="http://schemas.microsoft.com/office/drawing/2014/main" id="{76E02A02-A83D-DC3C-CB55-3A9C58412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89" y="2420938"/>
            <a:ext cx="7489825" cy="415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6FAF212-1A0B-6072-2B55-323908B150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Primer1: elementarni servlet</a:t>
            </a:r>
            <a:endParaRPr lang="en-GB" altLang="sr-Latn-R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5508975A-17B1-AE7D-5A4A-E802B70FD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11112500" cy="451643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1800" b="1">
                <a:latin typeface="Courier New" panose="02070309020205020404" pitchFamily="49" charset="0"/>
              </a:rPr>
              <a:t>public class TestServlet extends HttpServlet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1800" b="1">
                <a:latin typeface="Courier New" panose="02070309020205020404" pitchFamily="49" charset="0"/>
              </a:rPr>
              <a:t>  public void </a:t>
            </a:r>
            <a:r>
              <a:rPr lang="sr-Latn-CS" altLang="sr-Latn-RS" sz="1800" b="1">
                <a:latin typeface="Courier New" panose="02070309020205020404" pitchFamily="49" charset="0"/>
              </a:rPr>
              <a:t>doGet</a:t>
            </a:r>
            <a:r>
              <a:rPr lang="en-GB" altLang="sr-Latn-RS" sz="1800" b="1">
                <a:latin typeface="Courier New" panose="02070309020205020404" pitchFamily="49" charset="0"/>
              </a:rPr>
              <a:t>(HttpServletRequest </a:t>
            </a:r>
            <a:r>
              <a:rPr lang="en-GB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GB" altLang="sr-Latn-RS" sz="1800" b="1">
                <a:latin typeface="Courier New" panose="02070309020205020404" pitchFamily="49" charset="0"/>
              </a:rPr>
              <a:t>, HttpServletResponse </a:t>
            </a:r>
            <a:r>
              <a:rPr lang="en-GB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en-GB" altLang="sr-Latn-RS" sz="1800" b="1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1800" b="1">
                <a:latin typeface="Courier New" panose="02070309020205020404" pitchFamily="49" charset="0"/>
              </a:rPr>
              <a:t>    </a:t>
            </a:r>
            <a:r>
              <a:rPr lang="en-GB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en-GB" altLang="sr-Latn-RS" sz="1800" b="1">
                <a:latin typeface="Courier New" panose="02070309020205020404" pitchFamily="49" charset="0"/>
              </a:rPr>
              <a:t>.setContentType("text/html");</a:t>
            </a: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</a:t>
            </a:r>
            <a:r>
              <a:rPr lang="en-GB" altLang="sr-Latn-RS" sz="1800" b="1">
                <a:latin typeface="Courier New" panose="02070309020205020404" pitchFamily="49" charset="0"/>
              </a:rPr>
              <a:t>PrintWriter </a:t>
            </a:r>
            <a:r>
              <a:rPr lang="en-GB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GB" altLang="sr-Latn-RS" sz="1800" b="1">
                <a:latin typeface="Courier New" panose="02070309020205020404" pitchFamily="49" charset="0"/>
              </a:rPr>
              <a:t> =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sr-Latn-CS" altLang="sr-Latn-RS" sz="1800" b="1">
                <a:latin typeface="Courier New" panose="02070309020205020404" pitchFamily="49" charset="0"/>
              </a:rPr>
              <a:t>.getWriter()</a:t>
            </a:r>
            <a:r>
              <a:rPr lang="en-GB" altLang="sr-Latn-RS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</a:t>
            </a:r>
            <a:r>
              <a:rPr lang="en-GB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GB" altLang="sr-Latn-RS" sz="1800" b="1">
                <a:latin typeface="Courier New" panose="02070309020205020404" pitchFamily="49" charset="0"/>
              </a:rPr>
              <a:t>.println("&lt;html&gt;");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1800" b="1">
                <a:latin typeface="Courier New" panose="02070309020205020404" pitchFamily="49" charset="0"/>
              </a:rPr>
              <a:t>    </a:t>
            </a:r>
            <a:r>
              <a:rPr lang="en-GB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GB" altLang="sr-Latn-RS" sz="1800" b="1">
                <a:latin typeface="Courier New" panose="02070309020205020404" pitchFamily="49" charset="0"/>
              </a:rPr>
              <a:t>.println("&lt;head&gt;");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1800" b="1">
                <a:latin typeface="Courier New" panose="02070309020205020404" pitchFamily="49" charset="0"/>
              </a:rPr>
              <a:t>    </a:t>
            </a:r>
            <a:r>
              <a:rPr lang="en-GB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GB" altLang="sr-Latn-RS" sz="1800" b="1">
                <a:latin typeface="Courier New" panose="02070309020205020404" pitchFamily="49" charset="0"/>
              </a:rPr>
              <a:t>.println("&lt;/head&gt;");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1800" b="1">
                <a:latin typeface="Courier New" panose="02070309020205020404" pitchFamily="49" charset="0"/>
              </a:rPr>
              <a:t>    </a:t>
            </a:r>
            <a:r>
              <a:rPr lang="en-GB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GB" altLang="sr-Latn-RS" sz="1800" b="1">
                <a:latin typeface="Courier New" panose="02070309020205020404" pitchFamily="49" charset="0"/>
              </a:rPr>
              <a:t>.println("&lt;body&gt;");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1800" b="1">
                <a:latin typeface="Courier New" panose="02070309020205020404" pitchFamily="49" charset="0"/>
              </a:rPr>
              <a:t>    </a:t>
            </a:r>
            <a:r>
              <a:rPr lang="en-GB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GB" altLang="sr-Latn-RS" sz="1800" b="1">
                <a:latin typeface="Courier New" panose="02070309020205020404" pitchFamily="49" charset="0"/>
              </a:rPr>
              <a:t>.println(“</a:t>
            </a:r>
            <a:r>
              <a:rPr lang="sr-Latn-CS" altLang="sr-Latn-RS" sz="1800" b="1">
                <a:latin typeface="Courier New" panose="02070309020205020404" pitchFamily="49" charset="0"/>
              </a:rPr>
              <a:t>Hello World!</a:t>
            </a:r>
            <a:r>
              <a:rPr lang="en-GB" altLang="sr-Latn-RS" sz="1800" b="1">
                <a:latin typeface="Courier New" panose="02070309020205020404" pitchFamily="49" charset="0"/>
              </a:rPr>
              <a:t>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800" b="1">
                <a:latin typeface="Courier New" panose="02070309020205020404" pitchFamily="49" charset="0"/>
              </a:rPr>
              <a:t>.println("&lt;br&gt;Klijent koji je pozvao ovaj servlet je: " + </a:t>
            </a:r>
            <a:r>
              <a:rPr lang="en-U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sr-Latn-RS" sz="1800" b="1">
                <a:latin typeface="Courier New" panose="02070309020205020404" pitchFamily="49" charset="0"/>
              </a:rPr>
              <a:t>.getHeader("User-Agent"));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1800" b="1">
                <a:latin typeface="Courier New" panose="02070309020205020404" pitchFamily="49" charset="0"/>
              </a:rPr>
              <a:t>    </a:t>
            </a:r>
            <a:r>
              <a:rPr lang="en-GB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GB" altLang="sr-Latn-RS" sz="1800" b="1">
                <a:latin typeface="Courier New" panose="02070309020205020404" pitchFamily="49" charset="0"/>
              </a:rPr>
              <a:t>.println("&lt;/body&gt;");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1800" b="1">
                <a:latin typeface="Courier New" panose="02070309020205020404" pitchFamily="49" charset="0"/>
              </a:rPr>
              <a:t>    </a:t>
            </a:r>
            <a:r>
              <a:rPr lang="en-GB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GB" altLang="sr-Latn-RS" sz="1800" b="1">
                <a:latin typeface="Courier New" panose="02070309020205020404" pitchFamily="49" charset="0"/>
              </a:rPr>
              <a:t>.println("&lt;/html&gt;");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sr-Latn-RS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93DE86C6-E7E4-91A8-3756-E6B870AF1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6" y="6308725"/>
            <a:ext cx="989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ahoma" panose="020B0604030504040204" pitchFamily="34" charset="0"/>
              </a:rPr>
              <a:t>primer01</a:t>
            </a:r>
            <a:endParaRPr lang="en-GB" altLang="sr-Latn-RS" sz="16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4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EBFA20F-0363-ADB8-D82E-B4BC1F683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3600"/>
              <a:t>Primer2: preuzimanje podataka iz formi</a:t>
            </a:r>
            <a:endParaRPr lang="en-US" altLang="sr-Latn-RS" sz="3600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48D1B5A-4477-1EE9-AEC8-83E4B5E79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1" y="1981201"/>
            <a:ext cx="9409114" cy="444341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3600"/>
              <a:t>Parametri iz forme se za GET metodu smeštaju u zaglavlje GET zahteva.</a:t>
            </a:r>
            <a:endParaRPr lang="sr-Cyrl-CS" altLang="sr-Latn-RS" sz="36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Cyrl-CS" altLang="sr-Latn-R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&lt;form method="</a:t>
            </a:r>
            <a:r>
              <a:rPr lang="en-US" altLang="sr-Latn-RS" sz="2400" b="1">
                <a:solidFill>
                  <a:schemeClr val="accent5"/>
                </a:solidFill>
                <a:latin typeface="Courier New" panose="02070309020205020404" pitchFamily="49" charset="0"/>
              </a:rPr>
              <a:t>get</a:t>
            </a:r>
            <a:r>
              <a:rPr lang="en-US" altLang="sr-Latn-RS" sz="2400" b="1">
                <a:latin typeface="Courier New" panose="02070309020205020404" pitchFamily="49" charset="0"/>
              </a:rPr>
              <a:t>" action="</a:t>
            </a:r>
            <a:r>
              <a:rPr lang="en-US" altLang="sr-Latn-RS" sz="2400" b="1">
                <a:solidFill>
                  <a:srgbClr val="FF0000"/>
                </a:solidFill>
                <a:latin typeface="Courier New" panose="02070309020205020404" pitchFamily="49" charset="0"/>
              </a:rPr>
              <a:t>FormServlet</a:t>
            </a:r>
            <a:r>
              <a:rPr lang="en-US" altLang="sr-Latn-RS" sz="2400" b="1">
                <a:latin typeface="Courier New" panose="02070309020205020404" pitchFamily="49" charset="0"/>
              </a:rPr>
              <a:t>"&gt;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  &lt;input type="</a:t>
            </a:r>
            <a:r>
              <a:rPr lang="en-US" altLang="sr-Latn-RS" sz="2400" b="1">
                <a:solidFill>
                  <a:schemeClr val="accent4"/>
                </a:solidFill>
                <a:latin typeface="Courier New" panose="02070309020205020404" pitchFamily="49" charset="0"/>
              </a:rPr>
              <a:t>text</a:t>
            </a:r>
            <a:r>
              <a:rPr lang="en-US" altLang="sr-Latn-RS" sz="2400" b="1">
                <a:latin typeface="Courier New" panose="02070309020205020404" pitchFamily="49" charset="0"/>
              </a:rPr>
              <a:t>" name=“</a:t>
            </a:r>
            <a:r>
              <a:rPr lang="sr-Latn-CS" altLang="sr-Latn-RS" sz="2400" b="1">
                <a:solidFill>
                  <a:schemeClr val="accent2"/>
                </a:solidFill>
                <a:latin typeface="Courier New" panose="02070309020205020404" pitchFamily="49" charset="0"/>
              </a:rPr>
              <a:t>t</a:t>
            </a:r>
            <a:r>
              <a:rPr lang="en-US" altLang="sr-Latn-RS" sz="2400" b="1">
                <a:solidFill>
                  <a:schemeClr val="accent2"/>
                </a:solidFill>
                <a:latin typeface="Courier New" panose="02070309020205020404" pitchFamily="49" charset="0"/>
              </a:rPr>
              <a:t>ekst_polje</a:t>
            </a:r>
            <a:r>
              <a:rPr lang="en-US" altLang="sr-Latn-RS" sz="2400" b="1">
                <a:latin typeface="Courier New" panose="02070309020205020404" pitchFamily="49" charset="0"/>
              </a:rPr>
              <a:t>"&gt;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  &lt;input type="</a:t>
            </a:r>
            <a:r>
              <a:rPr lang="en-US" altLang="sr-Latn-RS" sz="2400" b="1">
                <a:solidFill>
                  <a:schemeClr val="accent6"/>
                </a:solidFill>
                <a:latin typeface="Courier New" panose="02070309020205020404" pitchFamily="49" charset="0"/>
              </a:rPr>
              <a:t>submit</a:t>
            </a:r>
            <a:r>
              <a:rPr lang="en-US" altLang="sr-Latn-RS" sz="2400" b="1">
                <a:latin typeface="Courier New" panose="02070309020205020404" pitchFamily="49" charset="0"/>
              </a:rPr>
              <a:t>" value="Posalji"&gt;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</a:rPr>
              <a:t>  &lt;/form&gt;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sr-Latn-RS" sz="3600"/>
              <a:t>GET </a:t>
            </a:r>
            <a:r>
              <a:rPr lang="sr-Latn-CS" altLang="sr-Latn-RS" sz="3600"/>
              <a:t>HTTP zahtev:</a:t>
            </a:r>
            <a:endParaRPr lang="en-US" altLang="sr-Latn-RS" sz="36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sr-Latn-RS" sz="3600"/>
              <a:t>  </a:t>
            </a:r>
            <a:r>
              <a:rPr lang="sr-Cyrl-CS" altLang="sr-Latn-RS">
                <a:solidFill>
                  <a:schemeClr val="accent5"/>
                </a:solidFill>
              </a:rPr>
              <a:t>GET</a:t>
            </a:r>
            <a:r>
              <a:rPr lang="sr-Cyrl-CS" altLang="sr-Latn-RS"/>
              <a:t> /</a:t>
            </a:r>
            <a:r>
              <a:rPr lang="sr-Cyrl-CS" altLang="sr-Latn-RS">
                <a:solidFill>
                  <a:srgbClr val="FF0000"/>
                </a:solidFill>
              </a:rPr>
              <a:t>FormServlet</a:t>
            </a:r>
            <a:r>
              <a:rPr lang="sr-Cyrl-CS" altLang="sr-Latn-RS"/>
              <a:t>?</a:t>
            </a:r>
            <a:r>
              <a:rPr lang="sr-Cyrl-CS" altLang="sr-Latn-RS">
                <a:solidFill>
                  <a:schemeClr val="accent2"/>
                </a:solidFill>
              </a:rPr>
              <a:t>tekst</a:t>
            </a:r>
            <a:r>
              <a:rPr lang="en-US" altLang="sr-Latn-RS">
                <a:solidFill>
                  <a:schemeClr val="accent2"/>
                </a:solidFill>
              </a:rPr>
              <a:t>_polje</a:t>
            </a:r>
            <a:r>
              <a:rPr lang="sr-Cyrl-CS" altLang="sr-Latn-RS"/>
              <a:t>=</a:t>
            </a:r>
            <a:r>
              <a:rPr lang="sr-Latn-CS" altLang="sr-Latn-RS"/>
              <a:t>asdf</a:t>
            </a:r>
            <a:r>
              <a:rPr lang="sr-Cyrl-CS" altLang="sr-Latn-RS"/>
              <a:t> HTTP/1.1</a:t>
            </a:r>
            <a:endParaRPr lang="en-US" altLang="sr-Latn-RS" sz="1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3AF7A972-8EC6-96C5-B86C-F83F081DA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3600"/>
              <a:t>Primer2: servlet koji ispisuje parametar unet u formi</a:t>
            </a:r>
            <a:endParaRPr lang="en-US" altLang="sr-Latn-RS" sz="360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0109223-A0CE-4D14-C568-EB1E29DADE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10985500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public void </a:t>
            </a:r>
            <a:r>
              <a:rPr lang="sr-Latn-CS" altLang="sr-Latn-RS" sz="1800" b="1">
                <a:latin typeface="Courier New" panose="02070309020205020404" pitchFamily="49" charset="0"/>
              </a:rPr>
              <a:t>doGet</a:t>
            </a:r>
            <a:r>
              <a:rPr lang="en-US" altLang="sr-Latn-RS" sz="1800" b="1">
                <a:latin typeface="Courier New" panose="02070309020205020404" pitchFamily="49" charset="0"/>
              </a:rPr>
              <a:t>(</a:t>
            </a:r>
            <a:r>
              <a:rPr lang="sr-Latn-CS" altLang="sr-Latn-RS" sz="1800" b="1">
                <a:latin typeface="Courier New" panose="02070309020205020404" pitchFamily="49" charset="0"/>
              </a:rPr>
              <a:t>HttpServlet</a:t>
            </a:r>
            <a:r>
              <a:rPr lang="en-US" altLang="sr-Latn-RS" sz="1800" b="1">
                <a:latin typeface="Courier New" panose="02070309020205020404" pitchFamily="49" charset="0"/>
              </a:rPr>
              <a:t>Request </a:t>
            </a:r>
            <a:r>
              <a:rPr lang="en-U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sr-Latn-RS" sz="1800" b="1">
                <a:latin typeface="Courier New" panose="02070309020205020404" pitchFamily="49" charset="0"/>
              </a:rPr>
              <a:t>, </a:t>
            </a:r>
            <a:r>
              <a:rPr lang="sr-Latn-CS" altLang="sr-Latn-RS" sz="1800" b="1">
                <a:latin typeface="Courier New" panose="02070309020205020404" pitchFamily="49" charset="0"/>
              </a:rPr>
              <a:t>HttpServlet</a:t>
            </a:r>
            <a:r>
              <a:rPr lang="en-US" altLang="sr-Latn-RS" sz="1800" b="1">
                <a:latin typeface="Courier New" panose="02070309020205020404" pitchFamily="49" charset="0"/>
              </a:rPr>
              <a:t>Response </a:t>
            </a:r>
            <a:r>
              <a:rPr lang="en-U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sr-Latn-RS" sz="1800" b="1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</a:t>
            </a:r>
            <a:r>
              <a:rPr lang="en-U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sr-Latn-RS" sz="1800" b="1">
                <a:latin typeface="Courier New" panose="02070309020205020404" pitchFamily="49" charset="0"/>
              </a:rPr>
              <a:t>.setContentType("text/html");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PrintWriter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800" b="1">
                <a:latin typeface="Courier New" panose="02070309020205020404" pitchFamily="49" charset="0"/>
              </a:rPr>
              <a:t> = </a:t>
            </a:r>
            <a:r>
              <a:rPr lang="en-U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sr-Latn-RS" sz="1800" b="1">
                <a:latin typeface="Courier New" panose="02070309020205020404" pitchFamily="49" charset="0"/>
              </a:rPr>
              <a:t>.getWriter();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800" b="1">
                <a:latin typeface="Courier New" panose="02070309020205020404" pitchFamily="49" charset="0"/>
              </a:rPr>
              <a:t>.println("&lt;html&gt;");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800" b="1">
                <a:latin typeface="Courier New" panose="02070309020205020404" pitchFamily="49" charset="0"/>
              </a:rPr>
              <a:t>.println("&lt;head&gt;");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800" b="1">
                <a:latin typeface="Courier New" panose="02070309020205020404" pitchFamily="49" charset="0"/>
              </a:rPr>
              <a:t>.println("&lt;/head&gt;");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800" b="1">
                <a:latin typeface="Courier New" panose="02070309020205020404" pitchFamily="49" charset="0"/>
              </a:rPr>
              <a:t>.println("&lt;body&gt;");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800" b="1">
                <a:latin typeface="Courier New" panose="02070309020205020404" pitchFamily="49" charset="0"/>
              </a:rPr>
              <a:t>.println("Poslali ste ovo:" +</a:t>
            </a:r>
            <a:r>
              <a:rPr lang="sr-Latn-RS" altLang="sr-Latn-RS" sz="1800" b="1"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sr-Latn-RS" sz="1800" b="1">
                <a:latin typeface="Courier New" panose="02070309020205020404" pitchFamily="49" charset="0"/>
              </a:rPr>
              <a:t>.getParameter("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</a:rPr>
              <a:t>tekst_polje</a:t>
            </a:r>
            <a:r>
              <a:rPr lang="en-US" altLang="sr-Latn-RS" sz="1800" b="1">
                <a:latin typeface="Courier New" panose="02070309020205020404" pitchFamily="49" charset="0"/>
              </a:rPr>
              <a:t>"));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800" b="1">
                <a:latin typeface="Courier New" panose="02070309020205020404" pitchFamily="49" charset="0"/>
              </a:rPr>
              <a:t>.println("&lt;/body&gt;");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800" b="1">
                <a:latin typeface="Courier New" panose="02070309020205020404" pitchFamily="49" charset="0"/>
              </a:rPr>
              <a:t>.println("&lt;/html&gt;");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FDD0B5AA-0327-5A05-60E0-3212D4214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6" y="6381750"/>
            <a:ext cx="989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ahoma" panose="020B0604030504040204" pitchFamily="34" charset="0"/>
              </a:rPr>
              <a:t>primer02</a:t>
            </a:r>
            <a:endParaRPr lang="en-GB" altLang="sr-Latn-RS" sz="16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6A1C069-A054-3734-B038-E35DE0654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Primer3: r</a:t>
            </a:r>
            <a:r>
              <a:rPr lang="en-US" altLang="sr-Latn-RS"/>
              <a:t>edirekcija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A97795-3158-F44D-6695-1FD529628B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1" y="1981201"/>
            <a:ext cx="9409114" cy="4443413"/>
          </a:xfrm>
        </p:spPr>
        <p:txBody>
          <a:bodyPr/>
          <a:lstStyle/>
          <a:p>
            <a:pPr eaLnBrk="1" hangingPunct="1"/>
            <a:r>
              <a:rPr lang="en-US" altLang="sr-Latn-RS" sz="4000"/>
              <a:t>Redirekcija se svodi na</a:t>
            </a:r>
            <a:r>
              <a:rPr lang="sr-Latn-RS" altLang="sr-Latn-RS" sz="4000"/>
              <a:t>:</a:t>
            </a:r>
          </a:p>
          <a:p>
            <a:pPr lvl="1" eaLnBrk="1" hangingPunct="1"/>
            <a:r>
              <a:rPr lang="sr-Latn-RS" altLang="sr-Latn-RS" sz="3600"/>
              <a:t>S</a:t>
            </a:r>
            <a:r>
              <a:rPr lang="en-US" altLang="sr-Latn-RS" sz="3600"/>
              <a:t>lanje poruke: </a:t>
            </a:r>
            <a:br>
              <a:rPr lang="sr-Latn-RS" altLang="sr-Latn-RS" sz="3600"/>
            </a:br>
            <a:r>
              <a:rPr lang="sr-Latn-RS" altLang="sr-Latn-RS" sz="3200" b="1">
                <a:latin typeface="Courier New" panose="02070309020205020404" pitchFamily="49" charset="0"/>
                <a:cs typeface="Courier New" panose="02070309020205020404" pitchFamily="49" charset="0"/>
              </a:rPr>
              <a:t>HTTP/1.1 </a:t>
            </a:r>
            <a:r>
              <a:rPr lang="en-US" altLang="sr-Latn-RS" sz="32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302 Object moved</a:t>
            </a:r>
            <a:r>
              <a:rPr lang="en-US" altLang="sr-Latn-RS" sz="32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altLang="sr-Latn-RS" sz="3600"/>
              <a:t>i</a:t>
            </a:r>
          </a:p>
          <a:p>
            <a:pPr lvl="1" eaLnBrk="1" hangingPunct="1"/>
            <a:r>
              <a:rPr lang="sr-Latn-RS" altLang="sr-Latn-RS" sz="3600"/>
              <a:t>P</a:t>
            </a:r>
            <a:r>
              <a:rPr lang="en-US" altLang="sr-Latn-RS" sz="3600"/>
              <a:t>ostavljanje parametra HTTP odgovora: </a:t>
            </a:r>
            <a:br>
              <a:rPr lang="sr-Latn-RS" altLang="sr-Latn-RS" sz="3600"/>
            </a:br>
            <a:r>
              <a:rPr lang="en-US" altLang="sr-Latn-RS" sz="3200" b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Location: nova_adresa</a:t>
            </a:r>
            <a:endParaRPr lang="en-US" altLang="sr-Latn-RS" sz="3600" b="1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850FF3F-3E7E-9D1C-24B0-A36475627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77114"/>
          </a:xfrm>
        </p:spPr>
        <p:txBody>
          <a:bodyPr/>
          <a:lstStyle/>
          <a:p>
            <a:pPr eaLnBrk="1" hangingPunct="1"/>
            <a:r>
              <a:rPr lang="sr-Latn-CS" altLang="sr-Latn-RS" sz="4000"/>
              <a:t>Primer3: servlet </a:t>
            </a:r>
            <a:r>
              <a:rPr lang="en-US" altLang="sr-Latn-RS" sz="4000"/>
              <a:t>vr</a:t>
            </a:r>
            <a:r>
              <a:rPr lang="sr-Latn-CS" altLang="sr-Latn-RS" sz="4000"/>
              <a:t>ši redirekciju</a:t>
            </a:r>
            <a:endParaRPr lang="en-US" altLang="sr-Latn-RS" sz="400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32017DCB-B7FD-8953-3AD4-9AC19ADE42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6983" y="1572936"/>
            <a:ext cx="9741017" cy="508821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public void doGet(HttpServletRequest </a:t>
            </a:r>
            <a:r>
              <a:rPr lang="en-U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sr-Latn-RS" sz="1400" b="1">
                <a:latin typeface="Courier New" panose="02070309020205020404" pitchFamily="49" charset="0"/>
              </a:rPr>
              <a:t>, HttpServletResponse </a:t>
            </a:r>
            <a:r>
              <a:rPr lang="en-US" altLang="sr-Latn-RS" sz="14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sr-Latn-RS" sz="1400" b="1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</a:t>
            </a:r>
            <a:r>
              <a:rPr lang="en-U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if (</a:t>
            </a:r>
            <a:r>
              <a:rPr lang="en-U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.getParameter("</a:t>
            </a:r>
            <a:r>
              <a:rPr lang="en-US" altLang="sr-Latn-RS" sz="1400" b="1">
                <a:solidFill>
                  <a:schemeClr val="accent5"/>
                </a:solidFill>
                <a:latin typeface="Courier New" panose="02070309020205020404" pitchFamily="49" charset="0"/>
              </a:rPr>
              <a:t>proba</a:t>
            </a:r>
            <a:r>
              <a:rPr lang="en-U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") == null)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.sendRedirect("index.html");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solidFill>
                  <a:schemeClr val="tx2"/>
                </a:solidFill>
                <a:latin typeface="Courier New" panose="02070309020205020404" pitchFamily="49" charset="0"/>
              </a:rPr>
              <a:t>  } else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sr-Latn-RS" sz="1400" b="1">
                <a:latin typeface="Courier New" panose="02070309020205020404" pitchFamily="49" charset="0"/>
              </a:rPr>
              <a:t>.setContentType("text/html");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PrintWriter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400" b="1">
                <a:latin typeface="Courier New" panose="02070309020205020404" pitchFamily="49" charset="0"/>
              </a:rPr>
              <a:t> = </a:t>
            </a:r>
            <a:r>
              <a:rPr lang="en-US" altLang="sr-Latn-RS" sz="14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sr-Latn-RS" sz="1400" b="1">
                <a:latin typeface="Courier New" panose="02070309020205020404" pitchFamily="49" charset="0"/>
              </a:rPr>
              <a:t>.getWriter();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400" b="1">
                <a:latin typeface="Courier New" panose="02070309020205020404" pitchFamily="49" charset="0"/>
              </a:rPr>
              <a:t>.println("&lt;html&gt;");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400" b="1">
                <a:latin typeface="Courier New" panose="02070309020205020404" pitchFamily="49" charset="0"/>
              </a:rPr>
              <a:t>.println("&lt;head&gt;");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400" b="1">
                <a:latin typeface="Courier New" panose="02070309020205020404" pitchFamily="49" charset="0"/>
              </a:rPr>
              <a:t>.println("&lt;/head&gt;");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400" b="1">
                <a:latin typeface="Courier New" panose="02070309020205020404" pitchFamily="49" charset="0"/>
              </a:rPr>
              <a:t>.println("&lt;body&gt;");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400" b="1">
                <a:latin typeface="Courier New" panose="02070309020205020404" pitchFamily="49" charset="0"/>
              </a:rPr>
              <a:t>.println("Ovo je stranica koja se dobija ako je postavljen parametar" +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            "&lt;b&gt;proba&lt;/b&gt; na vrednost: " +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            </a:t>
            </a:r>
            <a:r>
              <a:rPr lang="en-U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sr-Latn-RS" sz="1400" b="1">
                <a:latin typeface="Courier New" panose="02070309020205020404" pitchFamily="49" charset="0"/>
              </a:rPr>
              <a:t>.getParameter("</a:t>
            </a:r>
            <a:r>
              <a:rPr lang="en-US" altLang="sr-Latn-RS" sz="1400" b="1">
                <a:solidFill>
                  <a:schemeClr val="accent5"/>
                </a:solidFill>
                <a:latin typeface="Courier New" panose="02070309020205020404" pitchFamily="49" charset="0"/>
              </a:rPr>
              <a:t>proba</a:t>
            </a:r>
            <a:r>
              <a:rPr lang="en-US" altLang="sr-Latn-RS" sz="1400" b="1">
                <a:latin typeface="Courier New" panose="02070309020205020404" pitchFamily="49" charset="0"/>
              </a:rPr>
              <a:t>") + "&lt;br&gt;");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400" b="1">
                <a:latin typeface="Courier New" panose="02070309020205020404" pitchFamily="49" charset="0"/>
              </a:rPr>
              <a:t>.println("Ovo je &lt;a href=\"RedirectServlet\"&gt;link na ovaj isti“ +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            "servlet&lt;/a&gt;, bez parametra, da bismo izazvali redirekciju.&lt;br&gt;");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400" b="1">
                <a:latin typeface="Courier New" panose="02070309020205020404" pitchFamily="49" charset="0"/>
              </a:rPr>
              <a:t>.println("&lt;/body&gt;");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400" b="1">
                <a:latin typeface="Courier New" panose="02070309020205020404" pitchFamily="49" charset="0"/>
              </a:rPr>
              <a:t>.println("&lt;/html&gt;");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400" b="1">
                <a:latin typeface="Courier New" panose="02070309020205020404" pitchFamily="49" charset="0"/>
              </a:rPr>
              <a:t>  </a:t>
            </a:r>
            <a:r>
              <a:rPr lang="en-US" altLang="sr-Latn-RS" sz="14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3A8F9DAD-CEBB-307C-2D26-ECB3C4736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6" y="6237288"/>
            <a:ext cx="989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ahoma" panose="020B0604030504040204" pitchFamily="34" charset="0"/>
              </a:rPr>
              <a:t>primer03</a:t>
            </a:r>
            <a:endParaRPr lang="en-GB" altLang="sr-Latn-RS" sz="16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5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5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5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5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5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53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53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081F1FD-6EE3-40F0-C38C-C2E503686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Primer4: character encoding</a:t>
            </a:r>
            <a:endParaRPr lang="en-US" altLang="sr-Latn-R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3C5881C-3FE4-8B15-1FBA-69CB067A44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9174" y="1981201"/>
            <a:ext cx="11446777" cy="4443413"/>
          </a:xfrm>
        </p:spPr>
        <p:txBody>
          <a:bodyPr/>
          <a:lstStyle/>
          <a:p>
            <a:pPr eaLnBrk="1" hangingPunct="1"/>
            <a:r>
              <a:rPr lang="sr-Latn-CS" altLang="sr-Latn-RS" sz="3600"/>
              <a:t>Metodom setContentType se podešava i </a:t>
            </a:r>
            <a:r>
              <a:rPr lang="sr-Latn-CS" altLang="sr-Latn-RS" sz="3600" i="1"/>
              <a:t>character encoding</a:t>
            </a:r>
            <a:r>
              <a:rPr lang="sr-Latn-CS" altLang="sr-Latn-RS" sz="3600"/>
              <a:t>:</a:t>
            </a:r>
          </a:p>
          <a:p>
            <a:pPr eaLnBrk="1" hangingPunct="1">
              <a:buFontTx/>
              <a:buNone/>
            </a:pPr>
            <a:endParaRPr lang="sr-Latn-CS" altLang="sr-Latn-RS" sz="2400"/>
          </a:p>
          <a:p>
            <a:pPr eaLnBrk="1" hangingPunct="1">
              <a:buFontTx/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response.setContentType("text/html; charset=UTF-8");</a:t>
            </a:r>
            <a:endParaRPr lang="sr-Latn-CS" alt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endParaRPr lang="sr-Latn-CS" altLang="sr-Latn-RS" sz="2400"/>
          </a:p>
          <a:p>
            <a:pPr eaLnBrk="1" hangingPunct="1"/>
            <a:r>
              <a:rPr lang="sr-Latn-CS" altLang="sr-Latn-RS" sz="3600"/>
              <a:t>Parametar </a:t>
            </a:r>
            <a:r>
              <a:rPr lang="sr-Latn-CS" altLang="sr-Latn-RS" sz="3600" i="1"/>
              <a:t>charset</a:t>
            </a:r>
            <a:r>
              <a:rPr lang="sr-Latn-CS" altLang="sr-Latn-RS" sz="3600"/>
              <a:t> definiše kodnu stranu kojom će biti kodirani svi stringovi ka klijentu.</a:t>
            </a:r>
            <a:endParaRPr lang="en-US" altLang="sr-Latn-R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B47E905-B4E3-F298-5FF3-AB07BEA988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88361"/>
          </a:xfrm>
        </p:spPr>
        <p:txBody>
          <a:bodyPr/>
          <a:lstStyle/>
          <a:p>
            <a:pPr eaLnBrk="1" hangingPunct="1"/>
            <a:r>
              <a:rPr lang="sr-Latn-CS" altLang="sr-Latn-RS" sz="3600"/>
              <a:t>Primer4: servlet sa UTF-8 encoding-om</a:t>
            </a:r>
            <a:endParaRPr lang="en-US" altLang="sr-Latn-RS" sz="360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0C63B73-00CE-0F79-0EC4-F4AF8D553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4587" y="1279321"/>
            <a:ext cx="11199303" cy="5365954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public void doGet(HttpServletRequest </a:t>
            </a:r>
            <a:r>
              <a:rPr lang="en-US" altLang="sr-Latn-RS" sz="16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sr-Latn-RS" sz="1600" b="1">
                <a:latin typeface="Courier New" panose="02070309020205020404" pitchFamily="49" charset="0"/>
              </a:rPr>
              <a:t>, HttpServletResponse 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sr-Latn-RS" sz="1600" b="1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sr-Latn-RS" sz="1600" b="1">
                <a:latin typeface="Courier New" panose="02070309020205020404" pitchFamily="49" charset="0"/>
              </a:rPr>
              <a:t>.setContentType("text/html; charset=UTF-8");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PrintWriter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600" b="1">
                <a:latin typeface="Courier New" panose="02070309020205020404" pitchFamily="49" charset="0"/>
              </a:rPr>
              <a:t> = 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en-US" altLang="sr-Latn-RS" sz="1600" b="1">
                <a:latin typeface="Courier New" panose="02070309020205020404" pitchFamily="49" charset="0"/>
              </a:rPr>
              <a:t>.getWriter();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600" b="1">
                <a:latin typeface="Courier New" panose="02070309020205020404" pitchFamily="49" charset="0"/>
              </a:rPr>
              <a:t>.println("&lt;html&gt;");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600" b="1">
                <a:latin typeface="Courier New" panose="02070309020205020404" pitchFamily="49" charset="0"/>
              </a:rPr>
              <a:t>.println("&lt;head&gt;");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600" b="1">
                <a:latin typeface="Courier New" panose="02070309020205020404" pitchFamily="49" charset="0"/>
              </a:rPr>
              <a:t>.println("&lt;meta http-equiv=\"Content-Type\" content=\"text/html; </a:t>
            </a:r>
            <a:r>
              <a:rPr lang="sr-Latn-CS" altLang="sr-Latn-RS" sz="1600" b="1">
                <a:latin typeface="Courier New" panose="02070309020205020404" pitchFamily="49" charset="0"/>
              </a:rPr>
              <a:t>c</a:t>
            </a:r>
            <a:r>
              <a:rPr lang="en-US" altLang="sr-Latn-RS" sz="1600" b="1">
                <a:latin typeface="Courier New" panose="02070309020205020404" pitchFamily="49" charset="0"/>
              </a:rPr>
              <a:t>harset=UTF-8\"&gt;");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600" b="1">
                <a:latin typeface="Courier New" panose="02070309020205020404" pitchFamily="49" charset="0"/>
              </a:rPr>
              <a:t>.println("&lt;/head&gt;");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600" b="1">
                <a:latin typeface="Courier New" panose="02070309020205020404" pitchFamily="49" charset="0"/>
              </a:rPr>
              <a:t>.println("&lt;body&gt;");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600" b="1">
                <a:latin typeface="Courier New" panose="02070309020205020404" pitchFamily="49" charset="0"/>
              </a:rPr>
              <a:t>.println("Ovo je stranica sa UTF-8 karakterima: \u0428 \u0429&lt;br&gt;");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600" b="1">
                <a:latin typeface="Courier New" panose="02070309020205020404" pitchFamily="49" charset="0"/>
              </a:rPr>
              <a:t>.println("&lt;/body&gt;");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600" b="1">
                <a:latin typeface="Courier New" panose="02070309020205020404" pitchFamily="49" charset="0"/>
              </a:rPr>
              <a:t>.println("&lt;/html&gt;");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pout</a:t>
            </a:r>
            <a:r>
              <a:rPr lang="en-US" altLang="sr-Latn-RS" sz="1600" b="1">
                <a:latin typeface="Courier New" panose="02070309020205020404" pitchFamily="49" charset="0"/>
              </a:rPr>
              <a:t>.flush();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7462223B-1BAF-6303-7A2E-5B0BBF7C2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6" y="6308725"/>
            <a:ext cx="989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600">
                <a:latin typeface="Tahoma" panose="020B0604030504040204" pitchFamily="34" charset="0"/>
              </a:rPr>
              <a:t>primer04</a:t>
            </a:r>
            <a:endParaRPr lang="en-GB" altLang="sr-Latn-RS" sz="16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7382EF42-017A-03CD-07BA-0F64217A8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Character encoding i parametri forme</a:t>
            </a:r>
            <a:endParaRPr lang="en-US" altLang="sr-Latn-RS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C4A9568B-B2F2-A915-817C-B2663A37A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10222684" cy="4852988"/>
          </a:xfrm>
        </p:spPr>
        <p:txBody>
          <a:bodyPr/>
          <a:lstStyle/>
          <a:p>
            <a:r>
              <a:rPr lang="sr-Latn-RS" altLang="sr-Latn-RS" b="1"/>
              <a:t>form</a:t>
            </a:r>
            <a:r>
              <a:rPr lang="sr-Latn-RS" altLang="sr-Latn-RS"/>
              <a:t> tag, atribut </a:t>
            </a:r>
            <a:r>
              <a:rPr lang="sr-Latn-RS" altLang="sr-Latn-RS" b="1"/>
              <a:t>accept-charset</a:t>
            </a:r>
            <a:endParaRPr lang="sr-Latn-RS" altLang="sr-Latn-RS"/>
          </a:p>
          <a:p>
            <a:r>
              <a:rPr lang="sr-Latn-RS" altLang="sr-Latn-RS"/>
              <a:t>Metoda </a:t>
            </a:r>
            <a:r>
              <a:rPr lang="sr-Latn-RS" altLang="sr-Latn-RS" i="1"/>
              <a:t>request.getParameter</a:t>
            </a:r>
            <a:r>
              <a:rPr lang="sr-Latn-RS" altLang="sr-Latn-RS"/>
              <a:t>() ne ume da "proceni" u kojoj kodnoj strani stižu podaci</a:t>
            </a:r>
          </a:p>
          <a:p>
            <a:pPr lvl="1"/>
            <a:r>
              <a:rPr lang="sr-Latn-RS" altLang="sr-Latn-RS"/>
              <a:t>informacija o kodnoj strani ne postoji u </a:t>
            </a:r>
            <a:r>
              <a:rPr lang="sr-Latn-RS" altLang="sr-Latn-RS" b="1"/>
              <a:t>HttpServletRequest</a:t>
            </a:r>
            <a:r>
              <a:rPr lang="sr-Latn-RS" altLang="sr-Latn-RS"/>
              <a:t> klasi</a:t>
            </a:r>
          </a:p>
          <a:p>
            <a:r>
              <a:rPr lang="sr-Latn-RS" altLang="sr-Latn-RS"/>
              <a:t>U servletu mora da se eksplicitno podesi: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response.setContentType("text/html; charset=utf-8");</a:t>
            </a:r>
          </a:p>
          <a:p>
            <a:pPr>
              <a:buFontTx/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request.setCharacterEncoding("utf-8"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1412</Words>
  <Application>Microsoft Office PowerPoint</Application>
  <PresentationFormat>Widescreen</PresentationFormat>
  <Paragraphs>185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Tahoma</vt:lpstr>
      <vt:lpstr>Office Theme</vt:lpstr>
      <vt:lpstr>Dinamičko generisanje HTML-a i servleti</vt:lpstr>
      <vt:lpstr>Tema</vt:lpstr>
      <vt:lpstr>Vrste WWW sadržaja</vt:lpstr>
      <vt:lpstr>Isporuka statičkih sadržaja</vt:lpstr>
      <vt:lpstr>Isporuka dinamičkih sadržaja</vt:lpstr>
      <vt:lpstr>Servleti 1/2</vt:lpstr>
      <vt:lpstr>Servleti 2/2</vt:lpstr>
      <vt:lpstr>HttpServlet.init()</vt:lpstr>
      <vt:lpstr>HttpServlet.destroy()</vt:lpstr>
      <vt:lpstr>HttpServlet.doGet()</vt:lpstr>
      <vt:lpstr>Konkurentni pristup servletu</vt:lpstr>
      <vt:lpstr>Generisanje dinamičkih sadržaja</vt:lpstr>
      <vt:lpstr>Pravljenje servleta</vt:lpstr>
      <vt:lpstr>Apache Tomcat</vt:lpstr>
      <vt:lpstr>Primer1: elementarni servlet</vt:lpstr>
      <vt:lpstr>Primer2: preuzimanje podataka iz formi</vt:lpstr>
      <vt:lpstr>Primer2: servlet koji ispisuje parametar unet u formi</vt:lpstr>
      <vt:lpstr>Primer3: redirekcija</vt:lpstr>
      <vt:lpstr>Primer3: servlet vrši redirekciju</vt:lpstr>
      <vt:lpstr>Primer4: character encoding</vt:lpstr>
      <vt:lpstr>Primer4: servlet sa UTF-8 encoding-om</vt:lpstr>
      <vt:lpstr>Character encoding i parametri forme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41</cp:revision>
  <dcterms:created xsi:type="dcterms:W3CDTF">2024-06-23T14:59:21Z</dcterms:created>
  <dcterms:modified xsi:type="dcterms:W3CDTF">2024-07-01T18:47:57Z</dcterms:modified>
</cp:coreProperties>
</file>