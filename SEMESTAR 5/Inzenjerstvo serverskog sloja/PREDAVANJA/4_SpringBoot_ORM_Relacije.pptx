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308" r:id="rId17"/>
    <p:sldId id="272" r:id="rId18"/>
    <p:sldId id="273" r:id="rId19"/>
    <p:sldId id="274" r:id="rId20"/>
    <p:sldId id="275" r:id="rId21"/>
    <p:sldId id="276" r:id="rId22"/>
    <p:sldId id="277" r:id="rId23"/>
    <p:sldId id="309" r:id="rId24"/>
    <p:sldId id="278" r:id="rId25"/>
    <p:sldId id="279" r:id="rId26"/>
    <p:sldId id="280" r:id="rId27"/>
    <p:sldId id="281" r:id="rId28"/>
    <p:sldId id="282" r:id="rId29"/>
    <p:sldId id="283" r:id="rId30"/>
    <p:sldId id="302" r:id="rId31"/>
    <p:sldId id="303" r:id="rId32"/>
    <p:sldId id="304" r:id="rId33"/>
    <p:sldId id="305" r:id="rId34"/>
    <p:sldId id="306" r:id="rId35"/>
    <p:sldId id="307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300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/45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FFBFF4E-9FD7-8F92-8D6B-077DF32EF31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en-GB" altLang="sr-Latn-R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502B2-6870-59E9-99F8-03A3498F0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sr-Latn-RS">
                <a:solidFill>
                  <a:schemeClr val="bg1">
                    <a:lumMod val="50000"/>
                  </a:schemeClr>
                </a:solidFill>
              </a:rPr>
              <a:t>Spring Boot</a:t>
            </a:r>
          </a:p>
          <a:p>
            <a:r>
              <a:rPr lang="sr-Latn-RS">
                <a:solidFill>
                  <a:schemeClr val="bg1">
                    <a:lumMod val="50000"/>
                  </a:schemeClr>
                </a:solidFill>
              </a:rPr>
              <a:t>Relacije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CBB58BE-CD4F-F95D-F8BC-A709482AA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Relacije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DF3F65-BC4C-D792-3FAE-BEC7E65849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Četiri vrste: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OneToOne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Radnik - Polisa osiguranja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Person - Home address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OneToMany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Person - Bank account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Radno mesto - Radnik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Manager - Employees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ManyToOne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Radnik - Radno mesto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Bank account - Person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ManyToMany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Nastavnik - Predmet</a:t>
            </a:r>
          </a:p>
          <a:p>
            <a:pPr lvl="2" eaLnBrk="1" hangingPunct="1">
              <a:lnSpc>
                <a:spcPct val="80000"/>
              </a:lnSpc>
            </a:pPr>
            <a:r>
              <a:rPr lang="sr-Latn-CS" altLang="sr-Latn-RS"/>
              <a:t>Email list - Subscriber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5F45F46-DCFD-52D7-6137-42E4FE508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566" y="404284"/>
            <a:ext cx="9046633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sr-Latn-RS" sz="4000"/>
              <a:t>Referencijalni integritet</a:t>
            </a:r>
            <a:endParaRPr lang="sr-Latn-CS" altLang="sr-Latn-RS" sz="400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EFCC050-7FDB-CE9F-CE6A-CAD06EDE7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567" y="1285347"/>
            <a:ext cx="9046633" cy="5043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 sz="2400"/>
              <a:t>U okviru anotacija stavlja se atribut cascade sa skupom vrednosti:</a:t>
            </a:r>
            <a:endParaRPr lang="sr-Latn-CS" altLang="sr-Latn-RS" sz="2400"/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CascadeType.PERSIST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 sz="1800"/>
              <a:t>poziva </a:t>
            </a:r>
            <a:r>
              <a:rPr lang="sr-Latn-CS" altLang="sr-Latn-RS" sz="1800" i="1"/>
              <a:t>persist</a:t>
            </a:r>
            <a:r>
              <a:rPr lang="sr-Latn-CS" altLang="sr-Latn-RS" sz="1800"/>
              <a:t> operaciju nad povezanim objektom prilikom </a:t>
            </a:r>
            <a:r>
              <a:rPr lang="en-US" altLang="sr-Latn-RS" sz="1800"/>
              <a:t>perzistiranja</a:t>
            </a:r>
            <a:r>
              <a:rPr lang="sr-Latn-CS" altLang="sr-Latn-RS" sz="1800"/>
              <a:t> ovog objekta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CascadeType.MERGE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 sz="1800"/>
              <a:t>poziva </a:t>
            </a:r>
            <a:r>
              <a:rPr lang="sr-Latn-CS" altLang="sr-Latn-RS" sz="1800" i="1"/>
              <a:t>merge</a:t>
            </a:r>
            <a:r>
              <a:rPr lang="sr-Latn-CS" altLang="sr-Latn-RS" sz="1800"/>
              <a:t> operaciju nad povezanim objektom prilikom pozivanja </a:t>
            </a:r>
            <a:r>
              <a:rPr lang="sr-Latn-CS" altLang="sr-Latn-RS" sz="1800" i="1"/>
              <a:t>merge</a:t>
            </a:r>
            <a:r>
              <a:rPr lang="sr-Latn-CS" altLang="sr-Latn-RS" sz="1800"/>
              <a:t> nad ovim objektom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CascadeType.REMOVE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 sz="1800"/>
              <a:t>poziva </a:t>
            </a:r>
            <a:r>
              <a:rPr lang="sr-Latn-CS" altLang="sr-Latn-RS" sz="1800" i="1"/>
              <a:t>remove</a:t>
            </a:r>
            <a:r>
              <a:rPr lang="sr-Latn-CS" altLang="sr-Latn-RS" sz="1800"/>
              <a:t> operaciju nad povezanim objektom prilikom pozivanja </a:t>
            </a:r>
            <a:r>
              <a:rPr lang="sr-Latn-CS" altLang="sr-Latn-RS" sz="1800" i="1"/>
              <a:t>remove</a:t>
            </a:r>
            <a:r>
              <a:rPr lang="sr-Latn-CS" altLang="sr-Latn-RS" sz="1800"/>
              <a:t> nad ovim objektom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CascadeType.REFRESH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 sz="1800"/>
              <a:t>poziva </a:t>
            </a:r>
            <a:r>
              <a:rPr lang="sr-Latn-CS" altLang="sr-Latn-RS" sz="1800" i="1"/>
              <a:t>refresh</a:t>
            </a:r>
            <a:r>
              <a:rPr lang="sr-Latn-CS" altLang="sr-Latn-RS" sz="1800"/>
              <a:t> operaciju nad povezanim objektom prilikom pozivanja </a:t>
            </a:r>
            <a:r>
              <a:rPr lang="sr-Latn-CS" altLang="sr-Latn-RS" sz="1800" i="1"/>
              <a:t>refresh</a:t>
            </a:r>
            <a:r>
              <a:rPr lang="sr-Latn-CS" altLang="sr-Latn-RS" sz="1800"/>
              <a:t> nad ovim objektom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CascadeType.ALL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 sz="1800"/>
              <a:t>sve četiri varijante zajedno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AA655B0-1EDB-AA7C-12EB-88A35B72F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OneToOne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FF6FE3B-BA3C-5B12-3633-DE0485485E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Atribut koji ukazuje na drugi entity, označava se anotacijom @</a:t>
            </a:r>
            <a:r>
              <a:rPr lang="sr-Latn-CS" altLang="sr-Latn-RS" i="1"/>
              <a:t>OneToOne</a:t>
            </a:r>
            <a:endParaRPr lang="en-US" altLang="sr-Latn-RS" i="1"/>
          </a:p>
          <a:p>
            <a:pPr eaLnBrk="1" hangingPunct="1"/>
            <a:r>
              <a:rPr lang="en-US" altLang="sr-Latn-RS"/>
              <a:t>Worker – Insurance policy</a:t>
            </a:r>
            <a:endParaRPr lang="sr-Latn-CS" altLang="sr-Latn-RS"/>
          </a:p>
          <a:p>
            <a:pPr eaLnBrk="1" hangingPunct="1"/>
            <a:endParaRPr lang="sr-Latn-C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9E3F52F-2514-A281-7C8D-9071F77537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Worker.java</a:t>
            </a:r>
            <a:endParaRPr lang="sr-Latn-CS" altLang="sr-Latn-R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1C22415-CA53-2A30-1B05-B6EB6AE5F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144000" cy="46164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public class Worker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</a:t>
            </a:r>
            <a:r>
              <a:rPr lang="sr-Latn-R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@Id</a:t>
            </a:r>
            <a:endParaRPr lang="sr-Latn-R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private Long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private String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@OneToOne(cascade={CascadeType.ALL})</a:t>
            </a:r>
            <a:r>
              <a:rPr lang="sr-Latn-C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private InsurancePolicy policy;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  <a:endParaRPr lang="sr-Latn-C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37917EC-DDED-6936-48A3-B338CC9D8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InsurancePolicy.java</a:t>
            </a:r>
            <a:endParaRPr lang="sr-Latn-CS" altLang="sr-Latn-R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FE3EB28-1DDA-5739-CC5F-C54813C1A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144000" cy="46878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public class InsurancePolicy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</a:rPr>
              <a:t> @Id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private Long id;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private String policyName;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}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0A3566F-28E5-2E4C-FFCD-C9041CA8C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Tabele</a:t>
            </a:r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246F272E-BA2A-D12C-CBD9-8A653EB5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1844675"/>
            <a:ext cx="61452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29B93E8C-6AFD-32FE-7127-4A8FB3A38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4365626"/>
            <a:ext cx="617220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CF009D5-59D2-AD08-95D8-5A7784972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9867" y="315215"/>
            <a:ext cx="8930746" cy="720725"/>
          </a:xfrm>
        </p:spPr>
        <p:txBody>
          <a:bodyPr/>
          <a:lstStyle/>
          <a:p>
            <a:pPr eaLnBrk="1" hangingPunct="1"/>
            <a:r>
              <a:rPr lang="en-US" altLang="sr-Latn-RS" sz="4000"/>
              <a:t>WorkerServiceImpl.java</a:t>
            </a:r>
            <a:endParaRPr lang="sr-Latn-CS" altLang="sr-Latn-RS" sz="400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8330981-AFDA-6A66-DF5A-042B64BA8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9867" y="1235394"/>
            <a:ext cx="10769599" cy="511333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public void createWorker(String workerName, String policyName)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	Worker w = new Worker(workerName);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	InsurancePolicy pol = new InsurancePolicy(policyName);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	w.setPolicy(pol);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	allWorkers.save(w);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public Collection&lt;Worker&gt; getAll()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return allWorkers.findAll();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  <a:endParaRPr lang="sr-Latn-R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public void deleteAll()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allWorkers.deleteAll();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  <a:endParaRPr lang="sr-Latn-C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A845806-8CB5-9A65-3925-F7F872711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WorkerRepository.java</a:t>
            </a:r>
            <a:endParaRPr lang="en-US" altLang="sr-Latn-R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8931961-D593-D8E2-4674-2CA8AFFD1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public interface WorkerRepository  extends JpaRepository&lt;Worker, Long&gt;</a:t>
            </a:r>
            <a:r>
              <a:rPr lang="sr-Latn-RS" altLang="sr-Latn-RS" sz="2400" b="1">
                <a:latin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1E01585-ECA7-BA0B-9C3B-478C02E79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Many to one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B309C0D-83D0-30D3-EC57-40DC26C8D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Atribut koji ukazuje na drugi entity, označava se anotacijom @</a:t>
            </a:r>
            <a:r>
              <a:rPr lang="en-US" altLang="sr-Latn-RS" b="1"/>
              <a:t>Many</a:t>
            </a:r>
            <a:r>
              <a:rPr lang="sr-Latn-CS" altLang="sr-Latn-RS" i="1"/>
              <a:t>ToOne</a:t>
            </a:r>
            <a:endParaRPr lang="en-US" altLang="sr-Latn-RS" i="1"/>
          </a:p>
          <a:p>
            <a:pPr eaLnBrk="1" hangingPunct="1"/>
            <a:r>
              <a:rPr lang="en-US" altLang="sr-Latn-RS"/>
              <a:t>Worker – Working place</a:t>
            </a:r>
            <a:endParaRPr lang="sr-Latn-CS" altLang="sr-Latn-RS"/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6DF64E9-DADA-2965-40FC-DB7A7F9E4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Worker.java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1F08F1E-9678-64F1-8796-CA16A1F3A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73239"/>
            <a:ext cx="9144000" cy="49688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@Entity (name="Worker2")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@Table(name="workers2")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public class Worker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</a:rPr>
              <a:t>  @Id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private </a:t>
            </a:r>
            <a:r>
              <a:rPr lang="sr-Latn-CS" altLang="sr-Latn-RS" sz="2000" b="1">
                <a:latin typeface="Courier New" panose="02070309020205020404" pitchFamily="49" charset="0"/>
              </a:rPr>
              <a:t>Long</a:t>
            </a:r>
            <a:r>
              <a:rPr lang="en-US" altLang="sr-Latn-RS" sz="2000" b="1">
                <a:latin typeface="Courier New" panose="02070309020205020404" pitchFamily="49" charset="0"/>
              </a:rPr>
              <a:t>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</a:t>
            </a:r>
            <a:endParaRPr lang="sr-Latn-R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</a:rPr>
              <a:t>private String name;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sr-Latn-RS" altLang="sr-Latn-RS" sz="2000" b="1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sr-Latn-R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@ManyToOne(cascade={CascadeType.REFRESH})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private WorkingPlace place;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340" name="AutoShape 4">
            <a:extLst>
              <a:ext uri="{FF2B5EF4-FFF2-40B4-BE49-F238E27FC236}">
                <a16:creationId xmlns:a16="http://schemas.microsoft.com/office/drawing/2014/main" id="{398DAC05-619B-A61C-8E8A-459341CE6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854" y="1480609"/>
            <a:ext cx="2736850" cy="1871663"/>
          </a:xfrm>
          <a:prstGeom prst="wedgeRoundRectCallout">
            <a:avLst>
              <a:gd name="adj1" fmla="val -127333"/>
              <a:gd name="adj2" fmla="val -2578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solidFill>
                  <a:schemeClr val="bg1"/>
                </a:solidFill>
                <a:latin typeface="Tahoma" panose="020B0604030504040204" pitchFamily="34" charset="0"/>
              </a:rPr>
              <a:t>Ako imamo istoimen</a:t>
            </a:r>
            <a:r>
              <a:rPr lang="sr-Latn-RS" altLang="sr-Latn-RS" sz="2000">
                <a:solidFill>
                  <a:schemeClr val="bg1"/>
                </a:solidFill>
                <a:latin typeface="Tahoma" panose="020B0604030504040204" pitchFamily="34" charset="0"/>
              </a:rPr>
              <a:t>i Entity</a:t>
            </a:r>
            <a:r>
              <a:rPr lang="en-US" altLang="sr-Latn-RS" sz="2000">
                <a:solidFill>
                  <a:schemeClr val="bg1"/>
                </a:solidFill>
                <a:latin typeface="Tahoma" panose="020B0604030504040204" pitchFamily="34" charset="0"/>
              </a:rPr>
              <a:t>, ovim </a:t>
            </a:r>
            <a:r>
              <a:rPr lang="sr-Latn-RS" altLang="sr-Latn-RS" sz="2000">
                <a:solidFill>
                  <a:schemeClr val="bg1"/>
                </a:solidFill>
                <a:latin typeface="Tahoma" panose="020B0604030504040204" pitchFamily="34" charset="0"/>
              </a:rPr>
              <a:t>mu</a:t>
            </a:r>
            <a:r>
              <a:rPr lang="en-US" altLang="sr-Latn-RS" sz="2000">
                <a:solidFill>
                  <a:schemeClr val="bg1"/>
                </a:solidFill>
                <a:latin typeface="Tahoma" panose="020B0604030504040204" pitchFamily="34" charset="0"/>
              </a:rPr>
              <a:t> dajemo drugo ime za persistence context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EA00ABA-BA2D-CA87-E0A1-BEE2A38D2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WorkingPlace.java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C255DC8-FAB8-3EA1-67A7-5AB22EFC6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@Table(name="working_places")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public class WorkingPlace {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</a:t>
            </a:r>
            <a:r>
              <a:rPr lang="sr-Latn-RS" altLang="sr-Latn-RS" b="1">
                <a:latin typeface="Courier New" panose="02070309020205020404" pitchFamily="49" charset="0"/>
              </a:rPr>
              <a:t>@Id</a:t>
            </a:r>
          </a:p>
          <a:p>
            <a:pPr eaLnBrk="1" hangingPunct="1">
              <a:buFontTx/>
              <a:buNone/>
            </a:pPr>
            <a:r>
              <a:rPr lang="sr-Latn-RS" altLang="sr-Latn-RS" b="1">
                <a:latin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</a:rPr>
              <a:t>private </a:t>
            </a:r>
            <a:r>
              <a:rPr lang="sr-Latn-CS" altLang="sr-Latn-RS" sz="3200" b="1">
                <a:latin typeface="Courier New" panose="02070309020205020404" pitchFamily="49" charset="0"/>
              </a:rPr>
              <a:t>Long</a:t>
            </a:r>
            <a:r>
              <a:rPr lang="en-US" altLang="sr-Latn-RS" b="1">
                <a:latin typeface="Courier New" panose="02070309020205020404" pitchFamily="49" charset="0"/>
              </a:rPr>
              <a:t> id;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private String name;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E67A058-3DC0-6BFC-4C5E-99DB3052A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Tabele</a:t>
            </a:r>
          </a:p>
        </p:txBody>
      </p:sp>
      <p:pic>
        <p:nvPicPr>
          <p:cNvPr id="16387" name="Picture 3">
            <a:extLst>
              <a:ext uri="{FF2B5EF4-FFF2-40B4-BE49-F238E27FC236}">
                <a16:creationId xmlns:a16="http://schemas.microsoft.com/office/drawing/2014/main" id="{D851FF9D-21FD-FBA9-EE08-1C29EF1A8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1773238"/>
            <a:ext cx="6172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CCA3DA8E-A131-9A4B-FE53-01605DA9C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4292601"/>
            <a:ext cx="61722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92EA42B-6CD5-B18C-30DE-054A806B8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1900" y="260350"/>
            <a:ext cx="8748713" cy="1143000"/>
          </a:xfrm>
        </p:spPr>
        <p:txBody>
          <a:bodyPr/>
          <a:lstStyle/>
          <a:p>
            <a:pPr eaLnBrk="1" hangingPunct="1"/>
            <a:r>
              <a:rPr lang="en-US" altLang="sr-Latn-RS"/>
              <a:t>Worker2ServiceImpl.java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08C6D36-7D47-ABEB-13A4-72C49AD34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1901" y="1412876"/>
            <a:ext cx="10536766" cy="525621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void createWorkerAndWorkingPlace(String workerName, String wpName)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Worker w = new Worker(workerName);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Optional&lt;WorkingPlace&gt; places =</a:t>
            </a:r>
            <a:r>
              <a:rPr lang="sr-Latn-RS" altLang="sr-Latn-RS" sz="1800" b="1">
                <a:latin typeface="Courier New" panose="02070309020205020404" pitchFamily="49" charset="0"/>
              </a:rPr>
              <a:t>	</a:t>
            </a:r>
            <a:r>
              <a:rPr lang="en-US" altLang="sr-Latn-RS" sz="1800" b="1">
                <a:latin typeface="Courier New" panose="02070309020205020404" pitchFamily="49" charset="0"/>
              </a:rPr>
              <a:t>allWorkingPlaces.findByName(wpName);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WorkingPlace place = null;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if (places.isEmpty())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</a:t>
            </a:r>
            <a:r>
              <a:rPr lang="en-U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WorkingPlace ne postoji, kreiramo ga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place = new WorkingPlace(wpName);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allWorkingPlaces.save(place);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} else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place = places.get();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w.setWorkingPlace(place);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allWorkers.save(w);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1095D29-6EF1-200D-0110-E65A335FE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Worker2ServiceImpl.java</a:t>
            </a:r>
            <a:endParaRPr lang="en-US" altLang="sr-Latn-R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A544C15-B085-803D-4997-E16E96E07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106426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Collection&lt;Worker&gt; getAllByWorkingPlaceName(String wpName)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Optional&lt;WorkingPlace&gt; places = allWorkingPlaces.findByName(wpName);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if (!places.isEmpty())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WorkingPlace place = places.get();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return place.getWorkers();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String value = bundle.getString("WorkingPlace.notFound");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throw new ResponseStatusException(HttpStatus.NOT_FOUND, value);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D336E-AD75-0145-42A3-15E09894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Worker2Repository</a:t>
            </a:r>
            <a:r>
              <a:rPr lang="sr-Latn-RS"/>
              <a:t>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974FA-4701-596C-2BB3-62AD510DE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1150600" cy="1612776"/>
          </a:xfrm>
        </p:spPr>
        <p:txBody>
          <a:bodyPr/>
          <a:lstStyle/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Worker2Repository extends JpaRepository&lt;Worker, Long&gt;{</a:t>
            </a:r>
          </a:p>
          <a:p>
            <a:pPr marL="0" indent="0">
              <a:buNone/>
            </a:pP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3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01EE2B-D177-4179-6810-AFDEF5DADFA3}"/>
              </a:ext>
            </a:extLst>
          </p:cNvPr>
          <p:cNvSpPr txBox="1">
            <a:spLocks/>
          </p:cNvSpPr>
          <p:nvPr/>
        </p:nvSpPr>
        <p:spPr bwMode="auto">
          <a:xfrm>
            <a:off x="838200" y="3284984"/>
            <a:ext cx="9372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/>
              <a:t>WorkingPlaceRepository</a:t>
            </a:r>
            <a:r>
              <a:rPr lang="sr-Latn-RS" kern="0"/>
              <a:t>.java</a:t>
            </a:r>
            <a:endParaRPr lang="en-US" kern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E2AC71-FE04-2F0E-0637-AAA225A5C83E}"/>
              </a:ext>
            </a:extLst>
          </p:cNvPr>
          <p:cNvSpPr txBox="1">
            <a:spLocks/>
          </p:cNvSpPr>
          <p:nvPr/>
        </p:nvSpPr>
        <p:spPr bwMode="auto">
          <a:xfrm>
            <a:off x="838200" y="4427984"/>
            <a:ext cx="11087100" cy="1612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b="1" kern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WorkingPlaceRepository extends JpaRepository&lt;WorkingPlace, Long&gt;{</a:t>
            </a:r>
          </a:p>
          <a:p>
            <a:pPr marL="0" indent="0">
              <a:buNone/>
            </a:pPr>
            <a:r>
              <a:rPr lang="sr-Latn-RS" sz="2000" b="1" ker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kern="0">
                <a:latin typeface="Courier New" panose="02070309020205020404" pitchFamily="49" charset="0"/>
                <a:cs typeface="Courier New" panose="02070309020205020404" pitchFamily="49" charset="0"/>
              </a:rPr>
              <a:t>public Optional&lt;WorkingPlace&gt; findByName(String name);</a:t>
            </a:r>
          </a:p>
          <a:p>
            <a:pPr marL="0" indent="0">
              <a:buNone/>
            </a:pPr>
            <a:r>
              <a:rPr lang="en-US" sz="2000" b="1" ker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3600" b="1" ker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142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6122B9C-A0EF-85F0-AE92-183E1F030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One to many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8D48721-FF44-33D0-250F-C08308576B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00214"/>
            <a:ext cx="9505950" cy="4681537"/>
          </a:xfrm>
        </p:spPr>
        <p:txBody>
          <a:bodyPr/>
          <a:lstStyle/>
          <a:p>
            <a:pPr eaLnBrk="1" hangingPunct="1"/>
            <a:r>
              <a:rPr lang="en-US" altLang="sr-Latn-RS"/>
              <a:t>Kolekcija </a:t>
            </a:r>
            <a:r>
              <a:rPr lang="sr-Latn-CS" altLang="sr-Latn-RS"/>
              <a:t>koj</a:t>
            </a:r>
            <a:r>
              <a:rPr lang="en-US" altLang="sr-Latn-RS"/>
              <a:t>a</a:t>
            </a:r>
            <a:r>
              <a:rPr lang="sr-Latn-CS" altLang="sr-Latn-RS"/>
              <a:t> ukazuje na drug</a:t>
            </a:r>
            <a:r>
              <a:rPr lang="en-US" altLang="sr-Latn-RS"/>
              <a:t>e</a:t>
            </a:r>
            <a:r>
              <a:rPr lang="sr-Latn-CS" altLang="sr-Latn-RS"/>
              <a:t> enti</a:t>
            </a:r>
            <a:r>
              <a:rPr lang="en-US" altLang="sr-Latn-RS"/>
              <a:t>ty-je</a:t>
            </a:r>
            <a:r>
              <a:rPr lang="sr-Latn-CS" altLang="sr-Latn-RS"/>
              <a:t>, označava se anotacijom @</a:t>
            </a:r>
            <a:r>
              <a:rPr lang="en-US" altLang="sr-Latn-RS" b="1"/>
              <a:t>OneToMany</a:t>
            </a:r>
          </a:p>
          <a:p>
            <a:pPr eaLnBrk="1" hangingPunct="1"/>
            <a:r>
              <a:rPr lang="en-US" altLang="sr-Latn-RS"/>
              <a:t>Person – Bank account</a:t>
            </a:r>
            <a:endParaRPr lang="sr-Latn-RS" altLang="sr-Latn-RS"/>
          </a:p>
          <a:p>
            <a:pPr eaLnBrk="1" hangingPunct="1"/>
            <a:r>
              <a:rPr lang="sr-Latn-RS" altLang="sr-Latn-RS"/>
              <a:t>Ako u entitiju imamo jednu kolekciju, ona se deklariše kao </a:t>
            </a:r>
            <a:r>
              <a:rPr lang="sr-Latn-RS" altLang="sr-Latn-RS" b="1"/>
              <a:t>List </a:t>
            </a:r>
            <a:r>
              <a:rPr lang="sr-Latn-RS" altLang="sr-Latn-RS"/>
              <a:t>ili </a:t>
            </a:r>
            <a:r>
              <a:rPr lang="sr-Latn-RS" altLang="sr-Latn-RS" b="1"/>
              <a:t>Collection</a:t>
            </a:r>
            <a:r>
              <a:rPr lang="sr-Latn-RS" altLang="sr-Latn-RS"/>
              <a:t>, i možemo da je implementiramo kao </a:t>
            </a:r>
            <a:r>
              <a:rPr lang="sr-Latn-RS" altLang="sr-Latn-RS" b="1"/>
              <a:t>ArrayList</a:t>
            </a:r>
          </a:p>
          <a:p>
            <a:pPr eaLnBrk="1" hangingPunct="1"/>
            <a:r>
              <a:rPr lang="sr-Latn-RS" altLang="sr-Latn-RS"/>
              <a:t>Ako u entitiju imamo više kolekcija, one se deklarišu kao </a:t>
            </a:r>
            <a:r>
              <a:rPr lang="sr-Latn-RS" altLang="sr-Latn-RS" b="1"/>
              <a:t>Set</a:t>
            </a:r>
            <a:r>
              <a:rPr lang="sr-Latn-RS" altLang="sr-Latn-RS"/>
              <a:t>, a implementiraju se kao </a:t>
            </a:r>
            <a:r>
              <a:rPr lang="sr-Latn-RS" altLang="sr-Latn-RS" b="1"/>
              <a:t>HashSet</a:t>
            </a:r>
            <a:endParaRPr lang="sr-Latn-CS" altLang="sr-Latn-RS" b="1"/>
          </a:p>
          <a:p>
            <a:pPr eaLnBrk="1" hangingPunct="1"/>
            <a:endParaRPr lang="en-US" altLang="sr-Latn-RS"/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578D105-E528-203B-09EE-147CFB38A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333375"/>
            <a:ext cx="8785225" cy="1143000"/>
          </a:xfrm>
        </p:spPr>
        <p:txBody>
          <a:bodyPr/>
          <a:lstStyle/>
          <a:p>
            <a:pPr eaLnBrk="1" hangingPunct="1"/>
            <a:r>
              <a:rPr lang="en-US" altLang="sr-Latn-RS"/>
              <a:t>Person.java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7502338-D5C3-32D7-5345-8F1149550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5389" y="1700214"/>
            <a:ext cx="9293226" cy="49688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@Table(name="persons")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class Person implements java.io.Serializable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@Id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private </a:t>
            </a:r>
            <a:r>
              <a:rPr lang="sr-Latn-CS" altLang="sr-Latn-RS" sz="1800" b="1">
                <a:latin typeface="Courier New" panose="02070309020205020404" pitchFamily="49" charset="0"/>
              </a:rPr>
              <a:t>Long</a:t>
            </a:r>
            <a:r>
              <a:rPr lang="en-US" altLang="sr-Latn-RS" sz="1800" b="1">
                <a:latin typeface="Courier New" panose="02070309020205020404" pitchFamily="49" charset="0"/>
              </a:rPr>
              <a:t>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</a:t>
            </a: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</a:rPr>
              <a:t>private String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 @OneToMany(cascade={CascadeType.ALL})</a:t>
            </a:r>
            <a:endParaRPr lang="sr-Latn-RS" altLang="sr-Latn-RS" sz="18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private Collection&lt;BankAccount&gt; accounts;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43C00E2-AFD0-B038-95A2-A9981C786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BankAccount.java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C554052-A296-A847-5BA5-A1261A1CB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773238"/>
            <a:ext cx="10964332" cy="48958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@Table(name="accounts")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public class BankAccount implements java.io.Serializable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</a:rPr>
              <a:t>  @Id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private </a:t>
            </a:r>
            <a:r>
              <a:rPr lang="sr-Latn-CS" altLang="sr-Latn-RS" sz="2400" b="1">
                <a:latin typeface="Courier New" panose="02070309020205020404" pitchFamily="49" charset="0"/>
              </a:rPr>
              <a:t>Long</a:t>
            </a:r>
            <a:r>
              <a:rPr lang="en-US" altLang="sr-Latn-RS" sz="2400" b="1">
                <a:latin typeface="Courier New" panose="02070309020205020404" pitchFamily="49" charset="0"/>
              </a:rPr>
              <a:t> id;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private String name;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4E5B0F3-4F65-A005-22DB-CD0002C8E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260351"/>
            <a:ext cx="7772400" cy="803275"/>
          </a:xfrm>
        </p:spPr>
        <p:txBody>
          <a:bodyPr/>
          <a:lstStyle/>
          <a:p>
            <a:pPr eaLnBrk="1" hangingPunct="1"/>
            <a:r>
              <a:rPr lang="sr-Latn-CS" altLang="sr-Latn-RS"/>
              <a:t>Tabele – jednosmerna veza</a:t>
            </a:r>
            <a:endParaRPr lang="en-US" altLang="sr-Latn-RS"/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447ACBD4-2258-11B1-A895-C9CBA1B18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4724400"/>
            <a:ext cx="616426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>
            <a:extLst>
              <a:ext uri="{FF2B5EF4-FFF2-40B4-BE49-F238E27FC236}">
                <a16:creationId xmlns:a16="http://schemas.microsoft.com/office/drawing/2014/main" id="{973CFE5A-89AC-4550-ECF4-BD9591168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1557339"/>
            <a:ext cx="61722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>
            <a:extLst>
              <a:ext uri="{FF2B5EF4-FFF2-40B4-BE49-F238E27FC236}">
                <a16:creationId xmlns:a16="http://schemas.microsoft.com/office/drawing/2014/main" id="{9C5015F1-CBE4-0AF1-5A3E-0C460E848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3141663"/>
            <a:ext cx="6164262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B0819E2-21B2-9D3A-1545-4E76716B4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Čime je veza ograničena na one to many?</a:t>
            </a:r>
            <a:endParaRPr lang="en-US" altLang="sr-Latn-RS" sz="400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CE44B72-E410-8552-BBE2-6853E58DD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Ako imamo veznu tabelu, čime je sprečeno da dodamo jednom računu još jednog vlasnika?</a:t>
            </a:r>
          </a:p>
          <a:p>
            <a:pPr eaLnBrk="1" hangingPunct="1"/>
            <a:endParaRPr lang="en-US" altLang="sr-Latn-RS"/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8732F41A-DCCF-7060-72E7-C8A44125A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515" y="3297766"/>
            <a:ext cx="7061543" cy="196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A641397-9405-00ED-01CB-3DC5623D0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Fetch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D10C226-9B50-AC41-9CF3-2106CFEC1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sr-Latn-RS" sz="2400"/>
              <a:t>FetchType.LAZY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default za LOB i veze tipa kolekcija (kardinalitet n)</a:t>
            </a:r>
          </a:p>
          <a:p>
            <a:pPr lvl="1" eaLnBrk="1" hangingPunct="1">
              <a:lnSpc>
                <a:spcPct val="90000"/>
              </a:lnSpc>
            </a:pPr>
            <a:r>
              <a:rPr lang="sr-Latn-RS" altLang="sr-Latn-RS" sz="2000"/>
              <a:t>ne dovlači odmah objekte iz veze</a:t>
            </a:r>
          </a:p>
          <a:p>
            <a:pPr lvl="2" eaLnBrk="1" hangingPunct="1">
              <a:lnSpc>
                <a:spcPct val="90000"/>
              </a:lnSpc>
            </a:pPr>
            <a:r>
              <a:rPr lang="sr-Latn-RS" altLang="sr-Latn-RS" sz="1600"/>
              <a:t>d</a:t>
            </a:r>
            <a:r>
              <a:rPr lang="en-US" altLang="sr-Latn-RS" sz="1600"/>
              <a:t>ov</a:t>
            </a:r>
            <a:r>
              <a:rPr lang="sr-Latn-RS" altLang="sr-Latn-RS" sz="1600"/>
              <a:t>lači </a:t>
            </a:r>
            <a:r>
              <a:rPr lang="sr-Latn-CS" altLang="sr-Latn-RS" sz="1600"/>
              <a:t>ih </a:t>
            </a:r>
            <a:r>
              <a:rPr lang="sr-Latn-CS" altLang="sr-Latn-RS" sz="1600" b="1"/>
              <a:t>rekurzivno</a:t>
            </a:r>
            <a:r>
              <a:rPr lang="sr-Latn-CS" altLang="sr-Latn-RS" sz="1600"/>
              <a:t>, ako je potrebno, </a:t>
            </a:r>
            <a:r>
              <a:rPr lang="sr-Latn-CS" altLang="sr-Latn-RS" sz="1600" b="1"/>
              <a:t>samo ako smo u istoj sesiji </a:t>
            </a:r>
            <a:r>
              <a:rPr lang="sr-Latn-CS" altLang="sr-Latn-RS" sz="1600"/>
              <a:t>i zatražimo te objekte iz veze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 sz="1600"/>
              <a:t>ako nismo u istoj sesiji, pokušaj pristupa takvom objektima daje izuzetak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 sz="1600"/>
              <a:t>gde je granica sesije?</a:t>
            </a:r>
            <a:endParaRPr lang="en-US" altLang="sr-Latn-RS" sz="1600"/>
          </a:p>
          <a:p>
            <a:pPr eaLnBrk="1" hangingPunct="1">
              <a:lnSpc>
                <a:spcPct val="90000"/>
              </a:lnSpc>
            </a:pPr>
            <a:r>
              <a:rPr lang="en-US" altLang="sr-Latn-RS" sz="2400"/>
              <a:t>FetchType.EAGER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default za primitivne tipove i veze tipa referenca (kardnalitet 1)</a:t>
            </a:r>
            <a:endParaRPr lang="sr-Latn-CS" altLang="sr-Latn-RS" sz="2000"/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dovlači sve objekte iz veze, </a:t>
            </a:r>
            <a:r>
              <a:rPr lang="sr-Latn-CS" altLang="sr-Latn-RS" sz="2000" b="1"/>
              <a:t>rekurzivno, odmah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 sz="1600" b="1"/>
              <a:t>Ovo je potencijalno opasno!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manje efikasno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Može se podesiti na nivou upita koji atribut se dovlači odmah, a koji kasnije – </a:t>
            </a:r>
            <a:r>
              <a:rPr lang="sr-Latn-CS" altLang="sr-Latn-RS" sz="2400" b="1"/>
              <a:t>join fetch</a:t>
            </a:r>
            <a:endParaRPr lang="en-US" altLang="sr-Latn-RS" sz="24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6D50-3DFD-C5F1-7FE4-DB7B4990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Fetch i granica sesije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31076-1F61-750C-D573-E49EE1503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833100" cy="4637112"/>
          </a:xfrm>
        </p:spPr>
        <p:txBody>
          <a:bodyPr>
            <a:normAutofit lnSpcReduction="10000"/>
          </a:bodyPr>
          <a:lstStyle/>
          <a:p>
            <a:r>
              <a:rPr lang="sr-Latn-RS"/>
              <a:t>Spring ima po defaultu uključenu ovu opciju:</a:t>
            </a:r>
          </a:p>
          <a:p>
            <a:pPr marL="0" indent="0">
              <a:buNone/>
            </a:pPr>
            <a:r>
              <a:rPr lang="en-US" b="1"/>
              <a:t>spring.jpa.open-in-view=</a:t>
            </a:r>
            <a:r>
              <a:rPr lang="sr-Latn-RS" b="1"/>
              <a:t>true</a:t>
            </a:r>
            <a:endParaRPr lang="en-US" b="1"/>
          </a:p>
          <a:p>
            <a:r>
              <a:rPr lang="sr-Latn-RS"/>
              <a:t>Ona omogućuje da sesija traje tokom celog ciklusa: </a:t>
            </a:r>
          </a:p>
          <a:p>
            <a:pPr marL="0" indent="0">
              <a:buNone/>
            </a:pPr>
            <a:r>
              <a:rPr lang="en-US" sz="2400">
                <a:solidFill>
                  <a:schemeClr val="accent4"/>
                </a:solidFill>
              </a:rPr>
              <a:t>http request </a:t>
            </a:r>
            <a:r>
              <a:rPr lang="sr-Latn-RS" sz="2400">
                <a:solidFill>
                  <a:schemeClr val="accent4"/>
                </a:solidFill>
                <a:sym typeface="Wingdings" panose="05000000000000000000" pitchFamily="2" charset="2"/>
              </a:rPr>
              <a:t></a:t>
            </a:r>
            <a:r>
              <a:rPr lang="en-US" sz="2400">
                <a:solidFill>
                  <a:schemeClr val="accent4"/>
                </a:solidFill>
              </a:rPr>
              <a:t> controller </a:t>
            </a:r>
            <a:r>
              <a:rPr lang="sr-Latn-RS" sz="2400">
                <a:solidFill>
                  <a:schemeClr val="accent4"/>
                </a:solidFill>
                <a:sym typeface="Wingdings" panose="05000000000000000000" pitchFamily="2" charset="2"/>
              </a:rPr>
              <a:t></a:t>
            </a:r>
            <a:r>
              <a:rPr lang="en-US" sz="2400">
                <a:solidFill>
                  <a:schemeClr val="accent4"/>
                </a:solidFill>
              </a:rPr>
              <a:t> service </a:t>
            </a:r>
            <a:r>
              <a:rPr lang="sr-Latn-RS" sz="2400">
                <a:solidFill>
                  <a:schemeClr val="accent4"/>
                </a:solidFill>
                <a:sym typeface="Wingdings" panose="05000000000000000000" pitchFamily="2" charset="2"/>
              </a:rPr>
              <a:t></a:t>
            </a:r>
            <a:r>
              <a:rPr lang="en-US" sz="2400">
                <a:solidFill>
                  <a:schemeClr val="accent4"/>
                </a:solidFill>
              </a:rPr>
              <a:t> repository </a:t>
            </a:r>
            <a:r>
              <a:rPr lang="sr-Latn-RS" sz="2400">
                <a:solidFill>
                  <a:schemeClr val="accent4"/>
                </a:solidFill>
                <a:sym typeface="Wingdings" panose="05000000000000000000" pitchFamily="2" charset="2"/>
              </a:rPr>
              <a:t></a:t>
            </a:r>
            <a:r>
              <a:rPr lang="en-US" sz="2400">
                <a:solidFill>
                  <a:schemeClr val="accent4"/>
                </a:solidFill>
              </a:rPr>
              <a:t> service </a:t>
            </a:r>
            <a:r>
              <a:rPr lang="sr-Latn-RS" sz="2400">
                <a:solidFill>
                  <a:schemeClr val="accent4"/>
                </a:solidFill>
                <a:sym typeface="Wingdings" panose="05000000000000000000" pitchFamily="2" charset="2"/>
              </a:rPr>
              <a:t></a:t>
            </a:r>
            <a:r>
              <a:rPr lang="en-US" sz="2400">
                <a:solidFill>
                  <a:schemeClr val="accent4"/>
                </a:solidFill>
              </a:rPr>
              <a:t> controller </a:t>
            </a:r>
            <a:r>
              <a:rPr lang="sr-Latn-RS" sz="2400">
                <a:solidFill>
                  <a:schemeClr val="accent4"/>
                </a:solidFill>
                <a:sym typeface="Wingdings" panose="05000000000000000000" pitchFamily="2" charset="2"/>
              </a:rPr>
              <a:t></a:t>
            </a:r>
            <a:r>
              <a:rPr lang="en-US" sz="2400">
                <a:solidFill>
                  <a:schemeClr val="accent4"/>
                </a:solidFill>
              </a:rPr>
              <a:t> JSON mapper </a:t>
            </a:r>
            <a:r>
              <a:rPr lang="sr-Latn-RS" sz="2400">
                <a:solidFill>
                  <a:schemeClr val="accent4"/>
                </a:solidFill>
                <a:sym typeface="Wingdings" panose="05000000000000000000" pitchFamily="2" charset="2"/>
              </a:rPr>
              <a:t></a:t>
            </a:r>
            <a:r>
              <a:rPr lang="en-US" sz="2400">
                <a:solidFill>
                  <a:schemeClr val="accent4"/>
                </a:solidFill>
              </a:rPr>
              <a:t> http response</a:t>
            </a:r>
            <a:endParaRPr lang="sr-Latn-RS" sz="2400">
              <a:solidFill>
                <a:schemeClr val="accent4"/>
              </a:solidFill>
            </a:endParaRPr>
          </a:p>
          <a:p>
            <a:r>
              <a:rPr lang="sr-Latn-RS"/>
              <a:t>Zato nam LAZY-fetched podaci bez problema prolaze skroz do frontenda</a:t>
            </a:r>
          </a:p>
          <a:p>
            <a:pPr lvl="1"/>
            <a:r>
              <a:rPr lang="sr-Latn-RS"/>
              <a:t>Opasnost od slanja skoro cele baze jednim upitom!</a:t>
            </a:r>
          </a:p>
          <a:p>
            <a:pPr lvl="2"/>
            <a:r>
              <a:rPr lang="sr-Latn-RS"/>
              <a:t>Rešenje: DTO</a:t>
            </a:r>
          </a:p>
          <a:p>
            <a:r>
              <a:rPr lang="sr-Latn-RS"/>
              <a:t>Ako ovo isključimo, puca nam kôd već u servisu, kada preuzima entitet od repozitorijuma!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0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06D3B08-5D3D-2C52-1746-ACEB242FA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072" y="333375"/>
            <a:ext cx="9404541" cy="1143000"/>
          </a:xfrm>
        </p:spPr>
        <p:txBody>
          <a:bodyPr/>
          <a:lstStyle/>
          <a:p>
            <a:pPr eaLnBrk="1" hangingPunct="1"/>
            <a:r>
              <a:rPr lang="en-US" altLang="sr-Latn-RS"/>
              <a:t>Bidirekciona veza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43AE35E-46D6-2071-BA60-6155AB3768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6072" y="1700215"/>
            <a:ext cx="11365992" cy="441712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Ako je veza u oba smera, tada moramo da kod klase </a:t>
            </a:r>
            <a:r>
              <a:rPr lang="en-US" altLang="sr-Latn-RS" sz="2400" b="1"/>
              <a:t>Person</a:t>
            </a:r>
            <a:r>
              <a:rPr lang="en-US" altLang="sr-Latn-RS" sz="2400"/>
              <a:t> naglasimo koji atribut u </a:t>
            </a:r>
            <a:r>
              <a:rPr lang="en-US" altLang="sr-Latn-RS" sz="2400" b="1"/>
              <a:t>BankAccount</a:t>
            </a:r>
            <a:r>
              <a:rPr lang="en-US" altLang="sr-Latn-RS" sz="2400"/>
              <a:t> klasi ukazuje na njega (</a:t>
            </a:r>
            <a:r>
              <a:rPr lang="en-US" altLang="sr-Latn-RS" sz="2400" b="1"/>
              <a:t>mappedBy</a:t>
            </a:r>
            <a:r>
              <a:rPr lang="en-US" altLang="sr-Latn-RS" sz="2400"/>
              <a:t> atribut anotacije) u drugom smeru.</a:t>
            </a:r>
            <a:endParaRPr lang="sr-Latn-RS" altLang="sr-Latn-RS" sz="2400"/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Primer: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@OneToMany(cascade={CascadeType.ALL},</a:t>
            </a:r>
            <a:r>
              <a:rPr lang="sr-Latn-RS" altLang="sr-Latn-RS" sz="1800" b="1"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</a:rPr>
              <a:t>fetch=FetchType.EAGER,</a:t>
            </a:r>
            <a:r>
              <a:rPr lang="sr-Latn-RS" altLang="sr-Latn-RS" sz="1800" b="1"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mappedBy</a:t>
            </a:r>
            <a:r>
              <a:rPr lang="en-US" altLang="sr-Latn-RS" sz="1800" b="1">
                <a:latin typeface="Courier New" panose="02070309020205020404" pitchFamily="49" charset="0"/>
              </a:rPr>
              <a:t>="</a:t>
            </a:r>
            <a:r>
              <a:rPr lang="en-U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holder</a:t>
            </a:r>
            <a:r>
              <a:rPr lang="en-US" altLang="sr-Latn-RS" sz="1800" b="1">
                <a:latin typeface="Courier New" panose="02070309020205020404" pitchFamily="49" charset="0"/>
              </a:rPr>
              <a:t>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private </a:t>
            </a:r>
            <a:r>
              <a:rPr lang="en-US" altLang="sr-Latn-RS" sz="1800" b="1">
                <a:latin typeface="Courier New" panose="02070309020205020404" pitchFamily="49" charset="0"/>
              </a:rPr>
              <a:t>Collection &lt;BankAccount&gt; </a:t>
            </a:r>
            <a:r>
              <a:rPr lang="sr-Latn-RS" altLang="sr-Latn-RS" sz="1800" b="1">
                <a:latin typeface="Courier New" panose="02070309020205020404" pitchFamily="49" charset="0"/>
              </a:rPr>
              <a:t>ac</a:t>
            </a:r>
            <a:r>
              <a:rPr lang="en-US" altLang="sr-Latn-RS" sz="1800" b="1">
                <a:latin typeface="Courier New" panose="02070309020205020404" pitchFamily="49" charset="0"/>
              </a:rPr>
              <a:t>counts</a:t>
            </a:r>
            <a:r>
              <a:rPr lang="sr-Latn-RS" altLang="sr-Latn-RS" sz="1800" b="1">
                <a:latin typeface="Courier New" panose="02070309020205020404" pitchFamily="49" charset="0"/>
              </a:rPr>
              <a:t>;</a:t>
            </a:r>
            <a:r>
              <a:rPr lang="en-US" altLang="sr-Latn-RS" sz="1800" b="1">
                <a:latin typeface="Courier New" panose="02070309020205020404" pitchFamily="49" charset="0"/>
              </a:rPr>
              <a:t> </a:t>
            </a: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18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/>
              <a:t>-----------------------------------------------------------------------------------------------------------------------------------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@ManyToOne(cascade={})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private</a:t>
            </a:r>
            <a:r>
              <a:rPr lang="en-US" altLang="sr-Latn-RS" sz="1800" b="1">
                <a:latin typeface="Courier New" panose="02070309020205020404" pitchFamily="49" charset="0"/>
              </a:rPr>
              <a:t> Person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h</a:t>
            </a:r>
            <a:r>
              <a:rPr lang="en-U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older</a:t>
            </a:r>
            <a:r>
              <a:rPr lang="en-US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8209841-FED7-2C91-725A-CD43921B1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333375"/>
            <a:ext cx="8785225" cy="1143000"/>
          </a:xfrm>
        </p:spPr>
        <p:txBody>
          <a:bodyPr/>
          <a:lstStyle/>
          <a:p>
            <a:pPr eaLnBrk="1" hangingPunct="1"/>
            <a:r>
              <a:rPr lang="en-US" altLang="sr-Latn-RS"/>
              <a:t>Person.java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95A8AE4-C628-E152-19F6-F7FCEF9BD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5389" y="1700214"/>
            <a:ext cx="9293226" cy="49688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@Table(name="persons")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public class Person implements java.io.Serializable {</a:t>
            </a: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@Id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private </a:t>
            </a:r>
            <a:r>
              <a:rPr lang="sr-Latn-CS" altLang="sr-Latn-RS" sz="1600" b="1">
                <a:latin typeface="Courier New" panose="02070309020205020404" pitchFamily="49" charset="0"/>
              </a:rPr>
              <a:t>Long</a:t>
            </a:r>
            <a:r>
              <a:rPr lang="en-US" altLang="sr-Latn-RS" sz="1600" b="1">
                <a:latin typeface="Courier New" panose="02070309020205020404" pitchFamily="49" charset="0"/>
              </a:rPr>
              <a:t>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private String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@OneToMany(cascade={CascadeType.ALL},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      fetch=FetchType.EAGER,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      mappedBy="</a:t>
            </a:r>
            <a:r>
              <a:rPr lang="en-U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holder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")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private Collection&lt;BankAccount&gt; accounts;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32BFF30-23AB-5272-9765-7A5A54B63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BankAccount.java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510E863-89AD-72B1-0389-A27F6FC56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773238"/>
            <a:ext cx="9650414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@Table(name="accounts")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class BankAccount implements java.io.Serializable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</a:rPr>
              <a:t> @Id</a:t>
            </a: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private </a:t>
            </a:r>
            <a:r>
              <a:rPr lang="sr-Latn-CS" altLang="sr-Latn-RS" sz="1800" b="1">
                <a:latin typeface="Courier New" panose="02070309020205020404" pitchFamily="49" charset="0"/>
              </a:rPr>
              <a:t>Long</a:t>
            </a:r>
            <a:r>
              <a:rPr lang="en-US" altLang="sr-Latn-RS" sz="1800" b="1">
                <a:latin typeface="Courier New" panose="02070309020205020404" pitchFamily="49" charset="0"/>
              </a:rPr>
              <a:t>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private String name;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@ManyToOne(cascade={})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private Person </a:t>
            </a:r>
            <a:r>
              <a:rPr lang="en-U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holder</a:t>
            </a:r>
            <a:r>
              <a:rPr lang="en-US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EDD5F9E-F4C9-25B9-6221-7F6EAB05E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Tabele – dvosmerna veza</a:t>
            </a:r>
            <a:endParaRPr lang="en-US" altLang="sr-Latn-RS"/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6ACD97C6-F3ED-E5FD-D4EA-DE95A6946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6" y="1773238"/>
            <a:ext cx="6164263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4">
            <a:extLst>
              <a:ext uri="{FF2B5EF4-FFF2-40B4-BE49-F238E27FC236}">
                <a16:creationId xmlns:a16="http://schemas.microsoft.com/office/drawing/2014/main" id="{9E302B5F-91C0-2769-F75C-C01C9CCE1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4365625"/>
            <a:ext cx="61531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D079A96-2522-5DCF-59C2-D35CFA5AF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PersonServiceImpl.java</a:t>
            </a:r>
            <a:endParaRPr lang="en-US" altLang="sr-Latn-R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7E2AB1F-D53D-4EBC-CAEA-341D8B6B26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10679883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public PersonDto createPersonAndAccount(String personName, int age, String accountName, double amount)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</a:t>
            </a:r>
            <a:endParaRPr lang="sr-Latn-R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2000" b="1">
                <a:latin typeface="Courier New" panose="02070309020205020404" pitchFamily="49" charset="0"/>
              </a:rPr>
              <a:t>	</a:t>
            </a:r>
            <a:r>
              <a:rPr lang="en-US" altLang="sr-Latn-RS" sz="2000" b="1">
                <a:latin typeface="Courier New" panose="02070309020205020404" pitchFamily="49" charset="0"/>
              </a:rPr>
              <a:t>Person p = new Person(personName, age);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BankAccount acc = new BankAccount(accountName, p, amount);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Collection&lt;BankAccount&gt; accounts = new ArrayList&lt;BankAccount&gt;();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accounts.add(acc);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p.setBankAccounts(accounts);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	return new PersonDto(allPersons.save(p));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E631FE46-83A8-3CA0-640D-6F2BC7FFB02D}"/>
              </a:ext>
            </a:extLst>
          </p:cNvPr>
          <p:cNvSpPr/>
          <p:nvPr/>
        </p:nvSpPr>
        <p:spPr>
          <a:xfrm>
            <a:off x="5283489" y="5773864"/>
            <a:ext cx="1728192" cy="612648"/>
          </a:xfrm>
          <a:prstGeom prst="wedgeRoundRectCallout">
            <a:avLst>
              <a:gd name="adj1" fmla="val -132174"/>
              <a:gd name="adj2" fmla="val -947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bg1"/>
                </a:solidFill>
              </a:rPr>
              <a:t>Novo!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15FC26C-3F05-28B9-3B1E-DA853D2F2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0393" y="274638"/>
            <a:ext cx="9400408" cy="706090"/>
          </a:xfrm>
        </p:spPr>
        <p:txBody>
          <a:bodyPr/>
          <a:lstStyle/>
          <a:p>
            <a:pPr eaLnBrk="1" hangingPunct="1"/>
            <a:r>
              <a:rPr lang="sr-Latn-CS" altLang="sr-Latn-RS"/>
              <a:t>PersonServiceImpl.java</a:t>
            </a:r>
            <a:endParaRPr lang="en-US" altLang="sr-Latn-RS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CE81835-F8BF-CF9F-1EA7-C8BE02735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0392" y="1266056"/>
            <a:ext cx="10920797" cy="497125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BankAccountDto addAccount(Long personId, String accountName, double amount)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Optional &lt;Person&gt; persons = allPersons.findById(personId);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if (persons.isEmpty())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</a:t>
            </a:r>
            <a:r>
              <a:rPr lang="en-U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ne postoji osoba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String value = bundle.getString("Person.notFound");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	throw new ResponseStatusException(HttpStatus.NOT_FOUND, value);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Person p = persons.get();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BankAccount acc = new BankAccount(accountName, p, amount);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p.getBankAccounts().add(acc);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</a:t>
            </a:r>
            <a:r>
              <a:rPr lang="en-U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snimimo izmenu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allPersons.save(p);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	return new BankAccountDto(acc);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F47F7623-A81C-A94B-D5DD-E12645B23A21}"/>
              </a:ext>
            </a:extLst>
          </p:cNvPr>
          <p:cNvSpPr/>
          <p:nvPr/>
        </p:nvSpPr>
        <p:spPr>
          <a:xfrm>
            <a:off x="6418354" y="5860256"/>
            <a:ext cx="1728192" cy="612648"/>
          </a:xfrm>
          <a:prstGeom prst="wedgeRoundRectCallout">
            <a:avLst>
              <a:gd name="adj1" fmla="val -113155"/>
              <a:gd name="adj2" fmla="val -10495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bg1"/>
                </a:solidFill>
              </a:rPr>
              <a:t>Novo!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2A901-09EC-BB55-FD0A-F8D1E24C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DTO – Data Transfer Object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98B30-3018-EA01-3131-69A3E395D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Obično se entitet ne sprovodi direktno do klijenta</a:t>
            </a:r>
          </a:p>
          <a:p>
            <a:pPr lvl="1"/>
            <a:r>
              <a:rPr lang="sr-Latn-RS"/>
              <a:t>Od/do klijenta ide entitetov DTO</a:t>
            </a:r>
          </a:p>
          <a:p>
            <a:r>
              <a:rPr lang="sr-Latn-RS"/>
              <a:t>Na serveru se radi konverzija: </a:t>
            </a:r>
            <a:br>
              <a:rPr lang="sr-Latn-RS"/>
            </a:br>
            <a:r>
              <a:rPr lang="sr-Latn-RS"/>
              <a:t>Entitet </a:t>
            </a:r>
            <a:r>
              <a:rPr lang="sr-Latn-RS">
                <a:sym typeface="Wingdings" panose="05000000000000000000" pitchFamily="2" charset="2"/>
              </a:rPr>
              <a:t>DTO</a:t>
            </a:r>
          </a:p>
          <a:p>
            <a:r>
              <a:rPr lang="sr-Latn-RS">
                <a:sym typeface="Wingdings" panose="05000000000000000000" pitchFamily="2" charset="2"/>
              </a:rPr>
              <a:t>Razlog?</a:t>
            </a:r>
          </a:p>
          <a:p>
            <a:pPr lvl="1"/>
            <a:r>
              <a:rPr lang="sr-Latn-RS">
                <a:sym typeface="Wingdings" panose="05000000000000000000" pitchFamily="2" charset="2"/>
              </a:rPr>
              <a:t>Najčešće nisu potrebni svi podaci iz entiteta da stignu do klijenta</a:t>
            </a:r>
          </a:p>
          <a:p>
            <a:pPr lvl="1"/>
            <a:r>
              <a:rPr lang="sr-Latn-RS">
                <a:sym typeface="Wingdings" panose="05000000000000000000" pitchFamily="2" charset="2"/>
              </a:rPr>
              <a:t>Ako su entiteti jako povezani, ovo može da dovede do slanja enormne količine podataka u vidu povezanih entiteta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4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17A7-77D4-A7E9-EE56-27F7945D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PersonDto.java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F3BD7-B290-A0D3-29FA-8FFB8EF8E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PersonDto implements Serializable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private Long id;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name;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private int age;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u ovom DTO-u nema BankAccount-a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450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5BDCD-6F1B-59B0-D465-09D6CA73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BankAccountDto.java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6A2EF-144C-DBB9-60E0-C9645D9AA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BankAccountDto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private Long id;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name;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private double amount;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ovde nema Person-a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32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885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9B3B-8C24-7139-802B-EA673FAE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Konverzije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F1B1-4A6C-ABF0-F490-F9B2625BA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PersonDto(Person p)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this.id = p.getId();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this.name = p.getName();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this.age = p.getAge();</a:t>
            </a: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BankAccountDto(BankAccount a)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this.id = a.getId();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this.name = a.getName();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this.amount = a.getAmount();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32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883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124-CA30-7CF7-8BFC-E530D8DB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1" y="116632"/>
            <a:ext cx="9004300" cy="706090"/>
          </a:xfrm>
        </p:spPr>
        <p:txBody>
          <a:bodyPr/>
          <a:lstStyle/>
          <a:p>
            <a:r>
              <a:rPr lang="en-US"/>
              <a:t>PersonServiceImpl</a:t>
            </a:r>
            <a:r>
              <a:rPr lang="sr-Latn-RS"/>
              <a:t>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11EA6-4766-6137-6A81-AB79C7798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33" y="908720"/>
            <a:ext cx="9050867" cy="5472608"/>
          </a:xfrm>
        </p:spPr>
        <p:txBody>
          <a:bodyPr>
            <a:normAutofit lnSpcReduction="10000"/>
          </a:bodyPr>
          <a:lstStyle/>
          <a:p>
            <a:r>
              <a:rPr lang="sr-Latn-RS"/>
              <a:t>Umesto ovoga:</a:t>
            </a:r>
          </a:p>
          <a:p>
            <a:pPr marL="0" indent="0">
              <a:buNone/>
            </a:pP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Collection&lt;PersonDto&gt; getAll() {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Collection&lt;Person&gt; persons = allPersons.findAll();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Collection&lt;PersonDto&gt; ret = new ArrayList&lt;PersonDto&gt;();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for(Person p : persons) {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ret.add(new PersonDto(p));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return ret;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sr-Latn-RS"/>
              <a:t>Ide ovo:</a:t>
            </a:r>
          </a:p>
          <a:p>
            <a:pPr marL="0" indent="0">
              <a:buNone/>
            </a:pP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Collection&lt;PersonDto&gt; getAll() {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return allPersons.findAllPersons();</a:t>
            </a: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D55A396-A70A-9070-DA44-315296BF1652}"/>
              </a:ext>
            </a:extLst>
          </p:cNvPr>
          <p:cNvSpPr/>
          <p:nvPr/>
        </p:nvSpPr>
        <p:spPr>
          <a:xfrm>
            <a:off x="7603893" y="5050780"/>
            <a:ext cx="2232248" cy="1008112"/>
          </a:xfrm>
          <a:prstGeom prst="wedgeRoundRectCallout">
            <a:avLst>
              <a:gd name="adj1" fmla="val -94567"/>
              <a:gd name="adj2" fmla="val 25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bg1"/>
                </a:solidFill>
              </a:rPr>
              <a:t>Konverzija na nivou PersonRepository!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2B43271-F1EB-0337-F2DD-BB4DD9214613}"/>
              </a:ext>
            </a:extLst>
          </p:cNvPr>
          <p:cNvSpPr/>
          <p:nvPr/>
        </p:nvSpPr>
        <p:spPr>
          <a:xfrm>
            <a:off x="6782626" y="3140968"/>
            <a:ext cx="2232248" cy="1008112"/>
          </a:xfrm>
          <a:prstGeom prst="wedgeRoundRectCallout">
            <a:avLst>
              <a:gd name="adj1" fmla="val -111635"/>
              <a:gd name="adj2" fmla="val -3455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bg1"/>
                </a:solidFill>
              </a:rPr>
              <a:t>Ručna konverzija!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88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1F68-4066-6E22-2978-668ADE84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PersonRepository</a:t>
            </a:r>
            <a:r>
              <a:rPr lang="sr-Latn-RS"/>
              <a:t>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235E3-EBA5-4AFF-3731-8970C78C6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7442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PersonRepository extends JpaRepository&lt;Person, Long&gt;{</a:t>
            </a:r>
          </a:p>
          <a:p>
            <a:pPr marL="0" indent="0">
              <a:buNone/>
            </a:pP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@Query("select new iss.spring.web.dtos.PersonDto(p) from Person p")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Collection&lt;PersonDto&gt; findAllPersons();</a:t>
            </a: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@Query("select new iss.spring.web.dtos.BankAccountDto(a) from   </a:t>
            </a:r>
            <a:br>
              <a:rPr 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BankAccount a where a.holder.id=:personId")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public Collection&lt;BankAccountDto&gt; findAllAccounts(Long personId);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4689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CC21747-32B3-C726-407D-7DAD9CF48597}"/>
              </a:ext>
            </a:extLst>
          </p:cNvPr>
          <p:cNvSpPr/>
          <p:nvPr/>
        </p:nvSpPr>
        <p:spPr>
          <a:xfrm>
            <a:off x="6618093" y="3717032"/>
            <a:ext cx="151216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0D8473FA-AA1B-2526-8B5A-686AC1D11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Dvosmerna veza i brisanje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6F28E81-3BC5-5D24-ABCC-BF7E0B9596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Ako je veza dvosmerna i leva strana ima kolekciju/listu objekata desne strane, prilikom brisanja desnog entiteta, potrebno je da se obri</a:t>
            </a:r>
            <a:r>
              <a:rPr lang="sr-Latn-CS" altLang="sr-Latn-RS"/>
              <a:t>še i iz kolekcije levog entiteta, pre brisanja.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2CAA8B-5A1B-B924-0FBC-3E9ABEAD728F}"/>
              </a:ext>
            </a:extLst>
          </p:cNvPr>
          <p:cNvSpPr/>
          <p:nvPr/>
        </p:nvSpPr>
        <p:spPr>
          <a:xfrm>
            <a:off x="2567608" y="3717032"/>
            <a:ext cx="151216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52E6AA-2FC2-C3B8-9CC0-7095FA0D791F}"/>
              </a:ext>
            </a:extLst>
          </p:cNvPr>
          <p:cNvSpPr/>
          <p:nvPr/>
        </p:nvSpPr>
        <p:spPr>
          <a:xfrm>
            <a:off x="3129046" y="4005064"/>
            <a:ext cx="95073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106E0-2630-0B07-E85D-9CD1CBFD7CC9}"/>
              </a:ext>
            </a:extLst>
          </p:cNvPr>
          <p:cNvSpPr/>
          <p:nvPr/>
        </p:nvSpPr>
        <p:spPr>
          <a:xfrm>
            <a:off x="3129046" y="4293096"/>
            <a:ext cx="95073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E8A8D-2E68-DC4F-482C-98798B845C13}"/>
              </a:ext>
            </a:extLst>
          </p:cNvPr>
          <p:cNvSpPr/>
          <p:nvPr/>
        </p:nvSpPr>
        <p:spPr>
          <a:xfrm>
            <a:off x="3129046" y="3717032"/>
            <a:ext cx="95073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CBD3C9-4BD3-E315-2A5F-42D071508960}"/>
              </a:ext>
            </a:extLst>
          </p:cNvPr>
          <p:cNvSpPr/>
          <p:nvPr/>
        </p:nvSpPr>
        <p:spPr>
          <a:xfrm>
            <a:off x="6618093" y="4763690"/>
            <a:ext cx="151216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8095531B-67F7-DEFC-1F0D-61C60F49E34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073215" y="3927780"/>
            <a:ext cx="2544878" cy="2213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DBD46AB8-257E-28BD-274E-A70C6B9502C7}"/>
              </a:ext>
            </a:extLst>
          </p:cNvPr>
          <p:cNvCxnSpPr>
            <a:cxnSpLocks/>
          </p:cNvCxnSpPr>
          <p:nvPr/>
        </p:nvCxnSpPr>
        <p:spPr>
          <a:xfrm rot="10800000">
            <a:off x="4295799" y="4591096"/>
            <a:ext cx="2322297" cy="1992270"/>
          </a:xfrm>
          <a:prstGeom prst="curvedConnector3">
            <a:avLst>
              <a:gd name="adj1" fmla="val 591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3B8C11C2-C035-919E-F0B4-8553C249980C}"/>
              </a:ext>
            </a:extLst>
          </p:cNvPr>
          <p:cNvCxnSpPr>
            <a:cxnSpLocks/>
          </p:cNvCxnSpPr>
          <p:nvPr/>
        </p:nvCxnSpPr>
        <p:spPr>
          <a:xfrm rot="10800000">
            <a:off x="4295800" y="4077156"/>
            <a:ext cx="2322294" cy="34998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1FFBAE67-3D01-5E47-2E30-347FB3D2F88F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079777" y="4149080"/>
            <a:ext cx="2538317" cy="1046658"/>
          </a:xfrm>
          <a:prstGeom prst="curvedConnector3">
            <a:avLst>
              <a:gd name="adj1" fmla="val 543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7" name="Rectangle 32776">
            <a:extLst>
              <a:ext uri="{FF2B5EF4-FFF2-40B4-BE49-F238E27FC236}">
                <a16:creationId xmlns:a16="http://schemas.microsoft.com/office/drawing/2014/main" id="{72B63D18-0E4A-28A1-A143-740D336D3875}"/>
              </a:ext>
            </a:extLst>
          </p:cNvPr>
          <p:cNvSpPr/>
          <p:nvPr/>
        </p:nvSpPr>
        <p:spPr>
          <a:xfrm>
            <a:off x="6618093" y="5818193"/>
            <a:ext cx="151216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778" name="Connector: Curved 32777">
            <a:extLst>
              <a:ext uri="{FF2B5EF4-FFF2-40B4-BE49-F238E27FC236}">
                <a16:creationId xmlns:a16="http://schemas.microsoft.com/office/drawing/2014/main" id="{7233549A-6719-8B22-C9DC-5FB2D3D667E1}"/>
              </a:ext>
            </a:extLst>
          </p:cNvPr>
          <p:cNvCxnSpPr>
            <a:cxnSpLocks/>
            <a:stCxn id="4" idx="3"/>
            <a:endCxn id="32777" idx="1"/>
          </p:cNvCxnSpPr>
          <p:nvPr/>
        </p:nvCxnSpPr>
        <p:spPr>
          <a:xfrm>
            <a:off x="4079777" y="4437113"/>
            <a:ext cx="2538317" cy="181312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90" name="Connector: Curved 32789">
            <a:extLst>
              <a:ext uri="{FF2B5EF4-FFF2-40B4-BE49-F238E27FC236}">
                <a16:creationId xmlns:a16="http://schemas.microsoft.com/office/drawing/2014/main" id="{718B24F9-96AA-64B4-2CE9-970FDD3BB75F}"/>
              </a:ext>
            </a:extLst>
          </p:cNvPr>
          <p:cNvCxnSpPr>
            <a:cxnSpLocks/>
          </p:cNvCxnSpPr>
          <p:nvPr/>
        </p:nvCxnSpPr>
        <p:spPr>
          <a:xfrm rot="10800000">
            <a:off x="4295800" y="4298456"/>
            <a:ext cx="2322292" cy="12083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42B41A2-47F3-FDC0-DDC1-DD1B60867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Many to many</a:t>
            </a:r>
            <a:endParaRPr lang="en-US" altLang="sr-Latn-R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876A7C1-CB1F-C32A-9CF2-510F5AABF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Kolekcija </a:t>
            </a:r>
            <a:r>
              <a:rPr lang="sr-Latn-CS" altLang="sr-Latn-RS"/>
              <a:t>koj</a:t>
            </a:r>
            <a:r>
              <a:rPr lang="en-US" altLang="sr-Latn-RS"/>
              <a:t>a</a:t>
            </a:r>
            <a:r>
              <a:rPr lang="sr-Latn-CS" altLang="sr-Latn-RS"/>
              <a:t> ukazuje na drug</a:t>
            </a:r>
            <a:r>
              <a:rPr lang="en-US" altLang="sr-Latn-RS"/>
              <a:t>e</a:t>
            </a:r>
            <a:r>
              <a:rPr lang="sr-Latn-CS" altLang="sr-Latn-RS"/>
              <a:t> enti</a:t>
            </a:r>
            <a:r>
              <a:rPr lang="en-US" altLang="sr-Latn-RS"/>
              <a:t>ty-je</a:t>
            </a:r>
            <a:r>
              <a:rPr lang="sr-Latn-CS" altLang="sr-Latn-RS"/>
              <a:t>, označava se anotacijom @</a:t>
            </a:r>
            <a:r>
              <a:rPr lang="sr-Latn-CS" altLang="sr-Latn-RS" b="1"/>
              <a:t>ManyT</a:t>
            </a:r>
            <a:r>
              <a:rPr lang="en-US" altLang="sr-Latn-RS" b="1"/>
              <a:t>oMany</a:t>
            </a:r>
            <a:endParaRPr lang="sr-Latn-CS" altLang="sr-Latn-RS" b="1"/>
          </a:p>
          <a:p>
            <a:pPr eaLnBrk="1" hangingPunct="1"/>
            <a:r>
              <a:rPr lang="sr-Latn-CS" altLang="sr-Latn-RS"/>
              <a:t>Sistem će automatski napraviti veznu tabelu</a:t>
            </a:r>
            <a:endParaRPr lang="en-US" altLang="sr-Latn-RS"/>
          </a:p>
          <a:p>
            <a:pPr eaLnBrk="1" hangingPunct="1"/>
            <a:r>
              <a:rPr lang="sr-Latn-CS" altLang="sr-Latn-RS"/>
              <a:t>Student</a:t>
            </a:r>
            <a:r>
              <a:rPr lang="en-US" altLang="sr-Latn-RS"/>
              <a:t> – </a:t>
            </a:r>
            <a:r>
              <a:rPr lang="sr-Latn-CS" altLang="sr-Latn-RS"/>
              <a:t>Course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671557B-8B64-60D2-BC8A-F1D45AD8D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Student.java</a:t>
            </a:r>
            <a:endParaRPr lang="en-US" altLang="sr-Latn-R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A3B44937-F336-BB71-6DD3-8EE5082D0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650413" cy="46164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@Table(name="students")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class Student implements java.io.Serializable {</a:t>
            </a: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@Id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</a:rPr>
              <a:t>private </a:t>
            </a:r>
            <a:r>
              <a:rPr lang="sr-Latn-RS" altLang="sr-Latn-RS" sz="1800" b="1">
                <a:latin typeface="Courier New" panose="02070309020205020404" pitchFamily="49" charset="0"/>
              </a:rPr>
              <a:t>Long</a:t>
            </a:r>
            <a:r>
              <a:rPr lang="en-US" altLang="sr-Latn-RS" sz="1800" b="1">
                <a:latin typeface="Courier New" panose="02070309020205020404" pitchFamily="49" charset="0"/>
              </a:rPr>
              <a:t>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private String name;</a:t>
            </a: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 @ManyToMany(cascade={}, fetch=FetchType.EAGER)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private Collection&lt;Course&gt;</a:t>
            </a:r>
            <a:r>
              <a:rPr lang="sr-Latn-RS" altLang="sr-Latn-RS" sz="1800" b="1"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rgbClr val="00B0F0"/>
                </a:solidFill>
                <a:latin typeface="Courier New" panose="02070309020205020404" pitchFamily="49" charset="0"/>
              </a:rPr>
              <a:t>courses</a:t>
            </a:r>
            <a:r>
              <a:rPr lang="en-US" altLang="sr-Latn-RS" sz="1800" b="1">
                <a:latin typeface="Courier New" panose="02070309020205020404" pitchFamily="49" charset="0"/>
              </a:rPr>
              <a:t> = new ArrayList&lt;Course&gt;();</a:t>
            </a: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ED702B4-384F-D2A5-44CC-E5B8E7832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3800" y="333375"/>
            <a:ext cx="8786813" cy="863600"/>
          </a:xfrm>
        </p:spPr>
        <p:txBody>
          <a:bodyPr/>
          <a:lstStyle/>
          <a:p>
            <a:pPr eaLnBrk="1" hangingPunct="1"/>
            <a:r>
              <a:rPr lang="en-US" altLang="sr-Latn-RS"/>
              <a:t>Course.java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F507665-3941-74C8-4DBF-3768CBE9A7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3800" y="1557338"/>
            <a:ext cx="9795933" cy="51117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@Table(name="courses")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class Course implements java.io.Serializable {</a:t>
            </a: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@Id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private </a:t>
            </a:r>
            <a:r>
              <a:rPr lang="sr-Latn-RS" altLang="sr-Latn-RS" sz="1800" b="1">
                <a:latin typeface="Courier New" panose="02070309020205020404" pitchFamily="49" charset="0"/>
              </a:rPr>
              <a:t>Long</a:t>
            </a:r>
            <a:r>
              <a:rPr lang="en-US" altLang="sr-Latn-RS" sz="1800" b="1">
                <a:latin typeface="Courier New" panose="02070309020205020404" pitchFamily="49" charset="0"/>
              </a:rPr>
              <a:t>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private String name;</a:t>
            </a:r>
          </a:p>
          <a:p>
            <a:pPr eaLnBrk="1" hangingPunct="1">
              <a:lnSpc>
                <a:spcPct val="80000"/>
              </a:lnSpc>
              <a:buNone/>
            </a:pP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@ManyToMany(cascade={}, fetch=FetchType.EAGER, mappedBy="</a:t>
            </a:r>
            <a:r>
              <a:rPr lang="en-US" altLang="sr-Latn-RS" sz="1800" b="1">
                <a:solidFill>
                  <a:srgbClr val="00B0F0"/>
                </a:solidFill>
                <a:latin typeface="Courier New" panose="02070309020205020404" pitchFamily="49" charset="0"/>
              </a:rPr>
              <a:t>courses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private </a:t>
            </a:r>
            <a:r>
              <a:rPr lang="en-US" altLang="sr-Latn-RS" sz="1800" b="1">
                <a:latin typeface="Courier New" panose="02070309020205020404" pitchFamily="49" charset="0"/>
              </a:rPr>
              <a:t>Collection &lt;Student&gt; </a:t>
            </a:r>
            <a:r>
              <a:rPr lang="sr-Latn-RS" altLang="sr-Latn-RS" sz="1800" b="1">
                <a:latin typeface="Courier New" panose="02070309020205020404" pitchFamily="49" charset="0"/>
              </a:rPr>
              <a:t>s</a:t>
            </a:r>
            <a:r>
              <a:rPr lang="en-US" altLang="sr-Latn-RS" sz="1800" b="1">
                <a:latin typeface="Courier New" panose="02070309020205020404" pitchFamily="49" charset="0"/>
              </a:rPr>
              <a:t>tudents</a:t>
            </a:r>
            <a:r>
              <a:rPr lang="sr-Latn-RS" altLang="sr-Latn-RS" sz="1800" b="1">
                <a:latin typeface="Courier New" panose="02070309020205020404" pitchFamily="49" charset="0"/>
              </a:rPr>
              <a:t>;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0F61005-A3EC-0B56-AAAF-6D7516FCA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188913"/>
            <a:ext cx="7772400" cy="658812"/>
          </a:xfrm>
        </p:spPr>
        <p:txBody>
          <a:bodyPr/>
          <a:lstStyle/>
          <a:p>
            <a:pPr eaLnBrk="1" hangingPunct="1"/>
            <a:r>
              <a:rPr lang="sr-Latn-CS" altLang="sr-Latn-RS" sz="4000"/>
              <a:t>Tabele</a:t>
            </a:r>
            <a:endParaRPr lang="en-US" altLang="sr-Latn-RS" sz="4000"/>
          </a:p>
        </p:txBody>
      </p:sp>
      <p:pic>
        <p:nvPicPr>
          <p:cNvPr id="36867" name="Picture 3">
            <a:extLst>
              <a:ext uri="{FF2B5EF4-FFF2-40B4-BE49-F238E27FC236}">
                <a16:creationId xmlns:a16="http://schemas.microsoft.com/office/drawing/2014/main" id="{245E8F5B-61BC-9A0F-43EB-2E93F3EC6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908050"/>
            <a:ext cx="61531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4">
            <a:extLst>
              <a:ext uri="{FF2B5EF4-FFF2-40B4-BE49-F238E27FC236}">
                <a16:creationId xmlns:a16="http://schemas.microsoft.com/office/drawing/2014/main" id="{3807A6FE-0A11-E9A2-994A-83136E97A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6" y="2852738"/>
            <a:ext cx="6164263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5">
            <a:extLst>
              <a:ext uri="{FF2B5EF4-FFF2-40B4-BE49-F238E27FC236}">
                <a16:creationId xmlns:a16="http://schemas.microsoft.com/office/drawing/2014/main" id="{4353D6F1-6591-B3FF-553A-415B78848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5013325"/>
            <a:ext cx="617220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BB2A994-CA1C-B135-081A-F4C946DBAD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StudentCourseServiceImpl.java</a:t>
            </a:r>
            <a:endParaRPr lang="en-US" altLang="sr-Latn-R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9CF7AAD-579D-7B60-BB8A-9AA9D7D7C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00808"/>
            <a:ext cx="10354733" cy="439219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public StudentDto createStudent(String studentName)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		return new StudentDto(</a:t>
            </a:r>
            <a:br>
              <a:rPr lang="sr-Latn-RS" altLang="sr-Latn-RS" sz="2400" b="1">
                <a:latin typeface="Courier New" panose="02070309020205020404" pitchFamily="49" charset="0"/>
              </a:rPr>
            </a:br>
            <a:r>
              <a:rPr lang="sr-Latn-RS" altLang="sr-Latn-RS" sz="2400" b="1">
                <a:latin typeface="Courier New" panose="02070309020205020404" pitchFamily="49" charset="0"/>
              </a:rPr>
              <a:t>		</a:t>
            </a:r>
            <a:r>
              <a:rPr lang="en-US" altLang="sr-Latn-RS" sz="2400" b="1">
                <a:latin typeface="Courier New" panose="02070309020205020404" pitchFamily="49" charset="0"/>
              </a:rPr>
              <a:t>allStudents.save(</a:t>
            </a:r>
            <a:br>
              <a:rPr lang="sr-Latn-RS" altLang="sr-Latn-RS" sz="2400" b="1">
                <a:latin typeface="Courier New" panose="02070309020205020404" pitchFamily="49" charset="0"/>
              </a:rPr>
            </a:br>
            <a:r>
              <a:rPr lang="sr-Latn-RS" altLang="sr-Latn-RS" sz="2400" b="1">
                <a:latin typeface="Courier New" panose="02070309020205020404" pitchFamily="49" charset="0"/>
              </a:rPr>
              <a:t>			</a:t>
            </a:r>
            <a:r>
              <a:rPr lang="en-US" altLang="sr-Latn-RS" sz="2400" b="1">
                <a:latin typeface="Courier New" panose="02070309020205020404" pitchFamily="49" charset="0"/>
              </a:rPr>
              <a:t>new Student(studentName)));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public CourseDto createCourse(String courseName)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		return new CourseDto(</a:t>
            </a:r>
            <a:br>
              <a:rPr lang="sr-Latn-RS" altLang="sr-Latn-RS" sz="2400" b="1">
                <a:latin typeface="Courier New" panose="02070309020205020404" pitchFamily="49" charset="0"/>
              </a:rPr>
            </a:br>
            <a:r>
              <a:rPr lang="sr-Latn-RS" altLang="sr-Latn-RS" sz="2400" b="1">
                <a:latin typeface="Courier New" panose="02070309020205020404" pitchFamily="49" charset="0"/>
              </a:rPr>
              <a:t>		</a:t>
            </a:r>
            <a:r>
              <a:rPr lang="en-US" altLang="sr-Latn-RS" sz="2400" b="1">
                <a:latin typeface="Courier New" panose="02070309020205020404" pitchFamily="49" charset="0"/>
              </a:rPr>
              <a:t>allCourses.save(</a:t>
            </a:r>
            <a:br>
              <a:rPr lang="sr-Latn-RS" altLang="sr-Latn-RS" sz="2400" b="1">
                <a:latin typeface="Courier New" panose="02070309020205020404" pitchFamily="49" charset="0"/>
              </a:rPr>
            </a:br>
            <a:r>
              <a:rPr lang="sr-Latn-RS" altLang="sr-Latn-RS" sz="2400" b="1">
                <a:latin typeface="Courier New" panose="02070309020205020404" pitchFamily="49" charset="0"/>
              </a:rPr>
              <a:t>			</a:t>
            </a:r>
            <a:r>
              <a:rPr lang="en-US" altLang="sr-Latn-RS" sz="2400" b="1">
                <a:latin typeface="Courier New" panose="02070309020205020404" pitchFamily="49" charset="0"/>
              </a:rPr>
              <a:t>new Course(courseName)));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41FAB0D-86FD-B46D-AA21-1A5ECD21C0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400" y="188913"/>
            <a:ext cx="8812213" cy="6270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CS" altLang="sr-Latn-RS" sz="4000"/>
              <a:t>StudentCourseServiceImpl.java</a:t>
            </a:r>
            <a:endParaRPr lang="en-US" altLang="sr-Latn-RS" sz="400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39ED346-0A95-B60F-2DE6-4EB9D986A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8400" y="908050"/>
            <a:ext cx="9499600" cy="5545138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public void linkStudentAndCourse(StudentDto student, CourseDto course)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Optional &lt;Student&gt; students = allStudents.findById(student.getId());</a:t>
            </a:r>
          </a:p>
          <a:p>
            <a:pPr>
              <a:lnSpc>
                <a:spcPct val="80000"/>
              </a:lnSpc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if (students.isEmpty()) {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ne postoji student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	String value = bundle.getString("StudentCourse.notFound");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	throw new ResponseStatusException(HttpStatus.NOT_FOUND, value);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Optional &lt;Course&gt; courses = allCourses.findById(course.getId());</a:t>
            </a:r>
          </a:p>
          <a:p>
            <a:pPr>
              <a:lnSpc>
                <a:spcPct val="80000"/>
              </a:lnSpc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if (courses.isEmpty()) {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ne postoji </a:t>
            </a:r>
            <a:r>
              <a:rPr lang="sr-Latn-R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kurs</a:t>
            </a:r>
            <a:endParaRPr lang="en-US" altLang="sr-Latn-RS" sz="14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400" b="1">
                <a:latin typeface="Courier New" panose="02070309020205020404" pitchFamily="49" charset="0"/>
              </a:rPr>
              <a:t>	</a:t>
            </a:r>
            <a:r>
              <a:rPr lang="en-US" altLang="sr-Latn-RS" sz="1400" b="1">
                <a:latin typeface="Courier New" panose="02070309020205020404" pitchFamily="49" charset="0"/>
              </a:rPr>
              <a:t>	String value = bundle.getString("CourseStudent.notFound");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	throw new ResponseStatusException(HttpStatus.NOT_FOUND, value);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Student s = students.get();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Course c = courses.get();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	s.getCourses().add(c);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	c.getStudents().add(s);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allStudents.save(s);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allCourses.save(c);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9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9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9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2A0FAAC-E894-9354-F426-0B4D547B0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1100" y="115888"/>
            <a:ext cx="88011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CS" altLang="sr-Latn-RS" sz="4000"/>
              <a:t>StudentCourseServiceImpl.java</a:t>
            </a:r>
            <a:endParaRPr lang="en-US" altLang="sr-Latn-RS" sz="4000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08F83F6-B097-E909-51C3-E34844A7D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1101" y="908050"/>
            <a:ext cx="9307514" cy="518524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public void deleteAll() 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	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ovo će obrisati sve studente, kao i sve redove u veznoj tabeli</a:t>
            </a:r>
            <a:b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student-course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allStudents.deleteAll(); </a:t>
            </a: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	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//allCourses.deleteAll(); ovo će ipak ostaviti sve kurseve u bazi,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	// jer ova metoda zapravo pokušava da obriše svaki pojedinačan kurs,</a:t>
            </a:r>
            <a:b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a 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veza sa studentima je dvosmerna,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	// pa kurs ima i dalje studenata u kolekciji (Course.students), </a:t>
            </a:r>
            <a:b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koji, iako su obrisani, čine da brisanje kursa ne uspe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	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ovo briše sve kurseve, jer zapravo radi nad bazom ovaj SQL:</a:t>
            </a:r>
            <a:b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delete from Cours</a:t>
            </a:r>
            <a: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allCourses.deleteAllInBatch();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	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sinhronizovati keš i bazu; </a:t>
            </a:r>
            <a:b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</a:br>
            <a: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svakako bi se dogo</a:t>
            </a:r>
            <a: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d</a:t>
            </a:r>
            <a:r>
              <a:rPr lang="en-U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ilo po izlasku iz metod</a:t>
            </a:r>
            <a:r>
              <a:rPr lang="sr-Latn-RS" alt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e</a:t>
            </a:r>
            <a:endParaRPr lang="en-US" altLang="sr-Latn-R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	allCourses.flush();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63A2956D-9BAF-0A0F-9E78-7FCC3D4756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13342"/>
          </a:xfrm>
        </p:spPr>
        <p:txBody>
          <a:bodyPr/>
          <a:lstStyle/>
          <a:p>
            <a:r>
              <a:rPr lang="sr-Latn-RS" altLang="sr-Latn-RS"/>
              <a:t>Nasleđivanje i relacije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5BE93-6383-DD69-32A2-A6305BB9C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8232"/>
            <a:ext cx="10790767" cy="514085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sr-Latn-RS" sz="2400"/>
              <a:t>Ako relacija obuhvata roditeljsku klasu, a ne klasu naslednicu, potrebno je da se u roditeljsku klasu umesto @</a:t>
            </a:r>
            <a:r>
              <a:rPr lang="sr-Latn-RS" sz="2400" b="1"/>
              <a:t>Entity</a:t>
            </a:r>
            <a:r>
              <a:rPr lang="sr-Latn-RS" sz="2400"/>
              <a:t> anotacije stavi @</a:t>
            </a:r>
            <a:r>
              <a:rPr lang="sr-Latn-RS" sz="2400" b="1"/>
              <a:t>MappedSuperclass</a:t>
            </a:r>
          </a:p>
          <a:p>
            <a:pPr>
              <a:defRPr/>
            </a:pPr>
            <a:r>
              <a:rPr lang="sr-Latn-RS" sz="2400"/>
              <a:t>Primer:</a:t>
            </a:r>
          </a:p>
          <a:p>
            <a:pPr marL="0" indent="0">
              <a:buNone/>
              <a:defRPr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@Inheritance(strategy = InheritanceType.JOINED)</a:t>
            </a:r>
            <a:b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@MappedSuperclass</a:t>
            </a:r>
            <a:b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Vozilo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@Entity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Avion extends </a:t>
            </a:r>
            <a:r>
              <a:rPr 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Vozilo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{}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@Entity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Vozac {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@OneToOne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Vozilo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parentEntity;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10F7F0C8-5079-DDFD-4E56-730CC300D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Rekurzivne relacije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EA1A2EA0-FAC2-73C3-A846-A86026F4FA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Veoma spora implementacija</a:t>
            </a:r>
          </a:p>
          <a:p>
            <a:r>
              <a:rPr lang="sr-Latn-RS" altLang="en-US"/>
              <a:t>Realizuje se kao rekurzivna metoda u session bean-u</a:t>
            </a:r>
          </a:p>
          <a:p>
            <a:r>
              <a:rPr lang="sr-Latn-RS" altLang="en-US"/>
              <a:t>Primer iz prakse:</a:t>
            </a:r>
          </a:p>
          <a:p>
            <a:pPr lvl="1"/>
            <a:r>
              <a:rPr lang="sr-Latn-RS" altLang="en-US"/>
              <a:t>rekurzivan obilazak 2000 čvorova (dubina stabla je 2000) traje oko 30 sekundi</a:t>
            </a:r>
          </a:p>
          <a:p>
            <a:pPr lvl="1"/>
            <a:r>
              <a:rPr lang="sr-Latn-RS" altLang="en-US"/>
              <a:t>rekurzivni SQL upit istog broja čvorova traje 150 milisekundi, na istoj mašini</a:t>
            </a:r>
          </a:p>
          <a:p>
            <a:r>
              <a:rPr lang="sr-Latn-RS" altLang="en-US"/>
              <a:t>Problem sa rekurzivnim SQL upitima je što nisu portabilni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2537</Words>
  <Application>Microsoft Office PowerPoint</Application>
  <PresentationFormat>Widescreen</PresentationFormat>
  <Paragraphs>417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Aptos Display</vt:lpstr>
      <vt:lpstr>Arial</vt:lpstr>
      <vt:lpstr>Courier New</vt:lpstr>
      <vt:lpstr>Tahoma</vt:lpstr>
      <vt:lpstr>Wingdings</vt:lpstr>
      <vt:lpstr>Office Theme</vt:lpstr>
      <vt:lpstr>Inženjerstvo Serverskog Sloja prof. dr Milan Vidaković</vt:lpstr>
      <vt:lpstr>Relacije</vt:lpstr>
      <vt:lpstr>Referencijalni integritet</vt:lpstr>
      <vt:lpstr>OneToOne</vt:lpstr>
      <vt:lpstr>Worker.java</vt:lpstr>
      <vt:lpstr>InsurancePolicy.java</vt:lpstr>
      <vt:lpstr>Tabele</vt:lpstr>
      <vt:lpstr>WorkerServiceImpl.java</vt:lpstr>
      <vt:lpstr>WorkerRepository.java</vt:lpstr>
      <vt:lpstr>Many to one</vt:lpstr>
      <vt:lpstr>Worker.java</vt:lpstr>
      <vt:lpstr>WorkingPlace.java</vt:lpstr>
      <vt:lpstr>Tabele</vt:lpstr>
      <vt:lpstr>Worker2ServiceImpl.java</vt:lpstr>
      <vt:lpstr>Worker2ServiceImpl.java</vt:lpstr>
      <vt:lpstr>Worker2Repository.java</vt:lpstr>
      <vt:lpstr>One to many</vt:lpstr>
      <vt:lpstr>Person.java</vt:lpstr>
      <vt:lpstr>BankAccount.java</vt:lpstr>
      <vt:lpstr>Tabele – jednosmerna veza</vt:lpstr>
      <vt:lpstr>Čime je veza ograničena na one to many?</vt:lpstr>
      <vt:lpstr>Fetch</vt:lpstr>
      <vt:lpstr>Fetch i granica sesije</vt:lpstr>
      <vt:lpstr>Bidirekciona veza</vt:lpstr>
      <vt:lpstr>Person.java</vt:lpstr>
      <vt:lpstr>BankAccount.java</vt:lpstr>
      <vt:lpstr>Tabele – dvosmerna veza</vt:lpstr>
      <vt:lpstr>PersonServiceImpl.java</vt:lpstr>
      <vt:lpstr>PersonServiceImpl.java</vt:lpstr>
      <vt:lpstr>DTO – Data Transfer Object</vt:lpstr>
      <vt:lpstr>PersonDto.java</vt:lpstr>
      <vt:lpstr>BankAccountDto.java</vt:lpstr>
      <vt:lpstr>Konverzije</vt:lpstr>
      <vt:lpstr>PersonServiceImpl.java</vt:lpstr>
      <vt:lpstr>PersonRepository.java</vt:lpstr>
      <vt:lpstr>Dvosmerna veza i brisanje</vt:lpstr>
      <vt:lpstr>Many to many</vt:lpstr>
      <vt:lpstr>Student.java</vt:lpstr>
      <vt:lpstr>Course.java</vt:lpstr>
      <vt:lpstr>Tabele</vt:lpstr>
      <vt:lpstr>StudentCourseServiceImpl.java</vt:lpstr>
      <vt:lpstr>StudentCourseServiceImpl.java</vt:lpstr>
      <vt:lpstr>StudentCourseServiceImpl.java</vt:lpstr>
      <vt:lpstr>Nasleđivanje i relacije</vt:lpstr>
      <vt:lpstr>Rekurzivne relacije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221</cp:revision>
  <dcterms:created xsi:type="dcterms:W3CDTF">2024-06-23T14:59:21Z</dcterms:created>
  <dcterms:modified xsi:type="dcterms:W3CDTF">2024-11-19T10:52:12Z</dcterms:modified>
</cp:coreProperties>
</file>