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3" r:id="rId26"/>
    <p:sldId id="284" r:id="rId27"/>
    <p:sldId id="285" r:id="rId28"/>
    <p:sldId id="287" r:id="rId29"/>
    <p:sldId id="288" r:id="rId30"/>
    <p:sldId id="290" r:id="rId31"/>
    <p:sldId id="289" r:id="rId32"/>
    <p:sldId id="29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/32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r-Latn-RS" altLang="sr-Latn-RS">
                <a:solidFill>
                  <a:schemeClr val="bg1">
                    <a:lumMod val="50000"/>
                  </a:schemeClr>
                </a:solidFill>
              </a:rPr>
              <a:t>Java Persistence</a:t>
            </a:r>
            <a:r>
              <a:rPr lang="en-US" altLang="sr-Latn-RS">
                <a:solidFill>
                  <a:schemeClr val="bg1">
                    <a:lumMod val="50000"/>
                  </a:schemeClr>
                </a:solidFill>
              </a:rPr>
              <a:t> Query Language </a:t>
            </a:r>
          </a:p>
        </p:txBody>
      </p:sp>
    </p:spTree>
    <p:extLst>
      <p:ext uri="{BB962C8B-B14F-4D97-AF65-F5344CB8AC3E}">
        <p14:creationId xmlns:p14="http://schemas.microsoft.com/office/powerpoint/2010/main" val="40917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6A99829-BF5C-AB40-F948-30CA75028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Java Persistence Query Language</a:t>
            </a:r>
            <a:endParaRPr lang="en-GB" altLang="sr-Latn-R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94DAA3D-D37B-4919-FA83-1B7397032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Sli</a:t>
            </a:r>
            <a:r>
              <a:rPr lang="sr-Latn-CS" altLang="sr-Latn-RS"/>
              <a:t>čan SQL-u</a:t>
            </a:r>
            <a:endParaRPr lang="en-US" altLang="sr-Latn-RS"/>
          </a:p>
          <a:p>
            <a:pPr eaLnBrk="1" hangingPunct="1"/>
            <a:r>
              <a:rPr lang="en-US" altLang="sr-Latn-RS"/>
              <a:t>Imena Klasa i atributa su </a:t>
            </a:r>
            <a:r>
              <a:rPr lang="en-US" altLang="sr-Latn-RS" i="1"/>
              <a:t>case</a:t>
            </a:r>
            <a:r>
              <a:rPr lang="en-US" altLang="sr-Latn-RS"/>
              <a:t> </a:t>
            </a:r>
            <a:r>
              <a:rPr lang="en-US" altLang="sr-Latn-RS" i="1"/>
              <a:t>sensitive</a:t>
            </a:r>
          </a:p>
          <a:p>
            <a:pPr eaLnBrk="1" hangingPunct="1"/>
            <a:r>
              <a:rPr lang="en-GB" altLang="sr-Latn-RS"/>
              <a:t>Vrste izraza:</a:t>
            </a:r>
          </a:p>
          <a:p>
            <a:pPr lvl="1" eaLnBrk="1" hangingPunct="1"/>
            <a:r>
              <a:rPr lang="en-GB" altLang="sr-Latn-RS"/>
              <a:t>upiti (select)</a:t>
            </a:r>
          </a:p>
          <a:p>
            <a:pPr lvl="1" eaLnBrk="1" hangingPunct="1"/>
            <a:r>
              <a:rPr lang="en-GB" altLang="sr-Latn-RS"/>
              <a:t>batch update</a:t>
            </a:r>
          </a:p>
          <a:p>
            <a:pPr lvl="1" eaLnBrk="1" hangingPunct="1"/>
            <a:r>
              <a:rPr lang="en-GB" altLang="sr-Latn-RS"/>
              <a:t>batch delete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C9BD-00E8-FED9-1469-67B17E89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Upiti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77275-9DC6-643D-4515-5494C970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0200"/>
            <a:ext cx="9973733" cy="4709120"/>
          </a:xfrm>
        </p:spPr>
        <p:txBody>
          <a:bodyPr/>
          <a:lstStyle/>
          <a:p>
            <a:r>
              <a:rPr lang="sr-Latn-RS"/>
              <a:t>Možemo da stavimo @Query anotaciju iznad metode interfejsa, čime će se izvršiti željeni upit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public interface PersonRepository extends JpaRepository&lt;Person, Long&gt;</a:t>
            </a:r>
            <a:r>
              <a:rPr lang="sr-Latn-RS" sz="1800">
                <a:latin typeface="Consolas" panose="020B0609020204030204" pitchFamily="49" charset="0"/>
              </a:rPr>
              <a:t> </a:t>
            </a:r>
            <a:r>
              <a:rPr lang="en-US" sz="18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  </a:t>
            </a:r>
            <a:r>
              <a:rPr lang="en-US" sz="1800">
                <a:solidFill>
                  <a:srgbClr val="FF0000"/>
                </a:solidFill>
                <a:latin typeface="Consolas" panose="020B0609020204030204" pitchFamily="49" charset="0"/>
              </a:rPr>
              <a:t>@Query("select new iss.spring.web.dtos.PersonDto(p) from Person p")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  public Collection&lt;PersonDto&gt; findAllPersons();</a:t>
            </a:r>
          </a:p>
          <a:p>
            <a:pPr marL="0" indent="0">
              <a:buNone/>
            </a:pPr>
            <a:endParaRPr lang="en-US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FF0000"/>
                </a:solidFill>
                <a:latin typeface="Consolas" panose="020B0609020204030204" pitchFamily="49" charset="0"/>
              </a:rPr>
              <a:t>  @Query("select new iss.spring.web.dtos.BankAccountDto(a) from   </a:t>
            </a:r>
            <a:br>
              <a:rPr 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800">
                <a:solidFill>
                  <a:srgbClr val="FF0000"/>
                </a:solidFill>
                <a:latin typeface="Consolas" panose="020B0609020204030204" pitchFamily="49" charset="0"/>
              </a:rPr>
              <a:t>          BankAccount a where a.holder.id=:personId")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  public Collection&lt;BankAccountDto&gt; findAllAccounts(Long personId);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246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E576515-CE9E-C6DA-AD2B-47EB16268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U</a:t>
            </a:r>
            <a:r>
              <a:rPr lang="en-US" altLang="sr-Latn-RS"/>
              <a:t>piti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46331C3-B912-8188-B8E4-F60FF0C3F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Kreira</a:t>
            </a:r>
            <a:r>
              <a:rPr lang="sr-Latn-RS" altLang="sr-Latn-RS"/>
              <a:t>ju</a:t>
            </a:r>
            <a:r>
              <a:rPr lang="en-US" altLang="sr-Latn-RS"/>
              <a:t> se metodom </a:t>
            </a:r>
            <a:r>
              <a:rPr lang="en-US" altLang="sr-Latn-RS" i="1"/>
              <a:t>createQuery</a:t>
            </a:r>
            <a:r>
              <a:rPr lang="sr-Latn-RS" altLang="sr-Latn-RS"/>
              <a:t>()</a:t>
            </a:r>
            <a:r>
              <a:rPr lang="en-US" altLang="sr-Latn-RS"/>
              <a:t> </a:t>
            </a:r>
            <a:r>
              <a:rPr lang="en-US" altLang="sr-Latn-RS" b="1"/>
              <a:t>EntityManager-a</a:t>
            </a:r>
            <a:endParaRPr lang="sr-Latn-RS" altLang="sr-Latn-RS" b="1"/>
          </a:p>
          <a:p>
            <a:pPr eaLnBrk="1" hangingPunct="1"/>
            <a:r>
              <a:rPr lang="sr-Latn-RS" altLang="sr-Latn-RS" b="1"/>
              <a:t>EntityManager</a:t>
            </a:r>
            <a:r>
              <a:rPr lang="sr-Latn-RS" altLang="sr-Latn-RS"/>
              <a:t> se injektuje anotacijom @</a:t>
            </a:r>
            <a:r>
              <a:rPr lang="sr-Latn-RS" altLang="sr-Latn-RS" b="1"/>
              <a:t>Autowired</a:t>
            </a:r>
            <a:r>
              <a:rPr lang="sr-Latn-RS" altLang="sr-Latn-RS"/>
              <a:t> u servis</a:t>
            </a:r>
            <a:endParaRPr lang="en-US" altLang="sr-Latn-RS" b="1"/>
          </a:p>
          <a:p>
            <a:pPr eaLnBrk="1" hangingPunct="1"/>
            <a:r>
              <a:rPr lang="en-US" altLang="sr-Latn-RS"/>
              <a:t>Rezultati upita se preuzimaju metodom </a:t>
            </a:r>
            <a:r>
              <a:rPr lang="en-US" altLang="sr-Latn-RS" i="1"/>
              <a:t>getResult</a:t>
            </a:r>
            <a:r>
              <a:rPr lang="sr-Latn-RS" altLang="sr-Latn-RS" i="1"/>
              <a:t>List</a:t>
            </a:r>
            <a:r>
              <a:rPr lang="sr-Latn-RS" altLang="sr-Latn-RS"/>
              <a:t>()</a:t>
            </a:r>
            <a:r>
              <a:rPr lang="en-US" altLang="sr-Latn-RS"/>
              <a:t> klase </a:t>
            </a:r>
            <a:r>
              <a:rPr lang="en-US" altLang="sr-Latn-RS" b="1"/>
              <a:t>Query</a:t>
            </a:r>
          </a:p>
          <a:p>
            <a:pPr lvl="1" eaLnBrk="1" hangingPunct="1"/>
            <a:r>
              <a:rPr lang="en-US" altLang="sr-Latn-RS"/>
              <a:t>vra</a:t>
            </a:r>
            <a:r>
              <a:rPr lang="sr-Latn-CS" altLang="sr-Latn-RS"/>
              <a:t>ća se kolekcija objekata</a:t>
            </a:r>
          </a:p>
          <a:p>
            <a:pPr lvl="1" eaLnBrk="1" hangingPunct="1"/>
            <a:r>
              <a:rPr lang="sr-Latn-CS" altLang="sr-Latn-RS"/>
              <a:t>ako se selektuju atributi klase, a ne čitava klasa, rezultat je kolekcija nizova objekata</a:t>
            </a:r>
          </a:p>
          <a:p>
            <a:pPr lvl="2" eaLnBrk="1" hangingPunct="1"/>
            <a:r>
              <a:rPr lang="sr-Latn-CS" altLang="sr-Latn-RS"/>
              <a:t>niz objekata reprezentuje jednu vrstu</a:t>
            </a:r>
          </a:p>
          <a:p>
            <a:pPr lvl="1" eaLnBrk="1" hangingPunct="1"/>
            <a:r>
              <a:rPr lang="sr-Latn-CS" altLang="sr-Latn-RS"/>
              <a:t>Može i </a:t>
            </a:r>
            <a:r>
              <a:rPr lang="sr-Latn-CS" altLang="sr-Latn-RS" i="1"/>
              <a:t>getSingleResult</a:t>
            </a:r>
            <a:r>
              <a:rPr lang="sr-Latn-CS" altLang="sr-Latn-RS"/>
              <a:t>()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9726970-D036-23FF-00A8-32FF8992B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Sintaksa</a:t>
            </a:r>
            <a:endParaRPr lang="en-US" altLang="sr-Latn-R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EEC7430-5F0B-991D-CB12-C4088F3BA5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505951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/>
              <a:t>select [distinct] [new] &lt;obeležj</a:t>
            </a:r>
            <a:r>
              <a:rPr lang="en-US" altLang="sr-Latn-RS"/>
              <a:t>(</a:t>
            </a:r>
            <a:r>
              <a:rPr lang="sr-Latn-CS" altLang="sr-Latn-RS"/>
              <a:t>e/a</a:t>
            </a:r>
            <a:r>
              <a:rPr lang="en-US" altLang="sr-Latn-RS"/>
              <a:t>)</a:t>
            </a:r>
            <a:r>
              <a:rPr lang="sr-Latn-CS" altLang="sr-Latn-RS"/>
              <a:t>&gt;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from &lt;lista klasa&gt;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[[left|inner] join [fetch] &lt;objekti za join&gt;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[where &lt;filter&gt;]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[group by &lt;grouping klauzula&gt;]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[having &lt;filter&gt;]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[order by &lt;ordering klauzula&gt;]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46339B0-41C9-C18F-BD82-136C6E9A4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Where klauzula</a:t>
            </a:r>
            <a:endParaRPr lang="en-US" altLang="sr-Latn-R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E8F7400-4AB8-F6D2-34C0-77C6F50AE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Postojanje:</a:t>
            </a:r>
          </a:p>
          <a:p>
            <a:pPr lvl="1" eaLnBrk="1" hangingPunct="1"/>
            <a:r>
              <a:rPr lang="sr-Latn-CS" altLang="sr-Latn-RS"/>
              <a:t>is [not] null</a:t>
            </a:r>
          </a:p>
          <a:p>
            <a:pPr lvl="1" eaLnBrk="1" hangingPunct="1"/>
            <a:r>
              <a:rPr lang="sr-Latn-CS" altLang="sr-Latn-RS"/>
              <a:t>[not] exists</a:t>
            </a:r>
          </a:p>
          <a:p>
            <a:pPr eaLnBrk="1" hangingPunct="1"/>
            <a:r>
              <a:rPr lang="sr-Latn-CS" altLang="sr-Latn-RS"/>
              <a:t>Kolekcije</a:t>
            </a:r>
          </a:p>
          <a:p>
            <a:pPr lvl="1" eaLnBrk="1" hangingPunct="1"/>
            <a:r>
              <a:rPr lang="sr-Latn-CS" altLang="sr-Latn-RS"/>
              <a:t>size (collection)</a:t>
            </a:r>
          </a:p>
          <a:p>
            <a:pPr lvl="1" eaLnBrk="1" hangingPunct="1"/>
            <a:r>
              <a:rPr lang="sr-Latn-CS" altLang="sr-Latn-RS"/>
              <a:t>member [of]</a:t>
            </a:r>
          </a:p>
          <a:p>
            <a:pPr lvl="1" eaLnBrk="1" hangingPunct="1"/>
            <a:r>
              <a:rPr lang="sr-Latn-CS" altLang="sr-Latn-RS"/>
              <a:t>[not] in</a:t>
            </a:r>
          </a:p>
          <a:p>
            <a:pPr lvl="1" eaLnBrk="1" hangingPunct="1"/>
            <a:r>
              <a:rPr lang="sr-Latn-CS" altLang="sr-Latn-RS"/>
              <a:t>is [not] empty</a:t>
            </a:r>
          </a:p>
          <a:p>
            <a:pPr lvl="1" eaLnBrk="1" hangingPunct="1"/>
            <a:r>
              <a:rPr lang="sr-Latn-CS" altLang="sr-Latn-RS"/>
              <a:t>all | any | some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647D8FB-99D2-3E93-EBD6-DA5AE755B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Where klauzula</a:t>
            </a:r>
            <a:endParaRPr lang="en-U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515CFCF-D3F0-9A77-3AA3-740BF22E4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Stringovi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[not] like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concat (string, string)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trim ([leading | trailing| both] &lt;char_to_trim&gt; [from] string)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lower(string)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upper(string)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length(string)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locate(string, string [, int_start_point])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substring(int_from, int_to)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13E6D9E-D625-3A2E-7399-0BAF9D917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Where klauzula</a:t>
            </a:r>
            <a:endParaRPr lang="en-US" altLang="sr-Latn-R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0EF3DFC-F7F0-9F22-1565-055F5623B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Math</a:t>
            </a:r>
          </a:p>
          <a:p>
            <a:pPr lvl="1" eaLnBrk="1" hangingPunct="1"/>
            <a:r>
              <a:rPr lang="sr-Latn-CS" altLang="sr-Latn-RS"/>
              <a:t>abs(broj)</a:t>
            </a:r>
          </a:p>
          <a:p>
            <a:pPr lvl="1" eaLnBrk="1" hangingPunct="1"/>
            <a:r>
              <a:rPr lang="sr-Latn-CS" altLang="sr-Latn-RS"/>
              <a:t>sqrt(broj)</a:t>
            </a:r>
          </a:p>
          <a:p>
            <a:pPr lvl="1" eaLnBrk="1" hangingPunct="1"/>
            <a:r>
              <a:rPr lang="sr-Latn-CS" altLang="sr-Latn-RS"/>
              <a:t>mod(broj, broj)</a:t>
            </a:r>
          </a:p>
          <a:p>
            <a:pPr lvl="1" eaLnBrk="1" hangingPunct="1"/>
            <a:r>
              <a:rPr lang="sr-Latn-CS" altLang="sr-Latn-RS"/>
              <a:t>count(broj)</a:t>
            </a:r>
          </a:p>
          <a:p>
            <a:pPr eaLnBrk="1" hangingPunct="1"/>
            <a:r>
              <a:rPr lang="sr-Latn-CS" altLang="sr-Latn-RS"/>
              <a:t>Date</a:t>
            </a:r>
          </a:p>
          <a:p>
            <a:pPr lvl="1" eaLnBrk="1" hangingPunct="1"/>
            <a:r>
              <a:rPr lang="sr-Latn-CS" altLang="sr-Latn-RS"/>
              <a:t>[not] between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F46A1CE-C95A-9100-E7DA-CE887049A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Where klauzula</a:t>
            </a:r>
            <a:endParaRPr lang="en-US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CF564FF-838D-6AC4-38A6-D5267765D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Džoker znaci za LIKE:</a:t>
            </a:r>
          </a:p>
          <a:p>
            <a:pPr lvl="1" eaLnBrk="1" hangingPunct="1"/>
            <a:r>
              <a:rPr lang="sr-Latn-CS" altLang="sr-Latn-RS"/>
              <a:t>donja crta (_) jedan karakter</a:t>
            </a:r>
          </a:p>
          <a:p>
            <a:pPr lvl="1" eaLnBrk="1" hangingPunct="1"/>
            <a:r>
              <a:rPr lang="sr-Latn-CS" altLang="sr-Latn-RS"/>
              <a:t>procenat (%) više karaktera</a:t>
            </a:r>
          </a:p>
          <a:p>
            <a:pPr eaLnBrk="1" hangingPunct="1"/>
            <a:r>
              <a:rPr lang="sr-Latn-CS" altLang="sr-Latn-RS"/>
              <a:t>Operatori:</a:t>
            </a:r>
          </a:p>
          <a:p>
            <a:pPr lvl="1" eaLnBrk="1" hangingPunct="1"/>
            <a:r>
              <a:rPr lang="sr-Latn-CS" altLang="sr-Latn-RS"/>
              <a:t>Aritmetički: + - * / </a:t>
            </a:r>
          </a:p>
          <a:p>
            <a:pPr lvl="1" eaLnBrk="1" hangingPunct="1"/>
            <a:r>
              <a:rPr lang="sr-Latn-CS" altLang="sr-Latn-RS"/>
              <a:t>Relacioni: =  &lt;&gt;  &lt;  &gt; &lt;= &gt;=</a:t>
            </a:r>
          </a:p>
          <a:p>
            <a:pPr lvl="1" eaLnBrk="1" hangingPunct="1"/>
            <a:r>
              <a:rPr lang="sr-Latn-CS" altLang="sr-Latn-RS"/>
              <a:t>Logički: AND, OR, NOT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1E2A440-4CC4-2E87-F92D-22CBFDA48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4767" y="333375"/>
            <a:ext cx="9095846" cy="1143000"/>
          </a:xfrm>
        </p:spPr>
        <p:txBody>
          <a:bodyPr/>
          <a:lstStyle/>
          <a:p>
            <a:pPr eaLnBrk="1" hangingPunct="1"/>
            <a:r>
              <a:rPr lang="sr-Latn-CS" altLang="sr-Latn-RS"/>
              <a:t>Jednostavni upiti</a:t>
            </a:r>
            <a:endParaRPr lang="en-US" altLang="sr-Latn-R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10B861B-3519-69BD-04BD-A01234E2D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4767" y="1557338"/>
            <a:ext cx="9532408" cy="51117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sr-Latn-C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&gt;&gt;Izlistamo sve osobe iz entiteta Person</a:t>
            </a:r>
          </a:p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Query q = em.createQuery(</a:t>
            </a:r>
            <a:r>
              <a:rPr lang="sr-Latn-CS" altLang="sr-Latn-RS" sz="2000" b="1">
                <a:latin typeface="Courier New" panose="02070309020205020404" pitchFamily="49" charset="0"/>
              </a:rPr>
              <a:t>"from Person"</a:t>
            </a:r>
            <a:r>
              <a:rPr lang="en-US" altLang="sr-Latn-RS" sz="20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List res = q.getResultList();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&gt;&gt;Izlistamo sve osobe iz entiteta Person</a:t>
            </a:r>
          </a:p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Query q = em.createQuery(</a:t>
            </a:r>
            <a:r>
              <a:rPr lang="sr-Latn-CS" altLang="sr-Latn-RS" sz="2000" b="1">
                <a:latin typeface="Courier New" panose="02070309020205020404" pitchFamily="49" charset="0"/>
              </a:rPr>
              <a:t>"</a:t>
            </a:r>
            <a:r>
              <a:rPr lang="en-US" altLang="sr-Latn-RS" sz="2000" b="1">
                <a:latin typeface="Courier New" panose="02070309020205020404" pitchFamily="49" charset="0"/>
              </a:rPr>
              <a:t>select p from Person p");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List res = q.getResultList();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&gt;&gt;Nađemo osobu čije ime počinje stringom 'Pe'"</a:t>
            </a:r>
          </a:p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select p from Person p 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where p.name like 'Pe%'</a:t>
            </a: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F07FB44-E43D-69A3-4E31-278A96125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Jednostavni upiti</a:t>
            </a:r>
            <a:endParaRPr lang="en-US" altLang="sr-Latn-R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1876182-3B62-2B9E-8836-4BE019697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650413" cy="4114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&gt;&gt;Na</a:t>
            </a:r>
            <a:r>
              <a:rPr lang="sr-Latn-C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đe</a:t>
            </a:r>
            <a:r>
              <a:rPr lang="en-U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mo najmanji broj godina</a:t>
            </a:r>
          </a:p>
          <a:p>
            <a:pPr eaLnBrk="1" hangingPunct="1"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select min(p.age) from Person p</a:t>
            </a:r>
          </a:p>
          <a:p>
            <a:pPr eaLnBrk="1" hangingPunct="1"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8C8B764-0098-E633-E021-2250B28ACB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Subquery</a:t>
            </a:r>
            <a:endParaRPr lang="en-US" altLang="sr-Latn-R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2CEF0D5-7006-5414-C6F7-79FC7002A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981200"/>
            <a:ext cx="10988328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&gt;&gt;Subquery: Na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đ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emo najmla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đ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u osobu</a:t>
            </a:r>
          </a:p>
          <a:p>
            <a:pPr eaLnBrk="1" hangingPunct="1"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p from Person p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where p.age</a:t>
            </a:r>
            <a:r>
              <a:rPr lang="sr-Latn-R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latin typeface="Courier New" panose="02070309020205020404" pitchFamily="49" charset="0"/>
              </a:rPr>
              <a:t>=</a:t>
            </a:r>
            <a:r>
              <a:rPr lang="sr-Latn-R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latin typeface="Courier New" panose="02070309020205020404" pitchFamily="49" charset="0"/>
              </a:rPr>
              <a:t>(select min(p.age) from Person p)</a:t>
            </a:r>
          </a:p>
          <a:p>
            <a:pPr eaLnBrk="1" hangingPunct="1"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5D509DB-E8E5-8E4F-88DB-4E9A484B0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Inner Join</a:t>
            </a:r>
            <a:endParaRPr lang="en-US" altLang="sr-Latn-R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9F5A4B8-01E2-EF88-B957-3BC55DAAF1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Spaja dva entiteta, ali samo ako desni red </a:t>
            </a:r>
            <a:r>
              <a:rPr lang="en-US" altLang="sr-Latn-RS"/>
              <a:t>postoji</a:t>
            </a:r>
            <a:r>
              <a:rPr lang="sr-Latn-CS" altLang="sr-Latn-RS"/>
              <a:t> (atribut u levoj tabeli različit od </a:t>
            </a:r>
            <a:r>
              <a:rPr lang="sr-Latn-CS" altLang="sr-Latn-RS" b="1"/>
              <a:t>null</a:t>
            </a:r>
            <a:r>
              <a:rPr lang="sr-Latn-CS" altLang="sr-Latn-RS"/>
              <a:t>)</a:t>
            </a:r>
            <a:endParaRPr lang="en-US" altLang="sr-Latn-R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D081510-4C8B-F3A3-2CD0-4E85D51E2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Inner Join</a:t>
            </a:r>
            <a:endParaRPr lang="en-US" altLang="sr-Latn-R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6BB8D84-D41F-B98E-AA41-2EA722AA5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578975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&gt;&gt;Inner join: Sve osobe sa ra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č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unom</a:t>
            </a:r>
          </a:p>
          <a:p>
            <a:pPr eaLnBrk="1" hangingPunct="1"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p.name, a.name, a.amount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from Person p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join p.bankAccounts a</a:t>
            </a:r>
          </a:p>
          <a:p>
            <a:pPr eaLnBrk="1" hangingPunct="1"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F9A4172-AF88-E1C0-B039-C29342902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Inner Join</a:t>
            </a:r>
            <a:endParaRPr lang="en-US" altLang="sr-Latn-R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CFF7A9B-4300-613B-66C0-4E559A3298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981200"/>
            <a:ext cx="9578976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&gt;&gt;Inner join: Sve osobe koje imaju ra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č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un sa manje od 100 nov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č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anih jedinica</a:t>
            </a:r>
            <a:endParaRPr lang="sr-Latn-CS" altLang="sr-Latn-RS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p.name, a.amount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from Person p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join p.bankAccounts a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where a.amount &lt;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410829E-84A6-E30C-C3A7-473492E80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Left Outer Join</a:t>
            </a:r>
            <a:endParaRPr lang="en-US" altLang="sr-Latn-R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5A74D10-4058-A646-6941-6C7A62C0A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Spaja dve 'tabele' bez obzira da li se desna tabela može spojiti na levu (da li je atribut u levoj tabeli različit od </a:t>
            </a:r>
            <a:r>
              <a:rPr lang="sr-Latn-CS" altLang="sr-Latn-RS" b="1"/>
              <a:t>null</a:t>
            </a:r>
            <a:r>
              <a:rPr lang="sr-Latn-CS" altLang="sr-Latn-RS"/>
              <a:t>)</a:t>
            </a:r>
            <a:endParaRPr lang="en-US" altLang="sr-Latn-R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561B80E-D811-6064-6662-6FDE9DB78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Left Outer Join</a:t>
            </a:r>
            <a:endParaRPr lang="en-US" altLang="sr-Latn-R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FEEA358-E695-1561-ED14-B77C3AF82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&gt;&gt;Left outer join: Sve osobe sa ili bez ra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č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una</a:t>
            </a:r>
          </a:p>
          <a:p>
            <a:pPr eaLnBrk="1" hangingPunct="1"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p.name, a.name, a.amount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from Person p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left join p.bankAccounts a</a:t>
            </a:r>
          </a:p>
          <a:p>
            <a:pPr eaLnBrk="1" hangingPunct="1"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D9AD29B-BA46-1459-58EE-9E9885FA0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Join Fetch </a:t>
            </a:r>
            <a:endParaRPr lang="en-US" altLang="sr-Latn-R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1B82FF1-5D9D-FAA8-5CC2-112EFE010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505950" cy="4400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Radi </a:t>
            </a:r>
            <a:r>
              <a:rPr lang="sr-Latn-CS" altLang="sr-Latn-RS" i="1"/>
              <a:t>eager fetch</a:t>
            </a:r>
            <a:r>
              <a:rPr lang="sr-Latn-CS" altLang="sr-Latn-RS"/>
              <a:t> nad kolekcijom koja predstavlja vezu na drugi entitet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je veza tipa one-to-many ili many-to-many bez </a:t>
            </a:r>
            <a:r>
              <a:rPr lang="en-US" altLang="sr-Latn-RS" i="1"/>
              <a:t>fetch=FetchType.EAGER</a:t>
            </a:r>
            <a:r>
              <a:rPr lang="sr-Latn-CS" altLang="sr-Latn-RS"/>
              <a:t>, onda je po default-u </a:t>
            </a:r>
            <a:r>
              <a:rPr lang="sr-Latn-CS" altLang="sr-Latn-RS" i="1"/>
              <a:t>lazy fetch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klijent van sesije ne dobija kolekciju objekata iz takve veze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rešenje: </a:t>
            </a:r>
            <a:r>
              <a:rPr lang="sr-Latn-CS" altLang="sr-Latn-RS" i="1"/>
              <a:t>fetch join </a:t>
            </a:r>
            <a:r>
              <a:rPr lang="sr-Latn-CS" altLang="sr-Latn-RS"/>
              <a:t>u upitu kojim se dobavljaju objekti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F850179-615F-9AF7-9FC9-4E832C07C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Join Fetch </a:t>
            </a:r>
            <a:endParaRPr lang="en-US" altLang="sr-Latn-R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6ED9848-F2FE-0C64-99DE-AE01DBA09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981200"/>
            <a:ext cx="9434514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&gt;&gt;Fetch join (BEZ fetch=FetchType.EAGER): Sve osobe sa ili bez ra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č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una</a:t>
            </a:r>
          </a:p>
          <a:p>
            <a:pPr eaLnBrk="1" hangingPunct="1"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distinct p from Person p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left join fetch p.bankAccounts</a:t>
            </a:r>
          </a:p>
          <a:p>
            <a:pPr eaLnBrk="1" hangingPunct="1"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28B0577-F1C7-10FC-8D9E-DEF1902E6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Group By</a:t>
            </a:r>
            <a:endParaRPr lang="en-US" altLang="sr-Latn-R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184BC43-3400-62E3-9D64-99CB46D4C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Kada u istom upitu dobijemo i skalar i više vrsta</a:t>
            </a:r>
          </a:p>
          <a:p>
            <a:pPr eaLnBrk="1" hangingPunct="1"/>
            <a:r>
              <a:rPr lang="sr-Latn-CS" altLang="sr-Latn-RS"/>
              <a:t>Grupišemo po atributu entity klase</a:t>
            </a:r>
            <a:endParaRPr lang="en-US" altLang="sr-Latn-R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00A7958-F76E-C768-1E54-3C50CBFBB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Group By</a:t>
            </a:r>
            <a:endParaRPr lang="en-US" altLang="sr-Latn-R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81D581E-75D8-55E7-3C72-22002BAB7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&gt;&gt;GroupBy: Izlistati najve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ć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e ra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č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une, grupisane po vrsti (dinarski ili devizni)</a:t>
            </a:r>
          </a:p>
          <a:p>
            <a:pPr eaLnBrk="1" hangingPunct="1"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b.name, max(b.amount)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from BankAccount b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group by b.name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B0CC3C8-5C19-6D7B-4446-436A5F858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Group By</a:t>
            </a:r>
            <a:endParaRPr lang="en-US" altLang="sr-Latn-R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5D2AB5E-21C4-904B-015A-6C19ED8DC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&gt;&gt;GroupBy sa filterom: Izlistati starosti osoba, grupisane po godinama 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ž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ivota, gde je osoba mla</a:t>
            </a:r>
            <a:r>
              <a:rPr lang="sr-Latn-C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đ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a od 30 godina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'Osoba stara: ' || p.age,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'komada: ' || count(p.age)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from Person p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group by p.age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having p.age &lt;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98ECD5C-85EA-BB0D-E7FF-DAA9B90A8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Order By</a:t>
            </a:r>
            <a:endParaRPr lang="en-US" altLang="sr-Latn-R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9B4BBBD-9AAD-0CA3-D7F7-4F994FF4F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&gt;&gt;Listamo sve osobe iz entiteta Person sortirane po godistu</a:t>
            </a:r>
            <a:endParaRPr lang="sr-Latn-CS" altLang="sr-Latn-RS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p from Person p 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order by p.age</a:t>
            </a:r>
          </a:p>
          <a:p>
            <a:pPr eaLnBrk="1" hangingPunct="1">
              <a:buFontTx/>
              <a:buNone/>
            </a:pPr>
            <a:endParaRPr lang="en-U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511F5D9-4F86-93F2-45B9-76B1DB2FC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Native Query</a:t>
            </a:r>
            <a:endParaRPr lang="en-US" altLang="sr-Latn-R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3033CA9-B97C-2A8F-F279-CFD67AE97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Upiti se mogu zadati i u SQL-u</a:t>
            </a:r>
          </a:p>
          <a:p>
            <a:pPr eaLnBrk="1" hangingPunct="1"/>
            <a:r>
              <a:rPr lang="sr-Latn-CS" altLang="sr-Latn-RS"/>
              <a:t>Osim upita, zadaje se i tip povratne vrednosti</a:t>
            </a:r>
          </a:p>
          <a:p>
            <a:pPr eaLnBrk="1" hangingPunct="1"/>
            <a:r>
              <a:rPr lang="sr-Latn-CS" altLang="sr-Latn-RS"/>
              <a:t>Dobra osobina:</a:t>
            </a:r>
          </a:p>
          <a:p>
            <a:pPr lvl="1" eaLnBrk="1" hangingPunct="1"/>
            <a:r>
              <a:rPr lang="sr-Latn-CS" altLang="sr-Latn-RS"/>
              <a:t>brže?</a:t>
            </a:r>
          </a:p>
          <a:p>
            <a:pPr lvl="1" eaLnBrk="1" hangingPunct="1"/>
            <a:r>
              <a:rPr lang="sr-Latn-CS" altLang="sr-Latn-RS"/>
              <a:t>ponekad jedino moguće (rekurzivni upiti)</a:t>
            </a:r>
          </a:p>
          <a:p>
            <a:pPr eaLnBrk="1" hangingPunct="1"/>
            <a:r>
              <a:rPr lang="sr-Latn-CS" altLang="sr-Latn-RS"/>
              <a:t>Mana:</a:t>
            </a:r>
          </a:p>
          <a:p>
            <a:pPr lvl="1" eaLnBrk="1" hangingPunct="1"/>
            <a:r>
              <a:rPr lang="sr-Latn-CS" altLang="sr-Latn-RS"/>
              <a:t>gubitak portabilnosti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90B364F-9D56-685A-11E3-5F005F050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Native Query</a:t>
            </a:r>
            <a:endParaRPr lang="en-US" altLang="sr-Latn-R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E765950-20CA-CBC8-9721-9008084C8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4362" y="1981201"/>
            <a:ext cx="11687852" cy="4543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&gt;&gt;&gt;NativeQuery: Nadjemo osobu cije ime pocinje sa</a:t>
            </a:r>
            <a:r>
              <a:rPr lang="sr-Latn-R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'Pe' </a:t>
            </a:r>
            <a:endParaRPr lang="sr-Latn-CS" altLang="sr-Latn-RS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Query q = em.createNativeQuery(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"</a:t>
            </a:r>
            <a:r>
              <a:rPr lang="en-U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select id, name, age from Persons where name like 'Pe%'"</a:t>
            </a:r>
            <a:r>
              <a:rPr lang="sr-Latn-CS" altLang="sr-Latn-RS" b="1">
                <a:latin typeface="Courier New" panose="02070309020205020404" pitchFamily="49" charset="0"/>
              </a:rPr>
              <a:t>, </a:t>
            </a:r>
            <a:r>
              <a:rPr lang="en-US" altLang="sr-Latn-RS" b="1">
                <a:solidFill>
                  <a:schemeClr val="accent4"/>
                </a:solidFill>
                <a:latin typeface="Courier New" panose="02070309020205020404" pitchFamily="49" charset="0"/>
              </a:rPr>
              <a:t>Person.class</a:t>
            </a:r>
            <a:r>
              <a:rPr lang="en-US" altLang="sr-Latn-RS" b="1">
                <a:latin typeface="Courier New" panose="02070309020205020404" pitchFamily="49" charset="0"/>
              </a:rPr>
              <a:t>);</a:t>
            </a: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List &lt;Person&gt; res = q.getResultList();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20B2E1C-50D6-D1A2-B23D-4D5E3FEB9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Result Class</a:t>
            </a:r>
            <a:endParaRPr lang="en-US" altLang="sr-Latn-R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6A55FFB-3491-1E3B-7E6E-A315FE036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Prilikom izvršenja upita može se kreirati proizvoljna klasa</a:t>
            </a:r>
          </a:p>
          <a:p>
            <a:pPr lvl="1" eaLnBrk="1" hangingPunct="1"/>
            <a:r>
              <a:rPr lang="sr-Latn-CS" altLang="sr-Latn-RS"/>
              <a:t>rezultati upita se prosleđuju konstruktoru, kao parametri</a:t>
            </a:r>
            <a:endParaRPr lang="en-US" altLang="sr-Latn-R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93A7B9E-98BD-975C-FA2A-F36310FFB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Result Class</a:t>
            </a:r>
            <a:endParaRPr lang="en-US" altLang="sr-Latn-R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41A882D-98ED-5180-9641-262D3562B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650413" cy="4687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&gt;&gt;&gt;Sve osobe</a:t>
            </a:r>
            <a:endParaRPr lang="en-US" altLang="sr-Latn-RS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new iss.spring.web.dtos.PersonDto(p) from Person 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A2CB6FC-BE3C-2409-11B7-5A366F350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Parametrizovani upiti</a:t>
            </a:r>
            <a:endParaRPr lang="en-US" altLang="sr-Latn-R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F7D3DD7-215A-C0C5-06BE-543E54E57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Parametar se navodi sa znakom ":" ispred imena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662F5E9-1873-FD49-4D97-52E69D7C9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Parametrizovani upiti</a:t>
            </a:r>
            <a:endParaRPr lang="en-US" altLang="sr-Latn-R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D152C9C-F59D-C354-83A0-A9C801BE1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506272" cy="44005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select new iss.spring.web.dtos.BankAccountDto(a) from BankAccount a where a.holder.id=</a:t>
            </a:r>
            <a:r>
              <a:rPr lang="en-U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:personId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058B0692-469E-3E56-E45F-42BAC39F0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Upit sa jednim rezultatom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B0FA-74BB-4232-F021-D77D69ADB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10515599" cy="4618037"/>
          </a:xfrm>
        </p:spPr>
        <p:txBody>
          <a:bodyPr/>
          <a:lstStyle/>
          <a:p>
            <a:pPr>
              <a:defRPr/>
            </a:pPr>
            <a:r>
              <a:rPr lang="sr-Latn-RS"/>
              <a:t>Metoda </a:t>
            </a:r>
            <a:r>
              <a:rPr lang="sr-Latn-RS" i="1"/>
              <a:t>getSingleResult</a:t>
            </a:r>
            <a:r>
              <a:rPr lang="sr-Latn-RS"/>
              <a:t>() u </a:t>
            </a:r>
            <a:r>
              <a:rPr lang="sr-Latn-RS" b="1"/>
              <a:t>Query</a:t>
            </a:r>
            <a:r>
              <a:rPr lang="sr-Latn-RS"/>
              <a:t> klasi vraća samo jednu instancu</a:t>
            </a:r>
          </a:p>
          <a:p>
            <a:pPr>
              <a:defRPr/>
            </a:pPr>
            <a:r>
              <a:rPr lang="sr-Latn-RS"/>
              <a:t>Ako upit proizvede više instanci, baca izuzetak</a:t>
            </a:r>
          </a:p>
          <a:p>
            <a:pPr>
              <a:defRPr/>
            </a:pPr>
            <a:r>
              <a:rPr lang="sr-Latn-RS"/>
              <a:t>Primer:</a:t>
            </a:r>
          </a:p>
          <a:p>
            <a:pPr eaLnBrk="1" hangingPunct="1">
              <a:buFontTx/>
              <a:buNone/>
              <a:defRPr/>
            </a:pPr>
            <a:r>
              <a:rPr lang="en-US" altLang="sr-Latn-RS" b="1">
                <a:latin typeface="Courier New" pitchFamily="49" charset="0"/>
              </a:rPr>
              <a:t>Query q = em.createQuery(</a:t>
            </a:r>
            <a:endParaRPr lang="sr-Latn-CS" altLang="sr-Latn-RS" b="1">
              <a:latin typeface="Courier New" pitchFamily="49" charset="0"/>
            </a:endParaRPr>
          </a:p>
          <a:p>
            <a:pPr eaLnBrk="1" hangingPunct="1">
              <a:buFontTx/>
              <a:buNone/>
              <a:defRPr/>
            </a:pPr>
            <a:r>
              <a:rPr lang="en-US" altLang="sr-Latn-RS" b="1">
                <a:latin typeface="Courier New" pitchFamily="49" charset="0"/>
              </a:rPr>
              <a:t>"select p from Person p where p.id = </a:t>
            </a:r>
            <a:r>
              <a:rPr lang="en-US" altLang="sr-Latn-RS" b="1">
                <a:solidFill>
                  <a:srgbClr val="FF0000"/>
                </a:solidFill>
                <a:latin typeface="Courier New" pitchFamily="49" charset="0"/>
              </a:rPr>
              <a:t>:id</a:t>
            </a:r>
            <a:r>
              <a:rPr lang="en-US" altLang="sr-Latn-RS" b="1">
                <a:latin typeface="Courier New" pitchFamily="49" charset="0"/>
              </a:rPr>
              <a:t>");</a:t>
            </a:r>
          </a:p>
          <a:p>
            <a:pPr eaLnBrk="1" hangingPunct="1">
              <a:buFontTx/>
              <a:buNone/>
              <a:defRPr/>
            </a:pPr>
            <a:r>
              <a:rPr lang="en-US" altLang="sr-Latn-RS" b="1">
                <a:latin typeface="Courier New" pitchFamily="49" charset="0"/>
              </a:rPr>
              <a:t>q.setParameter("</a:t>
            </a:r>
            <a:r>
              <a:rPr lang="en-US" altLang="sr-Latn-RS" b="1">
                <a:solidFill>
                  <a:srgbClr val="FF0000"/>
                </a:solidFill>
                <a:latin typeface="Courier New" pitchFamily="49" charset="0"/>
              </a:rPr>
              <a:t>id</a:t>
            </a:r>
            <a:r>
              <a:rPr lang="en-US" altLang="sr-Latn-RS" b="1">
                <a:latin typeface="Courier New" pitchFamily="49" charset="0"/>
              </a:rPr>
              <a:t>", personId);</a:t>
            </a:r>
          </a:p>
          <a:p>
            <a:pPr eaLnBrk="1" hangingPunct="1">
              <a:buFontTx/>
              <a:buNone/>
              <a:defRPr/>
            </a:pPr>
            <a:r>
              <a:rPr lang="sr-Latn-RS" altLang="sr-Latn-RS" b="1">
                <a:latin typeface="Courier New" pitchFamily="49" charset="0"/>
              </a:rPr>
              <a:t>Object </a:t>
            </a:r>
            <a:r>
              <a:rPr lang="en-US" altLang="sr-Latn-RS" b="1">
                <a:latin typeface="Courier New" pitchFamily="49" charset="0"/>
              </a:rPr>
              <a:t>res = q.get</a:t>
            </a:r>
            <a:r>
              <a:rPr lang="sr-Latn-RS" altLang="sr-Latn-RS" b="1">
                <a:latin typeface="Courier New" pitchFamily="49" charset="0"/>
              </a:rPr>
              <a:t>SingleResult</a:t>
            </a:r>
            <a:r>
              <a:rPr lang="en-US" altLang="sr-Latn-RS" b="1">
                <a:latin typeface="Courier New" pitchFamily="49" charset="0"/>
              </a:rPr>
              <a:t>();</a:t>
            </a:r>
          </a:p>
          <a:p>
            <a:pPr marL="0" indent="0">
              <a:buNone/>
              <a:defRPr/>
            </a:pPr>
            <a:endParaRPr lang="sr-Latn-R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6ED8BE7-FC12-AD00-6AFE-7D8C705F3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Bulk delete i update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3FC3029-1DD5-EED2-89EB-A83EB1512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sr-Latn-RS" sz="3200"/>
              <a:t>Operacije </a:t>
            </a:r>
            <a:r>
              <a:rPr lang="en-US" altLang="sr-Latn-RS" sz="3200" i="1"/>
              <a:t>update</a:t>
            </a:r>
            <a:r>
              <a:rPr lang="en-US" altLang="sr-Latn-RS" sz="3200"/>
              <a:t> i </a:t>
            </a:r>
            <a:r>
              <a:rPr lang="en-US" altLang="sr-Latn-RS" sz="3200" i="1"/>
              <a:t>delete</a:t>
            </a:r>
            <a:r>
              <a:rPr lang="en-US" altLang="sr-Latn-RS" sz="3200"/>
              <a:t> imaju slede</a:t>
            </a:r>
            <a:r>
              <a:rPr lang="sr-Latn-CS" altLang="sr-Latn-RS" sz="3200"/>
              <a:t>ća ograničenja i karakteristike: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800"/>
              <a:t>operacija se ne ponavlja </a:t>
            </a:r>
            <a:r>
              <a:rPr lang="en-US" altLang="sr-Latn-RS" sz="2800"/>
              <a:t>k</a:t>
            </a:r>
            <a:r>
              <a:rPr lang="sr-Latn-CS" altLang="sr-Latn-RS" sz="2800"/>
              <a:t>askadno na povezane entity-je, bez obzira na postavljen atribut cascade anotacije veze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800"/>
              <a:t>operacija se radi direktno nad bazom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400" b="1"/>
              <a:t>Repository</a:t>
            </a:r>
            <a:r>
              <a:rPr lang="sr-Latn-CS" altLang="sr-Latn-RS" sz="2400"/>
              <a:t>.</a:t>
            </a:r>
            <a:r>
              <a:rPr lang="sr-Latn-CS" altLang="sr-Latn-RS" sz="2400" i="1"/>
              <a:t>deleteAllInBatch</a:t>
            </a:r>
            <a:r>
              <a:rPr lang="sr-Latn-CS" altLang="sr-Latn-RS" sz="2400"/>
              <a:t>()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 sz="2400" i="1"/>
              <a:t>Persistence Context</a:t>
            </a:r>
            <a:r>
              <a:rPr lang="sr-Latn-CS" altLang="sr-Latn-RS" sz="2400"/>
              <a:t> se ne sinhronizuje automatski sa rezultatom operacije</a:t>
            </a:r>
          </a:p>
          <a:p>
            <a:pPr lvl="3" eaLnBrk="1" hangingPunct="1">
              <a:lnSpc>
                <a:spcPct val="80000"/>
              </a:lnSpc>
            </a:pPr>
            <a:r>
              <a:rPr lang="sr-Latn-CS" altLang="sr-Latn-RS" i="1"/>
              <a:t>flush</a:t>
            </a:r>
            <a:r>
              <a:rPr lang="sr-Latn-CS" altLang="sr-Latn-RS"/>
              <a:t>()</a:t>
            </a:r>
          </a:p>
          <a:p>
            <a:pPr lvl="1" eaLnBrk="1" hangingPunct="1">
              <a:lnSpc>
                <a:spcPct val="80000"/>
              </a:lnSpc>
            </a:pPr>
            <a:endParaRPr lang="en-US" altLang="sr-Latn-R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EF08E77B-F612-53CC-A753-1404AEE2B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Bulk delete i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D17FA-3B6F-44E1-DF2A-5C27E6E36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75433" cy="4906962"/>
          </a:xfrm>
        </p:spPr>
        <p:txBody>
          <a:bodyPr/>
          <a:lstStyle/>
          <a:p>
            <a:pPr>
              <a:defRPr/>
            </a:pPr>
            <a:r>
              <a:rPr lang="sr-Latn-RS"/>
              <a:t>Primer: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Query q = em.createQuery ("DELETE s FROM Subscription s </a:t>
            </a:r>
            <a:b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WHERE s.subscriptionDate &lt; 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:today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"); 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q.setParameter ("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today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", new Date ()); 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deleted = q.executeUpdate ();</a:t>
            </a:r>
          </a:p>
          <a:p>
            <a:pPr>
              <a:defRPr/>
            </a:pPr>
            <a:r>
              <a:rPr lang="sr-Latn-RS"/>
              <a:t>Primer: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Query q = em.createQuery ("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UPDATE Subscription s SET s.paid = </a:t>
            </a:r>
            <a:r>
              <a:rPr 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:paid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WHERE s.subscriptionDate &lt; </a:t>
            </a:r>
            <a:r>
              <a:rPr 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:today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q.setParameter ("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paid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", true);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q.setParameter ("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today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", new Date ()); 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updated = q.executeUpdate ();</a:t>
            </a:r>
          </a:p>
          <a:p>
            <a:pPr marL="0" indent="0">
              <a:buNone/>
              <a:defRPr/>
            </a:pPr>
            <a:endParaRPr lang="sr-Latn-R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1310</Words>
  <Application>Microsoft Office PowerPoint</Application>
  <PresentationFormat>Widescreen</PresentationFormat>
  <Paragraphs>200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Consolas</vt:lpstr>
      <vt:lpstr>Courier New</vt:lpstr>
      <vt:lpstr>Office Theme</vt:lpstr>
      <vt:lpstr>Inženjerstvo Serverskog Sloja prof. dr Milan Vidaković</vt:lpstr>
      <vt:lpstr>Java Persistence Query Language</vt:lpstr>
      <vt:lpstr>Upiti</vt:lpstr>
      <vt:lpstr>Upiti</vt:lpstr>
      <vt:lpstr>Sintaksa</vt:lpstr>
      <vt:lpstr>Where klauzula</vt:lpstr>
      <vt:lpstr>Where klauzula</vt:lpstr>
      <vt:lpstr>Where klauzula</vt:lpstr>
      <vt:lpstr>Where klauzula</vt:lpstr>
      <vt:lpstr>Jednostavni upiti</vt:lpstr>
      <vt:lpstr>Jednostavni upiti</vt:lpstr>
      <vt:lpstr>Subquery</vt:lpstr>
      <vt:lpstr>Inner Join</vt:lpstr>
      <vt:lpstr>Inner Join</vt:lpstr>
      <vt:lpstr>Inner Join</vt:lpstr>
      <vt:lpstr>Left Outer Join</vt:lpstr>
      <vt:lpstr>Left Outer Join</vt:lpstr>
      <vt:lpstr>Join Fetch </vt:lpstr>
      <vt:lpstr>Join Fetch </vt:lpstr>
      <vt:lpstr>Group By</vt:lpstr>
      <vt:lpstr>Group By</vt:lpstr>
      <vt:lpstr>Group By</vt:lpstr>
      <vt:lpstr>Order By</vt:lpstr>
      <vt:lpstr>Native Query</vt:lpstr>
      <vt:lpstr>Native Query</vt:lpstr>
      <vt:lpstr>Result Class</vt:lpstr>
      <vt:lpstr>Result Class</vt:lpstr>
      <vt:lpstr>Parametrizovani upiti</vt:lpstr>
      <vt:lpstr>Parametrizovani upiti</vt:lpstr>
      <vt:lpstr>Upit sa jednim rezultatom</vt:lpstr>
      <vt:lpstr>Bulk delete i update</vt:lpstr>
      <vt:lpstr>Bulk delete i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222</cp:revision>
  <dcterms:created xsi:type="dcterms:W3CDTF">2024-06-23T14:59:21Z</dcterms:created>
  <dcterms:modified xsi:type="dcterms:W3CDTF">2024-11-29T08:44:13Z</dcterms:modified>
</cp:coreProperties>
</file>