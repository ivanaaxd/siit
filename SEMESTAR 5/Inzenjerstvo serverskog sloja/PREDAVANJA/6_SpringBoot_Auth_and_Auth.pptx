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2" r:id="rId3"/>
    <p:sldId id="340" r:id="rId4"/>
    <p:sldId id="341" r:id="rId5"/>
    <p:sldId id="301" r:id="rId6"/>
    <p:sldId id="343" r:id="rId7"/>
    <p:sldId id="356" r:id="rId8"/>
    <p:sldId id="353" r:id="rId9"/>
    <p:sldId id="344" r:id="rId10"/>
    <p:sldId id="345" r:id="rId11"/>
    <p:sldId id="350" r:id="rId12"/>
    <p:sldId id="351" r:id="rId13"/>
    <p:sldId id="352" r:id="rId14"/>
    <p:sldId id="312" r:id="rId15"/>
    <p:sldId id="316" r:id="rId16"/>
    <p:sldId id="317" r:id="rId17"/>
    <p:sldId id="318" r:id="rId18"/>
    <p:sldId id="320" r:id="rId19"/>
    <p:sldId id="360" r:id="rId20"/>
    <p:sldId id="361" r:id="rId21"/>
    <p:sldId id="357" r:id="rId22"/>
    <p:sldId id="358" r:id="rId23"/>
    <p:sldId id="336" r:id="rId24"/>
    <p:sldId id="337" r:id="rId25"/>
    <p:sldId id="355" r:id="rId26"/>
    <p:sldId id="339" r:id="rId27"/>
    <p:sldId id="346" r:id="rId28"/>
    <p:sldId id="347" r:id="rId29"/>
    <p:sldId id="359" r:id="rId30"/>
    <p:sldId id="349" r:id="rId31"/>
    <p:sldId id="348" r:id="rId32"/>
    <p:sldId id="35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A1E6-74B9-B007-5B8B-E3A5BEC7E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5DC65-D9A3-8C91-D14F-135FD3277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1B2D0-ABF2-DADC-98E8-D615EE8E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E711A-EC7D-8349-D77F-89CD63C0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1356-1B18-3548-65B5-08AF3EB6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62C9-9004-FAA2-0F2F-3B0AA391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58230-FC2A-7231-CFF5-8A749913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4128B-F2A3-5D22-4112-A9C43237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AC9AA-B4B6-1FE3-7822-7C8A415C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A48F-7FF1-5C4E-8940-5DF337B1AC88}"/>
              </a:ext>
            </a:extLst>
          </p:cNvPr>
          <p:cNvSpPr txBox="1"/>
          <p:nvPr userDrawn="1"/>
        </p:nvSpPr>
        <p:spPr>
          <a:xfrm>
            <a:off x="8606348" y="6356350"/>
            <a:ext cx="2747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0990961-FEE4-4147-85DF-F26C93E51AE9}" type="slidenum">
              <a:rPr lang="en-US" smtClean="0"/>
              <a:pPr algn="r"/>
              <a:t>‹#›</a:t>
            </a:fld>
            <a:r>
              <a:rPr lang="sr-Latn-RS"/>
              <a:t>/32</a:t>
            </a:r>
          </a:p>
        </p:txBody>
      </p:sp>
    </p:spTree>
    <p:extLst>
      <p:ext uri="{BB962C8B-B14F-4D97-AF65-F5344CB8AC3E}">
        <p14:creationId xmlns:p14="http://schemas.microsoft.com/office/powerpoint/2010/main" val="4095225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78E1-36ED-F2E5-5AE2-BBF0048D3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37252-6392-D97E-A32E-DF0DF5B96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6E1B3-93BA-60B1-5749-46AD88553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68F8-B119-91F9-ED23-0E303ACE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75E46-38EE-04FB-8F4C-08A7F14B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3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C009-88D3-3972-F885-2A8BFD424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CF20C-A309-F9DA-63F3-26BC519C9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2264E-8D42-E2BE-9287-EC0885F1C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CAA43-CF6B-E2D0-7E48-984532AB4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7FBBB-A6A4-916E-C2F8-1713820F0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8F410-6D25-0349-92D2-8E61E524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6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5540A-E0DF-243B-D9C7-EF52AC8C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0F96-DD89-F749-F6B7-CEAD4BAD5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DF807-9C41-E99E-7F37-F4132EAA4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74686-207E-C685-98A0-419353DF2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85AE6D-D3CC-9A61-683C-598C5D833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05CADA-7E10-0255-BD45-26816E36C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FE906F-F859-6D3D-3E05-12BDD9DE6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D7164-45E3-3B46-BDD8-D7F3FAD6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21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A7579-F4A2-BA42-2D55-A3A68C92D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C16C9-DCA0-CB78-5FC9-2B190A96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CEFE-F0D9-C890-4083-336E657B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C13E0-9B4B-453E-17BA-F01D4E7DC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28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6C93AE-636C-EAE0-3F80-219438AD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733B9-E924-3C34-33B8-D3AC8F67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BCC0E-1D47-0ED3-FFCB-C5540DAB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E3C8-5253-05F9-9412-7C9F274BB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87C69-CD9D-604F-BE2C-EB26DFE4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42EF5-B3D6-56DA-92F8-36D1EADC9C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9160B-36E5-28B5-DD65-680BED93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1F8A6-C26B-CB55-507E-CD7A98B3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375D1-C5AB-B42C-F0F8-6D1CDE29E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10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F97B1-508A-A836-2017-A1E1FF89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13571-0329-952B-89AA-B512A60AF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0C187-5142-7791-AA17-D5D69330E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310CA-AB77-1BEC-92D7-F375EECB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E4817-AB0E-5596-A378-05A0B1D1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87B7E-8673-C82E-3626-04A9E76E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8929-9984-F28E-2B3D-2C95D224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0EBCC-FB38-E1A6-C695-04589A11B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4006F-CBAC-6702-15D4-A4C779972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036A-FD6E-7308-2B3D-B4E5FC21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6DCA0-62F2-F218-904D-EF522795F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42F05-54B6-2C5A-F807-FEEB02216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B4F83-82F3-0FDE-5BC4-A96CAF7B9D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6EBDC-CDE1-E403-836B-C85FEDED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3D518-2EEE-EEF6-B5AA-92138BC3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B789C-1E49-4CE2-9965-82FD9046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4C8D8-6766-8B92-F773-71A1DF94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A57BD0-82D6-03A3-CB53-950A90FF7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C2FD-5433-4460-9C48-9193FCBE69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F66D3-81FA-46C7-BBEE-81AC462F986E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668D8-10DC-445B-41A0-348DA8F26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9E9E3-3351-81DD-B3EC-22EF79A96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BDBAF-28A0-433E-9338-4C22205A70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5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ana.org/assignments/jwt/jwt.xhtml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CS" altLang="sr-Latn-RS"/>
              <a:t>Inženjerstvo Serverskog Sloja</a:t>
            </a:r>
            <a:br>
              <a:rPr lang="sr-Latn-CS" altLang="sr-Latn-RS"/>
            </a:br>
            <a:r>
              <a:rPr lang="sr-Latn-CS" altLang="sr-Latn-RS" sz="2800"/>
              <a:t>prof. dr Milan Vidaković</a:t>
            </a:r>
            <a:endParaRPr lang="sr-Latn-R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/>
              <a:t>Autentikacija i autorizacija</a:t>
            </a:r>
          </a:p>
        </p:txBody>
      </p:sp>
    </p:spTree>
    <p:extLst>
      <p:ext uri="{BB962C8B-B14F-4D97-AF65-F5344CB8AC3E}">
        <p14:creationId xmlns:p14="http://schemas.microsoft.com/office/powerpoint/2010/main" val="409175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3B32-7C88-DB9A-1422-40A0009D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Šta su autentikacija i autorizacija?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CA8A-CEF6-9287-DDEC-93900C18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sz="3200"/>
              <a:t>Autentikacija prepoznaje korisnika</a:t>
            </a:r>
          </a:p>
          <a:p>
            <a:pPr lvl="1"/>
            <a:r>
              <a:rPr lang="sr-Latn-RS" sz="2800"/>
              <a:t>Obično na osnovu korisničkog imena i šifre</a:t>
            </a:r>
          </a:p>
          <a:p>
            <a:r>
              <a:rPr lang="sr-Latn-RS" sz="3200"/>
              <a:t>Autorizacija definiše ko od prijavljenih korisnika može da pozove koju metodu</a:t>
            </a:r>
          </a:p>
          <a:p>
            <a:pPr lvl="1"/>
            <a:r>
              <a:rPr lang="sr-Latn-RS" sz="2800"/>
              <a:t>Obično postoji više uloga u sistemu:</a:t>
            </a:r>
          </a:p>
          <a:p>
            <a:pPr lvl="2"/>
            <a:r>
              <a:rPr lang="sr-Latn-RS" sz="2400"/>
              <a:t>Korisnik, administrator, gost, itd.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48653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366B-1D3A-0929-7812-B3D6A376A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/>
              <a:t>Kako bismo sve to uradili bez Spring-a?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05889-A814-90F2-EE86-B6F78D930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sr-Latn-RS" sz="3200"/>
              <a:t>Autentikacija</a:t>
            </a:r>
          </a:p>
          <a:p>
            <a:pPr lvl="1"/>
            <a:r>
              <a:rPr lang="sr-Latn-RS" sz="2800"/>
              <a:t>Parametri login forme stižu na kontroler</a:t>
            </a:r>
          </a:p>
          <a:p>
            <a:pPr lvl="1"/>
            <a:r>
              <a:rPr lang="sr-Latn-RS" sz="2800"/>
              <a:t>Kontroler poziva servis i prosleđuje username&amp;password</a:t>
            </a:r>
          </a:p>
          <a:p>
            <a:pPr lvl="1"/>
            <a:r>
              <a:rPr lang="sr-Latn-RS" sz="2800"/>
              <a:t>Servis koristi injektovani repozitorijum da proveri da li u bazi korisnika postoji korisnik sa zadatim username&amp;password</a:t>
            </a:r>
          </a:p>
          <a:p>
            <a:pPr lvl="1"/>
            <a:r>
              <a:rPr lang="sr-Latn-RS" sz="2800"/>
              <a:t>Ako postoji, generiše identifikator klijenta i šalje ga na frontend</a:t>
            </a:r>
          </a:p>
          <a:p>
            <a:pPr lvl="1"/>
            <a:r>
              <a:rPr lang="sr-Latn-RS" sz="2800"/>
              <a:t>Frontend svaki put šalje u sklopu HTTP zahteva taj identifikator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12200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E6BEA-FD23-865E-4850-C1FF3932E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/>
              <a:t>Kako bismo sve to uradili bez Spring-a?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8F01-AA41-ABF7-CE32-4AE02AD63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sz="3600"/>
              <a:t>Autorizacija</a:t>
            </a:r>
          </a:p>
          <a:p>
            <a:pPr lvl="1"/>
            <a:r>
              <a:rPr lang="sr-Latn-RS" sz="3200"/>
              <a:t>Na početku svakog REST endpointa, iz HTTP zahteva, iz prosleđenog identifikatora se saznaje ko je korisnik</a:t>
            </a:r>
          </a:p>
          <a:p>
            <a:pPr lvl="1"/>
            <a:r>
              <a:rPr lang="sr-Latn-RS" sz="3200"/>
              <a:t>Pogleda se, recimo u bazi, da li identifikovani korisnik može da pozove taj konkretan kod</a:t>
            </a:r>
          </a:p>
          <a:p>
            <a:pPr lvl="1"/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1982889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Spring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sz="3200"/>
              <a:t>Spring security pokriva autentikaciju i autorizaciju.</a:t>
            </a:r>
          </a:p>
          <a:p>
            <a:r>
              <a:rPr lang="sr-Latn-RS" sz="3200"/>
              <a:t>Autentikacija se može obaviti potpuno automatski</a:t>
            </a:r>
          </a:p>
          <a:p>
            <a:pPr lvl="1"/>
            <a:r>
              <a:rPr lang="sr-Latn-RS" sz="2800"/>
              <a:t>Spring može čak i da sam generiše login formu</a:t>
            </a:r>
          </a:p>
          <a:p>
            <a:pPr lvl="1"/>
            <a:r>
              <a:rPr lang="sr-Latn-RS" sz="2800"/>
              <a:t>Spring automatski može da obavi autentikaciju</a:t>
            </a:r>
          </a:p>
          <a:p>
            <a:pPr lvl="2"/>
            <a:r>
              <a:rPr lang="sr-Latn-RS" sz="2400"/>
              <a:t>Autentikacija može da bude: inMemory, JDBC, Oauth, itd.</a:t>
            </a:r>
          </a:p>
          <a:p>
            <a:r>
              <a:rPr lang="sr-Latn-RS" sz="3200"/>
              <a:t>Autorizacija je automatski podržana definicijom uloga (ROLE).</a:t>
            </a:r>
          </a:p>
        </p:txBody>
      </p:sp>
    </p:spTree>
    <p:extLst>
      <p:ext uri="{BB962C8B-B14F-4D97-AF65-F5344CB8AC3E}">
        <p14:creationId xmlns:p14="http://schemas.microsoft.com/office/powerpoint/2010/main" val="421399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E019-6275-453A-FF67-9FB1764E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Realizacija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3958B-1808-4132-8631-518DC9DF1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8866"/>
            <a:ext cx="9578280" cy="4442461"/>
          </a:xfrm>
        </p:spPr>
        <p:txBody>
          <a:bodyPr>
            <a:normAutofit/>
          </a:bodyPr>
          <a:lstStyle/>
          <a:p>
            <a:r>
              <a:rPr lang="sr-Latn-RS" sz="3200"/>
              <a:t>Može se realizovati na puno načina</a:t>
            </a:r>
          </a:p>
          <a:p>
            <a:r>
              <a:rPr lang="sr-Latn-RS" sz="3200"/>
              <a:t>Odabraćemo jednostavniji način</a:t>
            </a:r>
          </a:p>
          <a:p>
            <a:r>
              <a:rPr lang="sr-Latn-RS" sz="3200"/>
              <a:t>U frontendu, iz forme za login pozivamo REST endpoint i prosleđujemo username&amp;password</a:t>
            </a:r>
          </a:p>
          <a:p>
            <a:r>
              <a:rPr lang="sr-Latn-RS" sz="3200"/>
              <a:t>Iz REST endpointa pozivamo Spring-ov </a:t>
            </a:r>
            <a:r>
              <a:rPr lang="sr-Latn-RS" sz="3200" i="1"/>
              <a:t>AuthenticationManager</a:t>
            </a:r>
            <a:r>
              <a:rPr lang="sr-Latn-RS" sz="3200"/>
              <a:t> da uradi autentikaciju</a:t>
            </a:r>
          </a:p>
          <a:p>
            <a:pPr lvl="1"/>
            <a:r>
              <a:rPr lang="sr-Latn-RS" sz="2800"/>
              <a:t>prosleđujemo mu username&amp;password</a:t>
            </a:r>
          </a:p>
        </p:txBody>
      </p:sp>
    </p:spTree>
    <p:extLst>
      <p:ext uri="{BB962C8B-B14F-4D97-AF65-F5344CB8AC3E}">
        <p14:creationId xmlns:p14="http://schemas.microsoft.com/office/powerpoint/2010/main" val="265540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5E019-6275-453A-FF67-9FB1764E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sz="4400"/>
              <a:t>AuthenticationManager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3958B-1808-4132-8631-518DC9DF1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6532"/>
            <a:ext cx="11010900" cy="4484795"/>
          </a:xfrm>
        </p:spPr>
        <p:txBody>
          <a:bodyPr>
            <a:normAutofit/>
          </a:bodyPr>
          <a:lstStyle/>
          <a:p>
            <a:r>
              <a:rPr lang="sr-Latn-RS" sz="3200"/>
              <a:t>Spring-ov </a:t>
            </a:r>
            <a:r>
              <a:rPr lang="sr-Latn-RS" sz="3200" i="1"/>
              <a:t>AuthenticationManager</a:t>
            </a:r>
            <a:r>
              <a:rPr lang="sr-Latn-RS" sz="3200"/>
              <a:t> automatski koristi </a:t>
            </a:r>
            <a:r>
              <a:rPr lang="sr-Latn-RS" sz="3200" b="1"/>
              <a:t>UserDetailService</a:t>
            </a:r>
            <a:r>
              <a:rPr lang="sr-Latn-RS" sz="3200"/>
              <a:t> servis, koji ima jednu jedinu metodu:</a:t>
            </a:r>
          </a:p>
          <a:p>
            <a:pPr marL="457200" lvl="1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public UserDetails loadUserByUsername(String username)</a:t>
            </a:r>
            <a:endParaRPr 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sr-Latn-RS" sz="2800"/>
              <a:t>ova metoda vraća podatke o korisniku iz baze (username, password i ulogu), na osnovu korisničkog imena (ne i šifre!) u obliku objekta </a:t>
            </a:r>
            <a:r>
              <a:rPr lang="sr-Latn-RS" sz="2800" b="1"/>
              <a:t>UserDetails</a:t>
            </a:r>
            <a:r>
              <a:rPr lang="sr-Latn-RS" sz="2800"/>
              <a:t> klase</a:t>
            </a:r>
          </a:p>
          <a:p>
            <a:pPr lvl="1"/>
            <a:r>
              <a:rPr lang="sr-Latn-RS" sz="2800" i="1"/>
              <a:t>AuthenticationManager</a:t>
            </a:r>
            <a:r>
              <a:rPr lang="sr-Latn-RS" sz="2800"/>
              <a:t> sada poredi </a:t>
            </a:r>
            <a:r>
              <a:rPr lang="sr-Latn-RS" sz="2800" i="1"/>
              <a:t>password</a:t>
            </a:r>
            <a:r>
              <a:rPr lang="sr-Latn-RS" sz="2800"/>
              <a:t> koji je stigao iz frontenda sa </a:t>
            </a:r>
            <a:r>
              <a:rPr lang="sr-Latn-RS" sz="2800" i="1"/>
              <a:t>passwordom</a:t>
            </a:r>
            <a:r>
              <a:rPr lang="sr-Latn-RS" sz="2800"/>
              <a:t> sadržanim unutar </a:t>
            </a:r>
            <a:r>
              <a:rPr lang="sr-Latn-RS" sz="2800" b="1"/>
              <a:t>UserDetails</a:t>
            </a:r>
            <a:r>
              <a:rPr lang="sr-Latn-RS" sz="2800"/>
              <a:t> klase</a:t>
            </a:r>
          </a:p>
          <a:p>
            <a:pPr lvl="1"/>
            <a:r>
              <a:rPr lang="sr-Latn-RS" sz="2800"/>
              <a:t>ako je sve OK, </a:t>
            </a:r>
            <a:r>
              <a:rPr lang="sr-Latn-RS" sz="2800" i="1"/>
              <a:t>AuthenticationManager</a:t>
            </a:r>
            <a:r>
              <a:rPr lang="sr-Latn-RS" sz="2800"/>
              <a:t> vraće objekat klase </a:t>
            </a:r>
            <a:r>
              <a:rPr lang="sr-Latn-RS" sz="2800" b="1"/>
              <a:t>Authentication</a:t>
            </a:r>
            <a:r>
              <a:rPr lang="sr-Latn-RS" sz="2800"/>
              <a:t>, koji predstavlja uspešno prijavljenog korisnika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309917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17EC-63CF-B03B-DBD9-2F0803C1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Realizacija</a:t>
            </a: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81CF48-0310-77DB-9F1C-4323F8B920BC}"/>
              </a:ext>
            </a:extLst>
          </p:cNvPr>
          <p:cNvSpPr/>
          <p:nvPr/>
        </p:nvSpPr>
        <p:spPr>
          <a:xfrm>
            <a:off x="3755740" y="2000989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Login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6E5F34-D618-D4E6-E646-F7DBCFD5F129}"/>
              </a:ext>
            </a:extLst>
          </p:cNvPr>
          <p:cNvSpPr/>
          <p:nvPr/>
        </p:nvSpPr>
        <p:spPr>
          <a:xfrm>
            <a:off x="2980267" y="2996952"/>
            <a:ext cx="2683685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AuthenticationManager</a:t>
            </a:r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22537B-7209-9693-E7DB-02BA058B6562}"/>
              </a:ext>
            </a:extLst>
          </p:cNvPr>
          <p:cNvSpPr/>
          <p:nvPr/>
        </p:nvSpPr>
        <p:spPr>
          <a:xfrm>
            <a:off x="2135560" y="4072210"/>
            <a:ext cx="25202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UserDetailsService</a:t>
            </a:r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323B80-EB1F-D6E1-8B85-2572DB110B8F}"/>
              </a:ext>
            </a:extLst>
          </p:cNvPr>
          <p:cNvSpPr/>
          <p:nvPr/>
        </p:nvSpPr>
        <p:spPr>
          <a:xfrm>
            <a:off x="2135560" y="5168299"/>
            <a:ext cx="25202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UserRepository</a:t>
            </a: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DA1484-CB05-AAAC-1B29-F9ABD81D0348}"/>
              </a:ext>
            </a:extLst>
          </p:cNvPr>
          <p:cNvSpPr/>
          <p:nvPr/>
        </p:nvSpPr>
        <p:spPr>
          <a:xfrm>
            <a:off x="6654925" y="5084147"/>
            <a:ext cx="25202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PasswordEncoder</a:t>
            </a: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72BDA6-1E6B-C0CB-89FE-2F88036A7361}"/>
              </a:ext>
            </a:extLst>
          </p:cNvPr>
          <p:cNvSpPr/>
          <p:nvPr/>
        </p:nvSpPr>
        <p:spPr>
          <a:xfrm>
            <a:off x="6626219" y="2988318"/>
            <a:ext cx="25202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Configuration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9F7094-CFBC-EF25-0A47-C5E46F9C7B24}"/>
              </a:ext>
            </a:extLst>
          </p:cNvPr>
          <p:cNvCxnSpPr>
            <a:cxnSpLocks/>
          </p:cNvCxnSpPr>
          <p:nvPr/>
        </p:nvCxnSpPr>
        <p:spPr>
          <a:xfrm>
            <a:off x="4151784" y="2496412"/>
            <a:ext cx="0" cy="4919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EF40D8-551A-946D-5C0F-D6EAB438BCC2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386640" y="3517404"/>
            <a:ext cx="9061" cy="5548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56EAB1-B640-30E0-EFC3-68E3C2CC31E4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3395700" y="4576267"/>
            <a:ext cx="0" cy="592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7637BB-FDA1-27FE-3FBA-4C082814BF63}"/>
              </a:ext>
            </a:extLst>
          </p:cNvPr>
          <p:cNvCxnSpPr>
            <a:cxnSpLocks/>
          </p:cNvCxnSpPr>
          <p:nvPr/>
        </p:nvCxnSpPr>
        <p:spPr>
          <a:xfrm>
            <a:off x="5438912" y="3517404"/>
            <a:ext cx="1656183" cy="15629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9C22E6-5032-CC59-3711-94A0C92B9940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7886359" y="3492375"/>
            <a:ext cx="28706" cy="1591773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0372F0-7232-D667-4FF9-2CC4E391D60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5663953" y="3240346"/>
            <a:ext cx="962267" cy="8634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FFBFD6-C878-3118-7493-9CA404E81162}"/>
              </a:ext>
            </a:extLst>
          </p:cNvPr>
          <p:cNvCxnSpPr>
            <a:cxnSpLocks/>
          </p:cNvCxnSpPr>
          <p:nvPr/>
        </p:nvCxnSpPr>
        <p:spPr>
          <a:xfrm flipH="1" flipV="1">
            <a:off x="3951575" y="4618591"/>
            <a:ext cx="182" cy="5333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4AB2C02-493D-B400-82C1-534C3E29BD5F}"/>
              </a:ext>
            </a:extLst>
          </p:cNvPr>
          <p:cNvSpPr txBox="1"/>
          <p:nvPr/>
        </p:nvSpPr>
        <p:spPr>
          <a:xfrm>
            <a:off x="3951576" y="4714816"/>
            <a:ext cx="73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/>
              <a:t>User</a:t>
            </a:r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0EBCDE-EDEF-4671-8473-B0861FA9F5B0}"/>
              </a:ext>
            </a:extLst>
          </p:cNvPr>
          <p:cNvCxnSpPr>
            <a:cxnSpLocks/>
          </p:cNvCxnSpPr>
          <p:nvPr/>
        </p:nvCxnSpPr>
        <p:spPr>
          <a:xfrm flipH="1" flipV="1">
            <a:off x="4061491" y="3543760"/>
            <a:ext cx="182" cy="5333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F478B35-6227-B4A6-B998-040565DD9021}"/>
              </a:ext>
            </a:extLst>
          </p:cNvPr>
          <p:cNvSpPr txBox="1"/>
          <p:nvPr/>
        </p:nvSpPr>
        <p:spPr>
          <a:xfrm>
            <a:off x="4020663" y="3619189"/>
            <a:ext cx="141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i="1"/>
              <a:t>UserDetails</a:t>
            </a:r>
            <a:endParaRPr lang="en-US" i="1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E568966-9731-7D1E-440C-6ED5ED997B6E}"/>
              </a:ext>
            </a:extLst>
          </p:cNvPr>
          <p:cNvCxnSpPr>
            <a:cxnSpLocks/>
          </p:cNvCxnSpPr>
          <p:nvPr/>
        </p:nvCxnSpPr>
        <p:spPr>
          <a:xfrm flipH="1" flipV="1">
            <a:off x="4618559" y="2517933"/>
            <a:ext cx="182" cy="5333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9B51013-F89F-2B68-99AB-839104F916C6}"/>
              </a:ext>
            </a:extLst>
          </p:cNvPr>
          <p:cNvSpPr txBox="1"/>
          <p:nvPr/>
        </p:nvSpPr>
        <p:spPr>
          <a:xfrm>
            <a:off x="4604654" y="2618987"/>
            <a:ext cx="1707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i="1"/>
              <a:t>Authentication</a:t>
            </a:r>
            <a:endParaRPr lang="en-US" i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6AD1F2-8A81-185D-4EBB-324AC46B714A}"/>
              </a:ext>
            </a:extLst>
          </p:cNvPr>
          <p:cNvSpPr txBox="1"/>
          <p:nvPr/>
        </p:nvSpPr>
        <p:spPr>
          <a:xfrm>
            <a:off x="6311900" y="4072210"/>
            <a:ext cx="141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/>
              <a:t>Password</a:t>
            </a:r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7EDEAE-2537-BFB4-9FDE-A59E25F1312A}"/>
              </a:ext>
            </a:extLst>
          </p:cNvPr>
          <p:cNvSpPr txBox="1"/>
          <p:nvPr/>
        </p:nvSpPr>
        <p:spPr>
          <a:xfrm>
            <a:off x="5008582" y="4395701"/>
            <a:ext cx="204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/>
              <a:t>Encoded Password</a:t>
            </a:r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745562-F81A-AC29-6543-FA95B587C934}"/>
              </a:ext>
            </a:extLst>
          </p:cNvPr>
          <p:cNvCxnSpPr>
            <a:cxnSpLocks/>
          </p:cNvCxnSpPr>
          <p:nvPr/>
        </p:nvCxnSpPr>
        <p:spPr>
          <a:xfrm flipH="1" flipV="1">
            <a:off x="5051885" y="3492374"/>
            <a:ext cx="1647167" cy="15879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8B621FC-F72A-65FD-50F7-5349D7C073F9}"/>
              </a:ext>
            </a:extLst>
          </p:cNvPr>
          <p:cNvCxnSpPr>
            <a:cxnSpLocks/>
          </p:cNvCxnSpPr>
          <p:nvPr/>
        </p:nvCxnSpPr>
        <p:spPr>
          <a:xfrm flipH="1" flipV="1">
            <a:off x="4440785" y="1460344"/>
            <a:ext cx="182" cy="5333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AF5D2F-3E33-48E6-3212-7682E90F0526}"/>
              </a:ext>
            </a:extLst>
          </p:cNvPr>
          <p:cNvSpPr txBox="1"/>
          <p:nvPr/>
        </p:nvSpPr>
        <p:spPr>
          <a:xfrm>
            <a:off x="4440786" y="1556569"/>
            <a:ext cx="827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/>
              <a:t>User</a:t>
            </a:r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CCE1A8-092F-457E-9111-AA2504965BB3}"/>
              </a:ext>
            </a:extLst>
          </p:cNvPr>
          <p:cNvCxnSpPr>
            <a:cxnSpLocks/>
          </p:cNvCxnSpPr>
          <p:nvPr/>
        </p:nvCxnSpPr>
        <p:spPr>
          <a:xfrm>
            <a:off x="4223792" y="1460345"/>
            <a:ext cx="0" cy="5406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633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BC60-5C6E-8B21-EEB8-3B486F16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LoginController.java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8B7D2-27DD-7FF3-3142-EBC1C702F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0200"/>
            <a:ext cx="11286068" cy="5118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private AuthenticationManager authenticationManager;</a:t>
            </a:r>
          </a:p>
          <a:p>
            <a:pPr marL="0" indent="0">
              <a:buNone/>
            </a:pP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private JwtTokenUtil jwtTokenUtil;</a:t>
            </a:r>
            <a:endParaRPr lang="sr-Latn-RS" sz="1400" b="1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@PostMapping()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User login(</a:t>
            </a: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@RequestBody User user) {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UsernamePasswordAuthenticationToken authReq = new UsernamePasswordAuthenticationToken(</a:t>
            </a:r>
            <a:b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                 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user.getUsername(),</a:t>
            </a: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user.getPassword());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Authentication auth = authenticationManager.authenticate(authReq);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SecurityContext sc = SecurityContextHolder.</a:t>
            </a:r>
            <a:r>
              <a:rPr lang="en-US" sz="1400" b="1" i="1">
                <a:latin typeface="Courier New" panose="02070309020205020404" pitchFamily="49" charset="0"/>
                <a:cs typeface="Courier New" panose="02070309020205020404" pitchFamily="49" charset="0"/>
              </a:rPr>
              <a:t>getContext();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sc.setAuthentication(auth);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String token = jwtTokenUtil.generateToken(user.getUsername());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user.setJwt(token);</a:t>
            </a:r>
          </a:p>
          <a:p>
            <a:pPr marL="0" indent="0">
              <a:buNone/>
            </a:pPr>
            <a:r>
              <a:rPr lang="sr-Latn-RS" sz="14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return user;</a:t>
            </a:r>
          </a:p>
          <a:p>
            <a:pPr marL="0" indent="0">
              <a:buNone/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D9792756-DFF9-665A-97B6-8EA476A2D259}"/>
              </a:ext>
            </a:extLst>
          </p:cNvPr>
          <p:cNvSpPr/>
          <p:nvPr/>
        </p:nvSpPr>
        <p:spPr>
          <a:xfrm>
            <a:off x="8675049" y="4118041"/>
            <a:ext cx="3229083" cy="1105892"/>
          </a:xfrm>
          <a:prstGeom prst="wedgeRoundRectCallout">
            <a:avLst>
              <a:gd name="adj1" fmla="val -65828"/>
              <a:gd name="adj2" fmla="val -433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bg1"/>
                </a:solidFill>
              </a:rPr>
              <a:t>Ovde se automatski poziva </a:t>
            </a:r>
            <a:r>
              <a:rPr lang="sr-Latn-RS" i="1">
                <a:solidFill>
                  <a:schemeClr val="bg1"/>
                </a:solidFill>
              </a:rPr>
              <a:t>UserDetailsService</a:t>
            </a:r>
            <a:r>
              <a:rPr lang="sr-Latn-RS">
                <a:solidFill>
                  <a:schemeClr val="bg1"/>
                </a:solidFill>
              </a:rPr>
              <a:t> komponenta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37704AC1-2F80-0CEE-07F4-501DA59BC88C}"/>
              </a:ext>
            </a:extLst>
          </p:cNvPr>
          <p:cNvSpPr/>
          <p:nvPr/>
        </p:nvSpPr>
        <p:spPr>
          <a:xfrm>
            <a:off x="5232151" y="5693557"/>
            <a:ext cx="3844115" cy="867051"/>
          </a:xfrm>
          <a:prstGeom prst="wedgeRoundRectCallout">
            <a:avLst>
              <a:gd name="adj1" fmla="val -52674"/>
              <a:gd name="adj2" fmla="val -1027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600">
                <a:solidFill>
                  <a:schemeClr val="bg1"/>
                </a:solidFill>
              </a:rPr>
              <a:t>Ako je stigao do ovde, onda je sve OK, pa generišemo JWT token i ugrađujemo ga u objekat koji vraćamo na frontend</a:t>
            </a: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198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3711-36CB-422E-5E83-B4616EE4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UserServiceImpl.java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2E1A-9BAF-26D0-16B6-2A7239393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0200"/>
            <a:ext cx="10900834" cy="4927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@Service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UserServiceImpl implements UserDetailsService {</a:t>
            </a: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UserRepository allUsers;</a:t>
            </a: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UserDetails loadUserByUsername(String username) throws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UsernameNotFoundException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Optional&lt;User&gt;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 = allUsers.findByUsername(username);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if (!ret.isEmpty() )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return org.springframework.security.core.userdetails.User</a:t>
            </a: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withUsername(username)</a:t>
            </a:r>
            <a:endParaRPr lang="sr-Latn-RS" sz="1800" b="1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.password(</a:t>
            </a:r>
            <a:r>
              <a:rPr lang="en-US" sz="18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.get().getPassword())</a:t>
            </a:r>
            <a:endParaRPr lang="sr-Latn-RS" sz="1800" b="1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.roles(</a:t>
            </a:r>
            <a:r>
              <a:rPr lang="en-US" sz="1800" b="1" i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.get().getRole().toString())</a:t>
            </a:r>
            <a:endParaRPr lang="sr-Latn-RS" sz="1800" b="1" i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.build();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throw new UsernameNotFoundException("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User n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ot found with this username: " +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username);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64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56BEC-5375-CEB0-350A-27F2A846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UserRepository.java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00E5-9BDE-0FC2-D33D-38ABF2C4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9133"/>
            <a:ext cx="9650288" cy="3747031"/>
          </a:xfrm>
        </p:spPr>
        <p:txBody>
          <a:bodyPr/>
          <a:lstStyle/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interface UserRepository extends JpaRepository&lt;User, Long&gt;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Optional&lt;User&gt; findByUsername(String username);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89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88B1-4393-5C90-B803-9854A0B91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User.java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5821F-48FB-F0CE-F05F-1EA5971CD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8424333" cy="48672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@Entity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User {</a:t>
            </a: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@Id</a:t>
            </a: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@GeneratedValue(strategy = GenerationType.IDENTITY)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Long id;</a:t>
            </a:r>
          </a:p>
          <a:p>
            <a:pPr marL="0" indent="0">
              <a:buNone/>
            </a:pP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username;</a:t>
            </a:r>
          </a:p>
          <a:p>
            <a:pPr marL="0" indent="0">
              <a:buNone/>
            </a:pP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password;</a:t>
            </a:r>
          </a:p>
          <a:p>
            <a:pPr marL="0" indent="0">
              <a:buNone/>
            </a:pP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Role role;</a:t>
            </a:r>
          </a:p>
          <a:p>
            <a:pPr marL="0" indent="0">
              <a:buNone/>
            </a:pPr>
            <a:endParaRPr 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@Transient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String jwt;</a:t>
            </a: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394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595F0-5798-42C6-8A38-8B1E0E0C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Role.java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49C48-94F4-22D5-BB29-1E08867C3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public enum </a:t>
            </a:r>
            <a:r>
              <a:rPr lang="en-US" b="1" i="1">
                <a:latin typeface="Courier New" panose="02070309020205020404" pitchFamily="49" charset="0"/>
                <a:cs typeface="Courier New" panose="02070309020205020404" pitchFamily="49" charset="0"/>
              </a:rPr>
              <a:t>Role {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1">
                <a:latin typeface="Courier New" panose="02070309020205020404" pitchFamily="49" charset="0"/>
                <a:cs typeface="Courier New" panose="02070309020205020404" pitchFamily="49" charset="0"/>
              </a:rPr>
              <a:t>USER, ADMIN, ANONYMOUS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4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400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Konfiguracija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2036233"/>
            <a:ext cx="10066867" cy="4705135"/>
          </a:xfrm>
        </p:spPr>
        <p:txBody>
          <a:bodyPr>
            <a:noAutofit/>
          </a:bodyPr>
          <a:lstStyle/>
          <a:p>
            <a:r>
              <a:rPr lang="sr-Latn-RS"/>
              <a:t>Napišemo običnu klasu u kojoj će biti prijavljene sve potrebne komponente za autentikaciju i autorizaciju</a:t>
            </a:r>
          </a:p>
          <a:p>
            <a:pPr lvl="1"/>
            <a:r>
              <a:rPr lang="sr-Latn-RS"/>
              <a:t>komponente su označene @</a:t>
            </a:r>
            <a:r>
              <a:rPr lang="sr-Latn-RS" b="1"/>
              <a:t>Bean</a:t>
            </a:r>
            <a:r>
              <a:rPr lang="sr-Latn-RS"/>
              <a:t> anotacijom</a:t>
            </a:r>
          </a:p>
          <a:p>
            <a:r>
              <a:rPr lang="sr-Latn-RS"/>
              <a:t>Prijavićemo sledeće komponente:</a:t>
            </a:r>
          </a:p>
          <a:p>
            <a:pPr lvl="1"/>
            <a:r>
              <a:rPr lang="sr-Latn-RS" b="1"/>
              <a:t>SecurityFilterChain</a:t>
            </a:r>
            <a:r>
              <a:rPr lang="sr-Latn-RS"/>
              <a:t> – lanac procesiranja zahteva, uz autorizaciju</a:t>
            </a:r>
          </a:p>
          <a:p>
            <a:pPr lvl="2"/>
            <a:r>
              <a:rPr lang="sr-Latn-RS" sz="1800"/>
              <a:t>mesto definicije prava pristupa</a:t>
            </a:r>
          </a:p>
          <a:p>
            <a:pPr lvl="1"/>
            <a:r>
              <a:rPr lang="sr-Latn-RS" b="1"/>
              <a:t>AuthenticationManager</a:t>
            </a:r>
            <a:r>
              <a:rPr lang="sr-Latn-RS"/>
              <a:t> – komponenta za autentikaciju</a:t>
            </a:r>
          </a:p>
          <a:p>
            <a:pPr lvl="2"/>
            <a:r>
              <a:rPr lang="sr-Latn-RS" sz="1800"/>
              <a:t>proverava da li postoji korisnik sa zadatim korisničkim imenom i šifrom</a:t>
            </a:r>
          </a:p>
          <a:p>
            <a:pPr lvl="1"/>
            <a:r>
              <a:rPr lang="sr-Latn-RS" b="1"/>
              <a:t>PasswordEncoder</a:t>
            </a:r>
            <a:r>
              <a:rPr lang="sr-Latn-RS"/>
              <a:t> – za kodiranje/dekodiranje šifre</a:t>
            </a:r>
          </a:p>
          <a:p>
            <a:pPr lvl="2"/>
            <a:r>
              <a:rPr lang="sr-Latn-RS" sz="1800" b="1"/>
              <a:t>šifra se u bazi ne čuva u obliku teksta, već obično u obliku hash-a</a:t>
            </a:r>
          </a:p>
        </p:txBody>
      </p:sp>
    </p:spTree>
    <p:extLst>
      <p:ext uri="{BB962C8B-B14F-4D97-AF65-F5344CB8AC3E}">
        <p14:creationId xmlns:p14="http://schemas.microsoft.com/office/powerpoint/2010/main" val="68331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508"/>
            <a:ext cx="10515600" cy="830306"/>
          </a:xfrm>
        </p:spPr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59148"/>
            <a:ext cx="10977033" cy="5805178"/>
          </a:xfrm>
        </p:spPr>
        <p:txBody>
          <a:bodyPr>
            <a:noAutofit/>
          </a:bodyPr>
          <a:lstStyle/>
          <a:p>
            <a:r>
              <a:rPr lang="sr-Latn-RS" sz="1800"/>
              <a:t>Lanac procesiranja zahteva služi da se podešavaju autorizaciona pravila.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@Bean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SecurityFilterChain filterChain(HttpSecurity http) throws Exception {</a:t>
            </a:r>
            <a:endParaRPr 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csrf-&gt;disabled, pošto nam JWT odrađuje zaštitu od CSRF napada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http.csrf().disable()</a:t>
            </a:r>
            <a:endParaRPr 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.authorizeRequests()</a:t>
            </a:r>
            <a:endParaRPr 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statički html i login mogu svi da pozovu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.antMatchers("/*").permitAll().antMatchers("/api/v2/login/*").permitAll()</a:t>
            </a:r>
            <a:endParaRPr 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sav pristup API-ju mora da bude autentikovan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.antMatchers("/api/v2/student/**").authenticated()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.and()</a:t>
            </a:r>
            <a:endParaRPr lang="sr-Latn-R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i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 koristimo HttpSession i kukije</a:t>
            </a:r>
            <a:endParaRPr lang="en-US" sz="16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.sessionManagement().sessionCreationPolicy(</a:t>
            </a:r>
            <a:r>
              <a:rPr lang="en-US" sz="1600" b="1" i="1">
                <a:latin typeface="Courier New" panose="02070309020205020404" pitchFamily="49" charset="0"/>
                <a:cs typeface="Courier New" panose="02070309020205020404" pitchFamily="49" charset="0"/>
              </a:rPr>
              <a:t>SessionCreationPolicy.STATELESS); </a:t>
            </a:r>
          </a:p>
          <a:p>
            <a:pPr marL="0" indent="0">
              <a:buNone/>
            </a:pPr>
            <a:r>
              <a:rPr 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JWT procesiramo pre </a:t>
            </a:r>
            <a:r>
              <a:rPr lang="sr-Latn-RS" sz="16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ostalog procesiranja</a:t>
            </a:r>
          </a:p>
          <a:p>
            <a:pPr marL="0" indent="0">
              <a:buNone/>
            </a:pPr>
            <a:r>
              <a:rPr 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http.addFilterBefore(jwtRequestFilter, UsernamePasswordAuthenticationFilter.class); </a:t>
            </a:r>
          </a:p>
          <a:p>
            <a:pPr marL="0" indent="0">
              <a:buNone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return http.build();</a:t>
            </a:r>
          </a:p>
          <a:p>
            <a:pPr marL="0" indent="0">
              <a:buNone/>
            </a:pPr>
            <a:r>
              <a:rPr 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        </a:t>
            </a: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6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/>
              <a:t>.</a:t>
            </a:r>
            <a:r>
              <a:rPr lang="sr-Latn-RS" i="1"/>
              <a:t>authorizeRequests</a:t>
            </a:r>
            <a:r>
              <a:rPr lang="sr-Latn-RS"/>
              <a:t>() – svi zahtevi moraju da budu autorizovani lancem pravila koji sledi</a:t>
            </a:r>
          </a:p>
          <a:p>
            <a:r>
              <a:rPr lang="sr-Latn-RS"/>
              <a:t>.</a:t>
            </a:r>
            <a:r>
              <a:rPr lang="sr-Latn-RS" i="1"/>
              <a:t>antMatchers</a:t>
            </a:r>
            <a:r>
              <a:rPr lang="sr-Latn-RS"/>
              <a:t>(</a:t>
            </a:r>
            <a:r>
              <a:rPr lang="sr-Latn-RS" i="1"/>
              <a:t>putanja</a:t>
            </a:r>
            <a:r>
              <a:rPr lang="sr-Latn-RS"/>
              <a:t>) – ako se putanja iz HTTP zahteva poklapa sa prosleđenom putanjom, primeni pravila koja slede</a:t>
            </a:r>
          </a:p>
          <a:p>
            <a:pPr lvl="1"/>
            <a:r>
              <a:rPr lang="sr-Latn-RS"/>
              <a:t>Putanje se proveravaju od najspecifičnije, ka najopštijoj</a:t>
            </a:r>
          </a:p>
          <a:p>
            <a:r>
              <a:rPr lang="en-US"/>
              <a:t>.</a:t>
            </a:r>
            <a:r>
              <a:rPr lang="en-US" i="1"/>
              <a:t>permitAll</a:t>
            </a:r>
            <a:r>
              <a:rPr lang="en-US"/>
              <a:t>()</a:t>
            </a:r>
            <a:r>
              <a:rPr lang="sr-Latn-RS"/>
              <a:t> – pravilo koje dozvoljava pristup svim zahtevima (ne moraju da budu autentikovani)</a:t>
            </a:r>
          </a:p>
          <a:p>
            <a:r>
              <a:rPr lang="en-US"/>
              <a:t>.</a:t>
            </a:r>
            <a:r>
              <a:rPr lang="en-US" i="1"/>
              <a:t>access</a:t>
            </a:r>
            <a:r>
              <a:rPr lang="en-US"/>
              <a:t>("hasRole('ROLE_USER') or hasRole('ROLE_ADMIN')")</a:t>
            </a:r>
            <a:r>
              <a:rPr lang="sr-Latn-RS"/>
              <a:t> – pravilo koje dozvoljava pristup samo autentikovanim korisnicima čija uloga je USER ili ADMIN</a:t>
            </a:r>
          </a:p>
          <a:p>
            <a:pPr lvl="1"/>
            <a:r>
              <a:rPr lang="sr-Latn-RS"/>
              <a:t>Ovo se elegantnije rešava posebnom anotacijom u REST endpointu: </a:t>
            </a:r>
            <a:r>
              <a:rPr lang="en-US" sz="2900" b="1">
                <a:latin typeface="Courier New" panose="02070309020205020404" pitchFamily="49" charset="0"/>
                <a:cs typeface="Courier New" panose="02070309020205020404" pitchFamily="49" charset="0"/>
              </a:rPr>
              <a:t>@PreAuthorize("hasRole('ADMIN')")</a:t>
            </a:r>
            <a:endParaRPr lang="sr-Latn-R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36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9578280" cy="4525963"/>
          </a:xfrm>
        </p:spPr>
        <p:txBody>
          <a:bodyPr>
            <a:noAutofit/>
          </a:bodyPr>
          <a:lstStyle/>
          <a:p>
            <a:r>
              <a:rPr lang="sr-Latn-RS" sz="2400"/>
              <a:t>.</a:t>
            </a:r>
            <a:r>
              <a:rPr lang="sr-Latn-RS" sz="2400" i="1"/>
              <a:t>and</a:t>
            </a:r>
            <a:r>
              <a:rPr lang="sr-Latn-RS" sz="2400"/>
              <a:t>() – konjukcija</a:t>
            </a:r>
          </a:p>
          <a:p>
            <a:r>
              <a:rPr lang="en-US" sz="2400"/>
              <a:t>.</a:t>
            </a:r>
            <a:r>
              <a:rPr lang="en-US" sz="2400" i="1"/>
              <a:t>httpBasic</a:t>
            </a:r>
            <a:r>
              <a:rPr lang="en-US" sz="2400"/>
              <a:t>()</a:t>
            </a:r>
            <a:r>
              <a:rPr lang="sr-Latn-RS" sz="2400"/>
              <a:t> – koristi basic autentikaciju (korisničko ime i šifra su Base64-enkodirani u zahtev)</a:t>
            </a:r>
          </a:p>
          <a:p>
            <a:r>
              <a:rPr lang="sr-Latn-RS" sz="2400"/>
              <a:t>.</a:t>
            </a:r>
            <a:r>
              <a:rPr lang="sr-Latn-RS" sz="2400" i="1"/>
              <a:t>formLogin</a:t>
            </a:r>
            <a:r>
              <a:rPr lang="sr-Latn-RS" sz="2400"/>
              <a:t>() – logovanje formom</a:t>
            </a:r>
          </a:p>
          <a:p>
            <a:pPr lvl="1"/>
            <a:r>
              <a:rPr lang="en-US" sz="2000"/>
              <a:t>.loginPage("/login")</a:t>
            </a:r>
            <a:r>
              <a:rPr lang="sr-Latn-RS" sz="2000"/>
              <a:t> – lokacija login stranice, ako želimo da napravimo custom login stranicu</a:t>
            </a:r>
          </a:p>
          <a:p>
            <a:r>
              <a:rPr lang="en-US" sz="2400"/>
              <a:t>.</a:t>
            </a:r>
            <a:r>
              <a:rPr lang="en-US" sz="2400" i="1"/>
              <a:t>logout</a:t>
            </a:r>
            <a:r>
              <a:rPr lang="en-US" sz="2400"/>
              <a:t>()</a:t>
            </a:r>
            <a:r>
              <a:rPr lang="sr-Latn-RS" sz="2400"/>
              <a:t> – počinjemo konfigurisanje procedure za odjavljivanje</a:t>
            </a:r>
          </a:p>
          <a:p>
            <a:pPr lvl="1"/>
            <a:r>
              <a:rPr lang="en-US" sz="2000"/>
              <a:t>.logoutUrl("/my/logout") </a:t>
            </a:r>
            <a:r>
              <a:rPr lang="sr-Latn-RS" sz="2000"/>
              <a:t>– URL koji aktivira odjavljivanje</a:t>
            </a:r>
          </a:p>
          <a:p>
            <a:pPr lvl="1"/>
            <a:r>
              <a:rPr lang="en-US" sz="2000"/>
              <a:t>.logoutSuccessUrl("/my/index")</a:t>
            </a:r>
            <a:r>
              <a:rPr lang="sr-Latn-RS" sz="2000"/>
              <a:t> – po završetku odjave, idi ovde</a:t>
            </a:r>
          </a:p>
          <a:p>
            <a:pPr lvl="1"/>
            <a:r>
              <a:rPr lang="en-US" sz="2000"/>
              <a:t>.invalidateHttpSession(true)</a:t>
            </a:r>
            <a:r>
              <a:rPr lang="sr-Latn-RS" sz="2000"/>
              <a:t> – brisanje svih objekata iz sesije</a:t>
            </a:r>
          </a:p>
          <a:p>
            <a:pPr lvl="1"/>
            <a:r>
              <a:rPr lang="en-US" sz="2000"/>
              <a:t>.deleteCookies(</a:t>
            </a:r>
            <a:r>
              <a:rPr lang="en-US" sz="2000" i="1"/>
              <a:t>cookieNamesToClear</a:t>
            </a:r>
            <a:r>
              <a:rPr lang="en-US" sz="2000"/>
              <a:t>)</a:t>
            </a:r>
            <a:r>
              <a:rPr lang="sr-Latn-RS" sz="2000"/>
              <a:t> – obriši i ove kukije prilikom odjave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144194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9290248" cy="4525963"/>
          </a:xfrm>
        </p:spPr>
        <p:txBody>
          <a:bodyPr/>
          <a:lstStyle/>
          <a:p>
            <a:r>
              <a:rPr lang="sr-Latn-RS"/>
              <a:t>.csrf() – zaštita od </a:t>
            </a:r>
            <a:r>
              <a:rPr lang="sr-Latn-RS" i="1"/>
              <a:t>Cross Site Request Forgery</a:t>
            </a:r>
            <a:r>
              <a:rPr lang="sr-Latn-RS"/>
              <a:t> napada</a:t>
            </a:r>
          </a:p>
          <a:p>
            <a:pPr lvl="1"/>
            <a:r>
              <a:rPr lang="sr-Latn-RS"/>
              <a:t>.</a:t>
            </a:r>
            <a:r>
              <a:rPr lang="sr-Latn-RS" i="1"/>
              <a:t>disable</a:t>
            </a:r>
            <a:r>
              <a:rPr lang="sr-Latn-RS"/>
              <a:t>() – isključujemo ovu zaštitu jer koristimo JWT</a:t>
            </a:r>
          </a:p>
          <a:p>
            <a:pPr lvl="1"/>
            <a:r>
              <a:rPr lang="sr-Latn-RS">
                <a:solidFill>
                  <a:srgbClr val="FF0000"/>
                </a:solidFill>
              </a:rPr>
              <a:t>Ako ovo ne isključimo, praviće ozbiljne probleme kod JWT-a</a:t>
            </a:r>
          </a:p>
          <a:p>
            <a:pPr lvl="1"/>
            <a:r>
              <a:rPr lang="sr-Latn-RS">
                <a:solidFill>
                  <a:srgbClr val="FF0000"/>
                </a:solidFill>
              </a:rPr>
              <a:t>Radi dobro sa kukijima</a:t>
            </a:r>
          </a:p>
        </p:txBody>
      </p:sp>
    </p:spTree>
    <p:extLst>
      <p:ext uri="{BB962C8B-B14F-4D97-AF65-F5344CB8AC3E}">
        <p14:creationId xmlns:p14="http://schemas.microsoft.com/office/powerpoint/2010/main" val="4259899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9BC-9CD2-83D4-1D19-F6DD13C9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439"/>
            <a:ext cx="10515600" cy="635948"/>
          </a:xfrm>
        </p:spPr>
        <p:txBody>
          <a:bodyPr>
            <a:normAutofit fontScale="90000"/>
          </a:bodyPr>
          <a:lstStyle/>
          <a:p>
            <a:r>
              <a:rPr lang="sr-Latn-RS"/>
              <a:t>Autorizacija v3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3A987-42D9-DCBE-0E66-E68EAF538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691" y="832060"/>
            <a:ext cx="11622847" cy="59414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@Bean</a:t>
            </a: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public SecurityFilterChain filterChain(HttpSecurity http) throws Exception {</a:t>
            </a:r>
            <a:endParaRPr lang="sr-Latn-RS" sz="15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http</a:t>
            </a:r>
            <a:endParaRPr lang="sr-Latn-RS" sz="15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.cors(cors -&gt; {}) </a:t>
            </a:r>
            <a:r>
              <a:rPr lang="sr-Latn-R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dozvolimo pristup REST-u sa drugog sajta (localhost:4200)</a:t>
            </a:r>
          </a:p>
          <a:p>
            <a:pPr marL="0" indent="0">
              <a:buNone/>
            </a:pP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.csrf(csrf -&gt; csrf.disable())</a:t>
            </a: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sr-Latn-R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isključimo, </a:t>
            </a:r>
            <a:r>
              <a:rPr lang="en-U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pošto nam JWT odrađuje zaštitu od CSRF napada</a:t>
            </a:r>
            <a:endParaRPr lang="sr-Latn-RS" sz="15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.authorizeHttpRequests(auth -&gt; auth</a:t>
            </a: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.requestMatchers("/*").permitAll()</a:t>
            </a: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statički html mogu svi da pozovu</a:t>
            </a:r>
            <a:endParaRPr lang="en-US" sz="15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.requestMatchers("/*/*").permitAll() </a:t>
            </a:r>
            <a:r>
              <a:rPr lang="en-U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statički html mogu svi da pozovu</a:t>
            </a: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.requestMatchers("/api/v2/login").permitAll() </a:t>
            </a:r>
            <a:r>
              <a:rPr lang="en-U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login mogu svi da pozovu</a:t>
            </a: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.requestMatchers("/api/v2/student/**").authenticated()</a:t>
            </a: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    .requestMatchers("/api/v2/city/**").permitAll()</a:t>
            </a: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 ).sessionManagement(session -&gt; {</a:t>
            </a: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 koristimo cookie-je</a:t>
            </a:r>
            <a:endParaRPr lang="en-US" sz="15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         session.sessionCreationPolicy(SessionCreationPolicy.STATELESS);</a:t>
            </a: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    })</a:t>
            </a:r>
            <a:endParaRPr lang="sr-Latn-RS" sz="1500" b="1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JWT procesiramo pre </a:t>
            </a:r>
            <a:r>
              <a:rPr lang="sr-Latn-RS" sz="15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ostalog procesiranja</a:t>
            </a:r>
          </a:p>
          <a:p>
            <a:pPr marL="0" indent="0">
              <a:buNone/>
            </a:pPr>
            <a:r>
              <a:rPr lang="sr-Latn-RS" sz="15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5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.addFilterBefore(jwtRequestFilter, UsernamePasswordAuthenticationFilter.class); </a:t>
            </a:r>
          </a:p>
          <a:p>
            <a:pPr marL="0" indent="0">
              <a:buNone/>
            </a:pP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return http.build();</a:t>
            </a:r>
          </a:p>
          <a:p>
            <a:pPr marL="0" indent="0">
              <a:buNone/>
            </a:pPr>
            <a:r>
              <a:rPr 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}        </a:t>
            </a:r>
            <a:r>
              <a:rPr lang="sr-Latn-RS" sz="15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5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37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2FFE-DF31-9230-18D0-791D4B9A9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CORS provera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0062F-D860-B8CB-05C0-2C45D9E91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/>
              <a:t>Dok smo u development režimu, možda ćemo imati potrebu da dozvolimo development verziji frontenda da pristupi backendu</a:t>
            </a:r>
          </a:p>
          <a:p>
            <a:pPr lvl="1"/>
            <a:r>
              <a:rPr lang="sr-Latn-RS"/>
              <a:t>Development verzija frontenda može da bude na drugom web serveru</a:t>
            </a:r>
          </a:p>
          <a:p>
            <a:pPr lvl="1"/>
            <a:r>
              <a:rPr lang="sr-Latn-RS"/>
              <a:t>localhost:4200, ne primer</a:t>
            </a:r>
          </a:p>
          <a:p>
            <a:r>
              <a:rPr lang="sr-Latn-RS"/>
              <a:t>Onda osim </a:t>
            </a:r>
            <a:r>
              <a:rPr lang="sr-Latn-RS" b="1"/>
              <a:t>filterChain</a:t>
            </a:r>
            <a:r>
              <a:rPr lang="sr-Latn-RS"/>
              <a:t> metode, menjamo i kontrolere: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@RestController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@CrossOrigin (origins="*") 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64646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"/api/v2/student"</a:t>
            </a:r>
            <a:r>
              <a:rPr 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StudentController {</a:t>
            </a:r>
            <a:endParaRPr lang="sr-Latn-RS" sz="2400" b="1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sr-Latn-R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 marL="0" indent="0" algn="l">
              <a:buNone/>
            </a:pPr>
            <a:r>
              <a:rPr lang="sr-Latn-RS" sz="24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125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C6444-83B5-7727-8786-2CA813DB6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AuthenticationManager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D32E4-A823-B386-3144-AFD6F7DC9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033" y="1825625"/>
            <a:ext cx="11853333" cy="4351338"/>
          </a:xfrm>
        </p:spPr>
        <p:txBody>
          <a:bodyPr>
            <a:normAutofit/>
          </a:bodyPr>
          <a:lstStyle/>
          <a:p>
            <a:r>
              <a:rPr lang="sr-Latn-RS"/>
              <a:t>Treba da vrati instancu </a:t>
            </a:r>
            <a:r>
              <a:rPr lang="sr-Latn-RS" b="1"/>
              <a:t>AuthenticationManager</a:t>
            </a:r>
            <a:r>
              <a:rPr lang="sr-Latn-RS"/>
              <a:t>-a:</a:t>
            </a:r>
          </a:p>
          <a:p>
            <a:endParaRPr lang="sr-Latn-RS"/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@Bean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AuthenticationManager authenticationManager(AuthenticationConfiguration 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throws Exception {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.getAuthenticationManager();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1668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47EB-6922-EA34-BDEC-BAB13FC9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PasswordEncoder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02A94-1BE8-32ED-6837-1B90A3268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60100" cy="4351338"/>
          </a:xfrm>
        </p:spPr>
        <p:txBody>
          <a:bodyPr>
            <a:normAutofit/>
          </a:bodyPr>
          <a:lstStyle/>
          <a:p>
            <a:r>
              <a:rPr lang="sr-Latn-RS"/>
              <a:t>Vraća instancu </a:t>
            </a:r>
            <a:r>
              <a:rPr lang="sr-Latn-RS" b="1"/>
              <a:t>PasswordEncoder</a:t>
            </a:r>
            <a:r>
              <a:rPr lang="sr-Latn-RS"/>
              <a:t>-a:</a:t>
            </a:r>
          </a:p>
          <a:p>
            <a:endParaRPr lang="sr-Latn-RS"/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@Bean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PasswordEncoder passwordEncoder() {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PasswordEncoder encoder = new BCryptPasswordEncoder();</a:t>
            </a:r>
          </a:p>
          <a:p>
            <a:pPr marL="0" indent="0">
              <a:buNone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System.out.println("&gt;&gt;&gt;" + encoder.encode("proba"));</a:t>
            </a:r>
          </a:p>
          <a:p>
            <a:pPr marL="0" indent="0">
              <a:buNone/>
            </a:pP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sr-Latn-R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System.out.println("&gt;&gt;&gt;" + encoder.encode("admin"));</a:t>
            </a:r>
          </a:p>
          <a:p>
            <a:pPr marL="0" indent="0">
              <a:buNone/>
            </a:pP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return encoder;</a:t>
            </a:r>
          </a:p>
          <a:p>
            <a:pPr marL="0" indent="0">
              <a:buNone/>
            </a:pPr>
            <a:r>
              <a:rPr 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66181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Json Web Token - JWT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sz="3200"/>
              <a:t>Token koji se generiše prvi put na serveru, vraća klijentu i koji klijent šalje u zahtevu svaki put kada se obraća serveru.</a:t>
            </a:r>
          </a:p>
          <a:p>
            <a:r>
              <a:rPr lang="sr-Latn-RS" sz="3200"/>
              <a:t>Sastoji se iz Base64 enkodiranog JSON stringa:</a:t>
            </a:r>
          </a:p>
          <a:p>
            <a:pPr lvl="1"/>
            <a:r>
              <a:rPr lang="sr-Latn-RS" sz="2800"/>
              <a:t>Header,</a:t>
            </a:r>
          </a:p>
          <a:p>
            <a:pPr lvl="1"/>
            <a:r>
              <a:rPr lang="sr-Latn-RS" sz="2800"/>
              <a:t>Payload,</a:t>
            </a:r>
          </a:p>
          <a:p>
            <a:pPr lvl="1"/>
            <a:r>
              <a:rPr lang="sr-Latn-RS" sz="2800"/>
              <a:t>Signature.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28951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JWT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76358" cy="4351338"/>
          </a:xfrm>
        </p:spPr>
        <p:txBody>
          <a:bodyPr>
            <a:normAutofit/>
          </a:bodyPr>
          <a:lstStyle/>
          <a:p>
            <a:r>
              <a:rPr lang="sr-Latn-RS" sz="3200"/>
              <a:t>Hader:</a:t>
            </a:r>
          </a:p>
          <a:p>
            <a:pPr lvl="1"/>
            <a:r>
              <a:rPr lang="en-US" sz="2800"/>
              <a:t> "alg": "HS256",</a:t>
            </a:r>
          </a:p>
          <a:p>
            <a:pPr lvl="1"/>
            <a:r>
              <a:rPr lang="en-US" sz="2800"/>
              <a:t>  "typ": "JWT"</a:t>
            </a:r>
            <a:r>
              <a:rPr lang="sr-Latn-RS" sz="2800"/>
              <a:t>.</a:t>
            </a:r>
          </a:p>
          <a:p>
            <a:r>
              <a:rPr lang="sr-Latn-RS" sz="3200"/>
              <a:t>Payload:</a:t>
            </a:r>
          </a:p>
          <a:p>
            <a:pPr lvl="1"/>
            <a:r>
              <a:rPr lang="sr-Latn-RS" sz="2800"/>
              <a:t>Registered claims: </a:t>
            </a:r>
            <a:r>
              <a:rPr lang="en-US" sz="2800"/>
              <a:t> </a:t>
            </a:r>
            <a:r>
              <a:rPr lang="en-US" sz="2800" b="1"/>
              <a:t>iss</a:t>
            </a:r>
            <a:r>
              <a:rPr lang="en-US" sz="2800"/>
              <a:t> (issuer), </a:t>
            </a:r>
            <a:r>
              <a:rPr lang="en-US" sz="2800" b="1"/>
              <a:t>exp</a:t>
            </a:r>
            <a:r>
              <a:rPr lang="en-US" sz="2800"/>
              <a:t> (expiration</a:t>
            </a:r>
            <a:r>
              <a:rPr lang="sr-Latn-RS" sz="2800"/>
              <a:t> </a:t>
            </a:r>
            <a:r>
              <a:rPr lang="en-US" sz="2800"/>
              <a:t>time), </a:t>
            </a:r>
            <a:r>
              <a:rPr lang="en-US" sz="2800" b="1"/>
              <a:t>sub</a:t>
            </a:r>
            <a:r>
              <a:rPr lang="en-US" sz="2800"/>
              <a:t> (subject), </a:t>
            </a:r>
            <a:r>
              <a:rPr lang="en-US" sz="2800" b="1"/>
              <a:t>aud</a:t>
            </a:r>
            <a:r>
              <a:rPr lang="en-US" sz="2800"/>
              <a:t> (audience)</a:t>
            </a:r>
            <a:r>
              <a:rPr lang="sr-Latn-RS" sz="2800"/>
              <a:t>,...</a:t>
            </a:r>
          </a:p>
          <a:p>
            <a:pPr lvl="1"/>
            <a:r>
              <a:rPr lang="sr-Latn-RS" sz="2800"/>
              <a:t>Public claims: </a:t>
            </a:r>
            <a:r>
              <a:rPr lang="sr-Latn-RS" sz="2800">
                <a:hlinkClick r:id="rId2"/>
              </a:rPr>
              <a:t>JSON Web Token Registry</a:t>
            </a:r>
            <a:endParaRPr lang="sr-Latn-RS" sz="2800"/>
          </a:p>
          <a:p>
            <a:pPr lvl="1"/>
            <a:r>
              <a:rPr lang="sr-Latn-RS" sz="2800"/>
              <a:t>Private claims: kao što mu ime kaže...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40894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4B735C05-5A29-3796-4E20-8A8EC4C34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721" y="394975"/>
            <a:ext cx="9461079" cy="562074"/>
          </a:xfrm>
        </p:spPr>
        <p:txBody>
          <a:bodyPr>
            <a:normAutofit fontScale="90000"/>
          </a:bodyPr>
          <a:lstStyle/>
          <a:p>
            <a:r>
              <a:rPr lang="sr-Latn-RS" altLang="en-US"/>
              <a:t>JWT - Primer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05146-EB32-CA33-1629-E3117C112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21" y="1183086"/>
            <a:ext cx="10851457" cy="523071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sr-Latn-RS" sz="2000"/>
              <a:t>Tekst: </a:t>
            </a:r>
            <a:r>
              <a:rPr lang="sr-Latn-R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eyJhbGciOiJIUzUxMiJ9</a:t>
            </a:r>
            <a:r>
              <a:rPr lang="sr-Latn-RS" sz="2000" b="1">
                <a:latin typeface="Courier New" panose="02070309020205020404" pitchFamily="49" charset="0"/>
                <a:cs typeface="Courier New" panose="02070309020205020404" pitchFamily="49" charset="0"/>
              </a:rPr>
              <a:t>.eyJzdWIiOiJwZXJhIiwiZXhwIjoxNTc2MjQ0NjE5LCJpYXQiOjE1NzYyMjY2MTl9.</a:t>
            </a:r>
            <a:r>
              <a:rPr lang="sr-Latn-RS" sz="2000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TeIklUDbh-oTp1nNlmSdTPpckwBb3jwZSfnFroJU3aYe-hEXsFwNknL0G7ztyT4Fq3il9RfBB_L2aNMtmW7ykw</a:t>
            </a:r>
          </a:p>
          <a:p>
            <a:pPr>
              <a:defRPr/>
            </a:pPr>
            <a:r>
              <a:rPr lang="sr-Latn-RS" sz="2000"/>
              <a:t>Header:</a:t>
            </a:r>
          </a:p>
          <a:p>
            <a:pPr marL="457200" lvl="1" indent="0">
              <a:buNone/>
              <a:defRPr/>
            </a:pPr>
            <a:r>
              <a:rPr 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  <a:defRPr/>
            </a:pPr>
            <a:r>
              <a:rPr 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"alg": "HS512"</a:t>
            </a:r>
          </a:p>
          <a:p>
            <a:pPr marL="457200" lvl="1" indent="0">
              <a:buNone/>
              <a:defRPr/>
            </a:pPr>
            <a:r>
              <a:rPr lang="sr-Latn-R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sr-Latn-RS" sz="2000"/>
              <a:t>Payload: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"sub": "pera",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"exp": 1576244619,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  "iat": 1576226619</a:t>
            </a:r>
          </a:p>
          <a:p>
            <a:pPr marL="457200" lvl="1" indent="0">
              <a:buNone/>
              <a:defRPr/>
            </a:pPr>
            <a:r>
              <a:rPr lang="sr-Latn-R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lang="sr-Latn-RS" sz="2000"/>
              <a:t>Signature:</a:t>
            </a:r>
          </a:p>
          <a:p>
            <a:pPr lvl="1">
              <a:defRPr/>
            </a:pPr>
            <a:r>
              <a:rPr lang="sr-Latn-RS" sz="1600">
                <a:solidFill>
                  <a:srgbClr val="00B0F0"/>
                </a:solidFill>
              </a:rPr>
              <a:t>Digitalni potpis</a:t>
            </a:r>
            <a:endParaRPr lang="en-US" sz="160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JWT - flow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Prilikom prijave na sistem, ako su kredencijali OK, u HTTP odgovoru se šalje upravo izgenerisani JWT token.</a:t>
            </a:r>
          </a:p>
          <a:p>
            <a:r>
              <a:rPr lang="sr-Latn-RS"/>
              <a:t>Svaki naredni REST zahtev sadrži i JWT token</a:t>
            </a:r>
          </a:p>
          <a:p>
            <a:pPr lvl="1"/>
            <a:r>
              <a:rPr lang="sr-Latn-RS"/>
              <a:t>server proverava validnost tokena i identifikuje korisnika na osnovu tokena.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56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1EF3E-2361-2E0F-6ADC-153C24CA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r-Latn-RS" sz="3600"/>
              <a:t>Spring - uključujemo JWT u autentikaciju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25A09-155A-7ADA-1A61-92114DB36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Unutar </a:t>
            </a:r>
            <a:r>
              <a:rPr lang="sr-Latn-RS" i="1"/>
              <a:t>filterChain</a:t>
            </a:r>
            <a:r>
              <a:rPr lang="sr-Latn-RS"/>
              <a:t> metode definišemo da se procesiranje HTTP zahteva mora obaviti pre autentikacije i autorizacije</a:t>
            </a:r>
          </a:p>
          <a:p>
            <a:pPr lvl="1"/>
            <a:r>
              <a:rPr lang="sr-Latn-RS"/>
              <a:t>Tu ćemo potražiti JWT u okviru </a:t>
            </a:r>
            <a:r>
              <a:rPr lang="sr-Latn-RS" i="1"/>
              <a:t>Authorization</a:t>
            </a:r>
            <a:r>
              <a:rPr lang="sr-Latn-RS"/>
              <a:t> atributa HTTP zahteva </a:t>
            </a:r>
          </a:p>
          <a:p>
            <a:pPr lvl="1"/>
            <a:r>
              <a:rPr lang="sr-Latn-RS"/>
              <a:t>Ako ga nađemo i ako je validan, onda iz JWT tokena izvlačimo identitet korisnika i prijavljujemo ga u sistem na isti način kao kada smo uradili login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93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57079-ED39-2A17-C32B-5113A3AB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6750"/>
          </a:xfrm>
        </p:spPr>
        <p:txBody>
          <a:bodyPr/>
          <a:lstStyle/>
          <a:p>
            <a:r>
              <a:rPr lang="en-US"/>
              <a:t>WebSecurityConfiguration</a:t>
            </a:r>
            <a:r>
              <a:rPr lang="sr-Latn-RS"/>
              <a:t>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A9B4-0DC7-1682-123B-2656A009E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822"/>
            <a:ext cx="10515600" cy="52053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@Autowired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private JwtRequestFilter jwtRequestFilter;</a:t>
            </a:r>
          </a:p>
          <a:p>
            <a:pPr marL="0" indent="0">
              <a:buNone/>
            </a:pPr>
            <a:r>
              <a:rPr lang="en-US" sz="1800" b="1" i="1">
                <a:latin typeface="Courier New" panose="02070309020205020404" pitchFamily="49" charset="0"/>
                <a:cs typeface="Courier New" panose="02070309020205020404" pitchFamily="49" charset="0"/>
              </a:rPr>
              <a:t>@Bean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SecurityFilterChain filterChain(HttpSecurity http) throws Exception {</a:t>
            </a:r>
            <a:endParaRPr lang="sr-Latn-R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csrf-&gt;disabled, pošto nam JWT odrađuje zaštitu od CSRF napada</a:t>
            </a: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http.csrf().disable()</a:t>
            </a:r>
            <a:endParaRPr lang="sr-Latn-RS" sz="1800" b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.authorizeRequests()</a:t>
            </a:r>
            <a:endParaRPr lang="sr-Latn-RS" sz="1800" b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statički html i login mogu svi da pozovu</a:t>
            </a: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.antMatchers("/*").permitAll().antMatchers("/api/v2/login/*").permitAll()</a:t>
            </a:r>
            <a:endParaRPr lang="sr-Latn-RS" sz="1800" b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sav pristup API-ju mora da bude autentikovan</a:t>
            </a: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.antMatchers("/api/v2/student/**").authenticated()</a:t>
            </a: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.and()</a:t>
            </a:r>
            <a:endParaRPr lang="sr-Latn-RS" sz="1800" b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ne koristimo HttpSession i kukije</a:t>
            </a:r>
            <a:endParaRPr lang="en-US" sz="1800" b="1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.sessionManagement().sessionCreationPolicy(</a:t>
            </a:r>
            <a:r>
              <a:rPr lang="en-US" sz="1800" b="1" i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SessionCreationPolicy.STATELESS); </a:t>
            </a:r>
          </a:p>
          <a:p>
            <a:pPr marL="0" indent="0">
              <a:buNone/>
            </a:pPr>
            <a: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JWT procesiramo pre </a:t>
            </a:r>
            <a: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ostalog procesiranja</a:t>
            </a:r>
          </a:p>
          <a:p>
            <a:pPr marL="0" indent="0">
              <a:buNone/>
            </a:pPr>
            <a:r>
              <a:rPr lang="sr-Latn-R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http.addFilterBefore(jwtRequestFilter, UsernamePasswordAuthenticationFilter.class); </a:t>
            </a:r>
          </a:p>
          <a:p>
            <a:pPr marL="0" indent="0">
              <a:buNone/>
            </a:pP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return http.build();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301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AE7A-8F8C-4037-A597-3BCD98ED0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JwtRequestFilter.java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28842-36A1-72E6-B00C-E78ACB4E0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60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marL="457200" lvl="1" indent="0">
              <a:buNone/>
            </a:pPr>
            <a:r>
              <a:rPr lang="en-US" sz="1600">
                <a:solidFill>
                  <a:srgbClr val="6A3E3E"/>
                </a:solidFill>
                <a:latin typeface="Consolas" panose="020B0609020204030204" pitchFamily="49" charset="0"/>
              </a:rPr>
              <a:t>username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>
                <a:solidFill>
                  <a:srgbClr val="0000C0"/>
                </a:solidFill>
                <a:latin typeface="Consolas" panose="020B0609020204030204" pitchFamily="49" charset="0"/>
              </a:rPr>
              <a:t>jwtTokenUtil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extractUsername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b="1">
                <a:solidFill>
                  <a:srgbClr val="6A3E3E"/>
                </a:solidFill>
                <a:latin typeface="Consolas" panose="020B0609020204030204" pitchFamily="49" charset="0"/>
              </a:rPr>
              <a:t>jwtToken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UserDetails </a:t>
            </a:r>
            <a:r>
              <a:rPr lang="en-US" sz="1600">
                <a:solidFill>
                  <a:schemeClr val="accent5"/>
                </a:solidFill>
                <a:latin typeface="Consolas" panose="020B0609020204030204" pitchFamily="49" charset="0"/>
              </a:rPr>
              <a:t>userDetails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b="1">
                <a:solidFill>
                  <a:srgbClr val="0000C0"/>
                </a:solidFill>
                <a:latin typeface="Consolas" panose="020B0609020204030204" pitchFamily="49" charset="0"/>
              </a:rPr>
              <a:t>jwtUserDetailsService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.loadUserByUsername(</a:t>
            </a:r>
            <a:r>
              <a:rPr lang="en-US" sz="1600" b="1">
                <a:solidFill>
                  <a:srgbClr val="6A3E3E"/>
                </a:solidFill>
                <a:latin typeface="Consolas" panose="020B0609020204030204" pitchFamily="49" charset="0"/>
              </a:rPr>
              <a:t>username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1600" b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>
                <a:solidFill>
                  <a:srgbClr val="0000C0"/>
                </a:solidFill>
                <a:latin typeface="Consolas" panose="020B0609020204030204" pitchFamily="49" charset="0"/>
              </a:rPr>
              <a:t>jwtTokenUtil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.validateToken(</a:t>
            </a:r>
            <a:r>
              <a:rPr lang="en-US" sz="1600" b="1">
                <a:solidFill>
                  <a:srgbClr val="6A3E3E"/>
                </a:solidFill>
                <a:latin typeface="Consolas" panose="020B0609020204030204" pitchFamily="49" charset="0"/>
              </a:rPr>
              <a:t>jwtToken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6A3E3E"/>
                </a:solidFill>
                <a:latin typeface="Consolas" panose="020B0609020204030204" pitchFamily="49" charset="0"/>
              </a:rPr>
              <a:t>username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pPr marL="914400" lvl="2" indent="0"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UsernamePasswordAuthenticationToken </a:t>
            </a:r>
            <a:r>
              <a:rPr lang="en-US" sz="1600">
                <a:solidFill>
                  <a:schemeClr val="accent2"/>
                </a:solidFill>
                <a:latin typeface="Consolas" panose="020B0609020204030204" pitchFamily="49" charset="0"/>
              </a:rPr>
              <a:t>usernamePasswordAuthenticationToken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RS" sz="1600" b="1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UsernamePasswordAuthenticationToken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 marL="914400" lvl="2" indent="0">
              <a:buNone/>
            </a:pPr>
            <a:r>
              <a:rPr lang="sr-Latn-RS" sz="1600">
                <a:solidFill>
                  <a:srgbClr val="6A3E3E"/>
                </a:solidFill>
                <a:latin typeface="Consolas" panose="020B0609020204030204" pitchFamily="49" charset="0"/>
              </a:rPr>
              <a:t>		</a:t>
            </a:r>
            <a:r>
              <a:rPr lang="en-US" sz="1600">
                <a:solidFill>
                  <a:srgbClr val="6A3E3E"/>
                </a:solidFill>
                <a:latin typeface="Consolas" panose="020B0609020204030204" pitchFamily="49" charset="0"/>
              </a:rPr>
              <a:t>userDetails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b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>
                <a:solidFill>
                  <a:schemeClr val="accent5"/>
                </a:solidFill>
                <a:latin typeface="Consolas" panose="020B0609020204030204" pitchFamily="49" charset="0"/>
              </a:rPr>
              <a:t>userDetails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.getAuthorities());</a:t>
            </a:r>
          </a:p>
          <a:p>
            <a:pPr marL="914400" lvl="2" indent="0">
              <a:buNone/>
            </a:pPr>
            <a:r>
              <a:rPr lang="en-US" sz="1600">
                <a:solidFill>
                  <a:schemeClr val="accent2"/>
                </a:solidFill>
                <a:latin typeface="Consolas" panose="020B0609020204030204" pitchFamily="49" charset="0"/>
              </a:rPr>
              <a:t>usernamePasswordAuthenticationToken</a:t>
            </a:r>
          </a:p>
          <a:p>
            <a:pPr marL="914400" lvl="2" indent="0">
              <a:buNone/>
            </a:pPr>
            <a:r>
              <a:rPr lang="sr-Latn-RS" sz="160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.setDetails(</a:t>
            </a:r>
            <a:r>
              <a:rPr lang="en-US" sz="1600" b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WebAuthenticationDetailsSource().buildDetails(</a:t>
            </a:r>
            <a:r>
              <a:rPr lang="en-US" sz="1600" b="1">
                <a:solidFill>
                  <a:srgbClr val="6A3E3E"/>
                </a:solidFill>
                <a:latin typeface="Consolas" panose="020B0609020204030204" pitchFamily="49" charset="0"/>
              </a:rPr>
              <a:t>request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914400" lvl="2" indent="0"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SecurityContextHolder.</a:t>
            </a:r>
            <a:r>
              <a:rPr lang="en-US" sz="1600" i="1">
                <a:solidFill>
                  <a:srgbClr val="000000"/>
                </a:solidFill>
                <a:latin typeface="Consolas" panose="020B0609020204030204" pitchFamily="49" charset="0"/>
              </a:rPr>
              <a:t>getContext().</a:t>
            </a:r>
            <a:r>
              <a:rPr lang="en-US" sz="1600" b="1" i="1">
                <a:solidFill>
                  <a:srgbClr val="000000"/>
                </a:solidFill>
                <a:latin typeface="Consolas" panose="020B0609020204030204" pitchFamily="49" charset="0"/>
              </a:rPr>
              <a:t>setAuthentication</a:t>
            </a:r>
            <a:r>
              <a:rPr lang="en-US" sz="1600" i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chemeClr val="accent2"/>
                </a:solidFill>
                <a:latin typeface="Consolas" panose="020B0609020204030204" pitchFamily="49" charset="0"/>
              </a:rPr>
              <a:t>usernamePasswordAuthenticationToken</a:t>
            </a:r>
            <a:r>
              <a:rPr lang="en-US" sz="1600" i="1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57200" lvl="1" indent="0"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r-Latn-RS" sz="16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419902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31F8-59C6-19C6-8F54-B71CBAB2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Autorizacija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3BF60-C9C3-319D-D664-29FCECA78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3986" cy="4351338"/>
          </a:xfrm>
        </p:spPr>
        <p:txBody>
          <a:bodyPr>
            <a:normAutofit/>
          </a:bodyPr>
          <a:lstStyle/>
          <a:p>
            <a:r>
              <a:rPr lang="sr-Latn-RS"/>
              <a:t>Može se uraditi unutar </a:t>
            </a:r>
            <a:r>
              <a:rPr lang="en-US" sz="1800">
                <a:latin typeface="Consolas" panose="020B0609020204030204" pitchFamily="49" charset="0"/>
              </a:rPr>
              <a:t>public SecurityFilterChain filterChain(HttpSecurity http)</a:t>
            </a:r>
            <a:r>
              <a:rPr lang="sr-Latn-RS"/>
              <a:t> metode</a:t>
            </a:r>
          </a:p>
          <a:p>
            <a:r>
              <a:rPr lang="sr-Latn-RS"/>
              <a:t>Ali je elegantnije da se uradi u samom REST endpointu, </a:t>
            </a:r>
            <a:r>
              <a:rPr lang="sr-Latn-RS" i="1"/>
              <a:t>@</a:t>
            </a:r>
            <a:r>
              <a:rPr lang="sr-Latn-RS" b="1"/>
              <a:t>PreAutorize</a:t>
            </a:r>
            <a:r>
              <a:rPr lang="sr-Latn-RS"/>
              <a:t> anotacijom</a:t>
            </a:r>
          </a:p>
          <a:p>
            <a:r>
              <a:rPr lang="sr-Latn-RS"/>
              <a:t>Ne zaboraviti da se uključi ovaj feature unutar konfiguracione klase:</a:t>
            </a:r>
          </a:p>
          <a:p>
            <a:pPr marL="0" indent="0">
              <a:buNone/>
            </a:pPr>
            <a:r>
              <a:rPr lang="pl-PL" sz="1800" b="1">
                <a:latin typeface="Courier New" panose="02070309020205020404" pitchFamily="49" charset="0"/>
                <a:cs typeface="Courier New" panose="02070309020205020404" pitchFamily="49" charset="0"/>
              </a:rPr>
              <a:t>@Configuration</a:t>
            </a:r>
          </a:p>
          <a:p>
            <a:pPr marL="0" indent="0">
              <a:buNone/>
            </a:pPr>
            <a:r>
              <a:rPr lang="pl-PL" sz="1800" b="1">
                <a:latin typeface="Courier New" panose="02070309020205020404" pitchFamily="49" charset="0"/>
                <a:cs typeface="Courier New" panose="02070309020205020404" pitchFamily="49" charset="0"/>
              </a:rPr>
              <a:t>@EnableWebSecurity</a:t>
            </a:r>
          </a:p>
          <a:p>
            <a:pPr marL="0" indent="0">
              <a:buNone/>
            </a:pPr>
            <a:r>
              <a:rPr lang="pl-PL" sz="1800" b="1">
                <a:latin typeface="Courier New" panose="02070309020205020404" pitchFamily="49" charset="0"/>
                <a:cs typeface="Courier New" panose="02070309020205020404" pitchFamily="49" charset="0"/>
              </a:rPr>
              <a:t>@EnableGlobalMethodSecurity(</a:t>
            </a:r>
            <a:r>
              <a:rPr lang="pl-PL" sz="18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prePostEnabled = true</a:t>
            </a:r>
            <a:r>
              <a:rPr lang="pl-PL" sz="1800" b="1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pl-PL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v2</a:t>
            </a: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@EnableMethodSecurity(securedEnabled = true, prePostEnabled = true)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r-Latn-RS" sz="1800" b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v3</a:t>
            </a:r>
            <a:endParaRPr lang="en-US" sz="1800" b="1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WebSecurityConfiguration </a:t>
            </a:r>
            <a:r>
              <a:rPr 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{...}</a:t>
            </a:r>
            <a:endParaRPr lang="en-US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C39A46E6-1254-D2A1-7BFC-1CEEA8E1804E}"/>
              </a:ext>
            </a:extLst>
          </p:cNvPr>
          <p:cNvSpPr/>
          <p:nvPr/>
        </p:nvSpPr>
        <p:spPr>
          <a:xfrm>
            <a:off x="9700399" y="4257420"/>
            <a:ext cx="1706488" cy="612648"/>
          </a:xfrm>
          <a:prstGeom prst="wedgeRoundRectCallout">
            <a:avLst>
              <a:gd name="adj1" fmla="val -101561"/>
              <a:gd name="adj2" fmla="val 1059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i="1">
                <a:solidFill>
                  <a:schemeClr val="bg1"/>
                </a:solidFill>
                <a:latin typeface="Consolas" panose="020B0609020204030204" pitchFamily="49" charset="0"/>
              </a:rPr>
              <a:t>Obavezno za @PreAuthorize</a:t>
            </a:r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636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224B-CDDC-FCEF-1604-2DA289AB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818" y="274638"/>
            <a:ext cx="9157982" cy="850106"/>
          </a:xfrm>
        </p:spPr>
        <p:txBody>
          <a:bodyPr/>
          <a:lstStyle/>
          <a:p>
            <a:r>
              <a:rPr lang="sr-Latn-RS"/>
              <a:t>StudentController.java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6C86A-5057-52B9-2E34-5C9267335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675" y="1228987"/>
            <a:ext cx="9506125" cy="545284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1800" i="1">
                <a:latin typeface="Consolas" panose="020B0609020204030204" pitchFamily="49" charset="0"/>
              </a:rPr>
              <a:t>@RestController</a:t>
            </a:r>
          </a:p>
          <a:p>
            <a:pPr marL="0" indent="0">
              <a:buNone/>
            </a:pPr>
            <a:r>
              <a:rPr lang="en-US" sz="1800" i="1">
                <a:latin typeface="Consolas" panose="020B0609020204030204" pitchFamily="49" charset="0"/>
              </a:rPr>
              <a:t>@RequestMapping("/api/v2/student")</a:t>
            </a:r>
          </a:p>
          <a:p>
            <a:pPr marL="0" indent="0">
              <a:buNone/>
            </a:pPr>
            <a:r>
              <a:rPr lang="en-US" sz="1800">
                <a:latin typeface="Consolas" panose="020B0609020204030204" pitchFamily="49" charset="0"/>
              </a:rPr>
              <a:t>public class StudentController {</a:t>
            </a:r>
            <a:endParaRPr lang="sr-Latn-RS" sz="180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@Autowired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IStudentService service;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@GetMapping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public Collection&lt;Student&gt; getStudents() {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  return service.getAll();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@GetMapping("/{studentId}")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public Student findStudentById(@PathVariable Long studentId) {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  return service.findStudent(studentId);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@PostMapping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</a:t>
            </a:r>
            <a:r>
              <a:rPr lang="sr-Latn-RS" sz="1800" b="1">
                <a:latin typeface="Consolas" panose="020B0609020204030204" pitchFamily="49" charset="0"/>
              </a:rPr>
              <a:t>@PreAuthorize("hasAuthority('ROLE_ADMIN')")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public Student insert(@RequestBody Student student) {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  return service.insert(student);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...</a:t>
            </a:r>
          </a:p>
          <a:p>
            <a:pPr marL="0" indent="0">
              <a:buNone/>
            </a:pPr>
            <a:r>
              <a:rPr lang="sr-Latn-RS" sz="18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3F21169C-84C7-E1AC-C7DA-9623C3D03E77}"/>
              </a:ext>
            </a:extLst>
          </p:cNvPr>
          <p:cNvSpPr/>
          <p:nvPr/>
        </p:nvSpPr>
        <p:spPr>
          <a:xfrm>
            <a:off x="5807968" y="1556792"/>
            <a:ext cx="4608512" cy="1008112"/>
          </a:xfrm>
          <a:prstGeom prst="wedgeRoundRectCallout">
            <a:avLst>
              <a:gd name="adj1" fmla="val -88689"/>
              <a:gd name="adj2" fmla="val -446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Consolas" panose="020B0609020204030204" pitchFamily="49" charset="0"/>
              </a:rPr>
              <a:t>.antMatchers("/api/v2/student/**").authenticated()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FE985D6-8E83-8BCB-C1C2-E4874F33F605}"/>
              </a:ext>
            </a:extLst>
          </p:cNvPr>
          <p:cNvSpPr/>
          <p:nvPr/>
        </p:nvSpPr>
        <p:spPr>
          <a:xfrm>
            <a:off x="7968208" y="2971800"/>
            <a:ext cx="2160240" cy="612648"/>
          </a:xfrm>
          <a:prstGeom prst="wedgeRoundRectCallout">
            <a:avLst>
              <a:gd name="adj1" fmla="val -197027"/>
              <a:gd name="adj2" fmla="val -5769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bg1"/>
                </a:solidFill>
              </a:rPr>
              <a:t>Ovo mogu svi prijavljeni korisnici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55D932E-DB66-C0C1-54C8-9738AC7709B4}"/>
              </a:ext>
            </a:extLst>
          </p:cNvPr>
          <p:cNvSpPr/>
          <p:nvPr/>
        </p:nvSpPr>
        <p:spPr>
          <a:xfrm>
            <a:off x="8328248" y="4074681"/>
            <a:ext cx="2160240" cy="612648"/>
          </a:xfrm>
          <a:prstGeom prst="wedgeRoundRectCallout">
            <a:avLst>
              <a:gd name="adj1" fmla="val -126919"/>
              <a:gd name="adj2" fmla="val -617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bg1"/>
                </a:solidFill>
              </a:rPr>
              <a:t>Ovo mogu svi prijavljani korisnici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20A4483E-BC38-7782-BBAC-A757B610F2BD}"/>
              </a:ext>
            </a:extLst>
          </p:cNvPr>
          <p:cNvSpPr/>
          <p:nvPr/>
        </p:nvSpPr>
        <p:spPr>
          <a:xfrm>
            <a:off x="7032104" y="5094225"/>
            <a:ext cx="2160240" cy="612648"/>
          </a:xfrm>
          <a:prstGeom prst="wedgeRoundRectCallout">
            <a:avLst>
              <a:gd name="adj1" fmla="val -144080"/>
              <a:gd name="adj2" fmla="val -550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>
                <a:solidFill>
                  <a:schemeClr val="bg1"/>
                </a:solidFill>
              </a:rPr>
              <a:t>Ovo može samo ADMIN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939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E17EC-63CF-B03B-DBD9-2F0803C15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Učesnici</a:t>
            </a:r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81CF48-0310-77DB-9F1C-4323F8B920BC}"/>
              </a:ext>
            </a:extLst>
          </p:cNvPr>
          <p:cNvSpPr/>
          <p:nvPr/>
        </p:nvSpPr>
        <p:spPr>
          <a:xfrm>
            <a:off x="4160285" y="1588045"/>
            <a:ext cx="1296144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Frontend</a:t>
            </a:r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6E5F34-D618-D4E6-E646-F7DBCFD5F129}"/>
              </a:ext>
            </a:extLst>
          </p:cNvPr>
          <p:cNvSpPr/>
          <p:nvPr/>
        </p:nvSpPr>
        <p:spPr>
          <a:xfrm>
            <a:off x="3516642" y="2604693"/>
            <a:ext cx="25202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Consolas" panose="020B0609020204030204" pitchFamily="49" charset="0"/>
              </a:rPr>
              <a:t>JwtRequestFilter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3323B80-EB1F-D6E1-8B85-2572DB110B8F}"/>
              </a:ext>
            </a:extLst>
          </p:cNvPr>
          <p:cNvSpPr/>
          <p:nvPr/>
        </p:nvSpPr>
        <p:spPr>
          <a:xfrm>
            <a:off x="3564793" y="5649701"/>
            <a:ext cx="25202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REST endpoint</a:t>
            </a: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72BDA6-1E6B-C0CB-89FE-2F88036A7361}"/>
              </a:ext>
            </a:extLst>
          </p:cNvPr>
          <p:cNvSpPr/>
          <p:nvPr/>
        </p:nvSpPr>
        <p:spPr>
          <a:xfrm>
            <a:off x="6999189" y="2596059"/>
            <a:ext cx="25202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Configuration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29F7094-CFBC-EF25-0A47-C5E46F9C7B24}"/>
              </a:ext>
            </a:extLst>
          </p:cNvPr>
          <p:cNvCxnSpPr>
            <a:cxnSpLocks/>
          </p:cNvCxnSpPr>
          <p:nvPr/>
        </p:nvCxnSpPr>
        <p:spPr>
          <a:xfrm>
            <a:off x="4808357" y="2109817"/>
            <a:ext cx="0" cy="4862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56EAB1-B640-30E0-EFC3-68E3C2CC31E4}"/>
              </a:ext>
            </a:extLst>
          </p:cNvPr>
          <p:cNvCxnSpPr>
            <a:cxnSpLocks/>
          </p:cNvCxnSpPr>
          <p:nvPr/>
        </p:nvCxnSpPr>
        <p:spPr>
          <a:xfrm>
            <a:off x="4824933" y="5188209"/>
            <a:ext cx="0" cy="4730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0372F0-7232-D667-4FF9-2CC4E391D60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036923" y="2848087"/>
            <a:ext cx="962267" cy="8634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4D69460-0A35-DD42-6721-F1F64C4F229E}"/>
              </a:ext>
            </a:extLst>
          </p:cNvPr>
          <p:cNvSpPr/>
          <p:nvPr/>
        </p:nvSpPr>
        <p:spPr>
          <a:xfrm>
            <a:off x="3545897" y="4684153"/>
            <a:ext cx="2520280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/>
              <a:t>SecurityContext</a:t>
            </a:r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F825F4-B007-CF6D-1A2D-5229886D23FF}"/>
              </a:ext>
            </a:extLst>
          </p:cNvPr>
          <p:cNvCxnSpPr>
            <a:cxnSpLocks/>
          </p:cNvCxnSpPr>
          <p:nvPr/>
        </p:nvCxnSpPr>
        <p:spPr>
          <a:xfrm>
            <a:off x="4806037" y="3993681"/>
            <a:ext cx="0" cy="6349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B1A876-6142-925A-E406-C29F84337849}"/>
              </a:ext>
            </a:extLst>
          </p:cNvPr>
          <p:cNvSpPr/>
          <p:nvPr/>
        </p:nvSpPr>
        <p:spPr>
          <a:xfrm>
            <a:off x="2318675" y="3716402"/>
            <a:ext cx="4896538" cy="504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/>
                </a:solidFill>
                <a:latin typeface="Consolas" panose="020B0609020204030204" pitchFamily="49" charset="0"/>
              </a:rPr>
              <a:t>UsernamePasswordAuthenticationFilter</a:t>
            </a:r>
            <a:endParaRPr lang="en-US">
              <a:solidFill>
                <a:schemeClr val="bg2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4E8C4B-EAAE-1802-7FE6-C7EB0DF71DEC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4766944" y="3081484"/>
            <a:ext cx="9838" cy="6349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255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2146</Words>
  <Application>Microsoft Office PowerPoint</Application>
  <PresentationFormat>Widescreen</PresentationFormat>
  <Paragraphs>318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Consolas</vt:lpstr>
      <vt:lpstr>Courier New</vt:lpstr>
      <vt:lpstr>Office Theme</vt:lpstr>
      <vt:lpstr>Inženjerstvo Serverskog Sloja prof. dr Milan Vidaković</vt:lpstr>
      <vt:lpstr>Šta su autentikacija i autorizacija?</vt:lpstr>
      <vt:lpstr>Kako bismo sve to uradili bez Spring-a?</vt:lpstr>
      <vt:lpstr>Kako bismo sve to uradili bez Spring-a?</vt:lpstr>
      <vt:lpstr>Spring security</vt:lpstr>
      <vt:lpstr>Realizacija</vt:lpstr>
      <vt:lpstr>AuthenticationManager</vt:lpstr>
      <vt:lpstr>Realizacija</vt:lpstr>
      <vt:lpstr>LoginController.java</vt:lpstr>
      <vt:lpstr>UserServiceImpl.java</vt:lpstr>
      <vt:lpstr>UserRepository.java</vt:lpstr>
      <vt:lpstr>User.java</vt:lpstr>
      <vt:lpstr>Role.java</vt:lpstr>
      <vt:lpstr>Konfiguracija</vt:lpstr>
      <vt:lpstr>Autorizacija</vt:lpstr>
      <vt:lpstr>Autorizacija</vt:lpstr>
      <vt:lpstr>Autorizacija</vt:lpstr>
      <vt:lpstr>Autorizacija</vt:lpstr>
      <vt:lpstr>Autorizacija v3</vt:lpstr>
      <vt:lpstr>CORS provera</vt:lpstr>
      <vt:lpstr>AuthenticationManager</vt:lpstr>
      <vt:lpstr>PasswordEncoder</vt:lpstr>
      <vt:lpstr>Json Web Token - JWT</vt:lpstr>
      <vt:lpstr>JWT</vt:lpstr>
      <vt:lpstr>JWT - Primer</vt:lpstr>
      <vt:lpstr>JWT - flow</vt:lpstr>
      <vt:lpstr>Spring - uključujemo JWT u autentikaciju</vt:lpstr>
      <vt:lpstr>WebSecurityConfiguration.java</vt:lpstr>
      <vt:lpstr>JwtRequestFilter.java</vt:lpstr>
      <vt:lpstr>Autorizacija</vt:lpstr>
      <vt:lpstr>StudentController.java</vt:lpstr>
      <vt:lpstr>Učesnici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306</cp:revision>
  <dcterms:created xsi:type="dcterms:W3CDTF">2024-06-23T14:59:21Z</dcterms:created>
  <dcterms:modified xsi:type="dcterms:W3CDTF">2024-12-02T17:41:12Z</dcterms:modified>
</cp:coreProperties>
</file>