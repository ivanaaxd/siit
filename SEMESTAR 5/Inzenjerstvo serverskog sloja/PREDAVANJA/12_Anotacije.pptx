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6" r:id="rId18"/>
    <p:sldId id="286" r:id="rId19"/>
    <p:sldId id="287" r:id="rId20"/>
    <p:sldId id="288" r:id="rId21"/>
    <p:sldId id="289" r:id="rId22"/>
    <p:sldId id="279" r:id="rId23"/>
    <p:sldId id="280" r:id="rId24"/>
    <p:sldId id="285" r:id="rId25"/>
    <p:sldId id="281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10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E7040-93A9-4675-F7FF-508C41665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A772B-A4AF-B0FA-045D-3C731EDAF7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82228-0253-A9B5-1691-3C82C315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0D4AA-F227-24A8-ED64-A09DA2CDD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34AAD-7DDE-E3C3-416D-C09A8C5BF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81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96B4-3AF4-0DF1-5651-C10D0557C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E86D4-7B03-F5A5-6BC2-5E4911AAB7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47FC6-AF0A-6FEA-972C-291CA5345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35F42-147D-984F-1359-CFC559C9F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93320F-4A9F-99BE-E1DE-0EE74FB818B7}"/>
              </a:ext>
            </a:extLst>
          </p:cNvPr>
          <p:cNvSpPr txBox="1"/>
          <p:nvPr userDrawn="1"/>
        </p:nvSpPr>
        <p:spPr>
          <a:xfrm>
            <a:off x="8531784" y="6356350"/>
            <a:ext cx="2822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24A14D2B-0CBB-457A-9F05-29C63F22DBAF}" type="slidenum">
              <a:rPr lang="en-US" smtClean="0"/>
              <a:pPr algn="r"/>
              <a:t>‹#›</a:t>
            </a:fld>
            <a:r>
              <a:rPr lang="sr-Latn-RS"/>
              <a:t>/28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47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9A158-600A-7B44-F8E6-0EEE28739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9D1524-A0EC-4343-1405-80E1F59C0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84C26-C1DC-110F-A852-9234C89B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25CE8-579C-2FE6-7AE0-87827B083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B708A-6073-E947-02D3-29A25A91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68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918CD-52B1-84C9-C244-6C19987D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354D6-36C9-DA0B-5793-91AF99B2F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06BAA-2951-D0F8-E265-8908FEF3B6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B99FA-8A27-77D0-85B7-651C60135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0FC90-137A-3AE2-4BCD-069328F93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4121C-4C6B-3B90-5CDA-7E06B81FC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370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BE6D-0755-409D-87A3-7037D3FB0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A9466-4B5B-5912-7427-D124BB9E71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67CFB-B240-851F-0788-AE020D853A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80704A-8CA9-C9BE-B430-2975CAED95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489802-AF13-DFFC-E3B5-2C42A8AF9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0DF7AA-FD47-4B47-337F-F3DDB1DFC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E775B2-7F6A-D27D-3EE6-7DE6EB631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20D707-682E-D171-5A09-8E3A617CB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50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C542C-F193-6542-A8F5-0F48D87E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F0C420-B93B-8386-002F-A9F6CC3B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4686D5-C2BB-6CF3-566C-EC28D943D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85D73C-0D1A-13BE-488F-3AAFF4A7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196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7B729-1076-5C6E-5CF0-D958D3B7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05B74-5AC7-B0A8-791E-58405A074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59E23-0854-520F-9ED3-7193F485C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25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907AB-C89F-4C24-1FC5-2BFE37759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72849-2E96-C422-D56E-4D7BA73AF0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A5117B-3719-B75E-4A8F-0350D2D8B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D08244-9FFE-D1E5-E260-44D99EF63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1BA5A-B6F7-4B01-89C6-ACBE0CD35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035471-A51A-9389-972B-536BF46D3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87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82976-7786-93A4-8A7B-B996F877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8259C9-F4A4-D731-65EC-8D3CE4490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BCC94F-D5CA-85EA-E0AD-8AAC9FEDB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325B2C-05F2-6241-2174-126402FCD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5F83E-9529-D344-3253-163A241A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C617A-45A4-6BCA-0712-C6F750ADB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93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49B1-189B-EB36-770E-EF00F7C03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B84DA-E3D6-03A6-52B0-3367EE0A6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52624-182F-293A-1401-9EA45A611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89A9E-685B-C336-E5D2-3C01DED8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E1E30-E19B-513E-01CE-FA7F3663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23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211AC05-A6BA-3ED2-228C-9D14FF8A6C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233D21-662C-E5D0-805A-F229B8464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FFC67-3709-C7CD-9EC5-05F810DC6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263EC-D458-FEE4-5004-B1F6D8D94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BF920-1FBA-8A8E-D54E-4EFA46CF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919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F8D2FE-161B-52B0-AA8C-E8ECB0CE1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4B048-4B83-3B0B-95E3-6C551EF52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A448C-F85D-4492-BF34-6C7982127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85009A-4F21-419C-9CC2-0BDDE595A65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8437E-F23C-3F89-595D-34947AE35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EB572-F303-313B-C97E-5EF31BA06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F15E1B-9B47-4971-9521-6121A113B0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1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7F3C6DB-2ECE-38ED-E2DF-9B5CF4C5543F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209800" y="1674814"/>
            <a:ext cx="7772400" cy="147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sr-Latn-CS" altLang="sr-Latn-RS" sz="4400">
                <a:solidFill>
                  <a:schemeClr val="tx2"/>
                </a:solidFill>
              </a:rPr>
              <a:t>Inženjerstvo Serverskog Sloja</a:t>
            </a:r>
            <a:br>
              <a:rPr lang="sr-Latn-CS" altLang="sr-Latn-RS" sz="4400">
                <a:solidFill>
                  <a:schemeClr val="tx2"/>
                </a:solidFill>
              </a:rPr>
            </a:br>
            <a:r>
              <a:rPr lang="sr-Latn-CS" altLang="sr-Latn-RS" sz="2800">
                <a:solidFill>
                  <a:schemeClr val="tx2"/>
                </a:solidFill>
              </a:rPr>
              <a:t>prof. dr Milan Vidaković</a:t>
            </a:r>
            <a:endParaRPr lang="en-US" altLang="sr-Latn-RS" sz="4400">
              <a:solidFill>
                <a:schemeClr val="tx2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BAE8B7-4722-93D7-7391-36810322B759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2895600" y="3430588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800">
                <a:solidFill>
                  <a:schemeClr val="tx1"/>
                </a:solidFill>
                <a:latin typeface="+mn-lt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400">
                <a:solidFill>
                  <a:schemeClr val="tx1"/>
                </a:solidFill>
                <a:latin typeface="+mn-lt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sr-Latn-RS" altLang="sr-Latn-RS">
                <a:solidFill>
                  <a:schemeClr val="bg1">
                    <a:lumMod val="50000"/>
                  </a:schemeClr>
                </a:solidFill>
              </a:rPr>
              <a:t>Anotacije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12E8D0B-757F-89CF-42EF-28FCB762CD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Anotacije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F6D460B-6C3E-FD4C-3006-5E53829200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AU" altLang="en-US"/>
              <a:t>Meta podaci koji se na nivou izvornog koda dodeljuju</a:t>
            </a:r>
            <a:r>
              <a:rPr lang="sr-Latn-CS" altLang="en-US"/>
              <a:t>:</a:t>
            </a:r>
            <a:endParaRPr lang="en-AU" altLang="en-US"/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paketima </a:t>
            </a:r>
            <a:r>
              <a:rPr lang="sr-Latn-CS" altLang="en-US"/>
              <a:t>, </a:t>
            </a:r>
            <a:r>
              <a:rPr lang="en-AU" altLang="en-US"/>
              <a:t>klasama, </a:t>
            </a:r>
            <a:endParaRPr lang="sr-Latn-CS" altLang="en-US"/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metodama, atributima, parametrima metoda, </a:t>
            </a:r>
            <a:endParaRPr lang="sr-Latn-CS" altLang="en-US"/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konstruktorima i </a:t>
            </a:r>
            <a:endParaRPr lang="sr-Latn-CS" altLang="en-US"/>
          </a:p>
          <a:p>
            <a:pPr lvl="1" eaLnBrk="1" hangingPunct="1">
              <a:lnSpc>
                <a:spcPct val="90000"/>
              </a:lnSpc>
            </a:pPr>
            <a:r>
              <a:rPr lang="en-AU" altLang="en-US"/>
              <a:t>lokalnim varijablama.</a:t>
            </a:r>
            <a:r>
              <a:rPr lang="sr-Latn-CS" altLang="en-US"/>
              <a:t> 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JavaDoc, XDoclet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1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8CDEB9D-12AE-1E62-2A1F-C6EF65F46E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Anotacije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0D418F63-244F-2CF4-9128-FDF81E99A0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AU" altLang="en-US"/>
              <a:t>Ovako dodeljeni meta podaci se mogu kasnije prepoznati i koristiti u toku izvršenja programa (</a:t>
            </a:r>
            <a:r>
              <a:rPr lang="en-AU" altLang="en-US" i="1"/>
              <a:t>run-time</a:t>
            </a:r>
            <a:r>
              <a:rPr lang="en-AU" altLang="en-US"/>
              <a:t>) ili tokom prevođenja</a:t>
            </a:r>
            <a:r>
              <a:rPr lang="sr-Latn-CS" altLang="en-US"/>
              <a:t>.</a:t>
            </a:r>
          </a:p>
          <a:p>
            <a:pPr eaLnBrk="1" hangingPunct="1"/>
            <a:r>
              <a:rPr lang="sr-Latn-CS" altLang="en-US"/>
              <a:t>Sa stanovišta sintakse, anotacija se dodaje kao:</a:t>
            </a:r>
          </a:p>
          <a:p>
            <a:pPr eaLnBrk="1" hangingPunct="1">
              <a:buFontTx/>
              <a:buNone/>
            </a:pPr>
            <a:r>
              <a:rPr lang="sr-Latn-CS" altLang="en-US"/>
              <a:t>@</a:t>
            </a:r>
            <a:r>
              <a:rPr lang="sr-Latn-CS" altLang="en-US" b="1"/>
              <a:t>MojaAnotacija</a:t>
            </a:r>
            <a:r>
              <a:rPr lang="sr-Latn-CS" alt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50BE5D24-5483-FA6D-CDF0-D4DE2A6CD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Anotacija je interfejs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75E9BF9-4B6A-7816-DE10-E4D1EDD3C9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Specijalan interfejs:</a:t>
            </a:r>
          </a:p>
          <a:p>
            <a:pPr eaLnBrk="1" hangingPunct="1"/>
            <a:endParaRPr lang="sr-Latn-CS" altLang="en-US"/>
          </a:p>
          <a:p>
            <a:pPr eaLnBrk="1" hangingPunct="1"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public @interface </a:t>
            </a:r>
            <a:r>
              <a:rPr lang="sr-Latn-C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ClassInfo</a:t>
            </a:r>
            <a:r>
              <a:rPr lang="sr-Latn-CS" altLang="en-US" b="1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  String author();</a:t>
            </a:r>
          </a:p>
          <a:p>
            <a:pPr eaLnBrk="1" hangingPunct="1"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  String version();</a:t>
            </a:r>
          </a:p>
          <a:p>
            <a:pPr eaLnBrk="1" hangingPunct="1"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F2CEE9D-9769-120C-0442-FBDABFFFB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Dodela anotacije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FD8ED70A-7368-652F-644F-207680735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sr-Latn-C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@ClassInfo</a:t>
            </a:r>
            <a:r>
              <a:rPr lang="sr-Latn-CS" altLang="en-US" b="1">
                <a:latin typeface="Courier New" panose="02070309020205020404" pitchFamily="49" charset="0"/>
              </a:rPr>
              <a:t>(</a:t>
            </a:r>
          </a:p>
          <a:p>
            <a:pPr eaLnBrk="1" hangingPunct="1"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  author = "Milan Vidakovic",</a:t>
            </a:r>
          </a:p>
          <a:p>
            <a:pPr eaLnBrk="1" hangingPunct="1"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  version = "1.0"</a:t>
            </a:r>
          </a:p>
          <a:p>
            <a:pPr eaLnBrk="1" hangingPunct="1"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)</a:t>
            </a:r>
          </a:p>
          <a:p>
            <a:pPr eaLnBrk="1" hangingPunct="1"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public class AnnotationDemo {</a:t>
            </a:r>
          </a:p>
          <a:p>
            <a:pPr eaLnBrk="1" hangingPunct="1"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47714C07-0455-8B90-84C9-0125FD3AF6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 sz="4000"/>
              <a:t>Anotacija sa jednim elementom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384E952-0709-5D58-EB27-3C8608FEE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sr-Latn-CS" altLang="en-US"/>
              <a:t>Primer: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public @interface </a:t>
            </a:r>
            <a:r>
              <a:rPr lang="sr-Latn-C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AttributeInfo</a:t>
            </a:r>
            <a:r>
              <a:rPr lang="sr-Latn-CS" altLang="en-US" b="1">
                <a:latin typeface="Courier New" panose="02070309020205020404" pitchFamily="49" charset="0"/>
              </a:rPr>
              <a:t>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  String value();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</a:pPr>
            <a:r>
              <a:rPr lang="sr-Latn-CS" altLang="en-US"/>
              <a:t>Anotacija tipa </a:t>
            </a:r>
            <a:r>
              <a:rPr lang="sr-Latn-CS" altLang="en-US" i="1"/>
              <a:t>AttributeInfo</a:t>
            </a:r>
            <a:r>
              <a:rPr lang="sr-Latn-CS" altLang="en-US"/>
              <a:t> ima samo jedan element i njegov podrazumevan naziv je </a:t>
            </a:r>
            <a:r>
              <a:rPr lang="sr-Latn-CS" altLang="en-US" i="1"/>
              <a:t>value</a:t>
            </a:r>
            <a:r>
              <a:rPr lang="sr-Latn-CS" altLang="en-US"/>
              <a:t>.</a:t>
            </a:r>
            <a:endParaRPr lang="sr-Latn-CS" altLang="en-US" b="1"/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@AttributeInfo</a:t>
            </a:r>
            <a:r>
              <a:rPr lang="sr-Latn-CS" altLang="en-US" b="1">
                <a:latin typeface="Courier New" panose="02070309020205020404" pitchFamily="49" charset="0"/>
              </a:rPr>
              <a:t>("Izbaciti u sledecoj verziji")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int att = 1;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D7909E36-3F4E-4227-4ECE-DD855A0F86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Anotacije bez elemenata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57C9DA2E-1659-59FF-355D-005E585B32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Primer:</a:t>
            </a:r>
            <a:endParaRPr lang="sr-Latn-CS" altLang="en-US" b="1"/>
          </a:p>
          <a:p>
            <a:pPr eaLnBrk="1" hangingPunct="1"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public @interface </a:t>
            </a:r>
            <a:r>
              <a:rPr lang="sr-Latn-C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Test</a:t>
            </a:r>
            <a:r>
              <a:rPr lang="sr-Latn-CS" altLang="en-US" b="1">
                <a:latin typeface="Courier New" panose="02070309020205020404" pitchFamily="49" charset="0"/>
              </a:rPr>
              <a:t> {}</a:t>
            </a:r>
          </a:p>
          <a:p>
            <a:pPr eaLnBrk="1" hangingPunct="1">
              <a:buFontTx/>
              <a:buNone/>
            </a:pPr>
            <a:r>
              <a:rPr lang="sr-Latn-CS" altLang="en-US" b="1">
                <a:latin typeface="Courier New" panose="02070309020205020404" pitchFamily="49" charset="0"/>
              </a:rPr>
              <a:t>...</a:t>
            </a:r>
          </a:p>
          <a:p>
            <a:pPr eaLnBrk="1" hangingPunct="1">
              <a:buFontTx/>
              <a:buNone/>
            </a:pPr>
            <a:r>
              <a:rPr lang="sr-Latn-CS" altLang="en-US" b="1">
                <a:solidFill>
                  <a:srgbClr val="FF0000"/>
                </a:solidFill>
                <a:latin typeface="Courier New" panose="02070309020205020404" pitchFamily="49" charset="0"/>
              </a:rPr>
              <a:t>@Test </a:t>
            </a:r>
            <a:r>
              <a:rPr lang="sr-Latn-CS" altLang="en-US" b="1">
                <a:latin typeface="Courier New" panose="02070309020205020404" pitchFamily="49" charset="0"/>
              </a:rPr>
              <a:t>public void f() { ...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4779393-0338-B7AB-1A83-36F3AE08BA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Meta-anotacije</a:t>
            </a:r>
            <a:endParaRPr lang="sr-Latn-CS" alt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D9CECA61-A8E2-F47C-6C51-C2D75401CF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Anotacije o anotacijama</a:t>
            </a:r>
          </a:p>
          <a:p>
            <a:pPr eaLnBrk="1" hangingPunct="1"/>
            <a:r>
              <a:rPr lang="en-US" altLang="en-US"/>
              <a:t>Sistemske meta-anotacije</a:t>
            </a:r>
            <a:r>
              <a:rPr lang="sr-Latn-CS" altLang="en-US"/>
              <a:t>:</a:t>
            </a:r>
          </a:p>
          <a:p>
            <a:pPr lvl="1" eaLnBrk="1" hangingPunct="1"/>
            <a:r>
              <a:rPr lang="sr-Latn-CS" altLang="en-US"/>
              <a:t>@</a:t>
            </a:r>
            <a:r>
              <a:rPr lang="sr-Latn-CS" altLang="en-US" b="1"/>
              <a:t>Retention</a:t>
            </a:r>
            <a:r>
              <a:rPr lang="sr-Latn-CS" altLang="en-US"/>
              <a:t> – nivo uključenja anotacije u program</a:t>
            </a:r>
          </a:p>
          <a:p>
            <a:pPr lvl="1" eaLnBrk="1" hangingPunct="1"/>
            <a:r>
              <a:rPr lang="sr-Latn-CS" altLang="en-US"/>
              <a:t>@</a:t>
            </a:r>
            <a:r>
              <a:rPr lang="sr-Latn-CS" altLang="en-US" b="1"/>
              <a:t>Target</a:t>
            </a:r>
            <a:r>
              <a:rPr lang="sr-Latn-CS" altLang="en-US"/>
              <a:t> – čemu se pridružuje anotacija</a:t>
            </a:r>
          </a:p>
          <a:p>
            <a:pPr lvl="1" eaLnBrk="1" hangingPunct="1"/>
            <a:r>
              <a:rPr lang="sr-Latn-CS" altLang="en-US"/>
              <a:t>@</a:t>
            </a:r>
            <a:r>
              <a:rPr lang="sr-Latn-CS" altLang="en-US" b="1"/>
              <a:t>Documented</a:t>
            </a:r>
            <a:r>
              <a:rPr lang="sr-Latn-CS" altLang="en-US"/>
              <a:t> – da li će pridružena anotacija biti dokumentovana JavaDoc alatom ili nekim drugim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70F6CA49-4313-B1BF-5E4B-2551BC30B7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@Retention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56DF796-8AE0-F807-AFAF-AFA28C0F09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361488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en-US"/>
              <a:t>Tri vrste: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en-US"/>
              <a:t>@Retention(RetentionPolicy.SOURCE)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en-US"/>
              <a:t>anotacije se ne ugrađuju u class datoteke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en-US"/>
              <a:t>@Retention(RetentionPolicy.CLASS)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en-US"/>
              <a:t>anotacije se ugrađuju u class datoteke, ali se ne mogu pročitati refleksijom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en-US"/>
              <a:t>@Retention(RetentionPolicy.RUNTIME)</a:t>
            </a:r>
          </a:p>
          <a:p>
            <a:pPr lvl="2" eaLnBrk="1" hangingPunct="1">
              <a:lnSpc>
                <a:spcPct val="90000"/>
              </a:lnSpc>
            </a:pPr>
            <a:r>
              <a:rPr lang="sr-Latn-CS" altLang="en-US"/>
              <a:t>anotacije se ugrađuju u class datoteke i mogu se pročitati refleksijom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EA72E52-E1AD-77E9-DF71-9F8998DDAC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@Target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6F90B7E-EE5E-0CF8-A3D6-E532A981B1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81200"/>
            <a:ext cx="9505950" cy="4114800"/>
          </a:xfrm>
        </p:spPr>
        <p:txBody>
          <a:bodyPr/>
          <a:lstStyle/>
          <a:p>
            <a:pPr eaLnBrk="1" hangingPunct="1"/>
            <a:r>
              <a:rPr lang="sr-Latn-CS" altLang="en-US"/>
              <a:t>Osam varijanti:</a:t>
            </a:r>
          </a:p>
          <a:p>
            <a:pPr lvl="1" eaLnBrk="1" hangingPunct="1"/>
            <a:r>
              <a:rPr lang="sr-Latn-CS" altLang="en-US"/>
              <a:t>@Target(ElementType.ANNOTATION_TYPE) </a:t>
            </a:r>
          </a:p>
          <a:p>
            <a:pPr lvl="2" eaLnBrk="1" hangingPunct="1"/>
            <a:r>
              <a:rPr lang="en-AU" altLang="en-US"/>
              <a:t>za definiciju meta-anotacije</a:t>
            </a:r>
            <a:r>
              <a:rPr lang="sr-Latn-CS" altLang="en-US"/>
              <a:t> </a:t>
            </a:r>
          </a:p>
          <a:p>
            <a:pPr lvl="1" eaLnBrk="1" hangingPunct="1"/>
            <a:r>
              <a:rPr lang="sr-Latn-CS" altLang="en-US"/>
              <a:t>@Target(ElementType.CONSTRUCTOR) </a:t>
            </a:r>
          </a:p>
          <a:p>
            <a:pPr lvl="2" eaLnBrk="1" hangingPunct="1"/>
            <a:r>
              <a:rPr lang="sr-Latn-CS" altLang="en-US"/>
              <a:t>anotacija se može dodeliti samo konstruktorima</a:t>
            </a:r>
          </a:p>
          <a:p>
            <a:pPr lvl="1" eaLnBrk="1" hangingPunct="1"/>
            <a:r>
              <a:rPr lang="sr-Latn-CS" altLang="en-US"/>
              <a:t>@Target(ElementType.FIELD)</a:t>
            </a:r>
          </a:p>
          <a:p>
            <a:pPr lvl="2" eaLnBrk="1" hangingPunct="1"/>
            <a:r>
              <a:rPr lang="sr-Latn-CS" altLang="en-US"/>
              <a:t>anotacija se može dodeliti samo atributima</a:t>
            </a:r>
          </a:p>
          <a:p>
            <a:pPr lvl="1" eaLnBrk="1" hangingPunct="1"/>
            <a:r>
              <a:rPr lang="sr-Latn-CS" altLang="en-US"/>
              <a:t>@Target(ElementType.LOCAL_VARIABLE) </a:t>
            </a:r>
          </a:p>
          <a:p>
            <a:pPr lvl="2" eaLnBrk="1" hangingPunct="1"/>
            <a:r>
              <a:rPr lang="sr-Latn-CS" altLang="en-US"/>
              <a:t>anotacija se može dodeliti samo lokalnim promenljivama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8FF6A46B-1955-87F9-9E3A-9157839F8E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@Target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9898E55-097A-9490-C5A2-6850A512E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Nastavak:</a:t>
            </a:r>
          </a:p>
          <a:p>
            <a:pPr lvl="1" eaLnBrk="1" hangingPunct="1"/>
            <a:r>
              <a:rPr lang="pt-BR" altLang="en-US"/>
              <a:t>@Target(ElementType.METHOD) </a:t>
            </a:r>
            <a:endParaRPr lang="sr-Latn-CS" altLang="en-US"/>
          </a:p>
          <a:p>
            <a:pPr lvl="2" eaLnBrk="1" hangingPunct="1"/>
            <a:r>
              <a:rPr lang="pt-BR" altLang="en-US"/>
              <a:t>anotacija se može dodeliti samo metodama</a:t>
            </a:r>
            <a:endParaRPr lang="sr-Latn-CS" altLang="en-US"/>
          </a:p>
          <a:p>
            <a:pPr lvl="1" eaLnBrk="1" hangingPunct="1"/>
            <a:r>
              <a:rPr lang="sr-Latn-CS" altLang="en-US"/>
              <a:t>@Target(ElementType.PACKAGE)</a:t>
            </a:r>
            <a:r>
              <a:rPr lang="en-AU" altLang="en-US"/>
              <a:t> </a:t>
            </a:r>
            <a:endParaRPr lang="sr-Latn-CS" altLang="en-US"/>
          </a:p>
          <a:p>
            <a:pPr lvl="2" eaLnBrk="1" hangingPunct="1"/>
            <a:r>
              <a:rPr lang="en-AU" altLang="en-US"/>
              <a:t>anotacija se može dodeliti samo deklaraciji paketa</a:t>
            </a:r>
            <a:r>
              <a:rPr lang="sr-Latn-CS" altLang="en-US"/>
              <a:t> </a:t>
            </a:r>
          </a:p>
          <a:p>
            <a:pPr lvl="1" eaLnBrk="1" hangingPunct="1"/>
            <a:r>
              <a:rPr lang="sr-Latn-CS" altLang="en-US"/>
              <a:t>@Target(ElementType.PARAMETER)</a:t>
            </a:r>
          </a:p>
          <a:p>
            <a:pPr lvl="2" eaLnBrk="1" hangingPunct="1"/>
            <a:r>
              <a:rPr lang="en-AU" altLang="en-US"/>
              <a:t>anotacija se može dodeliti samo parametrima metoda</a:t>
            </a:r>
            <a:r>
              <a:rPr lang="sr-Latn-CS" altLang="en-US"/>
              <a:t> </a:t>
            </a:r>
          </a:p>
          <a:p>
            <a:pPr lvl="1" eaLnBrk="1" hangingPunct="1"/>
            <a:r>
              <a:rPr lang="sr-Latn-CS" altLang="en-US"/>
              <a:t>@Target(ElementType.TYPE)</a:t>
            </a:r>
          </a:p>
          <a:p>
            <a:pPr lvl="2" eaLnBrk="1" hangingPunct="1"/>
            <a:r>
              <a:rPr lang="sr-Latn-CS" altLang="en-US"/>
              <a:t>anotacija se može dodeliti samo definiciji klase, interfejsa, enumeracije ili anotacije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2465AA5-2370-EEC5-1DD6-4CAE11A7679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Anotacije i refleksija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CC8FA95-FF3D-F806-E672-7F561FDD5B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en-US"/>
              <a:t>Prilikom definicije anotacije, mora se navesti @Retention meta-anotacija: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sr-Latn-CS" altLang="en-US"/>
              <a:t>@Retention(RetentionPolicy.RUNTIME)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en-US"/>
              <a:t>Poželjno je i precizirati za koji entitet se vezuje anotacija - @Target anotacija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en-US"/>
              <a:t>Koristi se metoda </a:t>
            </a:r>
            <a:r>
              <a:rPr lang="sr-Latn-CS" altLang="en-US" i="1"/>
              <a:t>getAnnotation(Class annotationInterface)</a:t>
            </a:r>
            <a:r>
              <a:rPr lang="sr-Latn-CS" altLang="en-US"/>
              <a:t> klasa </a:t>
            </a:r>
            <a:r>
              <a:rPr lang="sr-Latn-CS" altLang="en-US" i="1"/>
              <a:t>Class</a:t>
            </a:r>
            <a:r>
              <a:rPr lang="sr-Latn-CS" altLang="en-US"/>
              <a:t>, </a:t>
            </a:r>
            <a:r>
              <a:rPr lang="sr-Latn-CS" altLang="en-US" i="1"/>
              <a:t>Method</a:t>
            </a:r>
            <a:r>
              <a:rPr lang="sr-Latn-CS" altLang="en-US"/>
              <a:t> i </a:t>
            </a:r>
            <a:r>
              <a:rPr lang="sr-Latn-CS" altLang="en-US" i="1"/>
              <a:t>Field</a:t>
            </a:r>
            <a:r>
              <a:rPr lang="sr-Latn-CS" altLang="en-US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E36B80F-EE90-15A4-89B4-00CF28EE1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java.lang anotacije</a:t>
            </a:r>
            <a:endParaRPr lang="sr-Latn-CS" alt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AD1406D-EACC-C23C-757A-43AC7BD619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@Depricated</a:t>
            </a:r>
            <a:endParaRPr lang="sr-Latn-CS" altLang="en-US"/>
          </a:p>
          <a:p>
            <a:pPr lvl="1" eaLnBrk="1" hangingPunct="1">
              <a:lnSpc>
                <a:spcPct val="80000"/>
              </a:lnSpc>
            </a:pPr>
            <a:r>
              <a:rPr lang="sr-Latn-CS" altLang="en-US"/>
              <a:t>zastareo kod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en-US"/>
              <a:t>izaziva warning</a:t>
            </a: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@Override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ako stavimo ovu anotaciju iznad metode koja redefin</a:t>
            </a:r>
            <a:r>
              <a:rPr lang="sr-Latn-CS" altLang="en-US"/>
              <a:t>še odgovarajuću metodu, kompajler će proveriti da li se ime slaže</a:t>
            </a:r>
          </a:p>
          <a:p>
            <a:pPr lvl="2" eaLnBrk="1" hangingPunct="1">
              <a:lnSpc>
                <a:spcPct val="80000"/>
              </a:lnSpc>
            </a:pPr>
            <a:endParaRPr lang="en-US" altLang="en-US"/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@S</a:t>
            </a:r>
            <a:r>
              <a:rPr lang="sr-Latn-CS" altLang="en-US"/>
              <a:t>u</a:t>
            </a:r>
            <a:r>
              <a:rPr lang="en-US" altLang="en-US"/>
              <a:t>ppressWarnings</a:t>
            </a:r>
            <a:r>
              <a:rPr lang="sr-Latn-CS" altLang="en-US"/>
              <a:t>({"unchecked", "depricated"})</a:t>
            </a:r>
          </a:p>
          <a:p>
            <a:pPr lvl="1" eaLnBrk="1" hangingPunct="1">
              <a:lnSpc>
                <a:spcPct val="80000"/>
              </a:lnSpc>
            </a:pPr>
            <a:r>
              <a:rPr lang="sr-Latn-CS" altLang="en-US"/>
              <a:t>isključuje upozorenja zadatog tipa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649F3513-DD8C-10C6-5BCC-59B80349A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java.lang.annotation anotacije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F219A9F-7143-AAB4-2F30-6CC220E62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r-Latn-CS" altLang="en-US"/>
              <a:t>@Documented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en-US"/>
              <a:t>da li da se uključi u javadoc dokumentaciju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en-US"/>
              <a:t>@Inherited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en-US"/>
              <a:t>anotacija se traži u roditeljskoj klasi ako ne postoji u klasi naslednici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en-US"/>
              <a:t>@Retention	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en-US"/>
              <a:t>nivo uključenja anotacije</a:t>
            </a:r>
          </a:p>
          <a:p>
            <a:pPr eaLnBrk="1" hangingPunct="1">
              <a:lnSpc>
                <a:spcPct val="90000"/>
              </a:lnSpc>
            </a:pPr>
            <a:r>
              <a:rPr lang="sr-Latn-CS" altLang="en-US"/>
              <a:t>@Target</a:t>
            </a:r>
          </a:p>
          <a:p>
            <a:pPr lvl="1" eaLnBrk="1" hangingPunct="1">
              <a:lnSpc>
                <a:spcPct val="90000"/>
              </a:lnSpc>
            </a:pPr>
            <a:r>
              <a:rPr lang="sr-Latn-CS" altLang="en-US"/>
              <a:t>kome se dodeljuje anotacija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25541913-2EFD-7E00-B9BE-1C79D31DB5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Upotreba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D937D8C0-AA63-3C9A-EBB0-1E336063E4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Dependency Injection</a:t>
            </a:r>
          </a:p>
          <a:p>
            <a:pPr lvl="1" eaLnBrk="1" hangingPunct="1"/>
            <a:r>
              <a:rPr lang="sr-Latn-CS" altLang="en-US"/>
              <a:t>EJB</a:t>
            </a:r>
          </a:p>
          <a:p>
            <a:pPr lvl="1" eaLnBrk="1" hangingPunct="1"/>
            <a:r>
              <a:rPr lang="sr-Latn-CS" altLang="en-US"/>
              <a:t>Spring</a:t>
            </a:r>
          </a:p>
          <a:p>
            <a:pPr eaLnBrk="1" hangingPunct="1"/>
            <a:r>
              <a:rPr lang="sr-Latn-CS" altLang="en-US"/>
              <a:t>Ostalo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77EA1D49-F32C-5150-E92B-0F7E642053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EJB Session Bean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A8692655-5F65-BF56-5761-F0DD8D91FF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1" y="1981200"/>
            <a:ext cx="9650414" cy="411480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  <a:latin typeface="Courier New" panose="02070309020205020404" pitchFamily="49" charset="0"/>
              </a:rPr>
              <a:t>@</a:t>
            </a:r>
            <a:r>
              <a:rPr lang="en-US" altLang="en-US" sz="2400" b="1">
                <a:solidFill>
                  <a:srgbClr val="FF0000"/>
                </a:solidFill>
                <a:latin typeface="Courier New" panose="02070309020205020404" pitchFamily="49" charset="0"/>
              </a:rPr>
              <a:t>Stateless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public class HelloBean implements HelloRemote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sz="24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public String hello() 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String str = "Hello World!";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System.</a:t>
            </a:r>
            <a:r>
              <a:rPr lang="en-US" altLang="en-US" sz="2400" b="1" i="1">
                <a:latin typeface="Courier New" panose="02070309020205020404" pitchFamily="49" charset="0"/>
              </a:rPr>
              <a:t>out</a:t>
            </a:r>
            <a:r>
              <a:rPr lang="en-US" altLang="en-US" sz="2400" b="1">
                <a:latin typeface="Courier New" panose="02070309020205020404" pitchFamily="49" charset="0"/>
              </a:rPr>
              <a:t>.println(str);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  return str;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6D2836B-05D1-D43D-26C0-5FFD9FFB58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188913"/>
            <a:ext cx="7772400" cy="792162"/>
          </a:xfrm>
        </p:spPr>
        <p:txBody>
          <a:bodyPr/>
          <a:lstStyle/>
          <a:p>
            <a:pPr eaLnBrk="1" hangingPunct="1"/>
            <a:r>
              <a:rPr lang="sr-Latn-RS" altLang="en-US"/>
              <a:t>JPA </a:t>
            </a:r>
            <a:r>
              <a:rPr lang="en-US" altLang="en-US"/>
              <a:t>Entity</a:t>
            </a:r>
            <a:endParaRPr lang="sr-Latn-CS" altLang="en-US"/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0DDA584-7A20-9703-10D5-C5AECFDEC5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3" y="1268415"/>
            <a:ext cx="7772400" cy="5475286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@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Entity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public class Book implements Serializable {</a:t>
            </a:r>
          </a:p>
          <a:p>
            <a:pPr>
              <a:lnSpc>
                <a:spcPct val="80000"/>
              </a:lnSpc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@</a:t>
            </a:r>
            <a:r>
              <a:rPr lang="sr-Latn-C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Id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private Integer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private String title;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public Book(Integer id, String title)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	this.id =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	this.title = title;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public Integer getId()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	return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public void setId(Integer id)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	this.id = id;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public String getTitle()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return title;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public void setTitle(String title)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	this.title = title;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1600" b="1">
                <a:latin typeface="Courier New" panose="02070309020205020404" pitchFamily="49" charset="0"/>
              </a:rPr>
              <a:t>	}</a:t>
            </a:r>
            <a:endParaRPr lang="sr-Latn-C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91E608A5-D311-0B6B-7C78-A4FB7C84BC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Spring okruženje</a:t>
            </a:r>
            <a:endParaRPr lang="en-US" altLang="en-US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75A94ECD-58BE-BB1E-3B22-BFE0008BF9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9372600" cy="485298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@CrossOrigin (origins="*") </a:t>
            </a:r>
          </a:p>
          <a:p>
            <a:pPr marL="0" indent="0"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@RestController</a:t>
            </a:r>
          </a:p>
          <a:p>
            <a:pPr marL="0" indent="0">
              <a:buNone/>
            </a:pP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@RequestMapping("/api/v2/student")</a:t>
            </a:r>
          </a:p>
          <a:p>
            <a:pPr marL="0" indent="0"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StudentController {</a:t>
            </a:r>
          </a:p>
          <a:p>
            <a:pPr marL="0" indent="0">
              <a:buNone/>
            </a:pPr>
            <a:endParaRPr lang="en-US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	@</a:t>
            </a: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Autowired</a:t>
            </a:r>
          </a:p>
          <a:p>
            <a:pPr marL="0" indent="0"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	IStudentService service;</a:t>
            </a:r>
          </a:p>
          <a:p>
            <a:pPr marL="0" indent="0"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20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@GetMapping</a:t>
            </a:r>
          </a:p>
          <a:p>
            <a:pPr marL="0" indent="0"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	public Collection&lt;Student&gt; getStudents() {</a:t>
            </a:r>
          </a:p>
          <a:p>
            <a:pPr marL="0" indent="0"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		return service.getAll();</a:t>
            </a:r>
          </a:p>
          <a:p>
            <a:pPr marL="0" indent="0">
              <a:buNone/>
            </a:pPr>
            <a:r>
              <a:rPr lang="en-U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sr-Latn-RS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sr-Latn-RS" altLang="en-US" sz="20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483F7B87-50D3-CADE-41A5-00D53771C1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Pola primera Dependency Injection</a:t>
            </a:r>
            <a:endParaRPr lang="en-US" altLang="en-US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32C53D73-C47B-9790-DF22-79B44EC96D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9372600" cy="485298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TestDi {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@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Autowired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MyBean comp;</a:t>
            </a:r>
          </a:p>
          <a:p>
            <a:pPr marL="0" indent="0">
              <a:buNone/>
            </a:pPr>
            <a:endParaRPr lang="en-US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public TestDi() {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	System.out.println(comp);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sr-Latn-RS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main(String[] args) {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	TestDi t = new TestDi();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DependencyInjectionManager.process(t);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	System.out.println(t.comp);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E255AE4A-D9A2-F980-2F86-43DA5C439F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r-Latn-RS" altLang="en-US"/>
              <a:t>MyComponent.java</a:t>
            </a:r>
            <a:endParaRPr lang="en-US" altLang="en-US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B0C569D3-92D5-651E-A7AB-F8E7E26B51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altLang="en-US" sz="24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Component</a:t>
            </a:r>
          </a:p>
          <a:p>
            <a:pPr marL="0" indent="0"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public class MyBean {</a:t>
            </a:r>
          </a:p>
          <a:p>
            <a:pPr marL="0" indent="0">
              <a:buNone/>
            </a:pPr>
            <a:endParaRPr lang="en-US" altLang="en-U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	@Override</a:t>
            </a:r>
          </a:p>
          <a:p>
            <a:pPr marL="0" indent="0"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	public String toString() {</a:t>
            </a:r>
          </a:p>
          <a:p>
            <a:pPr marL="0" indent="0"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		return "MyBean instance";</a:t>
            </a:r>
          </a:p>
          <a:p>
            <a:pPr marL="0" indent="0"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endParaRPr lang="en-US" altLang="en-U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altLang="en-US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387B2B2-03E4-4C5A-5978-E66FB26AB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14798"/>
            <a:ext cx="10515600" cy="708666"/>
          </a:xfrm>
        </p:spPr>
        <p:txBody>
          <a:bodyPr/>
          <a:lstStyle/>
          <a:p>
            <a:r>
              <a:rPr lang="sr-Latn-RS" altLang="en-US" sz="4000"/>
              <a:t>DependencyInjectionManager.java</a:t>
            </a:r>
            <a:endParaRPr lang="en-US" altLang="en-US" sz="4000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A49642B8-745B-27E5-4276-C375E01E8E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01149" y="1149293"/>
            <a:ext cx="10352014" cy="55493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public static void process(Object obj) {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Class&lt;?&gt; clazz = obj.getClass();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Field[] fields = clazz.getDeclaredFields();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for (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Field f : fields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Autowired a = f.getAnnotation(Autowired.class);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if (a != null) {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Class&lt;?&gt; c = f.getType();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try {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Object instance = c.getDeclaredConstructor().newInstance();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f.set(obj, instance);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} catch (</a:t>
            </a: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e) {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e.printStackTrace();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sr-Latn-R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r>
              <a:rPr lang="en-US" altLang="en-US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BC4CD35-F8E2-F7B7-B22F-CCC8A6961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Ostalo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073A7B7-32E2-9FEF-2C2A-D5E86F0237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Primer "nove" upotrebe </a:t>
            </a:r>
            <a:r>
              <a:rPr lang="sr-Latn-CS" altLang="en-US"/>
              <a:t>Swing </a:t>
            </a:r>
            <a:r>
              <a:rPr lang="en-US" altLang="en-US"/>
              <a:t>oslu</a:t>
            </a:r>
            <a:r>
              <a:rPr lang="sr-Latn-CS" altLang="en-US"/>
              <a:t>škivača</a:t>
            </a:r>
          </a:p>
          <a:p>
            <a:pPr eaLnBrk="1" hangingPunct="1"/>
            <a:r>
              <a:rPr lang="sr-Latn-CS" altLang="en-US"/>
              <a:t>Umesto prijavljivanja osluškivača, napiše se anotacija iznad metode</a:t>
            </a:r>
          </a:p>
          <a:p>
            <a:pPr eaLnBrk="1" hangingPunct="1"/>
            <a:r>
              <a:rPr lang="sr-Latn-CS" altLang="en-US"/>
              <a:t>Koristi se klasa </a:t>
            </a:r>
            <a:r>
              <a:rPr lang="sr-Latn-CS" altLang="en-US" b="1"/>
              <a:t>Proxy</a:t>
            </a:r>
            <a:r>
              <a:rPr lang="sr-Latn-CS" altLang="en-US"/>
              <a:t> i </a:t>
            </a:r>
            <a:r>
              <a:rPr lang="sr-Latn-CS" altLang="en-US" b="1"/>
              <a:t>InvocationHandler</a:t>
            </a:r>
            <a:r>
              <a:rPr lang="sr-Latn-CS" altLang="en-US"/>
              <a:t> interfejs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807B141-14FD-0DEC-C9A2-AF761C766D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Klasa Proxy</a:t>
            </a:r>
            <a:endParaRPr lang="en-US" altLang="en-US"/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6F38ED7-D0D8-83E1-7646-800240EC71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Kreira dinamičku proxy klasu i njene instance</a:t>
            </a:r>
          </a:p>
          <a:p>
            <a:pPr eaLnBrk="1" hangingPunct="1"/>
            <a:r>
              <a:rPr lang="sr-Latn-CS" altLang="en-US"/>
              <a:t>Instancira se navođenjem class loader-a, liste interfejsa koje implementira i reference na objekat koji implementira </a:t>
            </a:r>
            <a:r>
              <a:rPr lang="sr-Latn-CS" altLang="en-US" b="1"/>
              <a:t>InvocationHandler</a:t>
            </a:r>
            <a:r>
              <a:rPr lang="sr-Latn-CS" altLang="en-US"/>
              <a:t> intefejs</a:t>
            </a:r>
          </a:p>
          <a:p>
            <a:pPr eaLnBrk="1" hangingPunct="1"/>
            <a:r>
              <a:rPr lang="sr-Latn-CS" altLang="en-US" b="1"/>
              <a:t>InvocationHandler</a:t>
            </a:r>
            <a:r>
              <a:rPr lang="sr-Latn-CS" altLang="en-US"/>
              <a:t> interfejs ima metodu </a:t>
            </a:r>
            <a:r>
              <a:rPr lang="sr-Latn-CS" altLang="en-US" b="1"/>
              <a:t>invoke</a:t>
            </a:r>
            <a:r>
              <a:rPr lang="sr-Latn-CS" altLang="en-US"/>
              <a:t> koja se poziva kada se pozove bilo koja metoda proxy klase</a:t>
            </a:r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92FE095-B9A7-98AB-8042-1FE5010538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Klasa  Proxy</a:t>
            </a:r>
            <a:endParaRPr lang="en-US" alt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ED44486-673B-6BCE-15B5-C4F3E0159D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Motivacija: imamo interfejs koji se mora run-time implementirati</a:t>
            </a:r>
          </a:p>
          <a:p>
            <a:pPr eaLnBrk="1" hangingPunct="1"/>
            <a:r>
              <a:rPr lang="sr-Latn-CS" altLang="en-US"/>
              <a:t>Realizacija: kreira se objekat klase </a:t>
            </a:r>
            <a:r>
              <a:rPr lang="sr-Latn-CS" altLang="en-US" b="1"/>
              <a:t>Proxy</a:t>
            </a:r>
            <a:r>
              <a:rPr lang="sr-Latn-CS" altLang="en-US"/>
              <a:t>, koji se može kastovati u pogodan interfejs (koji implementira)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A2FFE2E7-C160-CDB1-7EE6-D50869658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1"/>
            <a:ext cx="7772400" cy="836613"/>
          </a:xfrm>
        </p:spPr>
        <p:txBody>
          <a:bodyPr/>
          <a:lstStyle/>
          <a:p>
            <a:pPr eaLnBrk="1" hangingPunct="1"/>
            <a:r>
              <a:rPr lang="sr-Latn-CS" altLang="en-US"/>
              <a:t>Primer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0C8C32E2-077B-7302-5F2A-48CFBDF121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981076"/>
            <a:ext cx="7772400" cy="5876925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class ButtonFrame extends JFrame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private JButton </a:t>
            </a:r>
            <a:r>
              <a:rPr lang="sr-Latn-CS" altLang="en-US" sz="1600" b="1">
                <a:solidFill>
                  <a:schemeClr val="accent4"/>
                </a:solidFill>
                <a:latin typeface="Courier New" panose="02070309020205020404" pitchFamily="49" charset="0"/>
              </a:rPr>
              <a:t>blueButton</a:t>
            </a:r>
            <a:r>
              <a:rPr lang="sr-Latn-CS" altLang="en-US" sz="1600" b="1">
                <a:latin typeface="Courier New" panose="02070309020205020404" pitchFamily="49" charset="0"/>
              </a:rPr>
              <a:t>, </a:t>
            </a:r>
            <a:r>
              <a:rPr lang="sr-Latn-CS" altLang="en-US" sz="1600" b="1">
                <a:solidFill>
                  <a:schemeClr val="accent4"/>
                </a:solidFill>
                <a:latin typeface="Courier New" panose="02070309020205020404" pitchFamily="49" charset="0"/>
              </a:rPr>
              <a:t>redButton</a:t>
            </a:r>
            <a:r>
              <a:rPr lang="sr-Latn-CS" altLang="en-US" sz="1600" b="1"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public ButtonFrame()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   setTitle("ButtonTest");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   setSize(DEFAULT_WIDTH, DEFAULT_HEIGHT);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   panel = new JPanel();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   add(panel);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   </a:t>
            </a:r>
            <a:r>
              <a:rPr lang="sr-Latn-CS" altLang="en-US" sz="1600" b="1">
                <a:solidFill>
                  <a:schemeClr val="accent4"/>
                </a:solidFill>
                <a:latin typeface="Courier New" panose="02070309020205020404" pitchFamily="49" charset="0"/>
              </a:rPr>
              <a:t>blueButton</a:t>
            </a:r>
            <a:r>
              <a:rPr lang="sr-Latn-CS" altLang="en-US" sz="1600" b="1">
                <a:latin typeface="Courier New" panose="02070309020205020404" pitchFamily="49" charset="0"/>
              </a:rPr>
              <a:t> = new JButton("Blue");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   </a:t>
            </a:r>
            <a:r>
              <a:rPr lang="sr-Latn-CS" altLang="en-US" sz="1600" b="1">
                <a:solidFill>
                  <a:schemeClr val="accent4"/>
                </a:solidFill>
                <a:latin typeface="Courier New" panose="02070309020205020404" pitchFamily="49" charset="0"/>
              </a:rPr>
              <a:t>redButton</a:t>
            </a:r>
            <a:r>
              <a:rPr lang="sr-Latn-CS" altLang="en-US" sz="1600" b="1">
                <a:latin typeface="Courier New" panose="02070309020205020404" pitchFamily="49" charset="0"/>
              </a:rPr>
              <a:t> = new JButton("Red");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   panel.add(blueButton);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   panel.add(redButton);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   </a:t>
            </a:r>
            <a:r>
              <a:rPr lang="sr-Latn-C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ActionListenerInstaller.processAnnotations(this);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</a:t>
            </a:r>
            <a:r>
              <a:rPr lang="sr-Latn-C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@ActionListenerFor</a:t>
            </a:r>
            <a:r>
              <a:rPr lang="sr-Latn-CS" altLang="en-US" sz="1600" b="1">
                <a:latin typeface="Courier New" panose="02070309020205020404" pitchFamily="49" charset="0"/>
              </a:rPr>
              <a:t>(source="</a:t>
            </a:r>
            <a:r>
              <a:rPr lang="sr-Latn-CS" altLang="en-US" sz="1600" b="1">
                <a:solidFill>
                  <a:schemeClr val="accent4"/>
                </a:solidFill>
                <a:latin typeface="Courier New" panose="02070309020205020404" pitchFamily="49" charset="0"/>
              </a:rPr>
              <a:t>blueButton</a:t>
            </a:r>
            <a:r>
              <a:rPr lang="sr-Latn-CS" altLang="en-US" sz="1600" b="1">
                <a:latin typeface="Courier New" panose="02070309020205020404" pitchFamily="49" charset="0"/>
              </a:rPr>
              <a:t>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public void blueBackground()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   panel.setBackground(Color.BLUE);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6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</a:t>
            </a:r>
            <a:r>
              <a:rPr lang="sr-Latn-CS" altLang="en-US" sz="1600" b="1">
                <a:solidFill>
                  <a:srgbClr val="FF0000"/>
                </a:solidFill>
                <a:latin typeface="Courier New" panose="02070309020205020404" pitchFamily="49" charset="0"/>
              </a:rPr>
              <a:t>@ActionListenerFor</a:t>
            </a:r>
            <a:r>
              <a:rPr lang="sr-Latn-CS" altLang="en-US" sz="1600" b="1">
                <a:latin typeface="Courier New" panose="02070309020205020404" pitchFamily="49" charset="0"/>
              </a:rPr>
              <a:t>(source="</a:t>
            </a:r>
            <a:r>
              <a:rPr lang="sr-Latn-CS" altLang="en-US" sz="1600" b="1">
                <a:solidFill>
                  <a:schemeClr val="accent4"/>
                </a:solidFill>
                <a:latin typeface="Courier New" panose="02070309020205020404" pitchFamily="49" charset="0"/>
              </a:rPr>
              <a:t>redButton</a:t>
            </a:r>
            <a:r>
              <a:rPr lang="sr-Latn-CS" altLang="en-US" sz="1600" b="1">
                <a:latin typeface="Courier New" panose="02070309020205020404" pitchFamily="49" charset="0"/>
              </a:rPr>
              <a:t>")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public void redBackground()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   panel.setBackground(Color.RED);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6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6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67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67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67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67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8675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8675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675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8675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675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04C36BA6-6508-2FF0-9A48-9C350C3E8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r-Latn-CS" altLang="en-US"/>
              <a:t>ActionListenerFor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F680CCE6-80CD-9222-DA07-E0F8C24A4B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@Target(ElementType.METHOD)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@Retention(RetentionPolicy.RUNTIME)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public @interface ActionListenerFor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  String source();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2400" b="1">
                <a:latin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5820D2B9-E849-D06D-F3E2-17F4B433DC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65600" y="306359"/>
            <a:ext cx="7772400" cy="863600"/>
          </a:xfrm>
        </p:spPr>
        <p:txBody>
          <a:bodyPr/>
          <a:lstStyle/>
          <a:p>
            <a:pPr eaLnBrk="1" hangingPunct="1"/>
            <a:r>
              <a:rPr lang="sr-Latn-CS" altLang="en-US"/>
              <a:t>ActionListenerInstaller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812E8610-37F4-E84F-F61E-76BDA50F9C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3" y="1396766"/>
            <a:ext cx="10893104" cy="5272321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public static void processAnnotations(Object </a:t>
            </a:r>
            <a:r>
              <a:rPr lang="sr-Latn-CS" altLang="en-US" sz="2000" b="1">
                <a:solidFill>
                  <a:schemeClr val="accent2"/>
                </a:solidFill>
                <a:latin typeface="Courier New" panose="02070309020205020404" pitchFamily="49" charset="0"/>
              </a:rPr>
              <a:t>obj</a:t>
            </a:r>
            <a:r>
              <a:rPr lang="sr-Latn-CS" altLang="en-US" sz="2000" b="1">
                <a:latin typeface="Courier New" panose="02070309020205020404" pitchFamily="49" charset="0"/>
              </a:rPr>
              <a:t>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try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  Class </a:t>
            </a:r>
            <a:r>
              <a:rPr lang="sr-Latn-C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cls</a:t>
            </a:r>
            <a:r>
              <a:rPr lang="sr-Latn-CS" altLang="en-US" sz="2000" b="1">
                <a:latin typeface="Courier New" panose="02070309020205020404" pitchFamily="49" charset="0"/>
              </a:rPr>
              <a:t> = </a:t>
            </a:r>
            <a:r>
              <a:rPr lang="sr-Latn-CS" altLang="en-US" sz="2000" b="1">
                <a:solidFill>
                  <a:schemeClr val="accent2"/>
                </a:solidFill>
                <a:latin typeface="Courier New" panose="02070309020205020404" pitchFamily="49" charset="0"/>
              </a:rPr>
              <a:t>obj</a:t>
            </a:r>
            <a:r>
              <a:rPr lang="sr-Latn-CS" altLang="en-US" sz="2000" b="1">
                <a:latin typeface="Courier New" panose="02070309020205020404" pitchFamily="49" charset="0"/>
              </a:rPr>
              <a:t>.getClass();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  for (Method </a:t>
            </a:r>
            <a:r>
              <a:rPr lang="sr-Latn-CS" altLang="en-US" sz="2000" b="1">
                <a:solidFill>
                  <a:schemeClr val="accent4"/>
                </a:solidFill>
                <a:latin typeface="Courier New" panose="02070309020205020404" pitchFamily="49" charset="0"/>
              </a:rPr>
              <a:t>mtd</a:t>
            </a:r>
            <a:r>
              <a:rPr lang="sr-Latn-CS" altLang="en-US" sz="2000" b="1">
                <a:latin typeface="Courier New" panose="02070309020205020404" pitchFamily="49" charset="0"/>
              </a:rPr>
              <a:t> : </a:t>
            </a:r>
            <a:r>
              <a:rPr lang="sr-Latn-C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cls</a:t>
            </a:r>
            <a:r>
              <a:rPr lang="sr-Latn-CS" altLang="en-US" sz="2000" b="1">
                <a:latin typeface="Courier New" panose="02070309020205020404" pitchFamily="49" charset="0"/>
              </a:rPr>
              <a:t>.getDeclaredMethods())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    ActionListenerFor a = </a:t>
            </a:r>
            <a:r>
              <a:rPr lang="sr-Latn-CS" altLang="en-US" sz="2000" b="1">
                <a:solidFill>
                  <a:schemeClr val="accent4"/>
                </a:solidFill>
                <a:latin typeface="Courier New" panose="02070309020205020404" pitchFamily="49" charset="0"/>
              </a:rPr>
              <a:t>mtd</a:t>
            </a:r>
            <a:r>
              <a:rPr lang="sr-Latn-CS" altLang="en-US" sz="2000" b="1">
                <a:latin typeface="Courier New" panose="02070309020205020404" pitchFamily="49" charset="0"/>
              </a:rPr>
              <a:t>.getAnnotation(ActionListenerFor.class);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    if (a != null)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      Field </a:t>
            </a:r>
            <a:r>
              <a:rPr lang="sr-Latn-CS" altLang="en-US" sz="2000" b="1">
                <a:solidFill>
                  <a:schemeClr val="accent6"/>
                </a:solidFill>
                <a:latin typeface="Courier New" panose="02070309020205020404" pitchFamily="49" charset="0"/>
              </a:rPr>
              <a:t>fld</a:t>
            </a:r>
            <a:r>
              <a:rPr lang="sr-Latn-CS" altLang="en-US" sz="2000" b="1">
                <a:latin typeface="Courier New" panose="02070309020205020404" pitchFamily="49" charset="0"/>
              </a:rPr>
              <a:t> = </a:t>
            </a:r>
            <a:r>
              <a:rPr lang="sr-Latn-CS" altLang="en-US" sz="2000" b="1">
                <a:solidFill>
                  <a:srgbClr val="FF0000"/>
                </a:solidFill>
                <a:latin typeface="Courier New" panose="02070309020205020404" pitchFamily="49" charset="0"/>
              </a:rPr>
              <a:t>cls</a:t>
            </a:r>
            <a:r>
              <a:rPr lang="sr-Latn-CS" altLang="en-US" sz="2000" b="1">
                <a:latin typeface="Courier New" panose="02070309020205020404" pitchFamily="49" charset="0"/>
              </a:rPr>
              <a:t>.getDeclaredField(a.source());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      </a:t>
            </a:r>
            <a:r>
              <a:rPr lang="sr-Latn-CS" altLang="en-US" sz="2000" b="1">
                <a:solidFill>
                  <a:schemeClr val="accent6"/>
                </a:solidFill>
                <a:latin typeface="Courier New" panose="02070309020205020404" pitchFamily="49" charset="0"/>
              </a:rPr>
              <a:t>fld</a:t>
            </a:r>
            <a:r>
              <a:rPr lang="sr-Latn-CS" altLang="en-US" sz="2000" b="1">
                <a:latin typeface="Courier New" panose="02070309020205020404" pitchFamily="49" charset="0"/>
              </a:rPr>
              <a:t>.setAccessible(true);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      addListener(</a:t>
            </a:r>
            <a:r>
              <a:rPr lang="sr-Latn-CS" altLang="en-US" sz="2000" b="1">
                <a:solidFill>
                  <a:schemeClr val="accent6"/>
                </a:solidFill>
                <a:latin typeface="Courier New" panose="02070309020205020404" pitchFamily="49" charset="0"/>
              </a:rPr>
              <a:t>fld</a:t>
            </a:r>
            <a:r>
              <a:rPr lang="sr-Latn-CS" altLang="en-US" sz="2000" b="1">
                <a:latin typeface="Courier New" panose="02070309020205020404" pitchFamily="49" charset="0"/>
              </a:rPr>
              <a:t>.get(</a:t>
            </a:r>
            <a:r>
              <a:rPr lang="sr-Latn-CS" altLang="en-US" sz="2000" b="1">
                <a:solidFill>
                  <a:schemeClr val="accent2"/>
                </a:solidFill>
                <a:latin typeface="Courier New" panose="02070309020205020404" pitchFamily="49" charset="0"/>
              </a:rPr>
              <a:t>obj</a:t>
            </a:r>
            <a:r>
              <a:rPr lang="sr-Latn-CS" altLang="en-US" sz="2000" b="1">
                <a:latin typeface="Courier New" panose="02070309020205020404" pitchFamily="49" charset="0"/>
              </a:rPr>
              <a:t>), </a:t>
            </a:r>
            <a:r>
              <a:rPr lang="sr-Latn-CS" altLang="en-US" sz="2000" b="1">
                <a:solidFill>
                  <a:schemeClr val="accent2"/>
                </a:solidFill>
                <a:latin typeface="Courier New" panose="02070309020205020404" pitchFamily="49" charset="0"/>
              </a:rPr>
              <a:t>obj</a:t>
            </a:r>
            <a:r>
              <a:rPr lang="sr-Latn-CS" altLang="en-US" sz="2000" b="1">
                <a:latin typeface="Courier New" panose="02070309020205020404" pitchFamily="49" charset="0"/>
              </a:rPr>
              <a:t>, </a:t>
            </a:r>
            <a:r>
              <a:rPr lang="sr-Latn-CS" altLang="en-US" sz="2000" b="1">
                <a:solidFill>
                  <a:schemeClr val="accent4"/>
                </a:solidFill>
                <a:latin typeface="Courier New" panose="02070309020205020404" pitchFamily="49" charset="0"/>
              </a:rPr>
              <a:t>mtd</a:t>
            </a:r>
            <a:r>
              <a:rPr lang="sr-Latn-CS" altLang="en-US" sz="20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} catch (Exception e)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   e.printStackTrace();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20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2000" b="1">
              <a:latin typeface="Courier New" panose="02070309020205020404" pitchFamily="49" charset="0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73B4F5A3-2585-0BDF-4CA5-51458588A42C}"/>
              </a:ext>
            </a:extLst>
          </p:cNvPr>
          <p:cNvSpPr/>
          <p:nvPr/>
        </p:nvSpPr>
        <p:spPr>
          <a:xfrm>
            <a:off x="7667538" y="4408415"/>
            <a:ext cx="3672979" cy="1400961"/>
          </a:xfrm>
          <a:prstGeom prst="wedgeRoundRectCallout">
            <a:avLst>
              <a:gd name="adj1" fmla="val -71537"/>
              <a:gd name="adj2" fmla="val -58159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/>
              <a:t>@ActionListenerFor(source="</a:t>
            </a:r>
            <a:r>
              <a:rPr lang="en-US" sz="1400" u="sng"/>
              <a:t>redButton</a:t>
            </a:r>
            <a:r>
              <a:rPr lang="en-US" sz="1400"/>
              <a:t>")</a:t>
            </a:r>
          </a:p>
          <a:p>
            <a:r>
              <a:rPr lang="en-US" sz="1400"/>
              <a:t>   public void </a:t>
            </a:r>
            <a:r>
              <a:rPr lang="en-US" sz="1400" u="sng"/>
              <a:t>redBackground</a:t>
            </a:r>
            <a:r>
              <a:rPr lang="en-US" sz="1400"/>
              <a:t>() {</a:t>
            </a:r>
          </a:p>
          <a:p>
            <a:r>
              <a:rPr lang="en-US" sz="1400"/>
              <a:t>      panel.setBackground(Color.RED);</a:t>
            </a:r>
          </a:p>
          <a:p>
            <a:r>
              <a:rPr lang="en-US" sz="1400"/>
              <a:t>   }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15A19CE2-185B-3DE3-EA63-DBAE1D47B401}"/>
              </a:ext>
            </a:extLst>
          </p:cNvPr>
          <p:cNvSpPr/>
          <p:nvPr/>
        </p:nvSpPr>
        <p:spPr>
          <a:xfrm>
            <a:off x="113251" y="3280096"/>
            <a:ext cx="1543576" cy="922790"/>
          </a:xfrm>
          <a:prstGeom prst="wedgeRoundRectCallout">
            <a:avLst>
              <a:gd name="adj1" fmla="val 76178"/>
              <a:gd name="adj2" fmla="val -22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private JButton blueButton, redButton;</a:t>
            </a:r>
          </a:p>
          <a:p>
            <a:pPr algn="ctr"/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0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0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72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72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uiExpand="1" build="p"/>
      <p:bldP spid="2" grpId="0" animBg="1"/>
      <p:bldP spid="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95297ED-53A9-47AD-F249-5D38078F78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17227" y="214059"/>
            <a:ext cx="7772400" cy="54499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sr-Latn-CS" altLang="en-US"/>
              <a:t>ActionListenerInstaller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4B2F8732-B2EB-72C9-7E07-320A2841CB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4921" y="1388378"/>
            <a:ext cx="11698448" cy="520927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public static void addListener(Object </a:t>
            </a:r>
            <a:r>
              <a:rPr lang="sr-Latn-CS" altLang="en-US" sz="1800" b="1">
                <a:solidFill>
                  <a:schemeClr val="accent2"/>
                </a:solidFill>
                <a:latin typeface="Courier New" panose="02070309020205020404" pitchFamily="49" charset="0"/>
              </a:rPr>
              <a:t>source</a:t>
            </a:r>
            <a:r>
              <a:rPr lang="sr-Latn-CS" altLang="en-US" sz="1800" b="1">
                <a:latin typeface="Courier New" panose="02070309020205020404" pitchFamily="49" charset="0"/>
              </a:rPr>
              <a:t>, final Object frame, final Method </a:t>
            </a:r>
            <a:r>
              <a:rPr lang="sr-Latn-CS" altLang="en-US" sz="1800" b="1">
                <a:solidFill>
                  <a:schemeClr val="accent4"/>
                </a:solidFill>
                <a:latin typeface="Courier New" panose="02070309020205020404" pitchFamily="49" charset="0"/>
              </a:rPr>
              <a:t>mtd</a:t>
            </a:r>
            <a:r>
              <a:rPr lang="sr-Latn-CS" altLang="en-US" sz="1800" b="1">
                <a:latin typeface="Courier New" panose="02070309020205020404" pitchFamily="49" charset="0"/>
              </a:rPr>
              <a:t>) throws Exception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  InvocationHandler </a:t>
            </a:r>
            <a:r>
              <a:rPr lang="sr-Latn-CS" altLang="en-US" sz="1800" b="1">
                <a:solidFill>
                  <a:srgbClr val="FF0000"/>
                </a:solidFill>
                <a:latin typeface="Courier New" panose="02070309020205020404" pitchFamily="49" charset="0"/>
              </a:rPr>
              <a:t>handler</a:t>
            </a:r>
            <a:r>
              <a:rPr lang="sr-Latn-CS" altLang="en-US" sz="1800" b="1">
                <a:latin typeface="Courier New" panose="02070309020205020404" pitchFamily="49" charset="0"/>
              </a:rPr>
              <a:t> = new InvocationHandler()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    public Object invoke(Object proxy, Method mm, Object[] args) throws Throwable 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      return </a:t>
            </a:r>
            <a:r>
              <a:rPr lang="sr-Latn-CS" altLang="en-US" sz="1800" b="1">
                <a:solidFill>
                  <a:schemeClr val="accent4"/>
                </a:solidFill>
                <a:latin typeface="Courier New" panose="02070309020205020404" pitchFamily="49" charset="0"/>
              </a:rPr>
              <a:t>mtd</a:t>
            </a:r>
            <a:r>
              <a:rPr lang="sr-Latn-CS" altLang="en-US" sz="1800" b="1">
                <a:latin typeface="Courier New" panose="02070309020205020404" pitchFamily="49" charset="0"/>
              </a:rPr>
              <a:t>.invoke(frame);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   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  };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800" b="1">
              <a:latin typeface="Courier New" panose="02070309020205020404" pitchFamily="49" charset="0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  Object </a:t>
            </a:r>
            <a:r>
              <a:rPr lang="sr-Latn-CS" altLang="en-US" sz="1800" b="1">
                <a:solidFill>
                  <a:schemeClr val="accent6"/>
                </a:solidFill>
                <a:latin typeface="Courier New" panose="02070309020205020404" pitchFamily="49" charset="0"/>
              </a:rPr>
              <a:t>listener</a:t>
            </a:r>
            <a:r>
              <a:rPr lang="sr-Latn-CS" altLang="en-US" sz="1800" b="1">
                <a:latin typeface="Courier New" panose="02070309020205020404" pitchFamily="49" charset="0"/>
              </a:rPr>
              <a:t> = Proxy.newProxyInstance(null,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      new Class[] { java.awt.event.ActionListener.class },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      </a:t>
            </a:r>
            <a:r>
              <a:rPr lang="sr-Latn-CS" altLang="en-US" sz="1800" b="1">
                <a:solidFill>
                  <a:srgbClr val="FF0000"/>
                </a:solidFill>
                <a:latin typeface="Courier New" panose="02070309020205020404" pitchFamily="49" charset="0"/>
              </a:rPr>
              <a:t>handler</a:t>
            </a:r>
            <a:r>
              <a:rPr lang="sr-Latn-CS" altLang="en-US" sz="18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  Method adder = </a:t>
            </a:r>
            <a:r>
              <a:rPr lang="sr-Latn-CS" altLang="en-US" sz="1800" b="1">
                <a:solidFill>
                  <a:schemeClr val="accent2"/>
                </a:solidFill>
                <a:latin typeface="Courier New" panose="02070309020205020404" pitchFamily="49" charset="0"/>
              </a:rPr>
              <a:t>source</a:t>
            </a:r>
            <a:r>
              <a:rPr lang="sr-Latn-CS" altLang="en-US" sz="1800" b="1">
                <a:latin typeface="Courier New" panose="02070309020205020404" pitchFamily="49" charset="0"/>
              </a:rPr>
              <a:t>.getClass().getMethod("addActionListener", ActionListener.class);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  adder.invoke(</a:t>
            </a:r>
            <a:r>
              <a:rPr lang="sr-Latn-CS" altLang="en-US" sz="1800" b="1">
                <a:solidFill>
                  <a:schemeClr val="accent2"/>
                </a:solidFill>
                <a:latin typeface="Courier New" panose="02070309020205020404" pitchFamily="49" charset="0"/>
              </a:rPr>
              <a:t>source</a:t>
            </a:r>
            <a:r>
              <a:rPr lang="sr-Latn-CS" altLang="en-US" sz="1800" b="1">
                <a:latin typeface="Courier New" panose="02070309020205020404" pitchFamily="49" charset="0"/>
              </a:rPr>
              <a:t>, </a:t>
            </a:r>
            <a:r>
              <a:rPr lang="sr-Latn-CS" altLang="en-US" sz="1800" b="1">
                <a:solidFill>
                  <a:schemeClr val="accent6"/>
                </a:solidFill>
                <a:latin typeface="Courier New" panose="02070309020205020404" pitchFamily="49" charset="0"/>
              </a:rPr>
              <a:t>listener</a:t>
            </a:r>
            <a:r>
              <a:rPr lang="sr-Latn-CS" altLang="en-US" sz="1800" b="1">
                <a:latin typeface="Courier New" panose="02070309020205020404" pitchFamily="49" charset="0"/>
              </a:rPr>
              <a:t>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sr-Latn-CS" altLang="en-US" sz="1800" b="1">
                <a:latin typeface="Courier New" panose="02070309020205020404" pitchFamily="49" charset="0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sr-Latn-CS" altLang="en-US" sz="1800" b="1">
              <a:latin typeface="Courier New" panose="02070309020205020404" pitchFamily="49" charset="0"/>
            </a:endParaRPr>
          </a:p>
        </p:txBody>
      </p:sp>
      <p:sp>
        <p:nvSpPr>
          <p:cNvPr id="2" name="Speech Bubble: Rectangle with Corners Rounded 1">
            <a:extLst>
              <a:ext uri="{FF2B5EF4-FFF2-40B4-BE49-F238E27FC236}">
                <a16:creationId xmlns:a16="http://schemas.microsoft.com/office/drawing/2014/main" id="{B379F37B-A063-E75F-D0A9-A6EBDF4E1AAF}"/>
              </a:ext>
            </a:extLst>
          </p:cNvPr>
          <p:cNvSpPr/>
          <p:nvPr/>
        </p:nvSpPr>
        <p:spPr>
          <a:xfrm>
            <a:off x="8191850" y="150393"/>
            <a:ext cx="3672979" cy="902121"/>
          </a:xfrm>
          <a:prstGeom prst="wedgeRoundRectCallout">
            <a:avLst>
              <a:gd name="adj1" fmla="val 37751"/>
              <a:gd name="adj2" fmla="val 8876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/>
              <a:t>@ActionListenerFor(source="</a:t>
            </a:r>
            <a:r>
              <a:rPr lang="en-US" sz="1400" u="sng"/>
              <a:t>redButton</a:t>
            </a:r>
            <a:r>
              <a:rPr lang="en-US" sz="1400"/>
              <a:t>")</a:t>
            </a:r>
          </a:p>
          <a:p>
            <a:r>
              <a:rPr lang="en-US" sz="1400"/>
              <a:t>   public void </a:t>
            </a:r>
            <a:r>
              <a:rPr lang="en-US" sz="1400" u="sng"/>
              <a:t>redBackground</a:t>
            </a:r>
            <a:r>
              <a:rPr lang="en-US" sz="1400"/>
              <a:t>() {</a:t>
            </a:r>
          </a:p>
          <a:p>
            <a:r>
              <a:rPr lang="en-US" sz="1400"/>
              <a:t>      panel.setBackground(Color.RED);</a:t>
            </a:r>
          </a:p>
          <a:p>
            <a:r>
              <a:rPr lang="en-US" sz="1400"/>
              <a:t>   }</a:t>
            </a:r>
          </a:p>
        </p:txBody>
      </p:sp>
      <p:sp>
        <p:nvSpPr>
          <p:cNvPr id="3" name="Speech Bubble: Rectangle with Corners Rounded 2">
            <a:extLst>
              <a:ext uri="{FF2B5EF4-FFF2-40B4-BE49-F238E27FC236}">
                <a16:creationId xmlns:a16="http://schemas.microsoft.com/office/drawing/2014/main" id="{C9345FF6-4C4E-04A8-4184-3AB086EF0E58}"/>
              </a:ext>
            </a:extLst>
          </p:cNvPr>
          <p:cNvSpPr/>
          <p:nvPr/>
        </p:nvSpPr>
        <p:spPr>
          <a:xfrm>
            <a:off x="2709644" y="926983"/>
            <a:ext cx="3796020" cy="339755"/>
          </a:xfrm>
          <a:prstGeom prst="wedgeRoundRectCallout">
            <a:avLst>
              <a:gd name="adj1" fmla="val 36068"/>
              <a:gd name="adj2" fmla="val 10219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private JButton blueButton, redButton;</a:t>
            </a:r>
          </a:p>
          <a:p>
            <a:pPr algn="ctr"/>
            <a:endParaRPr 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1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uiExpand="1" build="p"/>
      <p:bldP spid="2" grpId="0" animBg="1"/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1503</Words>
  <Application>Microsoft Office PowerPoint</Application>
  <PresentationFormat>Widescreen</PresentationFormat>
  <Paragraphs>278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Courier New</vt:lpstr>
      <vt:lpstr>Office Theme</vt:lpstr>
      <vt:lpstr>PowerPoint Presentation</vt:lpstr>
      <vt:lpstr>Anotacije</vt:lpstr>
      <vt:lpstr>Anotacije</vt:lpstr>
      <vt:lpstr>Anotacija je interfejs</vt:lpstr>
      <vt:lpstr>Dodela anotacije</vt:lpstr>
      <vt:lpstr>Anotacija sa jednim elementom</vt:lpstr>
      <vt:lpstr>Anotacije bez elemenata</vt:lpstr>
      <vt:lpstr>Meta-anotacije</vt:lpstr>
      <vt:lpstr>@Retention</vt:lpstr>
      <vt:lpstr>@Target</vt:lpstr>
      <vt:lpstr>@Target</vt:lpstr>
      <vt:lpstr>Anotacije i refleksija</vt:lpstr>
      <vt:lpstr>java.lang anotacije</vt:lpstr>
      <vt:lpstr>java.lang.annotation anotacije</vt:lpstr>
      <vt:lpstr>Upotreba</vt:lpstr>
      <vt:lpstr>EJB Session Bean</vt:lpstr>
      <vt:lpstr>JPA Entity</vt:lpstr>
      <vt:lpstr>Spring okruženje</vt:lpstr>
      <vt:lpstr>Pola primera Dependency Injection</vt:lpstr>
      <vt:lpstr>MyComponent.java</vt:lpstr>
      <vt:lpstr>DependencyInjectionManager.java</vt:lpstr>
      <vt:lpstr>Ostalo</vt:lpstr>
      <vt:lpstr>Klasa Proxy</vt:lpstr>
      <vt:lpstr>Klasa  Proxy</vt:lpstr>
      <vt:lpstr>Primer</vt:lpstr>
      <vt:lpstr>ActionListenerFor</vt:lpstr>
      <vt:lpstr>ActionListenerInstaller</vt:lpstr>
      <vt:lpstr>ActionListenerInstaller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Jovana Vidaković</dc:creator>
  <cp:lastModifiedBy>Jovana Vidaković</cp:lastModifiedBy>
  <cp:revision>37</cp:revision>
  <dcterms:created xsi:type="dcterms:W3CDTF">2024-06-23T05:47:25Z</dcterms:created>
  <dcterms:modified xsi:type="dcterms:W3CDTF">2024-07-01T19:46:00Z</dcterms:modified>
</cp:coreProperties>
</file>