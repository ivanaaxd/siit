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341" r:id="rId5"/>
    <p:sldId id="261" r:id="rId6"/>
    <p:sldId id="262" r:id="rId7"/>
    <p:sldId id="305" r:id="rId8"/>
    <p:sldId id="344" r:id="rId9"/>
    <p:sldId id="314" r:id="rId10"/>
    <p:sldId id="271" r:id="rId11"/>
    <p:sldId id="272" r:id="rId12"/>
    <p:sldId id="294" r:id="rId13"/>
    <p:sldId id="296" r:id="rId14"/>
    <p:sldId id="297" r:id="rId15"/>
    <p:sldId id="273" r:id="rId16"/>
    <p:sldId id="274" r:id="rId17"/>
    <p:sldId id="275" r:id="rId18"/>
    <p:sldId id="276" r:id="rId19"/>
    <p:sldId id="277" r:id="rId20"/>
    <p:sldId id="278" r:id="rId21"/>
    <p:sldId id="346" r:id="rId22"/>
    <p:sldId id="280" r:id="rId23"/>
    <p:sldId id="284" r:id="rId24"/>
    <p:sldId id="286" r:id="rId25"/>
    <p:sldId id="288" r:id="rId26"/>
    <p:sldId id="345" r:id="rId27"/>
    <p:sldId id="290" r:id="rId28"/>
    <p:sldId id="291" r:id="rId29"/>
    <p:sldId id="303" r:id="rId30"/>
    <p:sldId id="304" r:id="rId31"/>
    <p:sldId id="343" r:id="rId32"/>
    <p:sldId id="342" r:id="rId33"/>
    <p:sldId id="298" r:id="rId34"/>
    <p:sldId id="299" r:id="rId35"/>
    <p:sldId id="300" r:id="rId36"/>
    <p:sldId id="301" r:id="rId37"/>
    <p:sldId id="302" r:id="rId38"/>
    <p:sldId id="340" r:id="rId39"/>
    <p:sldId id="336" r:id="rId40"/>
    <p:sldId id="337" r:id="rId41"/>
    <p:sldId id="338" r:id="rId42"/>
    <p:sldId id="33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A1E6-74B9-B007-5B8B-E3A5BEC7E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5DC65-D9A3-8C91-D14F-135FD3277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1B2D0-ABF2-DADC-98E8-D615EE8E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711A-EC7D-8349-D77F-89CD63C0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1356-1B18-3548-65B5-08AF3EB6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62C9-9004-FAA2-0F2F-3B0AA391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8230-FC2A-7231-CFF5-8A749913C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128B-F2A3-5D22-4112-A9C4323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C9AA-B4B6-1FE3-7822-7C8A415C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A48F-7FF1-5C4E-8940-5DF337B1AC88}"/>
              </a:ext>
            </a:extLst>
          </p:cNvPr>
          <p:cNvSpPr txBox="1"/>
          <p:nvPr userDrawn="1"/>
        </p:nvSpPr>
        <p:spPr>
          <a:xfrm>
            <a:off x="8606348" y="6356350"/>
            <a:ext cx="274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990961-FEE4-4147-85DF-F26C93E51AE9}" type="slidenum">
              <a:rPr lang="en-US" smtClean="0"/>
              <a:pPr algn="r"/>
              <a:t>‹#›</a:t>
            </a:fld>
            <a:r>
              <a:rPr lang="sr-Latn-RS"/>
              <a:t>/42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2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78E1-36ED-F2E5-5AE2-BBF0048D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37252-6392-D97E-A32E-DF0DF5B96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E1B3-93BA-60B1-5749-46AD8855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68F8-B119-91F9-ED23-0E303ACE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5E46-38EE-04FB-8F4C-08A7F14B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009-88D3-3972-F885-2A8BFD42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F20C-A309-F9DA-63F3-26BC519C9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2264E-8D42-E2BE-9287-EC0885F1C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CAA43-CF6B-E2D0-7E48-984532AB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7FBBB-A6A4-916E-C2F8-1713820F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8F410-6D25-0349-92D2-8E61E524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6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540A-E0DF-243B-D9C7-EF52AC8C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80F96-DD89-F749-F6B7-CEAD4BAD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DF807-9C41-E99E-7F37-F4132EAA4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74686-207E-C685-98A0-419353DF2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5AE6D-D3CC-9A61-683C-598C5D833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5CADA-7E10-0255-BD45-26816E36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E906F-F859-6D3D-3E05-12BDD9DE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D7164-45E3-3B46-BDD8-D7F3FAD6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7579-F4A2-BA42-2D55-A3A68C92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C16C9-DCA0-CB78-5FC9-2B190A96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CEFE-F0D9-C890-4083-336E657B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C13E0-9B4B-453E-17BA-F01D4E7D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C93AE-636C-EAE0-3F80-219438AD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733B9-E924-3C34-33B8-D3AC8F67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BCC0E-1D47-0ED3-FFCB-C5540DAB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0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E3C8-5253-05F9-9412-7C9F274B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7C69-CD9D-604F-BE2C-EB26DFE4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42EF5-B3D6-56DA-92F8-36D1EADC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9160B-36E5-28B5-DD65-680BED93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F8A6-C26B-CB55-507E-CD7A98B3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375D1-C5AB-B42C-F0F8-6D1CDE29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7B1-508A-A836-2017-A1E1FF89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13571-0329-952B-89AA-B512A60AF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0C187-5142-7791-AA17-D5D69330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310CA-AB77-1BEC-92D7-F375EECB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4817-AB0E-5596-A378-05A0B1D1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87B7E-8673-C82E-3626-04A9E76E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4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8929-9984-F28E-2B3D-2C95D224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0EBCC-FB38-E1A6-C695-04589A11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4006F-CBAC-6702-15D4-A4C77997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0036A-FD6E-7308-2B3D-B4E5FC21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6DCA0-62F2-F218-904D-EF522795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42F05-54B6-2C5A-F807-FEEB02216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B4F83-82F3-0FDE-5BC4-A96CAF7B9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6EBDC-CDE1-E403-836B-C85FEDED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D518-2EEE-EEF6-B5AA-92138BC3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B789C-1E49-4CE2-9965-82FD9046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4C8D8-6766-8B92-F773-71A1DF94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7BD0-82D6-03A3-CB53-950A90FF7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C2FD-5433-4460-9C48-9193FCBE6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F66D3-81FA-46C7-BBEE-81AC462F986E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68D8-10DC-445B-41A0-348DA8F26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E9E3-3351-81DD-B3EC-22EF79A96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5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ana.org/assignments/jwt/jwt.xhtm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0BBCC35-2244-0674-573E-89797AA6CC9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79650" y="4581525"/>
            <a:ext cx="7772400" cy="1295400"/>
          </a:xfrm>
        </p:spPr>
        <p:txBody>
          <a:bodyPr/>
          <a:lstStyle/>
          <a:p>
            <a:pPr eaLnBrk="1" hangingPunct="1"/>
            <a:r>
              <a:rPr lang="en-US" altLang="sr-Latn-RS" sz="3200"/>
              <a:t>Pra</a:t>
            </a:r>
            <a:r>
              <a:rPr lang="sr-Latn-CS" altLang="sr-Latn-RS" sz="3200"/>
              <a:t>ćenje sesije</a:t>
            </a:r>
            <a:endParaRPr lang="en-GB" altLang="sr-Latn-RS" sz="32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9E49E7-019C-AC93-A220-7B262ED9B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7813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sr-Latn-CS" altLang="sr-Latn-RS"/>
              <a:t>Inženjerstvo Serverskog Sloja</a:t>
            </a:r>
            <a:br>
              <a:rPr lang="sr-Latn-CS" altLang="sr-Latn-RS"/>
            </a:br>
            <a:r>
              <a:rPr lang="sr-Latn-CS" altLang="sr-Latn-RS" sz="2800"/>
              <a:t>prof. dr Milan Vidaković</a:t>
            </a:r>
            <a:endParaRPr lang="en-GB" altLang="sr-Latn-RS" ker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1DD06B-44CB-2F1F-BCE2-1B2ABF4E9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Praćenje sesije korisnika </a:t>
            </a:r>
            <a:r>
              <a:rPr lang="sr-Latn-CS" altLang="sr-Latn-RS" baseline="-25000"/>
              <a:t>1</a:t>
            </a:r>
            <a:r>
              <a:rPr lang="en-US" altLang="sr-Latn-RS" baseline="-25000"/>
              <a:t>/</a:t>
            </a:r>
            <a:r>
              <a:rPr lang="sr-Latn-CS" altLang="sr-Latn-RS" baseline="-25000"/>
              <a:t>3</a:t>
            </a:r>
            <a:endParaRPr lang="en-US" altLang="sr-Latn-RS" baseline="-2500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D7FE99A-7838-7273-8C8D-8D87FC279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1"/>
            <a:ext cx="9342438" cy="4614863"/>
          </a:xfrm>
        </p:spPr>
        <p:txBody>
          <a:bodyPr/>
          <a:lstStyle/>
          <a:p>
            <a:pPr eaLnBrk="1" hangingPunct="1"/>
            <a:r>
              <a:rPr lang="sr-Latn-CS" altLang="sr-Latn-RS"/>
              <a:t>HTTP protokol ne prati sesiju – veza klije</a:t>
            </a:r>
            <a:r>
              <a:rPr lang="en-US" altLang="sr-Latn-RS"/>
              <a:t>n</a:t>
            </a:r>
            <a:r>
              <a:rPr lang="sr-Latn-CS" altLang="sr-Latn-RS"/>
              <a:t>ta i servera se zatvara po isporuci resursa.</a:t>
            </a:r>
          </a:p>
          <a:p>
            <a:pPr eaLnBrk="1" hangingPunct="1"/>
            <a:r>
              <a:rPr lang="sr-Latn-CS" altLang="sr-Latn-RS"/>
              <a:t>Koristi se </a:t>
            </a:r>
            <a:r>
              <a:rPr lang="sr-Latn-CS" altLang="sr-Latn-RS" i="1"/>
              <a:t>cookie</a:t>
            </a:r>
            <a:r>
              <a:rPr lang="sr-Latn-CS" altLang="sr-Latn-RS"/>
              <a:t> mehanizam:</a:t>
            </a:r>
          </a:p>
          <a:p>
            <a:pPr lvl="1" eaLnBrk="1" hangingPunct="1"/>
            <a:r>
              <a:rPr lang="sr-Latn-CS" altLang="sr-Latn-RS"/>
              <a:t>Server šalje </a:t>
            </a:r>
            <a:r>
              <a:rPr lang="sr-Latn-CS" altLang="sr-Latn-RS" i="1"/>
              <a:t>cookie</a:t>
            </a:r>
            <a:r>
              <a:rPr lang="sr-Latn-CS" altLang="sr-Latn-RS"/>
              <a:t> klijen</a:t>
            </a:r>
            <a:r>
              <a:rPr lang="en-US" altLang="sr-Latn-RS"/>
              <a:t>t</a:t>
            </a:r>
            <a:r>
              <a:rPr lang="sr-Latn-CS" altLang="sr-Latn-RS"/>
              <a:t>u u okviru http response</a:t>
            </a:r>
          </a:p>
          <a:p>
            <a:pPr lvl="1" eaLnBrk="1" hangingPunct="1"/>
            <a:r>
              <a:rPr lang="sr-Latn-CS" altLang="sr-Latn-RS"/>
              <a:t>klijent čuva primljeni </a:t>
            </a:r>
            <a:r>
              <a:rPr lang="sr-Latn-CS" altLang="sr-Latn-RS" i="1"/>
              <a:t>cookie</a:t>
            </a:r>
            <a:r>
              <a:rPr lang="sr-Latn-CS" altLang="sr-Latn-RS"/>
              <a:t> i šalje ga uz svaki http request.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DF70199-BF89-29C5-597A-975ACCD68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Praćenje sesije korisnika</a:t>
            </a:r>
            <a:r>
              <a:rPr lang="en-US" altLang="sr-Latn-RS"/>
              <a:t> </a:t>
            </a:r>
            <a:r>
              <a:rPr lang="sr-Latn-CS" altLang="sr-Latn-RS" baseline="-25000"/>
              <a:t>2</a:t>
            </a:r>
            <a:r>
              <a:rPr lang="en-US" altLang="sr-Latn-RS" baseline="-25000"/>
              <a:t>/</a:t>
            </a:r>
            <a:r>
              <a:rPr lang="sr-Latn-CS" altLang="sr-Latn-RS" baseline="-25000"/>
              <a:t>3</a:t>
            </a:r>
            <a:endParaRPr lang="en-GB" altLang="sr-Latn-RS" sz="160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D3D7AC3-7071-CE1E-83D1-0273C8B7E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1"/>
            <a:ext cx="9372600" cy="722313"/>
          </a:xfrm>
        </p:spPr>
        <p:txBody>
          <a:bodyPr/>
          <a:lstStyle/>
          <a:p>
            <a:pPr eaLnBrk="1" hangingPunct="1"/>
            <a:r>
              <a:rPr lang="sr-Latn-CS" altLang="sr-Latn-RS"/>
              <a:t>Kada se koristi cookie mehanizam:</a:t>
            </a:r>
            <a:endParaRPr lang="en-GB" altLang="sr-Latn-RS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66658AC2-4A34-05F0-5DAE-95CE366A9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78130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klijent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09D0DBF9-06D8-5727-0252-27E31803D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2781300"/>
            <a:ext cx="884238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server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7174" name="Line 6">
            <a:extLst>
              <a:ext uri="{FF2B5EF4-FFF2-40B4-BE49-F238E27FC236}">
                <a16:creationId xmlns:a16="http://schemas.microsoft.com/office/drawing/2014/main" id="{24F426A7-061D-D23B-7878-DD28F2B74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9337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5" name="Line 7">
            <a:extLst>
              <a:ext uri="{FF2B5EF4-FFF2-40B4-BE49-F238E27FC236}">
                <a16:creationId xmlns:a16="http://schemas.microsoft.com/office/drawing/2014/main" id="{A0A195EA-0A31-1F4C-A2B9-98ECC574D4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3147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76" name="Text Box 8">
            <a:extLst>
              <a:ext uri="{FF2B5EF4-FFF2-40B4-BE49-F238E27FC236}">
                <a16:creationId xmlns:a16="http://schemas.microsoft.com/office/drawing/2014/main" id="{FDA618A6-6164-16BE-BEA6-A31B88819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638425"/>
            <a:ext cx="717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Zahtev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  <p:sp>
        <p:nvSpPr>
          <p:cNvPr id="7177" name="Text Box 9">
            <a:extLst>
              <a:ext uri="{FF2B5EF4-FFF2-40B4-BE49-F238E27FC236}">
                <a16:creationId xmlns:a16="http://schemas.microsoft.com/office/drawing/2014/main" id="{9E956C0E-20FD-469C-1377-80422EBD3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1" y="3340100"/>
            <a:ext cx="15922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Odgovor + cookie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  <p:sp>
        <p:nvSpPr>
          <p:cNvPr id="7178" name="Text Box 10">
            <a:extLst>
              <a:ext uri="{FF2B5EF4-FFF2-40B4-BE49-F238E27FC236}">
                <a16:creationId xmlns:a16="http://schemas.microsoft.com/office/drawing/2014/main" id="{A86BBAF4-9F83-2C4F-98D7-9CA51C5FA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514850"/>
            <a:ext cx="914400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klijent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7179" name="Text Box 11">
            <a:extLst>
              <a:ext uri="{FF2B5EF4-FFF2-40B4-BE49-F238E27FC236}">
                <a16:creationId xmlns:a16="http://schemas.microsoft.com/office/drawing/2014/main" id="{91811EE4-3B9F-DE49-5C32-CAFE8F37A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4514850"/>
            <a:ext cx="884238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HTTP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2000">
                <a:latin typeface="Tahoma" panose="020B0604030504040204" pitchFamily="34" charset="0"/>
              </a:rPr>
              <a:t>server</a:t>
            </a:r>
            <a:endParaRPr lang="en-GB" altLang="sr-Latn-RS" sz="2000">
              <a:latin typeface="Tahoma" panose="020B0604030504040204" pitchFamily="34" charset="0"/>
            </a:endParaRPr>
          </a:p>
        </p:txBody>
      </p:sp>
      <p:sp>
        <p:nvSpPr>
          <p:cNvPr id="7180" name="Line 12">
            <a:extLst>
              <a:ext uri="{FF2B5EF4-FFF2-40B4-BE49-F238E27FC236}">
                <a16:creationId xmlns:a16="http://schemas.microsoft.com/office/drawing/2014/main" id="{797C7F21-91CA-F228-755A-FF2ED7CC98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66725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1" name="Line 13">
            <a:extLst>
              <a:ext uri="{FF2B5EF4-FFF2-40B4-BE49-F238E27FC236}">
                <a16:creationId xmlns:a16="http://schemas.microsoft.com/office/drawing/2014/main" id="{CA6C0E8E-DC85-25AF-BDFC-729275D23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04825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82" name="Text Box 14">
            <a:extLst>
              <a:ext uri="{FF2B5EF4-FFF2-40B4-BE49-F238E27FC236}">
                <a16:creationId xmlns:a16="http://schemas.microsoft.com/office/drawing/2014/main" id="{607ED8CF-3690-A49E-36B7-F07C149B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4371975"/>
            <a:ext cx="1457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Zahtev + cookie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  <p:sp>
        <p:nvSpPr>
          <p:cNvPr id="7183" name="Text Box 15">
            <a:extLst>
              <a:ext uri="{FF2B5EF4-FFF2-40B4-BE49-F238E27FC236}">
                <a16:creationId xmlns:a16="http://schemas.microsoft.com/office/drawing/2014/main" id="{5498F34B-F508-7F73-D70F-976D652CE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073651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1400">
                <a:latin typeface="Tahoma" panose="020B0604030504040204" pitchFamily="34" charset="0"/>
              </a:rPr>
              <a:t>Odgovor</a:t>
            </a:r>
            <a:endParaRPr lang="en-GB" altLang="sr-Latn-RS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4FF3E00-CA58-A88A-EC1D-09ED93E32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8100"/>
            <a:ext cx="7772400" cy="1143000"/>
          </a:xfrm>
        </p:spPr>
        <p:txBody>
          <a:bodyPr/>
          <a:lstStyle/>
          <a:p>
            <a:pPr eaLnBrk="1" hangingPunct="1"/>
            <a:r>
              <a:rPr lang="sr-Latn-CS" altLang="sr-Latn-RS"/>
              <a:t>Praćenje sesije korisnika </a:t>
            </a:r>
            <a:r>
              <a:rPr lang="sr-Latn-CS" altLang="sr-Latn-RS" baseline="-25000"/>
              <a:t>3/3</a:t>
            </a:r>
            <a:endParaRPr lang="en-US" altLang="sr-Latn-R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8BCF80B-49D6-3BBC-66C0-69235D25B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4188" y="1181100"/>
            <a:ext cx="8983662" cy="116205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/>
              <a:t>GET / HTTP/1.1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/>
              <a:t>Accept-Language: sr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/>
              <a:t>User-Agent: Mozilla/4.0 (compatible; MSIE 6.0; Windows NT 5.1; .NET CLR 1.1.4322)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/>
              <a:t>Host: localhost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/>
              <a:t>Connection: Keep-Alive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/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708F92F2-60F5-A9D4-8C7D-CF1596A4B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188" y="4927600"/>
            <a:ext cx="8348662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GET /Test HTTP/1.1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Accept-Language: sr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User-Agent: Mozilla/4.0 (compatible; MSIE 6.0; Windows NT 5.1; .NET CLR 1.1.4322)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Host: localhost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Connection: Keep-Alive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Cookie: ASPSESSIONIDGGQQQAEK=JKKPPFKCMNDNMEEOHAADJKPM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sr-Latn-RS" sz="1400">
              <a:latin typeface="Tahoma" panose="020B0604030504040204" pitchFamily="34" charset="0"/>
            </a:endParaRPr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788217E6-647E-8B74-5634-52E7BD8EB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189" y="2343150"/>
            <a:ext cx="87534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HTTP/1.0 200 OK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Date: Tue, 04 May 02004 08:55:09 GMT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Status: 200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Content-Type: text/html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Content-Length: 2524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Content-Language: 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Set-Cookie: ASPSESSIONIDGGQQQAEK=JKKPPFKCMNDNMEEOHAADJKPM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sr-Latn-RS" sz="14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&lt;html&gt;&lt;head&gt;&lt;/head&gt;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&lt;body&gt;&lt;/body&gt;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sr-Latn-RS" sz="1400">
                <a:latin typeface="Tahoma" panose="020B0604030504040204" pitchFamily="34" charset="0"/>
              </a:rPr>
              <a:t>&lt;/html&gt;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sr-Latn-RS" sz="1400">
              <a:latin typeface="Tahoma" panose="020B0604030504040204" pitchFamily="34" charset="0"/>
            </a:endParaRPr>
          </a:p>
        </p:txBody>
      </p:sp>
      <p:sp>
        <p:nvSpPr>
          <p:cNvPr id="25606" name="Line 6">
            <a:extLst>
              <a:ext uri="{FF2B5EF4-FFF2-40B4-BE49-F238E27FC236}">
                <a16:creationId xmlns:a16="http://schemas.microsoft.com/office/drawing/2014/main" id="{76612B03-498D-EE2F-6EB6-736A43D1CA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4188" y="2343150"/>
            <a:ext cx="8228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5607" name="Line 7">
            <a:extLst>
              <a:ext uri="{FF2B5EF4-FFF2-40B4-BE49-F238E27FC236}">
                <a16:creationId xmlns:a16="http://schemas.microsoft.com/office/drawing/2014/main" id="{2D61C580-E756-4C2E-E9ED-DF8134E373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4188" y="4927600"/>
            <a:ext cx="8228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  <p:bldP spid="25604" grpId="0"/>
      <p:bldP spid="2560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E9E7C59-86D4-CCAF-ADE4-BD83044EE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Detaljnije o </a:t>
            </a:r>
            <a:r>
              <a:rPr lang="sr-Latn-RS" altLang="sr-Latn-RS" sz="4000"/>
              <a:t>kukijima </a:t>
            </a:r>
            <a:r>
              <a:rPr lang="en-US" altLang="sr-Latn-RS" sz="4000"/>
              <a:t>i </a:t>
            </a:r>
            <a:br>
              <a:rPr lang="sr-Latn-CS" altLang="sr-Latn-RS" sz="4000"/>
            </a:br>
            <a:r>
              <a:rPr lang="en-US" altLang="sr-Latn-RS" sz="4000"/>
              <a:t>HTTP </a:t>
            </a:r>
            <a:r>
              <a:rPr lang="sr-Latn-CS" altLang="sr-Latn-RS" sz="4000"/>
              <a:t>odgovoru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3B96110-917B-BD90-C7FF-2A520C19FF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sr-Latn-RS"/>
              <a:t>Vra</a:t>
            </a:r>
            <a:r>
              <a:rPr lang="sr-Latn-CS" altLang="sr-Latn-RS"/>
              <a:t>ća se u atributu </a:t>
            </a:r>
            <a:r>
              <a:rPr lang="sr-Latn-CS" altLang="sr-Latn-RS" b="1"/>
              <a:t>Set-Cookie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Opcioni atributi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b="1"/>
              <a:t>domain</a:t>
            </a:r>
            <a:r>
              <a:rPr lang="sr-Latn-CS" altLang="sr-Latn-RS"/>
              <a:t> – domen u kome važi cookie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b="1"/>
              <a:t>path</a:t>
            </a:r>
            <a:r>
              <a:rPr lang="sr-Latn-CS" altLang="sr-Latn-RS"/>
              <a:t> – za koje URL-ove </a:t>
            </a:r>
            <a:r>
              <a:rPr lang="en-US" altLang="sr-Latn-RS"/>
              <a:t>na sajtu </a:t>
            </a:r>
            <a:r>
              <a:rPr lang="sr-Latn-CS" altLang="sr-Latn-RS"/>
              <a:t>važi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b="1"/>
              <a:t>expires</a:t>
            </a:r>
            <a:r>
              <a:rPr lang="sr-Latn-CS" altLang="sr-Latn-RS"/>
              <a:t> – datum isticanja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Kada ističe cookie?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eksplicitan momenat</a:t>
            </a:r>
            <a:r>
              <a:rPr lang="en-US" altLang="sr-Latn-RS"/>
              <a:t> (</a:t>
            </a:r>
            <a:r>
              <a:rPr lang="en-US" altLang="sr-Latn-RS" b="1"/>
              <a:t>expires</a:t>
            </a:r>
            <a:r>
              <a:rPr lang="en-US" altLang="sr-Latn-RS"/>
              <a:t>)</a:t>
            </a:r>
            <a:endParaRPr lang="sr-Latn-CS" altLang="sr-Latn-RS"/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nedefinisano – kada se ugasi browser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B567697-9E4B-A0DA-CD2A-7BA099A2B5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Primer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41FEB1A-5999-BED6-CA68-3539E44B7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HTTP/1.1 200 OK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Cache-Control: private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Content-Type: text/html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Set-Cookie: PREF=ID=3ff1557ca378ed16:TM=1151585607:LM=1151585607:S=rVfoXD15sU3ZajEt; </a:t>
            </a:r>
            <a:r>
              <a:rPr lang="sr-Latn-CS" altLang="sr-Latn-R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expires</a:t>
            </a: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=Sun, </a:t>
            </a:r>
            <a:r>
              <a:rPr lang="sr-Latn-CS" altLang="sr-Latn-RS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17-Jan-2038 19:14:07 GMT</a:t>
            </a: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sr-Latn-CS" altLang="sr-Latn-RS" sz="24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=/; </a:t>
            </a:r>
            <a:r>
              <a:rPr lang="sr-Latn-CS" altLang="sr-Latn-RS" sz="24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domain</a:t>
            </a: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=.google.com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Content-Encoding: gzip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Server: GWS/2.1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Content-Length: 1349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Date: Thu, 29 Jun 2006 12:53:27 GMT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7018FDA2-8AAB-5CB0-4329-BCAE9801E6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Browseri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32AE3849-BB84-90CF-AE5E-A7A86F9EDB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Svaki browser ima svoje kukije i ne deli ih sa drugim browserima</a:t>
            </a:r>
          </a:p>
          <a:p>
            <a:pPr lvl="1"/>
            <a:r>
              <a:rPr lang="sr-Latn-RS" altLang="en-US"/>
              <a:t>za svaki sajt postoji poseban kuki</a:t>
            </a:r>
          </a:p>
          <a:p>
            <a:r>
              <a:rPr lang="sr-Latn-RS" altLang="en-US"/>
              <a:t>Tabovi i stranice u browserima dele kukije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2AB6-F53D-636B-AD56-BC1D40F1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HTTP Sesije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71C67-DD77-3CE3-9907-846A7783F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56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C3B9B45-7003-65D4-65FA-725EDDCEE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H</a:t>
            </a:r>
            <a:r>
              <a:rPr lang="en-US" altLang="sr-Latn-RS"/>
              <a:t>ttpSession</a:t>
            </a:r>
            <a:endParaRPr lang="sr-Latn-CS" altLang="sr-Latn-R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76D2F58-ABAB-4D3A-FFC3-29ED8F0F2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sr-Latn-RS" sz="2400"/>
              <a:t>Reprezentuje sesiju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Čuva cookie ili ID sesije za URL redirection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metod</a:t>
            </a:r>
            <a:r>
              <a:rPr lang="sr-Cyrl-CS" altLang="sr-Latn-RS" sz="2000"/>
              <a:t>а</a:t>
            </a:r>
            <a:r>
              <a:rPr lang="sr-Latn-CS" altLang="sr-Latn-RS" sz="2000"/>
              <a:t> </a:t>
            </a:r>
            <a:r>
              <a:rPr lang="sr-Latn-CS" altLang="sr-Latn-RS" sz="2000" i="1"/>
              <a:t>getId</a:t>
            </a:r>
            <a:r>
              <a:rPr lang="sr-Cyrl-CS" altLang="sr-Latn-RS" sz="2000"/>
              <a:t>()</a:t>
            </a:r>
            <a:endParaRPr lang="sr-Latn-CS" altLang="sr-Latn-RS" sz="2000"/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Čuva objekte vezane za sesiju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metode </a:t>
            </a:r>
            <a:r>
              <a:rPr lang="sr-Latn-CS" altLang="sr-Latn-RS" sz="2000" i="1"/>
              <a:t>getAttribute</a:t>
            </a:r>
            <a:r>
              <a:rPr lang="sr-Latn-CS" altLang="sr-Latn-RS" sz="2000"/>
              <a:t>(ime), </a:t>
            </a:r>
            <a:r>
              <a:rPr lang="sr-Latn-CS" altLang="sr-Latn-RS" sz="2000" i="1"/>
              <a:t>setAttribute</a:t>
            </a:r>
            <a:r>
              <a:rPr lang="sr-Latn-CS" altLang="sr-Latn-RS" sz="2000"/>
              <a:t>(ime, objekat), </a:t>
            </a:r>
            <a:r>
              <a:rPr lang="sr-Latn-CS" altLang="sr-Latn-RS" sz="2000" i="1"/>
              <a:t>removeAttribute</a:t>
            </a:r>
            <a:r>
              <a:rPr lang="sr-Latn-CS" altLang="sr-Latn-RS" sz="2000"/>
              <a:t>(ime)</a:t>
            </a:r>
            <a:endParaRPr lang="sr-Cyrl-CS" altLang="sr-Latn-RS" sz="2000"/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Invalidira sesiju i razvezuje sve objekte vezane za nju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metoda </a:t>
            </a:r>
            <a:r>
              <a:rPr lang="sr-Latn-CS" altLang="sr-Latn-RS" sz="2000" i="1"/>
              <a:t>invalidate</a:t>
            </a:r>
            <a:r>
              <a:rPr lang="sr-Latn-CS" altLang="sr-Latn-RS" sz="2000"/>
              <a:t>()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Podešava period neaktivnosti 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 sz="2000"/>
              <a:t>metoda </a:t>
            </a:r>
            <a:r>
              <a:rPr lang="sr-Latn-CS" altLang="sr-Latn-RS" sz="2000" i="1"/>
              <a:t>setMaxInactiveInterval</a:t>
            </a:r>
            <a:r>
              <a:rPr lang="sr-Latn-CS" altLang="sr-Latn-RS" sz="2000"/>
              <a:t>(sekunde)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D06718D-7993-BF0E-E137-3B98C8EDF2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33375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sr-Latn-RS" sz="4000"/>
              <a:t>Pra</a:t>
            </a:r>
            <a:r>
              <a:rPr lang="sr-Latn-CS" altLang="sr-Latn-RS" sz="4000"/>
              <a:t>ćenje sesije korisnika iz servleta</a:t>
            </a:r>
            <a:r>
              <a:rPr lang="sr-Latn-CS" altLang="sr-Latn-RS" sz="4000" baseline="-25000"/>
              <a:t>1/3</a:t>
            </a:r>
            <a:endParaRPr lang="en-US" altLang="sr-Latn-RS" sz="4000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36EB420-4AC0-EF8C-96EA-DBFE86E488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/>
              <a:t>Praćenje sesije se svodi na kreiranje objekata koji s</a:t>
            </a:r>
            <a:r>
              <a:rPr lang="en-US" altLang="sr-Latn-RS"/>
              <a:t>e</a:t>
            </a:r>
            <a:r>
              <a:rPr lang="sr-Latn-CS" altLang="sr-Latn-RS"/>
              <a:t> vez</a:t>
            </a:r>
            <a:r>
              <a:rPr lang="en-US" altLang="sr-Latn-RS"/>
              <a:t>uju n</a:t>
            </a:r>
            <a:r>
              <a:rPr lang="sr-Latn-CS" altLang="sr-Latn-RS"/>
              <a:t>a sesiju</a:t>
            </a:r>
            <a:endParaRPr lang="en-US" altLang="sr-Latn-RS"/>
          </a:p>
          <a:p>
            <a:pPr lvl="1" eaLnBrk="1" hangingPunct="1">
              <a:lnSpc>
                <a:spcPct val="80000"/>
              </a:lnSpc>
            </a:pPr>
            <a:r>
              <a:rPr lang="en-US" altLang="sr-Latn-RS"/>
              <a:t>objekat bi trebalo da je serijalizabilan</a:t>
            </a:r>
            <a:endParaRPr lang="sr-Latn-CS" altLang="sr-Latn-RS"/>
          </a:p>
          <a:p>
            <a:pPr eaLnBrk="1" hangingPunct="1">
              <a:lnSpc>
                <a:spcPct val="80000"/>
              </a:lnSpc>
            </a:pPr>
            <a:r>
              <a:rPr lang="sr-Latn-CS" altLang="sr-Latn-RS"/>
              <a:t>Kada korisnik prozove neki servlet, u okviru njega se koristi objekat vezan za sesiju: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ako do tada nije postojao objekat, on se kreira i veže za sesiju;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ako postoji, koristi se.</a:t>
            </a:r>
            <a:endParaRPr lang="en-US" altLang="sr-Latn-RS"/>
          </a:p>
          <a:p>
            <a:pPr eaLnBrk="1" hangingPunct="1">
              <a:lnSpc>
                <a:spcPct val="80000"/>
              </a:lnSpc>
            </a:pPr>
            <a:r>
              <a:rPr lang="en-US" altLang="sr-Latn-RS">
                <a:solidFill>
                  <a:schemeClr val="tx2"/>
                </a:solidFill>
              </a:rPr>
              <a:t>Session inactivity</a:t>
            </a:r>
            <a:r>
              <a:rPr lang="en-US" altLang="sr-Latn-RS"/>
              <a:t> – obi</a:t>
            </a:r>
            <a:r>
              <a:rPr lang="sr-Latn-CS" altLang="sr-Latn-RS"/>
              <a:t>čno </a:t>
            </a:r>
            <a:r>
              <a:rPr lang="en-US" altLang="sr-Latn-RS"/>
              <a:t>30 minuta</a:t>
            </a:r>
            <a:endParaRPr lang="sr-Latn-CS" altLang="sr-Latn-RS"/>
          </a:p>
          <a:p>
            <a:pPr lvl="1" eaLnBrk="1" hangingPunct="1">
              <a:lnSpc>
                <a:spcPct val="80000"/>
              </a:lnSpc>
            </a:pPr>
            <a:r>
              <a:rPr lang="sr-Latn-CS" altLang="sr-Latn-RS"/>
              <a:t>podešava se u </a:t>
            </a:r>
            <a:r>
              <a:rPr lang="sr-Latn-CS" altLang="sr-Latn-RS" b="1"/>
              <a:t>web.xml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session.setMaxInactiveInterval()</a:t>
            </a:r>
            <a:endParaRPr lang="en-U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756FC1A-B92F-CD33-CF19-7D81649BD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609600"/>
            <a:ext cx="9144000" cy="1143000"/>
          </a:xfrm>
          <a:noFill/>
        </p:spPr>
        <p:txBody>
          <a:bodyPr/>
          <a:lstStyle/>
          <a:p>
            <a:pPr eaLnBrk="1" hangingPunct="1"/>
            <a:r>
              <a:rPr lang="sr-Latn-CS" altLang="sr-Latn-RS" sz="4000"/>
              <a:t>Praćenje sesije korisnika iz servleta </a:t>
            </a:r>
            <a:r>
              <a:rPr lang="sr-Latn-CS" altLang="sr-Latn-RS" sz="4000" baseline="-25000"/>
              <a:t>2/3</a:t>
            </a:r>
            <a:endParaRPr lang="en-GB" altLang="sr-Latn-RS" sz="1400"/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6B9510EA-FAE0-982B-CCE6-9DB7249DE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538" y="1876424"/>
            <a:ext cx="10716935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public void </a:t>
            </a:r>
            <a:r>
              <a:rPr lang="en-US" altLang="sr-Latn-RS" sz="2000" b="1">
                <a:latin typeface="Courier New" panose="02070309020205020404" pitchFamily="49" charset="0"/>
              </a:rPr>
              <a:t>doGet</a:t>
            </a:r>
            <a:r>
              <a:rPr lang="sr-Latn-CS" altLang="sr-Latn-RS" sz="2000" b="1">
                <a:latin typeface="Courier New" panose="02070309020205020404" pitchFamily="49" charset="0"/>
              </a:rPr>
              <a:t>(</a:t>
            </a:r>
            <a:r>
              <a:rPr lang="en-US" altLang="sr-Latn-RS" sz="2000" b="1">
                <a:latin typeface="Courier New" panose="02070309020205020404" pitchFamily="49" charset="0"/>
              </a:rPr>
              <a:t>HttpServletRequest </a:t>
            </a:r>
            <a:r>
              <a:rPr lang="en-US" altLang="sr-Latn-RS" sz="20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sr-Latn-RS" sz="2000" b="1">
                <a:latin typeface="Courier New" panose="02070309020205020404" pitchFamily="49" charset="0"/>
              </a:rPr>
              <a:t>, HttpServletResponse </a:t>
            </a:r>
            <a:r>
              <a:rPr lang="en-US" altLang="sr-Latn-RS" sz="2000" b="1">
                <a:solidFill>
                  <a:schemeClr val="accent6"/>
                </a:solidFill>
                <a:latin typeface="Courier New" panose="02070309020205020404" pitchFamily="49" charset="0"/>
              </a:rPr>
              <a:t>response</a:t>
            </a:r>
            <a:r>
              <a:rPr lang="sr-Latn-CS" altLang="sr-Latn-RS" sz="2000" b="1">
                <a:latin typeface="Courier New" panose="02070309020205020404" pitchFamily="49" charset="0"/>
              </a:rPr>
              <a:t>) </a:t>
            </a:r>
            <a:r>
              <a:rPr lang="en-US" altLang="sr-Latn-RS" sz="2000" b="1">
                <a:latin typeface="Courier New" panose="02070309020205020404" pitchFamily="49" charset="0"/>
              </a:rPr>
              <a:t>throws java.io.IOException {</a:t>
            </a: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...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</a:t>
            </a:r>
            <a:r>
              <a:rPr lang="en-US" altLang="sr-Latn-RS" sz="2000" b="1">
                <a:latin typeface="Courier New" panose="02070309020205020404" pitchFamily="49" charset="0"/>
              </a:rPr>
              <a:t> Http</a:t>
            </a:r>
            <a:r>
              <a:rPr lang="sr-Latn-CS" altLang="sr-Latn-RS" sz="2000" b="1">
                <a:latin typeface="Courier New" panose="02070309020205020404" pitchFamily="49" charset="0"/>
              </a:rPr>
              <a:t>Session </a:t>
            </a:r>
            <a:r>
              <a:rPr lang="sr-Latn-C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session</a:t>
            </a:r>
            <a:r>
              <a:rPr lang="sr-Latn-CS" altLang="sr-Latn-RS" sz="2000" b="1">
                <a:latin typeface="Courier New" panose="02070309020205020404" pitchFamily="49" charset="0"/>
              </a:rPr>
              <a:t> = </a:t>
            </a:r>
            <a:r>
              <a:rPr lang="sr-Latn-CS" altLang="sr-Latn-RS" sz="20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sr-Latn-CS" altLang="sr-Latn-RS" sz="2000" b="1">
                <a:latin typeface="Courier New" panose="02070309020205020404" pitchFamily="49" charset="0"/>
              </a:rPr>
              <a:t>.getSession();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SessionCounter </a:t>
            </a:r>
            <a:r>
              <a:rPr lang="sr-Latn-CS" altLang="sr-Latn-RS" sz="2000" b="1">
                <a:solidFill>
                  <a:schemeClr val="accent2"/>
                </a:solidFill>
                <a:latin typeface="Courier New" panose="02070309020205020404" pitchFamily="49" charset="0"/>
              </a:rPr>
              <a:t>sc</a:t>
            </a:r>
            <a:r>
              <a:rPr lang="sr-Latn-CS" altLang="sr-Latn-RS" sz="2000" b="1">
                <a:latin typeface="Courier New" panose="02070309020205020404" pitchFamily="49" charset="0"/>
              </a:rPr>
              <a:t> =  (SessionConter)</a:t>
            </a:r>
            <a:r>
              <a:rPr lang="sr-Latn-C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session</a:t>
            </a:r>
            <a:r>
              <a:rPr lang="sr-Latn-CS" altLang="sr-Latn-RS" sz="2000" b="1">
                <a:latin typeface="Courier New" panose="02070309020205020404" pitchFamily="49" charset="0"/>
              </a:rPr>
              <a:t>.getAttribute("brojac");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if (</a:t>
            </a:r>
            <a:r>
              <a:rPr lang="sr-Latn-CS" altLang="sr-Latn-RS" sz="2000" b="1">
                <a:solidFill>
                  <a:schemeClr val="accent2"/>
                </a:solidFill>
                <a:latin typeface="Courier New" panose="02070309020205020404" pitchFamily="49" charset="0"/>
              </a:rPr>
              <a:t>sc</a:t>
            </a:r>
            <a:r>
              <a:rPr lang="sr-Latn-CS" altLang="sr-Latn-RS" sz="2000" b="1">
                <a:latin typeface="Courier New" panose="02070309020205020404" pitchFamily="49" charset="0"/>
              </a:rPr>
              <a:t> == null)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out.println(", prvi pristup.&lt;br&gt;");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</a:t>
            </a:r>
            <a:r>
              <a:rPr lang="sr-Latn-CS" altLang="sr-Latn-RS" sz="2000" b="1">
                <a:solidFill>
                  <a:schemeClr val="accent2"/>
                </a:solidFill>
                <a:latin typeface="Courier New" panose="02070309020205020404" pitchFamily="49" charset="0"/>
              </a:rPr>
              <a:t>sc</a:t>
            </a:r>
            <a:r>
              <a:rPr lang="sr-Latn-CS" altLang="sr-Latn-RS" sz="2000" b="1">
                <a:latin typeface="Courier New" panose="02070309020205020404" pitchFamily="49" charset="0"/>
              </a:rPr>
              <a:t> = new SessionCounter();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</a:t>
            </a:r>
            <a:r>
              <a:rPr lang="sr-Latn-CS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session</a:t>
            </a:r>
            <a:r>
              <a:rPr lang="sr-Latn-CS" altLang="sr-Latn-RS" sz="2000" b="1">
                <a:latin typeface="Courier New" panose="02070309020205020404" pitchFamily="49" charset="0"/>
              </a:rPr>
              <a:t>.setAttribute("brojac", </a:t>
            </a:r>
            <a:r>
              <a:rPr lang="sr-Latn-CS" altLang="sr-Latn-RS" sz="2000" b="1">
                <a:solidFill>
                  <a:schemeClr val="accent2"/>
                </a:solidFill>
                <a:latin typeface="Courier New" panose="02070309020205020404" pitchFamily="49" charset="0"/>
              </a:rPr>
              <a:t>sc</a:t>
            </a:r>
            <a:r>
              <a:rPr lang="sr-Latn-CS" altLang="sr-Latn-RS" sz="20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}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</a:t>
            </a:r>
            <a:r>
              <a:rPr lang="sr-Latn-CS" altLang="sr-Latn-RS" sz="2000" b="1">
                <a:solidFill>
                  <a:schemeClr val="accent2"/>
                </a:solidFill>
                <a:latin typeface="Courier New" panose="02070309020205020404" pitchFamily="49" charset="0"/>
              </a:rPr>
              <a:t>sc</a:t>
            </a:r>
            <a:r>
              <a:rPr lang="sr-Latn-CS" altLang="sr-Latn-RS" sz="2000" b="1">
                <a:latin typeface="Courier New" panose="02070309020205020404" pitchFamily="49" charset="0"/>
              </a:rPr>
              <a:t>.inc();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out.println(", ukupno pristupa:" + </a:t>
            </a:r>
            <a:r>
              <a:rPr lang="sr-Latn-CS" altLang="sr-Latn-RS" sz="2000" b="1">
                <a:solidFill>
                  <a:schemeClr val="accent2"/>
                </a:solidFill>
                <a:latin typeface="Courier New" panose="02070309020205020404" pitchFamily="49" charset="0"/>
              </a:rPr>
              <a:t>sc</a:t>
            </a:r>
            <a:r>
              <a:rPr lang="sr-Latn-CS" altLang="sr-Latn-RS" sz="2000" b="1">
                <a:latin typeface="Courier New" panose="02070309020205020404" pitchFamily="49" charset="0"/>
              </a:rPr>
              <a:t>.getCount() + ".&lt;br&gt;");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...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}</a:t>
            </a:r>
            <a:endParaRPr lang="en-GB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09B65FB-3B49-5744-D564-B39EB2BC1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SessionCounter </a:t>
            </a:r>
            <a:r>
              <a:rPr lang="sr-Latn-CS" altLang="sr-Latn-RS" baseline="-25000"/>
              <a:t>3/3</a:t>
            </a:r>
            <a:endParaRPr lang="en-US" altLang="sr-Latn-RS" baseline="-2500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403FE0E-9023-58B8-D986-272E9C6BE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class SessionCounter</a:t>
            </a:r>
            <a:r>
              <a:rPr lang="sr-Latn-CS" altLang="sr-Latn-RS" sz="1800" b="1"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</a:rPr>
              <a:t>private int count =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public int getCount()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return count;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public void setCount(int c)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count = c;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public void inc()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  count++;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3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3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178FD5C-E5D1-73A2-7036-4CF0E60F01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Na šta se objekat može vezati?</a:t>
            </a:r>
            <a:endParaRPr lang="en-US" altLang="sr-Latn-R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A3077E1-8D64-B706-96DD-75944FD11C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Na request:</a:t>
            </a:r>
          </a:p>
          <a:p>
            <a:pPr eaLnBrk="1" hangingPunct="1">
              <a:buFontTx/>
              <a:buNone/>
            </a:pPr>
            <a:r>
              <a:rPr lang="sr-Latn-CS" altLang="sr-Latn-RS">
                <a:solidFill>
                  <a:schemeClr val="accent4"/>
                </a:solidFill>
              </a:rPr>
              <a:t>request</a:t>
            </a:r>
            <a:r>
              <a:rPr lang="sr-Latn-CS" altLang="sr-Latn-RS"/>
              <a:t>.</a:t>
            </a:r>
            <a:r>
              <a:rPr lang="sr-Latn-CS" altLang="sr-Latn-RS" i="1"/>
              <a:t>setAttribute</a:t>
            </a:r>
            <a:r>
              <a:rPr lang="sr-Latn-CS" altLang="sr-Latn-RS"/>
              <a:t>("ime", referenca);</a:t>
            </a:r>
          </a:p>
          <a:p>
            <a:pPr eaLnBrk="1" hangingPunct="1"/>
            <a:r>
              <a:rPr lang="sr-Latn-CS" altLang="sr-Latn-RS"/>
              <a:t>Na sesiju:</a:t>
            </a:r>
          </a:p>
          <a:p>
            <a:pPr eaLnBrk="1" hangingPunct="1">
              <a:buFontTx/>
              <a:buNone/>
            </a:pPr>
            <a:r>
              <a:rPr lang="sr-Latn-CS" altLang="sr-Latn-RS">
                <a:solidFill>
                  <a:schemeClr val="accent4"/>
                </a:solidFill>
              </a:rPr>
              <a:t>request</a:t>
            </a:r>
            <a:r>
              <a:rPr lang="sr-Latn-CS" altLang="sr-Latn-RS"/>
              <a:t>.</a:t>
            </a:r>
            <a:r>
              <a:rPr lang="sr-Latn-CS" altLang="sr-Latn-RS">
                <a:solidFill>
                  <a:schemeClr val="accent6"/>
                </a:solidFill>
              </a:rPr>
              <a:t>getSession</a:t>
            </a:r>
            <a:r>
              <a:rPr lang="sr-Latn-CS" altLang="sr-Latn-RS"/>
              <a:t>().</a:t>
            </a:r>
            <a:r>
              <a:rPr lang="sr-Latn-CS" altLang="sr-Latn-RS" i="1"/>
              <a:t>setAttribute</a:t>
            </a:r>
            <a:r>
              <a:rPr lang="sr-Latn-CS" altLang="sr-Latn-RS"/>
              <a:t>("ime", referenca);</a:t>
            </a:r>
            <a:endParaRPr lang="en-US" altLang="sr-Latn-RS"/>
          </a:p>
          <a:p>
            <a:pPr eaLnBrk="1" hangingPunct="1"/>
            <a:r>
              <a:rPr lang="sr-Latn-CS" altLang="sr-Latn-RS"/>
              <a:t>Na aplikaciju:</a:t>
            </a:r>
          </a:p>
          <a:p>
            <a:pPr eaLnBrk="1" hangingPunct="1">
              <a:buFontTx/>
              <a:buNone/>
            </a:pPr>
            <a:r>
              <a:rPr lang="sr-Latn-CS" altLang="sr-Latn-RS">
                <a:solidFill>
                  <a:schemeClr val="accent5"/>
                </a:solidFill>
              </a:rPr>
              <a:t>getServletContext</a:t>
            </a:r>
            <a:r>
              <a:rPr lang="sr-Latn-CS" altLang="sr-Latn-RS"/>
              <a:t>().</a:t>
            </a:r>
            <a:r>
              <a:rPr lang="sr-Latn-CS" altLang="sr-Latn-RS" i="1"/>
              <a:t>setAttribute</a:t>
            </a:r>
            <a:r>
              <a:rPr lang="sr-Latn-CS" altLang="sr-Latn-RS"/>
              <a:t>("ime", referenca);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2C09790-CB8E-7C47-6FAD-86D14EEDB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Kako saznati gde se na serveru nalazi folder naše web aplikacije?</a:t>
            </a:r>
            <a:endParaRPr lang="en-US" altLang="sr-Latn-RS" sz="4000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B08C29F-ED2D-7B2B-5DDE-754DDA2867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773238"/>
            <a:ext cx="8229600" cy="4525962"/>
          </a:xfrm>
        </p:spPr>
        <p:txBody>
          <a:bodyPr/>
          <a:lstStyle/>
          <a:p>
            <a:pPr eaLnBrk="1" hangingPunct="1"/>
            <a:r>
              <a:rPr lang="sr-Latn-CS" altLang="sr-Latn-RS">
                <a:solidFill>
                  <a:schemeClr val="accent5"/>
                </a:solidFill>
              </a:rPr>
              <a:t>getServletContext</a:t>
            </a:r>
            <a:r>
              <a:rPr lang="sr-Latn-CS" altLang="sr-Latn-RS"/>
              <a:t>().getRealPath("");</a:t>
            </a:r>
            <a:endParaRPr lang="en-US" altLang="sr-Latn-R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B2D5CD5-535A-5D51-495F-242D0DB6D6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Case study – web shop</a:t>
            </a:r>
            <a:endParaRPr lang="en-US" altLang="sr-Latn-R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F10A1FF-D69D-1DBC-2040-A090361D3A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Dve stranice web shop-a:</a:t>
            </a:r>
          </a:p>
          <a:p>
            <a:pPr lvl="1" eaLnBrk="1" hangingPunct="1"/>
            <a:r>
              <a:rPr lang="sr-Latn-CS" altLang="sr-Latn-RS"/>
              <a:t>pregled svih raspoloživih proizvoda</a:t>
            </a:r>
          </a:p>
          <a:p>
            <a:pPr lvl="1" eaLnBrk="1" hangingPunct="1"/>
            <a:r>
              <a:rPr lang="sr-Latn-CS" altLang="sr-Latn-RS"/>
              <a:t>dodavanje na spisak ili pregled spiska proizvoda odabranih za kupovinu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D5FA454-A6C5-E931-4FA7-EBE6817BFC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54000"/>
            <a:ext cx="7772400" cy="1143000"/>
          </a:xfrm>
        </p:spPr>
        <p:txBody>
          <a:bodyPr/>
          <a:lstStyle/>
          <a:p>
            <a:pPr eaLnBrk="1" hangingPunct="1"/>
            <a:r>
              <a:rPr lang="sr-Latn-CS" altLang="sr-Latn-RS"/>
              <a:t>Pregled proizvoda</a:t>
            </a:r>
            <a:endParaRPr lang="en-US" altLang="sr-Latn-RS"/>
          </a:p>
        </p:txBody>
      </p:sp>
      <p:sp>
        <p:nvSpPr>
          <p:cNvPr id="19459" name="Content Placeholder 1">
            <a:extLst>
              <a:ext uri="{FF2B5EF4-FFF2-40B4-BE49-F238E27FC236}">
                <a16:creationId xmlns:a16="http://schemas.microsoft.com/office/drawing/2014/main" id="{03B7D385-0FEA-F8C8-4C0F-B2BEA77286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9460" name="Picture 7">
            <a:extLst>
              <a:ext uri="{FF2B5EF4-FFF2-40B4-BE49-F238E27FC236}">
                <a16:creationId xmlns:a16="http://schemas.microsoft.com/office/drawing/2014/main" id="{C9B3EEE3-D3B9-BA48-98D3-5EA749832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639888"/>
            <a:ext cx="7732712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B249D2A-1312-E0B3-7462-2B640610E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6925" y="330200"/>
            <a:ext cx="1072113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sr-Latn-CS" altLang="sr-Latn-RS" sz="4000"/>
              <a:t>Dodavanje proizvoda na listu za kupovinu (shopping cart)</a:t>
            </a:r>
            <a:endParaRPr lang="en-US" altLang="sr-Latn-RS" sz="4000"/>
          </a:p>
        </p:txBody>
      </p:sp>
      <p:sp>
        <p:nvSpPr>
          <p:cNvPr id="20483" name="Content Placeholder 1">
            <a:extLst>
              <a:ext uri="{FF2B5EF4-FFF2-40B4-BE49-F238E27FC236}">
                <a16:creationId xmlns:a16="http://schemas.microsoft.com/office/drawing/2014/main" id="{1A527133-F115-10BF-EB43-E9FC97FB50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0484" name="Picture 5">
            <a:extLst>
              <a:ext uri="{FF2B5EF4-FFF2-40B4-BE49-F238E27FC236}">
                <a16:creationId xmlns:a16="http://schemas.microsoft.com/office/drawing/2014/main" id="{6B655C89-21EA-4856-9678-7A2AAEC50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6" y="1636714"/>
            <a:ext cx="7859713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FA894CA-0AB2-5F3B-D9B1-832C567D6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73063"/>
            <a:ext cx="7772400" cy="1143000"/>
          </a:xfrm>
        </p:spPr>
        <p:txBody>
          <a:bodyPr/>
          <a:lstStyle/>
          <a:p>
            <a:pPr eaLnBrk="1" hangingPunct="1"/>
            <a:r>
              <a:rPr lang="sr-Latn-CS" altLang="sr-Latn-RS"/>
              <a:t>Pregled liste za kupovinu</a:t>
            </a:r>
            <a:endParaRPr lang="en-US" altLang="sr-Latn-RS"/>
          </a:p>
        </p:txBody>
      </p:sp>
      <p:sp>
        <p:nvSpPr>
          <p:cNvPr id="21507" name="Content Placeholder 1">
            <a:extLst>
              <a:ext uri="{FF2B5EF4-FFF2-40B4-BE49-F238E27FC236}">
                <a16:creationId xmlns:a16="http://schemas.microsoft.com/office/drawing/2014/main" id="{DC4E50D3-A0D3-01EA-2A5B-3EEDC34650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1508" name="Picture 3">
            <a:extLst>
              <a:ext uri="{FF2B5EF4-FFF2-40B4-BE49-F238E27FC236}">
                <a16:creationId xmlns:a16="http://schemas.microsoft.com/office/drawing/2014/main" id="{2ED5EE1A-ABFB-4E7E-F857-8A20B6176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636714"/>
            <a:ext cx="7859712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C27BD2E-B831-35F3-B649-712A8CDB3E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5736" y="146050"/>
            <a:ext cx="8866464" cy="81029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sr-Latn-CS" altLang="sr-Latn-RS" sz="4000"/>
              <a:t>Lista raspoloživih proizvoda (</a:t>
            </a:r>
            <a:r>
              <a:rPr lang="en-US" altLang="sr-Latn-RS" sz="4000"/>
              <a:t>WebShop</a:t>
            </a:r>
            <a:r>
              <a:rPr lang="sr-Latn-CS" altLang="sr-Latn-RS" sz="4000"/>
              <a:t>Servlet)</a:t>
            </a:r>
            <a:endParaRPr lang="en-US" altLang="sr-Latn-RS" sz="400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FF79213-9B3E-1223-33EB-1903EFCED1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1513" y="1006679"/>
            <a:ext cx="10381376" cy="538300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ServletContext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solidFill>
                  <a:schemeClr val="accent5"/>
                </a:solidFill>
                <a:latin typeface="Courier New" panose="02070309020205020404" pitchFamily="49" charset="0"/>
              </a:rPr>
              <a:t>ctx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=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solidFill>
                  <a:schemeClr val="accent5"/>
                </a:solidFill>
                <a:latin typeface="Courier New" panose="02070309020205020404" pitchFamily="49" charset="0"/>
              </a:rPr>
              <a:t>getServletContext</a:t>
            </a:r>
            <a:r>
              <a:rPr lang="en-US" altLang="sr-Latn-RS" sz="1400" b="1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Products </a:t>
            </a:r>
            <a:r>
              <a:rPr lang="en-US" altLang="sr-Latn-RS" sz="1400" b="1">
                <a:solidFill>
                  <a:schemeClr val="accent2"/>
                </a:solidFill>
                <a:latin typeface="Courier New" panose="02070309020205020404" pitchFamily="49" charset="0"/>
              </a:rPr>
              <a:t>products</a:t>
            </a:r>
            <a:r>
              <a:rPr lang="en-US" altLang="sr-Latn-RS" sz="1400" b="1">
                <a:latin typeface="Courier New" panose="02070309020205020404" pitchFamily="49" charset="0"/>
              </a:rPr>
              <a:t> = new Products(</a:t>
            </a:r>
            <a:r>
              <a:rPr lang="en-US" altLang="sr-Latn-RS" sz="1400" b="1">
                <a:solidFill>
                  <a:schemeClr val="accent5"/>
                </a:solidFill>
                <a:latin typeface="Courier New" panose="02070309020205020404" pitchFamily="49" charset="0"/>
              </a:rPr>
              <a:t>ctx</a:t>
            </a:r>
            <a:r>
              <a:rPr lang="en-US" altLang="sr-Latn-RS" sz="1400" b="1">
                <a:latin typeface="Courier New" panose="02070309020205020404" pitchFamily="49" charset="0"/>
              </a:rPr>
              <a:t>.getRealPath(""));</a:t>
            </a:r>
            <a:endParaRPr lang="sr-Latn-C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solidFill>
                  <a:schemeClr val="accent5"/>
                </a:solidFill>
                <a:latin typeface="Courier New" panose="02070309020205020404" pitchFamily="49" charset="0"/>
              </a:rPr>
              <a:t>ctx</a:t>
            </a:r>
            <a:r>
              <a:rPr lang="sr-Latn-CS" altLang="sr-Latn-RS" sz="1400" b="1">
                <a:latin typeface="Courier New" panose="02070309020205020404" pitchFamily="49" charset="0"/>
              </a:rPr>
              <a:t>.setAttribute("products", </a:t>
            </a:r>
            <a:r>
              <a:rPr lang="sr-Latn-CS" altLang="sr-Latn-RS" sz="1400" b="1">
                <a:solidFill>
                  <a:schemeClr val="accent2"/>
                </a:solidFill>
                <a:latin typeface="Courier New" panose="02070309020205020404" pitchFamily="49" charset="0"/>
              </a:rPr>
              <a:t>products</a:t>
            </a:r>
            <a:r>
              <a:rPr lang="sr-Latn-CS" altLang="sr-Latn-RS" sz="14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pout.println("Raspolozivi proizvodi:");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pout.println("&lt;table border=\"1\"&gt;&lt;tr</a:t>
            </a:r>
            <a:r>
              <a:rPr lang="sr-Latn-RS" altLang="sr-Latn-RS" sz="1400" b="1">
                <a:latin typeface="Courier New" panose="02070309020205020404" pitchFamily="49" charset="0"/>
              </a:rPr>
              <a:t> </a:t>
            </a:r>
            <a:r>
              <a:rPr lang="sr-Latn-CS" altLang="sr-Latn-RS" sz="1400" b="1">
                <a:latin typeface="Courier New" panose="02070309020205020404" pitchFamily="49" charset="0"/>
              </a:rPr>
              <a:t>b</a:t>
            </a:r>
            <a:r>
              <a:rPr lang="en-US" altLang="sr-Latn-RS" sz="1400" b="1">
                <a:latin typeface="Courier New" panose="02070309020205020404" pitchFamily="49" charset="0"/>
              </a:rPr>
              <a:t>gcolor=\"lightgrey\"&gt;&lt;th&gt;Naziv&lt;/th&gt;&lt;th&gt;Cena&lt;/th&gt;&lt;th&gt;&amp;nbsp;&lt;/th&gt;&lt;/tr&gt;");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for (Product </a:t>
            </a:r>
            <a:r>
              <a:rPr lang="en-U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p</a:t>
            </a:r>
            <a:r>
              <a:rPr lang="sr-Latn-R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rod</a:t>
            </a:r>
            <a:r>
              <a:rPr lang="en-U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: </a:t>
            </a:r>
            <a:r>
              <a:rPr lang="en-US" altLang="sr-Latn-RS" sz="1400" b="1">
                <a:solidFill>
                  <a:schemeClr val="accent2"/>
                </a:solidFill>
                <a:latin typeface="Courier New" panose="02070309020205020404" pitchFamily="49" charset="0"/>
              </a:rPr>
              <a:t>products</a:t>
            </a:r>
            <a:r>
              <a:rPr lang="en-US" altLang="sr-Latn-RS" sz="1400" b="1">
                <a:latin typeface="Courier New" panose="02070309020205020404" pitchFamily="49" charset="0"/>
              </a:rPr>
              <a:t>.values())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</a:t>
            </a:r>
            <a:r>
              <a:rPr lang="en-US" altLang="sr-Latn-RS" sz="1400" b="1">
                <a:latin typeface="Courier New" panose="02070309020205020404" pitchFamily="49" charset="0"/>
              </a:rPr>
              <a:t>pout.println("&lt;tr&gt;");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</a:t>
            </a:r>
            <a:r>
              <a:rPr lang="en-US" altLang="sr-Latn-RS" sz="1400" b="1">
                <a:latin typeface="Courier New" panose="02070309020205020404" pitchFamily="49" charset="0"/>
              </a:rPr>
              <a:t>pout.println("&lt;form method=\"get\"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action</a:t>
            </a:r>
            <a:r>
              <a:rPr lang="en-US" altLang="sr-Latn-RS" sz="1400" b="1">
                <a:latin typeface="Courier New" panose="02070309020205020404" pitchFamily="49" charset="0"/>
              </a:rPr>
              <a:t>=\"</a:t>
            </a:r>
            <a:r>
              <a:rPr lang="en-US" altLang="sr-Latn-RS" sz="1400" b="1">
                <a:solidFill>
                  <a:schemeClr val="accent6"/>
                </a:solidFill>
                <a:latin typeface="Courier New" panose="02070309020205020404" pitchFamily="49" charset="0"/>
              </a:rPr>
              <a:t>ShoppingCartServlet</a:t>
            </a:r>
            <a:r>
              <a:rPr lang="en-US" altLang="sr-Latn-RS" sz="1400" b="1">
                <a:latin typeface="Courier New" panose="02070309020205020404" pitchFamily="49" charset="0"/>
              </a:rPr>
              <a:t>\"&gt;");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</a:t>
            </a:r>
            <a:r>
              <a:rPr lang="en-US" altLang="sr-Latn-RS" sz="1400" b="1">
                <a:latin typeface="Courier New" panose="02070309020205020404" pitchFamily="49" charset="0"/>
              </a:rPr>
              <a:t>pout.println("&lt;td&gt;" + </a:t>
            </a:r>
            <a:r>
              <a:rPr lang="en-U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p</a:t>
            </a:r>
            <a:r>
              <a:rPr lang="sr-Latn-R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rod</a:t>
            </a:r>
            <a:r>
              <a:rPr lang="en-US" altLang="sr-Latn-RS" sz="1400" b="1">
                <a:latin typeface="Courier New" panose="02070309020205020404" pitchFamily="49" charset="0"/>
              </a:rPr>
              <a:t>.getName() + "&lt;/td&gt;");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</a:t>
            </a:r>
            <a:r>
              <a:rPr lang="en-US" altLang="sr-Latn-RS" sz="1400" b="1">
                <a:latin typeface="Courier New" panose="02070309020205020404" pitchFamily="49" charset="0"/>
              </a:rPr>
              <a:t>pout.println("&lt;td&gt;" + </a:t>
            </a:r>
            <a:r>
              <a:rPr lang="en-U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p</a:t>
            </a:r>
            <a:r>
              <a:rPr lang="sr-Latn-R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rod</a:t>
            </a:r>
            <a:r>
              <a:rPr lang="en-US" altLang="sr-Latn-RS" sz="1400" b="1">
                <a:latin typeface="Courier New" panose="02070309020205020404" pitchFamily="49" charset="0"/>
              </a:rPr>
              <a:t>.getPrice() + "&lt;/td&gt;");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</a:t>
            </a:r>
            <a:r>
              <a:rPr lang="en-US" altLang="sr-Latn-RS" sz="1400" b="1">
                <a:latin typeface="Courier New" panose="02070309020205020404" pitchFamily="49" charset="0"/>
              </a:rPr>
              <a:t>pout.println("&lt;td&gt;");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</a:t>
            </a:r>
            <a:r>
              <a:rPr lang="en-US" altLang="sr-Latn-RS" sz="1400" b="1">
                <a:latin typeface="Courier New" panose="02070309020205020404" pitchFamily="49" charset="0"/>
              </a:rPr>
              <a:t>pout.println("&lt;input type=\"text\" size=\"3\" name=\"itemCount\"&gt;");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</a:t>
            </a:r>
            <a:r>
              <a:rPr lang="en-US" altLang="sr-Latn-RS" sz="1400" b="1">
                <a:latin typeface="Courier New" panose="02070309020205020404" pitchFamily="49" charset="0"/>
              </a:rPr>
              <a:t>pout.println("&lt;input type=\"hidden\" name=\"itemId\" value=\""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				+ </a:t>
            </a:r>
            <a:r>
              <a:rPr lang="en-U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p</a:t>
            </a:r>
            <a:r>
              <a:rPr lang="sr-Latn-R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rod</a:t>
            </a:r>
            <a:r>
              <a:rPr lang="en-US" altLang="sr-Latn-RS" sz="1400" b="1">
                <a:latin typeface="Courier New" panose="02070309020205020404" pitchFamily="49" charset="0"/>
              </a:rPr>
              <a:t>.getId() + "\"&gt;");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</a:t>
            </a:r>
            <a:r>
              <a:rPr lang="en-US" altLang="sr-Latn-RS" sz="1400" b="1">
                <a:latin typeface="Courier New" panose="02070309020205020404" pitchFamily="49" charset="0"/>
              </a:rPr>
              <a:t>pout.println("&lt;input type=\"submit\" value=\"Dodaj\"&gt;");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</a:t>
            </a:r>
            <a:r>
              <a:rPr lang="en-US" altLang="sr-Latn-RS" sz="1400" b="1">
                <a:latin typeface="Courier New" panose="02070309020205020404" pitchFamily="49" charset="0"/>
              </a:rPr>
              <a:t>pout.println("&lt;/form&gt;</a:t>
            </a:r>
            <a:r>
              <a:rPr lang="sr-Latn-RS" altLang="sr-Latn-RS" sz="1400" b="1">
                <a:latin typeface="Courier New" panose="02070309020205020404" pitchFamily="49" charset="0"/>
              </a:rPr>
              <a:t>&lt;/td&gt;&lt;/tr&gt;</a:t>
            </a:r>
            <a:r>
              <a:rPr lang="en-US" altLang="sr-Latn-RS" sz="1400" b="1">
                <a:latin typeface="Courier New" panose="02070309020205020404" pitchFamily="49" charset="0"/>
              </a:rPr>
              <a:t>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}</a:t>
            </a:r>
            <a:endParaRPr lang="sr-Latn-C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pout.println("&lt;/table&gt;");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55C254C-DC90-BA52-436E-3E1F2D0184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4311" y="138418"/>
            <a:ext cx="10591101" cy="599813"/>
          </a:xfrm>
        </p:spPr>
        <p:txBody>
          <a:bodyPr/>
          <a:lstStyle/>
          <a:p>
            <a:pPr eaLnBrk="1" hangingPunct="1"/>
            <a:r>
              <a:rPr lang="sr-Latn-CS" altLang="sr-Latn-RS" sz="2800"/>
              <a:t>Dodavanje/pregled proizvoda  u listu za kupovinu (ShoppingCartServlet)</a:t>
            </a:r>
            <a:endParaRPr lang="en-US" altLang="sr-Latn-RS" sz="280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9FB1ADCC-C095-DC66-099F-402B6A2E9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675" y="805343"/>
            <a:ext cx="9999838" cy="5914239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HttpSession </a:t>
            </a:r>
            <a:r>
              <a:rPr lang="en-US" altLang="sr-Latn-RS" sz="1400" b="1">
                <a:solidFill>
                  <a:schemeClr val="accent6"/>
                </a:solidFill>
                <a:latin typeface="Courier New" panose="02070309020205020404" pitchFamily="49" charset="0"/>
              </a:rPr>
              <a:t>session</a:t>
            </a:r>
            <a:r>
              <a:rPr lang="en-US" altLang="sr-Latn-RS" sz="1400" b="1">
                <a:latin typeface="Courier New" panose="02070309020205020404" pitchFamily="49" charset="0"/>
              </a:rPr>
              <a:t> = </a:t>
            </a:r>
            <a:r>
              <a:rPr lang="en-U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sr-Latn-RS" sz="1400" b="1">
                <a:latin typeface="Courier New" panose="02070309020205020404" pitchFamily="49" charset="0"/>
              </a:rPr>
              <a:t>.</a:t>
            </a:r>
            <a:r>
              <a:rPr lang="en-US" altLang="sr-Latn-RS" sz="1400" b="1">
                <a:solidFill>
                  <a:schemeClr val="accent6"/>
                </a:solidFill>
                <a:latin typeface="Courier New" panose="02070309020205020404" pitchFamily="49" charset="0"/>
              </a:rPr>
              <a:t>getSession</a:t>
            </a:r>
            <a:r>
              <a:rPr lang="en-US" altLang="sr-Latn-RS" sz="1400" b="1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ShoppingCart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sc</a:t>
            </a:r>
            <a:r>
              <a:rPr lang="en-US" altLang="sr-Latn-RS" sz="1400" b="1">
                <a:latin typeface="Courier New" panose="02070309020205020404" pitchFamily="49" charset="0"/>
              </a:rPr>
              <a:t> =  (ShoppingCart)</a:t>
            </a:r>
            <a:r>
              <a:rPr lang="en-US" altLang="sr-Latn-RS" sz="1400" b="1">
                <a:solidFill>
                  <a:schemeClr val="accent6"/>
                </a:solidFill>
                <a:latin typeface="Courier New" panose="02070309020205020404" pitchFamily="49" charset="0"/>
              </a:rPr>
              <a:t>session</a:t>
            </a:r>
            <a:r>
              <a:rPr lang="en-US" altLang="sr-Latn-RS" sz="1400" b="1">
                <a:latin typeface="Courier New" panose="02070309020205020404" pitchFamily="49" charset="0"/>
              </a:rPr>
              <a:t>.getAttribute("ShoppingCart");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if (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sc</a:t>
            </a:r>
            <a:r>
              <a:rPr lang="en-US" altLang="sr-Latn-RS" sz="1400" b="1">
                <a:latin typeface="Courier New" panose="02070309020205020404" pitchFamily="49" charset="0"/>
              </a:rPr>
              <a:t> == null)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 // ako ne postoji, kreiramo ga i dodelimo tekucoj sesiji.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  // Na ovaj nacin, objekat klase ShoppingCart ce pratiti sesiju.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sc</a:t>
            </a:r>
            <a:r>
              <a:rPr lang="en-US" altLang="sr-Latn-RS" sz="1400" b="1">
                <a:latin typeface="Courier New" panose="02070309020205020404" pitchFamily="49" charset="0"/>
              </a:rPr>
              <a:t> = new ShoppingCart();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solidFill>
                  <a:schemeClr val="accent6"/>
                </a:solidFill>
                <a:latin typeface="Courier New" panose="02070309020205020404" pitchFamily="49" charset="0"/>
              </a:rPr>
              <a:t>session</a:t>
            </a:r>
            <a:r>
              <a:rPr lang="en-US" altLang="sr-Latn-RS" sz="1400" b="1">
                <a:latin typeface="Courier New" panose="02070309020205020404" pitchFamily="49" charset="0"/>
              </a:rPr>
              <a:t>.setAttribute("ShoppingCart",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sc</a:t>
            </a:r>
            <a:r>
              <a:rPr lang="en-US" altLang="sr-Latn-RS" sz="14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PrintWriter pout = response.getWriter();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response.setContentType("text/html");</a:t>
            </a:r>
            <a:endParaRPr lang="sr-Latn-C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 if (</a:t>
            </a:r>
            <a:r>
              <a:rPr lang="en-U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sr-Latn-RS" sz="1400" b="1">
                <a:latin typeface="Courier New" panose="02070309020205020404" pitchFamily="49" charset="0"/>
              </a:rPr>
              <a:t>.getParameter("itemId") != null)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en-US" altLang="sr-Latn-RS" sz="1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ako smo pozvali ovaj servlet sa parametrima za dodavanje proizvoda u korpu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try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</a:t>
            </a:r>
            <a:r>
              <a:rPr lang="sr-Latn-CS" altLang="sr-Latn-RS" sz="1400" b="1">
                <a:latin typeface="Courier New" panose="02070309020205020404" pitchFamily="49" charset="0"/>
              </a:rPr>
              <a:t>     </a:t>
            </a:r>
            <a:r>
              <a:rPr lang="en-US" altLang="sr-Latn-RS" sz="1400" b="1">
                <a:latin typeface="Courier New" panose="02070309020205020404" pitchFamily="49" charset="0"/>
              </a:rPr>
              <a:t>Products </a:t>
            </a:r>
            <a:r>
              <a:rPr lang="en-US" altLang="sr-Latn-RS" sz="1400" b="1">
                <a:solidFill>
                  <a:schemeClr val="accent2"/>
                </a:solidFill>
                <a:latin typeface="Courier New" panose="02070309020205020404" pitchFamily="49" charset="0"/>
              </a:rPr>
              <a:t>products</a:t>
            </a:r>
            <a:r>
              <a:rPr lang="en-US" altLang="sr-Latn-RS" sz="1400" b="1">
                <a:latin typeface="Courier New" panose="02070309020205020404" pitchFamily="49" charset="0"/>
              </a:rPr>
              <a:t> = (Products)</a:t>
            </a:r>
            <a:r>
              <a:rPr lang="en-US" altLang="sr-Latn-RS" sz="1400" b="1">
                <a:solidFill>
                  <a:schemeClr val="accent5"/>
                </a:solidFill>
                <a:latin typeface="Courier New" panose="02070309020205020404" pitchFamily="49" charset="0"/>
              </a:rPr>
              <a:t>getServletContext</a:t>
            </a:r>
            <a:r>
              <a:rPr lang="en-US" altLang="sr-Latn-RS" sz="1400" b="1">
                <a:latin typeface="Courier New" panose="02070309020205020404" pitchFamily="49" charset="0"/>
              </a:rPr>
              <a:t>().getAttribute("products");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 </a:t>
            </a:r>
            <a:r>
              <a:rPr lang="en-US" altLang="sr-Latn-RS" sz="1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probamo da ga dodamo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 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sc</a:t>
            </a:r>
            <a:r>
              <a:rPr lang="en-US" altLang="sr-Latn-RS" sz="1400" b="1">
                <a:latin typeface="Courier New" panose="02070309020205020404" pitchFamily="49" charset="0"/>
              </a:rPr>
              <a:t>.</a:t>
            </a:r>
            <a:r>
              <a:rPr lang="en-US" altLang="sr-Latn-RS" sz="1400" b="1">
                <a:solidFill>
                  <a:srgbClr val="FF0000"/>
                </a:solidFill>
                <a:latin typeface="Courier New" panose="02070309020205020404" pitchFamily="49" charset="0"/>
              </a:rPr>
              <a:t>addItem</a:t>
            </a:r>
            <a:r>
              <a:rPr lang="en-US" altLang="sr-Latn-RS" sz="1400" b="1">
                <a:latin typeface="Courier New" panose="02070309020205020404" pitchFamily="49" charset="0"/>
              </a:rPr>
              <a:t>(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         </a:t>
            </a:r>
            <a:r>
              <a:rPr lang="en-US" altLang="sr-Latn-RS" sz="1400" b="1">
                <a:solidFill>
                  <a:schemeClr val="accent2"/>
                </a:solidFill>
                <a:latin typeface="Courier New" panose="02070309020205020404" pitchFamily="49" charset="0"/>
              </a:rPr>
              <a:t>products</a:t>
            </a:r>
            <a:r>
              <a:rPr lang="en-US" altLang="sr-Latn-RS" sz="1400" b="1">
                <a:latin typeface="Courier New" panose="02070309020205020404" pitchFamily="49" charset="0"/>
              </a:rPr>
              <a:t>.getProduct(</a:t>
            </a:r>
            <a:r>
              <a:rPr lang="en-U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sr-Latn-RS" sz="1400" b="1">
                <a:latin typeface="Courier New" panose="02070309020205020404" pitchFamily="49" charset="0"/>
              </a:rPr>
              <a:t>.getParameter("itemId")),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         Integer.parseInt(</a:t>
            </a:r>
            <a:r>
              <a:rPr lang="en-US" altLang="sr-Latn-RS" sz="1400" b="1">
                <a:solidFill>
                  <a:schemeClr val="accent4"/>
                </a:solidFill>
                <a:latin typeface="Courier New" panose="02070309020205020404" pitchFamily="49" charset="0"/>
              </a:rPr>
              <a:t>request</a:t>
            </a:r>
            <a:r>
              <a:rPr lang="en-US" altLang="sr-Latn-RS" sz="1400" b="1">
                <a:latin typeface="Courier New" panose="02070309020205020404" pitchFamily="49" charset="0"/>
              </a:rPr>
              <a:t>.getParameter("itemCount")));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  } catch (Exception ex) {</a:t>
            </a:r>
            <a:r>
              <a:rPr lang="sr-Latn-R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ex.printStackTrace();</a:t>
            </a:r>
            <a:r>
              <a:rPr lang="sr-Latn-RS" altLang="sr-Latn-RS" sz="1400" b="1">
                <a:latin typeface="Courier New" panose="02070309020205020404" pitchFamily="49" charset="0"/>
              </a:rPr>
              <a:t> </a:t>
            </a:r>
            <a:r>
              <a:rPr lang="en-US" altLang="sr-Latn-RS" sz="1400" b="1">
                <a:latin typeface="Courier New" panose="02070309020205020404" pitchFamily="49" charset="0"/>
              </a:rPr>
              <a:t>}</a:t>
            </a:r>
            <a:endParaRPr lang="sr-Latn-CS" altLang="sr-Latn-RS" sz="1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5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55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55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55C254C-DC90-BA52-436E-3E1F2D0184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4311" y="138418"/>
            <a:ext cx="10591101" cy="599813"/>
          </a:xfrm>
        </p:spPr>
        <p:txBody>
          <a:bodyPr/>
          <a:lstStyle/>
          <a:p>
            <a:pPr eaLnBrk="1" hangingPunct="1"/>
            <a:r>
              <a:rPr lang="sr-Latn-CS" altLang="sr-Latn-RS" sz="2800"/>
              <a:t>Dodavanje/pregled proizvoda  u listu za kupovinu (ShoppingCartServlet)</a:t>
            </a:r>
            <a:endParaRPr lang="en-US" altLang="sr-Latn-RS" sz="280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9FB1ADCC-C095-DC66-099F-402B6A2E9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4675" y="1405156"/>
            <a:ext cx="9999838" cy="511947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  </a:t>
            </a:r>
            <a:r>
              <a:rPr lang="en-US" altLang="sr-Latn-RS" sz="1600" b="1">
                <a:latin typeface="Courier New" panose="02070309020205020404" pitchFamily="49" charset="0"/>
              </a:rPr>
              <a:t>pout.println("Proizvodi u korpi:");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pout.println("&lt;table&gt;&lt;tr bgcolor=\"lightgrey\"&gt;&lt;th&gt;Naziv&lt;/th&gt;&lt;th&gt;Jedinicna cena&lt;/th&gt;&lt;th&gt;Komada&lt;/th&gt;&lt;th&gt;Ukupna cena&lt;/th&gt;&lt;/tr&gt;");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double total =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for (ShoppingCartItem i :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sc</a:t>
            </a:r>
            <a:r>
              <a:rPr lang="en-US" altLang="sr-Latn-RS" sz="1600" b="1">
                <a:latin typeface="Courier New" panose="02070309020205020404" pitchFamily="49" charset="0"/>
              </a:rPr>
              <a:t>.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getItems</a:t>
            </a:r>
            <a:r>
              <a:rPr lang="en-US" altLang="sr-Latn-RS" sz="1600" b="1">
                <a:latin typeface="Courier New" panose="02070309020205020404" pitchFamily="49" charset="0"/>
              </a:rPr>
              <a:t>())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pout.println("&lt;tr&gt;");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pout.println("&lt;td&gt;" + i.getProduct().getName() + "&lt;/td&gt;");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    </a:t>
            </a:r>
            <a:r>
              <a:rPr lang="sr-Latn-CS" altLang="sr-Latn-RS" sz="1600" b="1">
                <a:latin typeface="Courier New" panose="02070309020205020404" pitchFamily="49" charset="0"/>
              </a:rPr>
              <a:t>...</a:t>
            </a:r>
            <a:endParaRPr lang="en-U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}</a:t>
            </a:r>
            <a:endParaRPr lang="sr-Latn-R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600" b="1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05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423AA00-1E74-B6DB-EEED-9C35109C0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1651" y="404664"/>
            <a:ext cx="8659813" cy="875184"/>
          </a:xfrm>
        </p:spPr>
        <p:txBody>
          <a:bodyPr/>
          <a:lstStyle/>
          <a:p>
            <a:pPr eaLnBrk="1" hangingPunct="1"/>
            <a:r>
              <a:rPr lang="sr-Latn-CS" altLang="sr-Latn-RS" sz="4000"/>
              <a:t>Paket webshop – klasa Products</a:t>
            </a:r>
            <a:endParaRPr lang="en-US" altLang="sr-Latn-RS" sz="400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C9B8652-0EF3-220E-F7D8-3E419E24B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sr-Latn-CS" altLang="sr-Latn-RS" sz="3200"/>
              <a:t>Reprezentuje spisak proizvoda</a:t>
            </a:r>
          </a:p>
          <a:p>
            <a:pPr eaLnBrk="1" hangingPunct="1"/>
            <a:r>
              <a:rPr lang="sr-Latn-CS" altLang="sr-Latn-RS" sz="3200"/>
              <a:t>Iz datoteke </a:t>
            </a:r>
            <a:r>
              <a:rPr lang="sr-Latn-CS" altLang="sr-Latn-RS" sz="3200" i="1"/>
              <a:t>products.txt </a:t>
            </a:r>
            <a:r>
              <a:rPr lang="sr-Latn-CS" altLang="sr-Latn-RS" sz="3200"/>
              <a:t>učitava spisak proizvoda i </a:t>
            </a:r>
          </a:p>
          <a:p>
            <a:pPr eaLnBrk="1" hangingPunct="1"/>
            <a:r>
              <a:rPr lang="sr-Latn-CS" altLang="sr-Latn-RS" sz="3200"/>
              <a:t>Smešta spisak u asocijativnu listu </a:t>
            </a:r>
          </a:p>
          <a:p>
            <a:pPr lvl="1" eaLnBrk="1" hangingPunct="1"/>
            <a:r>
              <a:rPr lang="sr-Latn-CS" altLang="sr-Latn-RS" sz="2800"/>
              <a:t>ključ je id proizvoda, a objekat koji se smešta u listu je klase </a:t>
            </a:r>
            <a:r>
              <a:rPr lang="sr-Latn-CS" altLang="sr-Latn-RS" sz="2800" b="1"/>
              <a:t>Product</a:t>
            </a:r>
            <a:endParaRPr lang="en-US" altLang="sr-Latn-R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58F6686-42DF-5188-B77B-21AE2EAF4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Paket webshop – klasa Product</a:t>
            </a:r>
            <a:endParaRPr lang="en-US" altLang="sr-Latn-RS" sz="400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056B5E8-974E-2A65-1162-228B29E50B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sr-Latn-CS" altLang="sr-Latn-RS" sz="3200"/>
              <a:t>Reprezentuje pojedinačan proizvod</a:t>
            </a:r>
          </a:p>
          <a:p>
            <a:pPr eaLnBrk="1" hangingPunct="1"/>
            <a:r>
              <a:rPr lang="sr-Latn-CS" altLang="sr-Latn-RS" sz="3200"/>
              <a:t>Karakterišu je:</a:t>
            </a:r>
          </a:p>
          <a:p>
            <a:pPr lvl="1" eaLnBrk="1" hangingPunct="1"/>
            <a:r>
              <a:rPr lang="sr-Latn-CS" altLang="sr-Latn-RS" sz="2800"/>
              <a:t>id,</a:t>
            </a:r>
          </a:p>
          <a:p>
            <a:pPr lvl="1" eaLnBrk="1" hangingPunct="1"/>
            <a:r>
              <a:rPr lang="sr-Latn-CS" altLang="sr-Latn-RS" sz="2800"/>
              <a:t>naziv i</a:t>
            </a:r>
          </a:p>
          <a:p>
            <a:pPr lvl="1" eaLnBrk="1" hangingPunct="1"/>
            <a:r>
              <a:rPr lang="sr-Latn-CS" altLang="sr-Latn-RS" sz="2800"/>
              <a:t>cena.</a:t>
            </a:r>
          </a:p>
          <a:p>
            <a:pPr lvl="1" eaLnBrk="1" hangingPunct="1"/>
            <a:endParaRPr lang="en-US" altLang="sr-Latn-R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AB575F6-0299-2614-DC53-0677D00EA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33375"/>
            <a:ext cx="9144000" cy="1143000"/>
          </a:xfrm>
        </p:spPr>
        <p:txBody>
          <a:bodyPr/>
          <a:lstStyle/>
          <a:p>
            <a:pPr eaLnBrk="1" hangingPunct="1"/>
            <a:r>
              <a:rPr lang="sr-Latn-CS" altLang="sr-Latn-RS" sz="3600"/>
              <a:t>Paket webshop – klasa ShoppingCart</a:t>
            </a:r>
            <a:endParaRPr lang="en-US" altLang="sr-Latn-RS" sz="3600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1C12528-5653-3644-95A8-6C02433E30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sr-Latn-CS" altLang="sr-Latn-RS" sz="3200"/>
              <a:t>Reprezentuje listu proizvoda za kupovinu (korpu, shoppping cart)</a:t>
            </a:r>
          </a:p>
          <a:p>
            <a:pPr eaLnBrk="1" hangingPunct="1"/>
            <a:r>
              <a:rPr lang="sr-Latn-CS" altLang="sr-Latn-RS" sz="3200"/>
              <a:t>Sadrži listu odabranih proizvoda za kupovinu </a:t>
            </a:r>
          </a:p>
          <a:p>
            <a:pPr lvl="1" eaLnBrk="1" hangingPunct="1"/>
            <a:r>
              <a:rPr lang="sr-Latn-CS" altLang="sr-Latn-RS" sz="2800"/>
              <a:t>svaki odabrani proizvod je reprezentovan objektom klase </a:t>
            </a:r>
            <a:r>
              <a:rPr lang="sr-Latn-CS" altLang="sr-Latn-RS" sz="2800" b="1"/>
              <a:t>ShoppingCartItem</a:t>
            </a:r>
            <a:endParaRPr lang="en-US" altLang="sr-Latn-R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CA89F65-D2E0-5F37-C3E5-EB75135703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Paket webshop – klasa ShoppingCartItem</a:t>
            </a:r>
            <a:endParaRPr lang="en-US" altLang="sr-Latn-RS" sz="400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CE740F0-F704-824B-2007-68D35EFE9A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sr-Latn-CS" altLang="sr-Latn-RS" sz="3200"/>
              <a:t>Reprezentuje jednu stavku iz spiska proizvoda koje je mušterija odabrala za kupovinu</a:t>
            </a:r>
          </a:p>
          <a:p>
            <a:pPr eaLnBrk="1" hangingPunct="1"/>
            <a:r>
              <a:rPr lang="sr-Latn-CS" altLang="sr-Latn-RS" sz="3200"/>
              <a:t>Čuva:</a:t>
            </a:r>
          </a:p>
          <a:p>
            <a:pPr lvl="1" eaLnBrk="1" hangingPunct="1"/>
            <a:r>
              <a:rPr lang="sr-Latn-CS" altLang="sr-Latn-RS" sz="2800"/>
              <a:t>referencu na proizvod (referencu na objekat klase </a:t>
            </a:r>
            <a:r>
              <a:rPr lang="sr-Latn-CS" altLang="sr-Latn-RS" sz="2800" b="1"/>
              <a:t>Product</a:t>
            </a:r>
            <a:r>
              <a:rPr lang="sr-Latn-CS" altLang="sr-Latn-RS" sz="2800"/>
              <a:t>),</a:t>
            </a:r>
          </a:p>
          <a:p>
            <a:pPr lvl="1" eaLnBrk="1" hangingPunct="1"/>
            <a:r>
              <a:rPr lang="sr-Latn-CS" altLang="sr-Latn-RS" sz="2800"/>
              <a:t>količinu.</a:t>
            </a:r>
          </a:p>
          <a:p>
            <a:pPr eaLnBrk="1" hangingPunct="1"/>
            <a:endParaRPr lang="en-US" altLang="sr-Latn-R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1B04-F23C-566F-C528-B1DF517DC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sz="3600"/>
              <a:t>Prijava i odjava sa sistema</a:t>
            </a:r>
            <a:endParaRPr lang="en-US" sz="36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3EC06-F0D2-2226-369F-2CC84A471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74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3C41AFD-24DF-197C-2046-9FC4A4DA6C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Prijava na sistem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E50CA5C-0BD2-71EB-2C8E-A4009E61E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r-Latn-RS" sz="3600"/>
              <a:t>Klasa </a:t>
            </a:r>
            <a:r>
              <a:rPr lang="en-US" altLang="sr-Latn-RS" sz="3600" b="1"/>
              <a:t>Use</a:t>
            </a:r>
            <a:r>
              <a:rPr lang="sr-Latn-CS" altLang="sr-Latn-RS" sz="3600"/>
              <a:t>r:</a:t>
            </a:r>
            <a:endParaRPr lang="en-US" altLang="sr-Latn-RS" sz="3600"/>
          </a:p>
          <a:p>
            <a:pPr lvl="1" eaLnBrk="1" hangingPunct="1"/>
            <a:r>
              <a:rPr lang="en-US" altLang="sr-Latn-RS" sz="3200"/>
              <a:t>reprezentuje korisnika</a:t>
            </a:r>
          </a:p>
          <a:p>
            <a:pPr lvl="1" eaLnBrk="1" hangingPunct="1"/>
            <a:r>
              <a:rPr lang="en-US" altLang="sr-Latn-RS" sz="3200"/>
              <a:t>vezuje se na sesiju</a:t>
            </a:r>
            <a:endParaRPr lang="sr-Latn-CS" altLang="sr-Latn-RS" sz="3200"/>
          </a:p>
          <a:p>
            <a:pPr lvl="2" eaLnBrk="1" hangingPunct="1"/>
            <a:r>
              <a:rPr lang="sr-Latn-CS" altLang="sr-Latn-RS" sz="2800"/>
              <a:t>prilikom prijavljivanja na sistem</a:t>
            </a:r>
            <a:endParaRPr lang="en-US" altLang="sr-Latn-RS" sz="2800"/>
          </a:p>
          <a:p>
            <a:pPr lvl="1" eaLnBrk="1" hangingPunct="1"/>
            <a:r>
              <a:rPr lang="en-US" altLang="sr-Latn-RS" sz="3200"/>
              <a:t>sadr</a:t>
            </a:r>
            <a:r>
              <a:rPr lang="sr-Latn-CS" altLang="sr-Latn-RS" sz="3200"/>
              <a:t>ži </a:t>
            </a:r>
            <a:r>
              <a:rPr lang="sr-Latn-CS" altLang="sr-Latn-RS" sz="3200" b="1"/>
              <a:t>Shopping</a:t>
            </a:r>
            <a:r>
              <a:rPr lang="sr-Latn-CS" altLang="sr-Latn-RS" sz="3200"/>
              <a:t> Cart kao atribut</a:t>
            </a:r>
          </a:p>
          <a:p>
            <a:pPr lvl="1" eaLnBrk="1" hangingPunct="1"/>
            <a:r>
              <a:rPr lang="sr-Latn-CS" altLang="sr-Latn-RS" sz="3200"/>
              <a:t>sadrži informaciju o tome da li je korisnik prijavljen</a:t>
            </a:r>
            <a:endParaRPr lang="en-US" altLang="sr-Latn-R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268E196-AF40-FD5B-D05A-ECD218560F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493" y="295612"/>
            <a:ext cx="8229600" cy="5111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sr-Latn-CS" altLang="sr-Latn-RS"/>
              <a:t>Odjava sa sistema</a:t>
            </a:r>
            <a:endParaRPr lang="en-US" altLang="sr-Latn-R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8F84359-BB91-D3B4-99E5-EDAEA30B30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4371" y="1241571"/>
            <a:ext cx="9426429" cy="5176008"/>
          </a:xfrm>
        </p:spPr>
        <p:txBody>
          <a:bodyPr/>
          <a:lstStyle/>
          <a:p>
            <a:pPr eaLnBrk="1" hangingPunct="1"/>
            <a:r>
              <a:rPr lang="sr-Latn-CS" altLang="sr-Latn-RS"/>
              <a:t>Korisnik inicira odjavu</a:t>
            </a:r>
          </a:p>
          <a:p>
            <a:pPr eaLnBrk="1" hangingPunct="1"/>
            <a:r>
              <a:rPr lang="sr-Latn-CS" altLang="sr-Latn-RS"/>
              <a:t>Klasa </a:t>
            </a:r>
            <a:r>
              <a:rPr lang="sr-Latn-CS" altLang="sr-Latn-RS" b="1"/>
              <a:t>User</a:t>
            </a:r>
            <a:r>
              <a:rPr lang="sr-Latn-CS" altLang="sr-Latn-RS"/>
              <a:t> sadrži informaciju o prijavi/odjavi</a:t>
            </a:r>
          </a:p>
          <a:p>
            <a:pPr eaLnBrk="1" hangingPunct="1"/>
            <a:r>
              <a:rPr lang="sr-Latn-CS" altLang="sr-Latn-RS"/>
              <a:t>Šta ako se korisnik odjavi, pa pritisne </a:t>
            </a:r>
            <a:r>
              <a:rPr lang="sr-Latn-CS" altLang="sr-Latn-RS" i="1"/>
              <a:t>Back</a:t>
            </a:r>
            <a:r>
              <a:rPr lang="sr-Latn-CS" altLang="sr-Latn-RS"/>
              <a:t> u navigatoru?</a:t>
            </a:r>
          </a:p>
          <a:p>
            <a:pPr lvl="1" eaLnBrk="1" hangingPunct="1"/>
            <a:r>
              <a:rPr lang="sr-Latn-CS" altLang="sr-Latn-RS"/>
              <a:t>mora se zapamtiti da je odjavljen</a:t>
            </a:r>
          </a:p>
          <a:p>
            <a:pPr lvl="1" eaLnBrk="1" hangingPunct="1"/>
            <a:r>
              <a:rPr lang="sr-Latn-CS" altLang="sr-Latn-RS"/>
              <a:t>sesija se poništava – </a:t>
            </a:r>
            <a:r>
              <a:rPr lang="sr-Latn-CS" altLang="sr-Latn-RS" i="1"/>
              <a:t>session.invalidate()</a:t>
            </a:r>
          </a:p>
          <a:p>
            <a:pPr lvl="1" eaLnBrk="1" hangingPunct="1"/>
            <a:r>
              <a:rPr lang="sr-Latn-CS" altLang="sr-Latn-RS"/>
              <a:t>podesiti </a:t>
            </a:r>
            <a:r>
              <a:rPr lang="sr-Latn-CS" altLang="sr-Latn-RS" i="1"/>
              <a:t>Cache-Control</a:t>
            </a:r>
            <a:r>
              <a:rPr lang="sr-Latn-CS" altLang="sr-Latn-RS"/>
              <a:t> na </a:t>
            </a:r>
            <a:r>
              <a:rPr lang="sr-Latn-CS" altLang="sr-Latn-RS" i="1"/>
              <a:t>no-cache</a:t>
            </a:r>
          </a:p>
          <a:p>
            <a:pPr marL="914400" lvl="2" indent="0" eaLnBrk="1" hangingPunct="1">
              <a:buNone/>
            </a:pPr>
            <a:r>
              <a:rPr lang="sr-Latn-C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response.setHeader(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"Cache-Control", "no-cache")</a:t>
            </a:r>
            <a:r>
              <a:rPr lang="sr-Latn-C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 eaLnBrk="1" hangingPunct="1">
              <a:buNone/>
            </a:pPr>
            <a:r>
              <a:rPr lang="sr-Latn-C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response.setHeader("Pragma", "no-cache");</a:t>
            </a:r>
          </a:p>
          <a:p>
            <a:pPr marL="914400" lvl="2" indent="0" eaLnBrk="1" hangingPunct="1">
              <a:buNone/>
            </a:pPr>
            <a:r>
              <a:rPr lang="sr-Latn-C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response.setDateHeader("Expires", 0);</a:t>
            </a:r>
            <a:endParaRPr lang="en-US" alt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sr-Latn-RS"/>
              <a:t>META tag sa istim sadr</a:t>
            </a:r>
            <a:r>
              <a:rPr lang="sr-Latn-CS" altLang="sr-Latn-RS"/>
              <a:t>žajem</a:t>
            </a:r>
          </a:p>
          <a:p>
            <a:pPr marL="914400" lvl="2" indent="0">
              <a:buNone/>
            </a:pPr>
            <a:r>
              <a:rPr lang="pt-BR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&lt;META HTTP-EQUIV="</a:t>
            </a:r>
            <a:r>
              <a:rPr lang="sr-Latn-C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Cache-Control</a:t>
            </a:r>
            <a:r>
              <a:rPr lang="pt-BR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" CONTENT="no-cache"&gt;</a:t>
            </a:r>
            <a:endParaRPr lang="sr-Latn-CS" alt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pt-BR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&lt;META HTTP-EQUIV="Pragma" CONTENT="no-cache"&gt; </a:t>
            </a:r>
            <a:endParaRPr lang="sr-Latn-CS" alt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pt-BR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&lt;META HTTP-EQUIV="Expires" CONTENT="</a:t>
            </a:r>
            <a:r>
              <a:rPr lang="sr-Latn-C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pt-BR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en-US" alt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3049790D-25FA-5F84-FE4D-20BC8EB0A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2180" y="274639"/>
            <a:ext cx="9128620" cy="706437"/>
          </a:xfrm>
        </p:spPr>
        <p:txBody>
          <a:bodyPr/>
          <a:lstStyle/>
          <a:p>
            <a:r>
              <a:rPr lang="sr-Latn-RS" altLang="sr-Latn-RS"/>
              <a:t>Odjava sa sistema - fix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71F8C79A-ECA9-7C14-E1B1-A75A42B02B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0873" y="1052513"/>
            <a:ext cx="9199927" cy="54721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.notLoggedIn { 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visibility: 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hidden;  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$.post('&lt;%= application.getContextPath() %&gt;/CheckSession', function(data)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var s = '' + data;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s = s.trim();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if(s == 'ERROR')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$("body").addClass("notLoggedIn");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location.href = 'login.jsp';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} else if (s == 'OK')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 $("body").removeClass("notLoggedIn");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207C8958-2CDE-10B3-DCD9-13F4206D0029}"/>
              </a:ext>
            </a:extLst>
          </p:cNvPr>
          <p:cNvSpPr/>
          <p:nvPr/>
        </p:nvSpPr>
        <p:spPr>
          <a:xfrm>
            <a:off x="8154099" y="981075"/>
            <a:ext cx="2369890" cy="872891"/>
          </a:xfrm>
          <a:prstGeom prst="wedgeRoundRectCallout">
            <a:avLst>
              <a:gd name="adj1" fmla="val -125761"/>
              <a:gd name="adj2" fmla="val -6552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F12 u brauzeru, source, pa se lako promeni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204F9D86-5A4B-A22E-A9FB-651D64D54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Odjava sa sistema - fix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C5CC9850-303E-411C-5E2A-A2834F2AD1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User </a:t>
            </a:r>
            <a:r>
              <a:rPr lang="sr-Latn-R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(User) </a:t>
            </a:r>
            <a:r>
              <a:rPr lang="sr-Latn-RS" altLang="sr-Latn-R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sr-Latn-R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getSession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().getAttribute("user");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PrintWriter out = response.getWriter();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sr-Latn-R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!= null &amp;&amp; </a:t>
            </a:r>
            <a:r>
              <a:rPr lang="sr-Latn-R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sr-Latn-R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isLoggedIn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	System.out.println("Logged in.");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	out.println("OK");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	System.out.println("NOT logged in.");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	out.println("ERROR");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sr-Latn-RS" alt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sr-Latn-RS" alt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9EEA8-30EE-18ED-D424-22CA05A64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Trajni kukiji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847C3-681B-157D-D3BC-DCB13BB23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97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043D-55EB-E7B6-E036-E8E0B212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Trajni kukiji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87AB7-9E33-04E8-67AC-968F4432A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Svaki kuki koji ima atribut </a:t>
            </a:r>
            <a:r>
              <a:rPr lang="sr-Latn-RS" i="1"/>
              <a:t>expires</a:t>
            </a:r>
            <a:r>
              <a:rPr lang="sr-Latn-RS"/>
              <a:t>.</a:t>
            </a:r>
          </a:p>
          <a:p>
            <a:r>
              <a:rPr lang="sr-Latn-RS"/>
              <a:t>Čuva se u fajl sistemu gde je i browser.</a:t>
            </a:r>
          </a:p>
          <a:p>
            <a:r>
              <a:rPr lang="sr-Latn-RS"/>
              <a:t>Preživljava gašenje browsera.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9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E9D3B8D7-B64F-D4D4-D71A-6B44C02C2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Trajni kukiji – forma za prijavu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6FD874C4-0803-AFD2-514C-18C3906781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1119" y="1600201"/>
            <a:ext cx="11367083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&lt;form action=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"RememberLoginServlet" method="POST"&gt;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&lt;input type=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"text" name="uname" /&gt;&lt;br /&gt;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&lt;input type=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"password" name="pwd" /&gt;&lt;br /&gt;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&lt;input type=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"checkbox" name="</a:t>
            </a:r>
            <a:r>
              <a:rPr lang="en-US" altLang="sr-Latn-RS" sz="2400" b="1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remember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  <a:r>
              <a:rPr lang="sr-Latn-R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Remember me</a:t>
            </a:r>
            <a:r>
              <a:rPr lang="sr-Latn-R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&lt;br /&gt;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&lt;input type=</a:t>
            </a:r>
            <a:r>
              <a:rPr lang="en-US" altLang="sr-Latn-RS" sz="2400" b="1" i="1">
                <a:latin typeface="Courier New" panose="02070309020205020404" pitchFamily="49" charset="0"/>
                <a:cs typeface="Courier New" panose="02070309020205020404" pitchFamily="49" charset="0"/>
              </a:rPr>
              <a:t>"submit" value="Log in"/&gt;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&lt;/form&gt;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6279FF95-8914-083C-2A20-926CB04C57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3412"/>
          </a:xfrm>
        </p:spPr>
        <p:txBody>
          <a:bodyPr>
            <a:normAutofit fontScale="90000"/>
          </a:bodyPr>
          <a:lstStyle/>
          <a:p>
            <a:r>
              <a:rPr lang="sr-Latn-RS" altLang="sr-Latn-RS"/>
              <a:t>Trajni kukiji – kod na serveru, dodavanje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354C0ACF-BC35-D811-ADD6-87B1828356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1728" y="1196975"/>
            <a:ext cx="11455167" cy="5111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if (success &amp;&amp; remember)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String userIdendificationKey = "1"; </a:t>
            </a:r>
          </a:p>
          <a:p>
            <a:pPr marL="0" indent="0">
              <a:buNone/>
            </a:pPr>
            <a:r>
              <a:rPr lang="sr-Latn-R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u.getId() - ID korisnika, iz</a:t>
            </a:r>
          </a:p>
          <a:p>
            <a:pPr marL="0" indent="0">
              <a:buNone/>
            </a:pPr>
            <a:r>
              <a:rPr lang="sr-Latn-R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baze podataka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Cookie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new Cookie("userIdendificationKey",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userIdendificationKey);</a:t>
            </a:r>
          </a:p>
          <a:p>
            <a:pPr marL="0" indent="0">
              <a:buNone/>
            </a:pPr>
            <a:r>
              <a:rPr lang="sr-Latn-R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sr-Latn-R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Datum isticanja kukija</a:t>
            </a:r>
            <a:endParaRPr lang="en-US" altLang="sr-Latn-RS" sz="18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.setMaxAge(365 * 24 * 60 * 60);</a:t>
            </a:r>
          </a:p>
          <a:p>
            <a:pPr marL="0" indent="0">
              <a:buNone/>
            </a:pPr>
            <a:r>
              <a:rPr lang="sr-Latn-RS" alt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Dodajemo kuki u odgovor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sr-Latn-R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addCookie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System.</a:t>
            </a:r>
            <a:r>
              <a:rPr lang="sr-Latn-RS" alt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out.println("Added cookie:" + </a:t>
            </a:r>
            <a:r>
              <a:rPr lang="sr-Latn-RS" altLang="sr-Latn-RS" sz="1800" b="1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</a:t>
            </a:r>
            <a:r>
              <a:rPr lang="sr-Latn-RS" alt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.getName());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else if (success &amp;&amp; !remember)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sr-Latn-RS" sz="18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clearCookie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sr-Latn-R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sr-Latn-RS" sz="18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sr-Latn-RS" alt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A96BE00F-4718-B7B1-8D85-981B4711A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759000"/>
          </a:xfrm>
        </p:spPr>
        <p:txBody>
          <a:bodyPr/>
          <a:lstStyle/>
          <a:p>
            <a:r>
              <a:rPr lang="sr-Latn-RS" altLang="sr-Latn-RS"/>
              <a:t>Trajni kukiji – kod na serveru, brisanje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E238CAEE-AB2F-5230-3351-938F851DEB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199" y="1514212"/>
            <a:ext cx="11090945" cy="5238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sr-Latn-RS" altLang="sr-Latn-RS" sz="1600" b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clearCookie</a:t>
            </a: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(HttpServletRequest </a:t>
            </a:r>
            <a:r>
              <a:rPr lang="sr-Latn-RS" altLang="sr-Latn-RS" sz="16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, HttpServletResponse </a:t>
            </a:r>
            <a:r>
              <a:rPr lang="sr-Latn-RS" altLang="sr-Latn-RS" sz="16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</a:t>
            </a: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Cookie </a:t>
            </a:r>
            <a:r>
              <a:rPr lang="sr-Latn-R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</a:t>
            </a: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[] = </a:t>
            </a:r>
            <a:r>
              <a:rPr lang="sr-Latn-RS" altLang="sr-Latn-RS" sz="16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.getCookies();</a:t>
            </a:r>
          </a:p>
          <a:p>
            <a:pPr marL="0" indent="0"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sr-Latn-R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</a:t>
            </a: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pPr marL="0" indent="0"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for (int i = 0; i &lt; </a:t>
            </a:r>
            <a:r>
              <a:rPr lang="sr-Latn-R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</a:t>
            </a: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.length; i++) {</a:t>
            </a:r>
          </a:p>
          <a:p>
            <a:pPr marL="0" indent="0"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System.</a:t>
            </a:r>
            <a:r>
              <a:rPr lang="sr-Latn-RS" altLang="sr-Latn-RS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</a:t>
            </a:r>
            <a:r>
              <a:rPr lang="sr-Latn-RS" altLang="sr-Latn-RS" sz="1600" b="1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</a:t>
            </a:r>
            <a:r>
              <a:rPr lang="sr-Latn-RS" altLang="sr-Latn-RS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[i].getName());</a:t>
            </a:r>
          </a:p>
          <a:p>
            <a:pPr marL="0" indent="0"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[i].getName().equals("userIdendificationKey")) {</a:t>
            </a:r>
          </a:p>
          <a:p>
            <a:pPr marL="0" indent="0"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cookies[i].setValue("-1");</a:t>
            </a:r>
          </a:p>
          <a:p>
            <a:pPr marL="0" indent="0">
              <a:buNone/>
            </a:pP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sr-Latn-R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cookies[i].setMaxAge(0);</a:t>
            </a:r>
          </a:p>
          <a:p>
            <a:pPr marL="0" indent="0">
              <a:buNone/>
            </a:pP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sr-Latn-R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response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sr-Latn-RS" sz="1600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addCookie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cookies[i]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sr-Latn-RS" alt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altLang="sr-Latn-RS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out.println("Cleared cookie:" + cookies[i].getName());</a:t>
            </a:r>
          </a:p>
          <a:p>
            <a:pPr marL="0" indent="0"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	 break;</a:t>
            </a:r>
          </a:p>
          <a:p>
            <a:pPr marL="0" indent="0"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0" indent="0"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alt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48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161E0536-6BCB-B991-575C-1CAD08EF66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sz="4000"/>
              <a:t>Uzimanje trajnog kukija iz zahteva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23CFD51F-6425-BFCB-0CEE-D8684AD4BE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String userIdendificationKey = null;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Cookie </a:t>
            </a: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[] = </a:t>
            </a:r>
            <a:r>
              <a:rPr lang="sr-Latn-RS" altLang="sr-Latn-RS" sz="18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.getCookies();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for (int i = 0; i &lt; </a:t>
            </a: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.length; i++)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System.</a:t>
            </a:r>
            <a:r>
              <a:rPr lang="sr-Latn-RS" alt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</a:t>
            </a:r>
            <a:r>
              <a:rPr lang="sr-Latn-RS" altLang="sr-Latn-RS" sz="1800" b="1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</a:t>
            </a:r>
            <a:r>
              <a:rPr lang="sr-Latn-RS" alt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[i].getName());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[i].getName().equals(</a:t>
            </a:r>
            <a:endParaRPr lang="sr-Latn-RS" alt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</a:t>
            </a:r>
            <a:r>
              <a:rPr lang="en-U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"userIdendificationKey")) {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sr-Latn-RS" altLang="sr-Latn-RS" sz="18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userIdendificationKey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r-Latn-RS" alt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cookies</a:t>
            </a: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[i].getValue();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System.</a:t>
            </a:r>
            <a:r>
              <a:rPr lang="sr-Latn-RS" alt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out.println("&gt;&gt;" + </a:t>
            </a:r>
            <a:r>
              <a:rPr lang="sr-Latn-RS" altLang="sr-Latn-RS" sz="1800" b="1" i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userIdendificationKey</a:t>
            </a:r>
            <a:r>
              <a:rPr lang="sr-Latn-RS" alt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  break;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marL="0" indent="0"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8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8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8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B479E7F6-1078-97AD-B13E-21DBF14556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sz="4000"/>
              <a:t>Uzimanje trajnog kukija iz zahteva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87F4ED35-C474-D8D1-90E5-3B0F7DE3F7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199" y="1825625"/>
            <a:ext cx="1095672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if (u == null &amp;&amp; </a:t>
            </a:r>
            <a:r>
              <a:rPr lang="en-U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userIdendificationKey</a:t>
            </a:r>
            <a:r>
              <a:rPr lang="en-U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  <a:endParaRPr lang="sr-Latn-RS" altLang="sr-Latn-R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if (!</a:t>
            </a: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userIdendificationKey</a:t>
            </a: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.equals("-1")) {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System.</a:t>
            </a:r>
            <a:r>
              <a:rPr lang="sr-Latn-RS" altLang="sr-Latn-RS" sz="20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out.println("u je NULL, a userIdKey nije NULL i nije -1");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u = new User();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potrazimo u bazi na osnovu ID-a (</a:t>
            </a:r>
            <a:r>
              <a:rPr lang="sr-Latn-RS" altLang="sr-Latn-RS" sz="20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userIdentificationKey</a:t>
            </a:r>
            <a:r>
              <a:rPr lang="sr-Latn-R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u.setUsername("proba");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u.setPassword("proba");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  u.setLoggedIn(true);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</a:p>
          <a:p>
            <a:pPr marL="0" indent="0">
              <a:buNone/>
            </a:pPr>
            <a:r>
              <a:rPr lang="sr-Latn-RS" alt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CC7F-BF88-08F4-630B-8E8F718C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JSON Web Token - JWT</a:t>
            </a:r>
            <a:endParaRPr lang="en-US"/>
          </a:p>
        </p:txBody>
      </p:sp>
      <p:sp>
        <p:nvSpPr>
          <p:cNvPr id="37891" name="Text Placeholder 2">
            <a:extLst>
              <a:ext uri="{FF2B5EF4-FFF2-40B4-BE49-F238E27FC236}">
                <a16:creationId xmlns:a16="http://schemas.microsoft.com/office/drawing/2014/main" id="{5CD48021-5AA4-0CCE-7301-5128CF14A8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77D320FB-F9A7-E10A-77A2-517D1194A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Json Web Token - JWT</a:t>
            </a:r>
            <a:endParaRPr lang="en-US" altLang="en-US"/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55AAA825-8F8C-394B-9EC6-B7964A215A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Token koji se generiše prvi put na serveru, vraća klijentu i koji klijent šalje u zahtevu svaki put kada se obraća serveru</a:t>
            </a:r>
          </a:p>
          <a:p>
            <a:pPr lvl="1"/>
            <a:r>
              <a:rPr lang="sr-Latn-RS" altLang="en-US"/>
              <a:t>Sve se radi ručno, za razliku od kukija</a:t>
            </a:r>
          </a:p>
          <a:p>
            <a:r>
              <a:rPr lang="sr-Latn-RS" altLang="en-US"/>
              <a:t>Sastoji se iz Base64 enkodiranog JSON stringa:</a:t>
            </a:r>
          </a:p>
          <a:p>
            <a:pPr lvl="1"/>
            <a:r>
              <a:rPr lang="sr-Latn-RS" altLang="en-US"/>
              <a:t>Header,</a:t>
            </a:r>
          </a:p>
          <a:p>
            <a:pPr lvl="1"/>
            <a:r>
              <a:rPr lang="sr-Latn-RS" altLang="en-US"/>
              <a:t>Payload,</a:t>
            </a:r>
          </a:p>
          <a:p>
            <a:pPr lvl="1"/>
            <a:r>
              <a:rPr lang="sr-Latn-RS" altLang="en-US"/>
              <a:t>Signature.</a:t>
            </a:r>
          </a:p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DAACCAA1-0F14-1EAA-03A4-2AAA458AB1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JWT</a:t>
            </a:r>
            <a:endParaRPr lang="en-US" altLang="en-US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35AF8742-DE56-D6D1-2176-B4F1D3B78F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Hader:</a:t>
            </a:r>
          </a:p>
          <a:p>
            <a:pPr lvl="1"/>
            <a:r>
              <a:rPr lang="en-US" altLang="en-US"/>
              <a:t> "alg": "HS256",</a:t>
            </a:r>
          </a:p>
          <a:p>
            <a:pPr lvl="1"/>
            <a:r>
              <a:rPr lang="en-US" altLang="en-US"/>
              <a:t>  "typ": "JWT"</a:t>
            </a:r>
            <a:r>
              <a:rPr lang="sr-Latn-RS" altLang="en-US"/>
              <a:t>.</a:t>
            </a:r>
          </a:p>
          <a:p>
            <a:r>
              <a:rPr lang="sr-Latn-RS" altLang="en-US"/>
              <a:t>Payload:</a:t>
            </a:r>
          </a:p>
          <a:p>
            <a:pPr lvl="1"/>
            <a:r>
              <a:rPr lang="sr-Latn-RS" altLang="en-US"/>
              <a:t>Registered claims: </a:t>
            </a:r>
            <a:r>
              <a:rPr lang="en-US" altLang="en-US"/>
              <a:t> </a:t>
            </a:r>
            <a:r>
              <a:rPr lang="en-US" altLang="en-US" b="1"/>
              <a:t>iss</a:t>
            </a:r>
            <a:r>
              <a:rPr lang="en-US" altLang="en-US"/>
              <a:t> (issuer), </a:t>
            </a:r>
            <a:r>
              <a:rPr lang="en-US" altLang="en-US" b="1"/>
              <a:t>exp</a:t>
            </a:r>
            <a:r>
              <a:rPr lang="en-US" altLang="en-US"/>
              <a:t> (expiration time), </a:t>
            </a:r>
            <a:r>
              <a:rPr lang="en-US" altLang="en-US" b="1"/>
              <a:t>sub</a:t>
            </a:r>
            <a:r>
              <a:rPr lang="en-US" altLang="en-US"/>
              <a:t> (subject), </a:t>
            </a:r>
            <a:r>
              <a:rPr lang="en-US" altLang="en-US" b="1"/>
              <a:t>aud</a:t>
            </a:r>
            <a:r>
              <a:rPr lang="en-US" altLang="en-US"/>
              <a:t> (audience)</a:t>
            </a:r>
            <a:r>
              <a:rPr lang="sr-Latn-RS" altLang="en-US"/>
              <a:t>,...</a:t>
            </a:r>
          </a:p>
          <a:p>
            <a:pPr lvl="1"/>
            <a:r>
              <a:rPr lang="sr-Latn-RS" altLang="en-US"/>
              <a:t>Public claims: </a:t>
            </a:r>
            <a:r>
              <a:rPr lang="sr-Latn-RS" altLang="en-US">
                <a:hlinkClick r:id="rId2"/>
              </a:rPr>
              <a:t>JSON Web Token Registry</a:t>
            </a:r>
            <a:endParaRPr lang="sr-Latn-RS" altLang="en-US"/>
          </a:p>
          <a:p>
            <a:pPr lvl="1"/>
            <a:r>
              <a:rPr lang="sr-Latn-RS" altLang="en-US"/>
              <a:t>Private claims: kao što mu ime kaže...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4B735C05-5A29-3796-4E20-8A8EC4C34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0622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sr-Latn-RS" altLang="en-US"/>
              <a:t>JWT - Primer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05146-EB32-CA33-1629-E3117C112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980728"/>
            <a:ext cx="8229600" cy="574665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sr-Latn-RS" sz="2000"/>
              <a:t>Tekst: </a:t>
            </a:r>
            <a:r>
              <a:rPr lang="sr-Latn-RS" sz="2000">
                <a:solidFill>
                  <a:srgbClr val="FF0000"/>
                </a:solidFill>
              </a:rPr>
              <a:t>eyJhbGciOiJIUzUxMiJ9</a:t>
            </a:r>
            <a:r>
              <a:rPr lang="sr-Latn-RS" sz="2000"/>
              <a:t>.eyJzdWIiOiJwZXJhIiwiZXhwIjoxNTc2MjQ0NjE5LCJpYXQiOjE1NzYyMjY2MTl9.</a:t>
            </a:r>
            <a:r>
              <a:rPr lang="sr-Latn-RS" sz="2000">
                <a:solidFill>
                  <a:srgbClr val="00B0F0"/>
                </a:solidFill>
              </a:rPr>
              <a:t>TeIklUDbh-oTp1nNlmSdTPpckwBb3jwZSfnFroJU3aYe-hEXsFwNknL0G7ztyT4Fq3il9RfBB_L2aNMtmW7ykw</a:t>
            </a:r>
          </a:p>
          <a:p>
            <a:pPr>
              <a:defRPr/>
            </a:pPr>
            <a:r>
              <a:rPr lang="sr-Latn-RS" sz="2000">
                <a:solidFill>
                  <a:srgbClr val="FF0000"/>
                </a:solidFill>
              </a:rPr>
              <a:t>Header</a:t>
            </a:r>
            <a:r>
              <a:rPr lang="sr-Latn-RS" sz="2000"/>
              <a:t>:</a:t>
            </a:r>
          </a:p>
          <a:p>
            <a:pPr marL="457200" lvl="1" indent="0">
              <a:buNone/>
              <a:defRPr/>
            </a:pPr>
            <a:r>
              <a:rPr 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  <a:defRPr/>
            </a:pPr>
            <a:r>
              <a:rPr 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"alg": "HS512"</a:t>
            </a:r>
          </a:p>
          <a:p>
            <a:pPr marL="457200" lvl="1" indent="0">
              <a:buNone/>
              <a:defRPr/>
            </a:pPr>
            <a:r>
              <a:rPr 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sr-Latn-RS" sz="2000"/>
              <a:t>Payload:</a:t>
            </a:r>
          </a:p>
          <a:p>
            <a:pPr marL="457200" lvl="1" indent="0">
              <a:buNone/>
              <a:defRPr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  <a:defRPr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"sub": "pera",</a:t>
            </a:r>
          </a:p>
          <a:p>
            <a:pPr marL="457200" lvl="1" indent="0">
              <a:buNone/>
              <a:defRPr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"exp": 1576244619,</a:t>
            </a:r>
          </a:p>
          <a:p>
            <a:pPr marL="457200" lvl="1" indent="0">
              <a:buNone/>
              <a:defRPr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"iat": 1576226619</a:t>
            </a:r>
          </a:p>
          <a:p>
            <a:pPr marL="457200" lvl="1" indent="0">
              <a:buNone/>
              <a:defRPr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sr-Latn-RS" sz="2000">
                <a:solidFill>
                  <a:schemeClr val="accent4"/>
                </a:solidFill>
              </a:rPr>
              <a:t>Signature</a:t>
            </a:r>
            <a:r>
              <a:rPr lang="sr-Latn-RS" sz="2000"/>
              <a:t>:</a:t>
            </a:r>
          </a:p>
          <a:p>
            <a:pPr lvl="1">
              <a:defRPr/>
            </a:pPr>
            <a:r>
              <a:rPr lang="sr-Latn-RS" sz="1600">
                <a:solidFill>
                  <a:srgbClr val="00B0F0"/>
                </a:solidFill>
              </a:rPr>
              <a:t>Digitalni potpis</a:t>
            </a:r>
            <a:endParaRPr lang="en-US" sz="160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4BE454DE-FD99-A49B-7CAC-91C2852D6B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JWT - flow</a:t>
            </a:r>
            <a:endParaRPr lang="en-US" altLang="en-US"/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04886036-3114-86D7-F8C0-5FAE923DD7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en-US"/>
              <a:t>Prilikom prijave na sistem, ako su kredencijali OK, u HTTP odgovoru se šalje upravo izgenerisani JWT token.</a:t>
            </a:r>
          </a:p>
          <a:p>
            <a:r>
              <a:rPr lang="sr-Latn-RS" altLang="en-US"/>
              <a:t>Svaki naredni REST zahtev sadrži i JWT token</a:t>
            </a:r>
          </a:p>
          <a:p>
            <a:pPr lvl="1"/>
            <a:r>
              <a:rPr lang="sr-Latn-RS" altLang="en-US"/>
              <a:t>server proverava validnost tokena i identifikuje korisnika na osnovu tokena.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2460</Words>
  <Application>Microsoft Office PowerPoint</Application>
  <PresentationFormat>Widescreen</PresentationFormat>
  <Paragraphs>351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Aptos</vt:lpstr>
      <vt:lpstr>Aptos Display</vt:lpstr>
      <vt:lpstr>Arial</vt:lpstr>
      <vt:lpstr>Courier New</vt:lpstr>
      <vt:lpstr>Tahoma</vt:lpstr>
      <vt:lpstr>Office Theme</vt:lpstr>
      <vt:lpstr>Praćenje sesije</vt:lpstr>
      <vt:lpstr>Praćenje sesije korisnika 1/3</vt:lpstr>
      <vt:lpstr>Praćenje sesije korisnika 2/3</vt:lpstr>
      <vt:lpstr>Praćenje sesije korisnika 3/3</vt:lpstr>
      <vt:lpstr>Detaljnije o kukijima i  HTTP odgovoru</vt:lpstr>
      <vt:lpstr>Primer</vt:lpstr>
      <vt:lpstr>Browseri</vt:lpstr>
      <vt:lpstr>HTTP Sesije</vt:lpstr>
      <vt:lpstr>HttpSession</vt:lpstr>
      <vt:lpstr>Praćenje sesije korisnika iz servleta1/3</vt:lpstr>
      <vt:lpstr>Praćenje sesije korisnika iz servleta 2/3</vt:lpstr>
      <vt:lpstr>Klasa SessionCounter 3/3</vt:lpstr>
      <vt:lpstr>Na šta se objekat može vezati?</vt:lpstr>
      <vt:lpstr>Kako saznati gde se na serveru nalazi folder naše web aplikacije?</vt:lpstr>
      <vt:lpstr>Case study – web shop</vt:lpstr>
      <vt:lpstr>Pregled proizvoda</vt:lpstr>
      <vt:lpstr>Dodavanje proizvoda na listu za kupovinu (shopping cart)</vt:lpstr>
      <vt:lpstr>Pregled liste za kupovinu</vt:lpstr>
      <vt:lpstr>Lista raspoloživih proizvoda (WebShopServlet)</vt:lpstr>
      <vt:lpstr>Dodavanje/pregled proizvoda  u listu za kupovinu (ShoppingCartServlet)</vt:lpstr>
      <vt:lpstr>Dodavanje/pregled proizvoda  u listu za kupovinu (ShoppingCartServlet)</vt:lpstr>
      <vt:lpstr>Paket webshop – klasa Products</vt:lpstr>
      <vt:lpstr>Paket webshop – klasa Product</vt:lpstr>
      <vt:lpstr>Paket webshop – klasa ShoppingCart</vt:lpstr>
      <vt:lpstr>Paket webshop – klasa ShoppingCartItem</vt:lpstr>
      <vt:lpstr>Prijava i odjava sa sistema</vt:lpstr>
      <vt:lpstr>Prijava na sistem</vt:lpstr>
      <vt:lpstr>Odjava sa sistema</vt:lpstr>
      <vt:lpstr>Odjava sa sistema - fix</vt:lpstr>
      <vt:lpstr>Odjava sa sistema - fix</vt:lpstr>
      <vt:lpstr>Trajni kukiji</vt:lpstr>
      <vt:lpstr>Trajni kukiji</vt:lpstr>
      <vt:lpstr>Trajni kukiji – forma za prijavu</vt:lpstr>
      <vt:lpstr>Trajni kukiji – kod na serveru, dodavanje</vt:lpstr>
      <vt:lpstr>Trajni kukiji – kod na serveru, brisanje</vt:lpstr>
      <vt:lpstr>Uzimanje trajnog kukija iz zahteva</vt:lpstr>
      <vt:lpstr>Uzimanje trajnog kukija iz zahteva</vt:lpstr>
      <vt:lpstr>JSON Web Token - JWT</vt:lpstr>
      <vt:lpstr>Json Web Token - JWT</vt:lpstr>
      <vt:lpstr>JWT</vt:lpstr>
      <vt:lpstr>JWT - Primer</vt:lpstr>
      <vt:lpstr>JWT -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64</cp:revision>
  <dcterms:created xsi:type="dcterms:W3CDTF">2024-06-23T14:59:21Z</dcterms:created>
  <dcterms:modified xsi:type="dcterms:W3CDTF">2024-07-01T19:09:34Z</dcterms:modified>
</cp:coreProperties>
</file>