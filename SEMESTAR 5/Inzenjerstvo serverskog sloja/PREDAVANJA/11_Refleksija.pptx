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7" r:id="rId11"/>
    <p:sldId id="275" r:id="rId12"/>
    <p:sldId id="266" r:id="rId13"/>
    <p:sldId id="267" r:id="rId14"/>
    <p:sldId id="278" r:id="rId15"/>
    <p:sldId id="268" r:id="rId16"/>
    <p:sldId id="269" r:id="rId17"/>
    <p:sldId id="276" r:id="rId18"/>
    <p:sldId id="274" r:id="rId19"/>
    <p:sldId id="272" r:id="rId20"/>
    <p:sldId id="271" r:id="rId21"/>
    <p:sldId id="279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E7040-93A9-4675-F7FF-508C41665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A772B-A4AF-B0FA-045D-3C731EDAF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82228-0253-A9B5-1691-3C82C315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0D4AA-F227-24A8-ED64-A09DA2CDD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34AAD-7DDE-E3C3-416D-C09A8C5BF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8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96B4-3AF4-0DF1-5651-C10D0557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E86D4-7B03-F5A5-6BC2-5E4911AAB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47FC6-AF0A-6FEA-972C-291CA5345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35F42-147D-984F-1359-CFC559C9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3320F-4A9F-99BE-E1DE-0EE74FB818B7}"/>
              </a:ext>
            </a:extLst>
          </p:cNvPr>
          <p:cNvSpPr txBox="1"/>
          <p:nvPr userDrawn="1"/>
        </p:nvSpPr>
        <p:spPr>
          <a:xfrm>
            <a:off x="8531784" y="6356350"/>
            <a:ext cx="2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A14D2B-0CBB-457A-9F05-29C63F22DBAF}" type="slidenum">
              <a:rPr lang="en-US" smtClean="0"/>
              <a:pPr algn="r"/>
              <a:t>‹#›</a:t>
            </a:fld>
            <a:r>
              <a:rPr lang="sr-Latn-RS"/>
              <a:t>/22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A158-600A-7B44-F8E6-0EEE28739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D1524-A0EC-4343-1405-80E1F59C0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4C26-C1DC-110F-A852-9234C89B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25CE8-579C-2FE6-7AE0-87827B08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B708A-6073-E947-02D3-29A25A91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918CD-52B1-84C9-C244-6C19987D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354D6-36C9-DA0B-5793-91AF99B2F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06BAA-2951-D0F8-E265-8908FEF3B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B99FA-8A27-77D0-85B7-651C6013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0FC90-137A-3AE2-4BCD-069328F93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4121C-4C6B-3B90-5CDA-7E06B81FC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70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BE6D-0755-409D-87A3-7037D3FB0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A9466-4B5B-5912-7427-D124BB9E7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67CFB-B240-851F-0788-AE020D853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0704A-8CA9-C9BE-B430-2975CAED9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489802-AF13-DFFC-E3B5-2C42A8AF9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0DF7AA-FD47-4B47-337F-F3DDB1DF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775B2-7F6A-D27D-3EE6-7DE6EB63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20D707-682E-D171-5A09-8E3A617CB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50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542C-F193-6542-A8F5-0F48D87E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0C420-B93B-8386-002F-A9F6CC3B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686D5-C2BB-6CF3-566C-EC28D943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5D73C-0D1A-13BE-488F-3AAFF4A7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9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7B729-1076-5C6E-5CF0-D958D3B7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05B74-5AC7-B0A8-791E-58405A07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59E23-0854-520F-9ED3-7193F485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2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907AB-C89F-4C24-1FC5-2BFE37759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72849-2E96-C422-D56E-4D7BA73AF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5117B-3719-B75E-4A8F-0350D2D8B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08244-9FFE-D1E5-E260-44D99EF63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1BA5A-B6F7-4B01-89C6-ACBE0CD3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35471-A51A-9389-972B-536BF46D3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8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82976-7786-93A4-8A7B-B996F877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8259C9-F4A4-D731-65EC-8D3CE4490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CC94F-D5CA-85EA-E0AD-8AAC9FEDB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25B2C-05F2-6241-2174-126402FC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5F83E-9529-D344-3253-163A241A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C617A-45A4-6BCA-0712-C6F750AD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93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49B1-189B-EB36-770E-EF00F7C0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B84DA-E3D6-03A6-52B0-3367EE0A6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52624-182F-293A-1401-9EA45A611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89A9E-685B-C336-E5D2-3C01DED8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E1E30-E19B-513E-01CE-FA7F3663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2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11AC05-A6BA-3ED2-228C-9D14FF8A6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33D21-662C-E5D0-805A-F229B8464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FFC67-3709-C7CD-9EC5-05F810DC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263EC-D458-FEE4-5004-B1F6D8D94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BF920-1FBA-8A8E-D54E-4EFA46CF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19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8D2FE-161B-52B0-AA8C-E8ECB0CE1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4B048-4B83-3B0B-95E3-6C551EF52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A448C-F85D-4492-BF34-6C7982127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8437E-F23C-3F89-595D-34947AE35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EB572-F303-313B-C97E-5EF31BA06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1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7E4E0209-9233-A4F2-D4D0-0F37CE0587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sr-Latn-CS" altLang="sr-Latn-RS"/>
              <a:t>Inženjerstvo Serverskog Sloja</a:t>
            </a:r>
            <a:br>
              <a:rPr lang="sr-Latn-CS" altLang="sr-Latn-RS"/>
            </a:br>
            <a:r>
              <a:rPr lang="sr-Latn-CS" altLang="sr-Latn-RS" sz="2800"/>
              <a:t>prof. dr Milan Vidaković</a:t>
            </a:r>
            <a:endParaRPr lang="en-US" altLang="sr-Latn-RS"/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124F2CE6-316A-AFB8-DCF7-F03B114454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defRPr/>
            </a:pPr>
            <a:r>
              <a:rPr lang="sr-Latn-RS" altLang="sr-Latn-RS">
                <a:solidFill>
                  <a:schemeClr val="accent3">
                    <a:lumMod val="50000"/>
                  </a:schemeClr>
                </a:solidFill>
              </a:rPr>
              <a:t>Refleksija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F9F7FE3-2DCC-071E-A71C-F0E2B722AB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Refleksija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27A2969-CB16-9F67-B34E-D27BC70A7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1069972" cy="4351338"/>
          </a:xfrm>
        </p:spPr>
        <p:txBody>
          <a:bodyPr/>
          <a:lstStyle/>
          <a:p>
            <a:pPr eaLnBrk="1" hangingPunct="1"/>
            <a:r>
              <a:rPr lang="en-AU" altLang="sr-Latn-RS"/>
              <a:t>Mehanizam za ispitivanje osobina proizvoljne klase (pregled atributa, metoda i konstruktora) u toku izvršenja programa (</a:t>
            </a:r>
            <a:r>
              <a:rPr lang="en-AU" altLang="sr-Latn-RS" i="1"/>
              <a:t>run-time</a:t>
            </a:r>
            <a:r>
              <a:rPr lang="en-AU" altLang="sr-Latn-RS"/>
              <a:t>)</a:t>
            </a:r>
            <a:r>
              <a:rPr lang="en-US" altLang="sr-Latn-RS"/>
              <a:t>.</a:t>
            </a:r>
          </a:p>
          <a:p>
            <a:pPr eaLnBrk="1" hangingPunct="1"/>
            <a:r>
              <a:rPr lang="en-US" altLang="sr-Latn-RS"/>
              <a:t>Paket java.lang.reflect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63D01E2-4F64-6469-00BD-2128B5F3A6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Odakle krenuti?</a:t>
            </a:r>
            <a:endParaRPr lang="sr-Latn-CS" altLang="sr-Latn-R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F621DD5-5FFC-D370-2365-EAD3B08452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Klasa </a:t>
            </a:r>
            <a:r>
              <a:rPr lang="en-US" altLang="sr-Latn-RS" b="1"/>
              <a:t>Class</a:t>
            </a:r>
            <a:r>
              <a:rPr lang="en-US" altLang="sr-Latn-RS"/>
              <a:t> (iz paketa java.lang)!</a:t>
            </a:r>
          </a:p>
          <a:p>
            <a:pPr lvl="1" eaLnBrk="1" hangingPunct="1"/>
            <a:r>
              <a:rPr lang="en-US" altLang="sr-Latn-RS"/>
              <a:t>reprezentuje klase i interfejse u Java aplikaciji (run-time)</a:t>
            </a:r>
          </a:p>
          <a:p>
            <a:pPr eaLnBrk="1" hangingPunct="1"/>
            <a:r>
              <a:rPr lang="en-US" altLang="sr-Latn-RS"/>
              <a:t>Kako do</a:t>
            </a:r>
            <a:r>
              <a:rPr lang="sr-Latn-CS" altLang="sr-Latn-RS"/>
              <a:t>ći do </a:t>
            </a:r>
            <a:r>
              <a:rPr lang="sr-Latn-CS" altLang="sr-Latn-RS" b="1"/>
              <a:t>Class</a:t>
            </a:r>
            <a:r>
              <a:rPr lang="sr-Latn-CS" altLang="sr-Latn-RS"/>
              <a:t> klase?</a:t>
            </a:r>
          </a:p>
          <a:p>
            <a:pPr lvl="1" eaLnBrk="1" hangingPunct="1"/>
            <a:r>
              <a:rPr lang="sr-Latn-CS" altLang="sr-Latn-RS"/>
              <a:t>metodom </a:t>
            </a:r>
            <a:r>
              <a:rPr lang="sr-Latn-CS" altLang="sr-Latn-RS" i="1"/>
              <a:t>getClass()</a:t>
            </a:r>
            <a:r>
              <a:rPr lang="sr-Latn-CS" altLang="sr-Latn-RS"/>
              <a:t> svakog objekta,</a:t>
            </a:r>
          </a:p>
          <a:p>
            <a:pPr lvl="1" eaLnBrk="1" hangingPunct="1"/>
            <a:r>
              <a:rPr lang="sr-Latn-CS" altLang="sr-Latn-RS"/>
              <a:t>statičkom metodom </a:t>
            </a:r>
            <a:r>
              <a:rPr lang="sr-Latn-CS" altLang="sr-Latn-RS" i="1"/>
              <a:t>forName()</a:t>
            </a:r>
            <a:r>
              <a:rPr lang="sr-Latn-CS" altLang="sr-Latn-RS"/>
              <a:t> klase </a:t>
            </a:r>
            <a:r>
              <a:rPr lang="sr-Latn-CS" altLang="sr-Latn-RS" b="1"/>
              <a:t>Class</a:t>
            </a:r>
            <a:r>
              <a:rPr lang="sr-Latn-CS" altLang="sr-Latn-RS"/>
              <a:t> i</a:t>
            </a:r>
          </a:p>
          <a:p>
            <a:pPr lvl="1" eaLnBrk="1" hangingPunct="1"/>
            <a:r>
              <a:rPr lang="sr-Latn-CS" altLang="sr-Latn-RS"/>
              <a:t>statičkim atributom </a:t>
            </a:r>
            <a:r>
              <a:rPr lang="sr-Latn-CS" altLang="sr-Latn-RS" i="1"/>
              <a:t>class</a:t>
            </a:r>
            <a:r>
              <a:rPr lang="sr-Latn-CS" altLang="sr-Latn-RS"/>
              <a:t> svake klase.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A9E7D44-67A9-6980-E5AA-60AB0AB759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Metoda </a:t>
            </a:r>
            <a:r>
              <a:rPr lang="sr-Latn-CS" altLang="sr-Latn-RS" i="1"/>
              <a:t>Object.getClass</a:t>
            </a:r>
            <a:endParaRPr lang="sr-Latn-CS" altLang="sr-Latn-R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8CAF7B4-84A7-5513-CF47-1F83DAC101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Auto a;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Class cl = a.</a:t>
            </a:r>
            <a:r>
              <a:rPr lang="sr-Latn-C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getClass</a:t>
            </a:r>
            <a:r>
              <a:rPr lang="sr-Latn-CS" altLang="sr-Latn-RS" b="1">
                <a:latin typeface="Courier New" panose="02070309020205020404" pitchFamily="49" charset="0"/>
              </a:rPr>
              <a:t>();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3C021A1-52BB-F1EB-BBD9-30071393EC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Metoda </a:t>
            </a:r>
            <a:r>
              <a:rPr lang="sr-Latn-CS" altLang="sr-Latn-RS" i="1"/>
              <a:t>Class.forName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6F454C8-EDD4-071C-9BB3-D2660D3DA9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String className = "moj.paket.</a:t>
            </a:r>
            <a:r>
              <a:rPr lang="en-US" altLang="sr-Latn-RS" b="1">
                <a:latin typeface="Courier New" panose="02070309020205020404" pitchFamily="49" charset="0"/>
              </a:rPr>
              <a:t>Auto</a:t>
            </a:r>
            <a:r>
              <a:rPr lang="sr-Latn-CS" altLang="sr-Latn-RS" b="1">
                <a:latin typeface="Courier New" panose="02070309020205020404" pitchFamily="49" charset="0"/>
              </a:rPr>
              <a:t>";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Class cl = Class.</a:t>
            </a:r>
            <a:r>
              <a:rPr lang="sr-Latn-C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forName</a:t>
            </a:r>
            <a:r>
              <a:rPr lang="sr-Latn-CS" altLang="sr-Latn-RS" b="1">
                <a:latin typeface="Courier New" panose="02070309020205020404" pitchFamily="49" charset="0"/>
              </a:rPr>
              <a:t>(className);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6B997BF-ECDF-E4AD-DB16-3D25ADD9DD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Statički atribut </a:t>
            </a:r>
            <a:r>
              <a:rPr lang="sr-Latn-CS" altLang="sr-Latn-RS" i="1"/>
              <a:t>class</a:t>
            </a:r>
            <a:endParaRPr lang="sr-Latn-CS" altLang="sr-Latn-R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06B7E8E-6D16-BB95-BF76-15D29C164C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Class cl1 = Date.</a:t>
            </a:r>
            <a:r>
              <a:rPr lang="sr-Latn-C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class</a:t>
            </a:r>
            <a:r>
              <a:rPr lang="sr-Latn-CS" altLang="sr-Latn-RS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Class cl2 = int.</a:t>
            </a:r>
            <a:r>
              <a:rPr lang="sr-Latn-C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class</a:t>
            </a:r>
            <a:r>
              <a:rPr lang="sr-Latn-CS" altLang="sr-Latn-RS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Class cl3 = Double[].</a:t>
            </a:r>
            <a:r>
              <a:rPr lang="sr-Latn-CS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class</a:t>
            </a:r>
            <a:r>
              <a:rPr lang="sr-Latn-CS" altLang="sr-Latn-RS" b="1">
                <a:latin typeface="Courier New" panose="02070309020205020404" pitchFamily="49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8267955-A9ED-4E4D-194F-DCA55D8CC9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Šta možemo da uradimo sa </a:t>
            </a:r>
            <a:r>
              <a:rPr lang="sr-Latn-CS" altLang="sr-Latn-RS" sz="4000" b="1" i="1"/>
              <a:t>Class</a:t>
            </a:r>
            <a:r>
              <a:rPr lang="sr-Latn-CS" altLang="sr-Latn-RS" sz="4000"/>
              <a:t> klasom?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C57069A-0028-7702-FF96-31296C961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/>
              <a:t>metoda </a:t>
            </a:r>
            <a:r>
              <a:rPr lang="sr-Latn-CS" altLang="sr-Latn-RS" i="1"/>
              <a:t>getName()</a:t>
            </a:r>
            <a:r>
              <a:rPr lang="sr-Latn-CS" altLang="sr-Latn-RS"/>
              <a:t> daje pun naziv klase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metoda </a:t>
            </a:r>
            <a:r>
              <a:rPr lang="sr-Latn-CS" altLang="sr-Latn-RS" i="1"/>
              <a:t>newInstance()</a:t>
            </a:r>
            <a:r>
              <a:rPr lang="sr-Latn-CS" altLang="sr-Latn-RS"/>
              <a:t> poziva default konstruktor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metoda </a:t>
            </a:r>
            <a:r>
              <a:rPr lang="sr-Latn-CS" altLang="sr-Latn-RS" i="1"/>
              <a:t>getDeclaredFields()/getFields()</a:t>
            </a:r>
            <a:r>
              <a:rPr lang="sr-Latn-CS" altLang="sr-Latn-RS"/>
              <a:t> daje spisak atributa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metoda </a:t>
            </a:r>
            <a:r>
              <a:rPr lang="sr-Latn-CS" altLang="sr-Latn-RS" i="1"/>
              <a:t>getDeclaredMethods()/getMethods()</a:t>
            </a:r>
            <a:r>
              <a:rPr lang="sr-Latn-CS" altLang="sr-Latn-RS"/>
              <a:t> daje spisak metoda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metoda </a:t>
            </a:r>
            <a:r>
              <a:rPr lang="sr-Latn-CS" altLang="sr-Latn-RS" i="1"/>
              <a:t>getDeclaredConstructors()/getConstructors()</a:t>
            </a:r>
            <a:r>
              <a:rPr lang="sr-Latn-CS" altLang="sr-Latn-RS"/>
              <a:t> daje spisak konstruktora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2A19107-0DC5-F8B7-FA29-DFE81D9D90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Pregled atributa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6241938-A51F-A5E6-09EC-B0137C1D14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4312" y="1981200"/>
            <a:ext cx="11287387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public void printFields(Class cl)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Field[] </a:t>
            </a:r>
            <a:r>
              <a:rPr lang="sr-Latn-CS" altLang="sr-Latn-RS" sz="2400" b="1">
                <a:solidFill>
                  <a:srgbClr val="FF0000"/>
                </a:solidFill>
                <a:latin typeface="Courier New" panose="02070309020205020404" pitchFamily="49" charset="0"/>
              </a:rPr>
              <a:t>fields</a:t>
            </a:r>
            <a:r>
              <a:rPr lang="sr-Latn-CS" altLang="sr-Latn-RS" sz="2400" b="1">
                <a:latin typeface="Courier New" panose="02070309020205020404" pitchFamily="49" charset="0"/>
              </a:rPr>
              <a:t> = </a:t>
            </a:r>
            <a:r>
              <a:rPr lang="sr-Latn-CS" altLang="sr-Latn-RS" sz="2400" b="1">
                <a:solidFill>
                  <a:srgbClr val="FF0000"/>
                </a:solidFill>
                <a:latin typeface="Courier New" panose="02070309020205020404" pitchFamily="49" charset="0"/>
              </a:rPr>
              <a:t>cl.getDeclaredFields()</a:t>
            </a:r>
            <a:r>
              <a:rPr lang="sr-Latn-CS" altLang="sr-Latn-RS" sz="24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for (Field </a:t>
            </a:r>
            <a:r>
              <a:rPr lang="sr-Latn-CS" altLang="sr-Latn-RS" sz="2400" b="1">
                <a:solidFill>
                  <a:schemeClr val="accent4"/>
                </a:solidFill>
                <a:latin typeface="Courier New" panose="02070309020205020404" pitchFamily="49" charset="0"/>
              </a:rPr>
              <a:t>fld</a:t>
            </a:r>
            <a:r>
              <a:rPr lang="sr-Latn-CS" altLang="sr-Latn-RS" sz="2400" b="1">
                <a:latin typeface="Courier New" panose="02070309020205020404" pitchFamily="49" charset="0"/>
              </a:rPr>
              <a:t> : </a:t>
            </a:r>
            <a:r>
              <a:rPr lang="sr-Latn-CS" altLang="sr-Latn-RS" sz="2400" b="1">
                <a:solidFill>
                  <a:srgbClr val="FF0000"/>
                </a:solidFill>
                <a:latin typeface="Courier New" panose="02070309020205020404" pitchFamily="49" charset="0"/>
              </a:rPr>
              <a:t>fields</a:t>
            </a:r>
            <a:r>
              <a:rPr lang="sr-Latn-CS" altLang="sr-Latn-RS" sz="2400" b="1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  String modifier = Modifier.toString(</a:t>
            </a:r>
            <a:r>
              <a:rPr lang="sr-Latn-CS" altLang="sr-Latn-RS" sz="2400" b="1">
                <a:solidFill>
                  <a:schemeClr val="accent4"/>
                </a:solidFill>
                <a:latin typeface="Courier New" panose="02070309020205020404" pitchFamily="49" charset="0"/>
              </a:rPr>
              <a:t>fld</a:t>
            </a:r>
            <a:r>
              <a:rPr lang="sr-Latn-CS" altLang="sr-Latn-RS" sz="2400" b="1">
                <a:latin typeface="Courier New" panose="02070309020205020404" pitchFamily="49" charset="0"/>
              </a:rPr>
              <a:t>.getModifiers());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  Class type = </a:t>
            </a:r>
            <a:r>
              <a:rPr lang="sr-Latn-CS" altLang="sr-Latn-RS" sz="2400" b="1">
                <a:solidFill>
                  <a:schemeClr val="accent4"/>
                </a:solidFill>
                <a:latin typeface="Courier New" panose="02070309020205020404" pitchFamily="49" charset="0"/>
              </a:rPr>
              <a:t>fld</a:t>
            </a:r>
            <a:r>
              <a:rPr lang="sr-Latn-CS" altLang="sr-Latn-RS" sz="2400" b="1">
                <a:latin typeface="Courier New" panose="02070309020205020404" pitchFamily="49" charset="0"/>
              </a:rPr>
              <a:t>.getType();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  String name = </a:t>
            </a:r>
            <a:r>
              <a:rPr lang="sr-Latn-CS" altLang="sr-Latn-RS" sz="2400" b="1">
                <a:solidFill>
                  <a:schemeClr val="accent4"/>
                </a:solidFill>
                <a:latin typeface="Courier New" panose="02070309020205020404" pitchFamily="49" charset="0"/>
              </a:rPr>
              <a:t>fld</a:t>
            </a:r>
            <a:r>
              <a:rPr lang="sr-Latn-CS" altLang="sr-Latn-RS" sz="2400" b="1">
                <a:latin typeface="Courier New" panose="02070309020205020404" pitchFamily="49" charset="0"/>
              </a:rPr>
              <a:t>.getName();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  System.out.println(modifier+" "+type+" "+name+"\n");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}</a:t>
            </a:r>
            <a:r>
              <a:rPr lang="sr-Latn-CS" altLang="sr-Latn-RS" sz="2400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1FCFCA8C-5447-13FC-EA83-D2E6B1540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039" y="6237289"/>
            <a:ext cx="4752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800">
                <a:latin typeface="Tahoma" panose="020B0604030504040204" pitchFamily="34" charset="0"/>
              </a:rPr>
              <a:t>AtributiMetodeKonstruktori</a:t>
            </a:r>
            <a:endParaRPr lang="en-US" altLang="sr-Latn-R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2264C2D-ECF4-ABCA-3643-3D41765D8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Klasa </a:t>
            </a:r>
            <a:r>
              <a:rPr lang="sr-Latn-CS" altLang="sr-Latn-RS" i="1"/>
              <a:t>Field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CBE884D-CB5B-5FBF-2A50-21C7C707C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Reprezentuje atribute</a:t>
            </a:r>
          </a:p>
          <a:p>
            <a:pPr eaLnBrk="1" hangingPunct="1"/>
            <a:r>
              <a:rPr lang="sr-Latn-CS" altLang="sr-Latn-RS"/>
              <a:t>Osim podataka o atributu ima i:</a:t>
            </a:r>
          </a:p>
          <a:p>
            <a:pPr lvl="1" eaLnBrk="1" hangingPunct="1"/>
            <a:r>
              <a:rPr lang="sr-Latn-CS" altLang="sr-Latn-RS"/>
              <a:t>metodu </a:t>
            </a:r>
            <a:r>
              <a:rPr lang="sr-Latn-CS" altLang="sr-Latn-RS" i="1"/>
              <a:t>get(Object</a:t>
            </a:r>
            <a:r>
              <a:rPr lang="sr-Latn-CS" altLang="sr-Latn-RS"/>
              <a:t> </a:t>
            </a:r>
            <a:r>
              <a:rPr lang="sr-Latn-CS" altLang="sr-Latn-RS" i="1"/>
              <a:t>obj</a:t>
            </a:r>
            <a:r>
              <a:rPr lang="sr-Latn-CS" altLang="sr-Latn-RS"/>
              <a:t>),</a:t>
            </a:r>
          </a:p>
          <a:p>
            <a:pPr lvl="1" eaLnBrk="1" hangingPunct="1"/>
            <a:r>
              <a:rPr lang="sr-Latn-CS" altLang="sr-Latn-RS"/>
              <a:t>metodu </a:t>
            </a:r>
            <a:r>
              <a:rPr lang="sr-Latn-CS" altLang="sr-Latn-RS" i="1"/>
              <a:t>getXxx(Object</a:t>
            </a:r>
            <a:r>
              <a:rPr lang="sr-Latn-CS" altLang="sr-Latn-RS"/>
              <a:t> </a:t>
            </a:r>
            <a:r>
              <a:rPr lang="sr-Latn-CS" altLang="sr-Latn-RS" i="1"/>
              <a:t>obj</a:t>
            </a:r>
            <a:r>
              <a:rPr lang="sr-Latn-CS" altLang="sr-Latn-RS"/>
              <a:t>),</a:t>
            </a:r>
          </a:p>
          <a:p>
            <a:pPr lvl="1" eaLnBrk="1" hangingPunct="1"/>
            <a:r>
              <a:rPr lang="sr-Latn-CS" altLang="sr-Latn-RS"/>
              <a:t>metodu </a:t>
            </a:r>
            <a:r>
              <a:rPr lang="sr-Latn-CS" altLang="sr-Latn-RS" i="1"/>
              <a:t>set(Object</a:t>
            </a:r>
            <a:r>
              <a:rPr lang="sr-Latn-CS" altLang="sr-Latn-RS"/>
              <a:t> obj, </a:t>
            </a:r>
            <a:r>
              <a:rPr lang="sr-Latn-CS" altLang="sr-Latn-RS" i="1"/>
              <a:t>Object</a:t>
            </a:r>
            <a:r>
              <a:rPr lang="sr-Latn-CS" altLang="sr-Latn-RS"/>
              <a:t> </a:t>
            </a:r>
            <a:r>
              <a:rPr lang="sr-Latn-CS" altLang="sr-Latn-RS" i="1"/>
              <a:t>value</a:t>
            </a:r>
            <a:r>
              <a:rPr lang="sr-Latn-CS" altLang="sr-Latn-RS"/>
              <a:t>) </a:t>
            </a:r>
          </a:p>
          <a:p>
            <a:pPr lvl="1" eaLnBrk="1" hangingPunct="1"/>
            <a:r>
              <a:rPr lang="sr-Latn-CS" altLang="sr-Latn-RS"/>
              <a:t>metodu </a:t>
            </a:r>
            <a:r>
              <a:rPr lang="sr-Latn-CS" altLang="sr-Latn-RS" i="1"/>
              <a:t>setXxx(Object</a:t>
            </a:r>
            <a:r>
              <a:rPr lang="sr-Latn-CS" altLang="sr-Latn-RS"/>
              <a:t> obj, </a:t>
            </a:r>
            <a:r>
              <a:rPr lang="sr-Latn-CS" altLang="sr-Latn-RS" i="1"/>
              <a:t>Xxx</a:t>
            </a:r>
            <a:r>
              <a:rPr lang="sr-Latn-CS" altLang="sr-Latn-RS"/>
              <a:t> </a:t>
            </a:r>
            <a:r>
              <a:rPr lang="sr-Latn-CS" altLang="sr-Latn-RS" i="1"/>
              <a:t>value</a:t>
            </a:r>
            <a:r>
              <a:rPr lang="sr-Latn-CS" altLang="sr-Latn-RS"/>
              <a:t>)</a:t>
            </a:r>
          </a:p>
          <a:p>
            <a:pPr eaLnBrk="1" hangingPunct="1"/>
            <a:r>
              <a:rPr lang="sr-Latn-CS" altLang="sr-Latn-RS"/>
              <a:t>get/set metode omogućuju manipulaciju vrednostima atributa proizvoljnog objekta!</a:t>
            </a:r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9694FF17-43E7-1DE0-107D-C5577DCD8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6165850"/>
            <a:ext cx="2736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800">
                <a:latin typeface="Tahoma" panose="020B0604030504040204" pitchFamily="34" charset="0"/>
              </a:rPr>
              <a:t>IzmenaAtributa</a:t>
            </a:r>
            <a:endParaRPr lang="en-US" altLang="sr-Latn-R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518ACED8-A423-EB70-36EB-68154D037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Klasa </a:t>
            </a:r>
            <a:r>
              <a:rPr lang="sr-Latn-RS" altLang="sr-Latn-RS" i="1"/>
              <a:t>Field</a:t>
            </a:r>
            <a:endParaRPr lang="en-US" altLang="sr-Latn-RS" i="1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EA750BA1-634E-751E-CE19-A89D4CEF2B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056" y="1600201"/>
            <a:ext cx="12046591" cy="4525963"/>
          </a:xfrm>
        </p:spPr>
        <p:txBody>
          <a:bodyPr/>
          <a:lstStyle/>
          <a:p>
            <a:pPr eaLnBrk="1" hangingPunct="1"/>
            <a:r>
              <a:rPr lang="sr-Latn-RS" altLang="sr-Latn-RS"/>
              <a:t>Pristup vrednostima:</a:t>
            </a:r>
          </a:p>
          <a:p>
            <a:pPr eaLnBrk="1" hangingPunct="1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= Class.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forName("TestKlasa");</a:t>
            </a:r>
          </a:p>
          <a:p>
            <a:pPr eaLnBrk="1" hangingPunct="1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Field </a:t>
            </a:r>
            <a:r>
              <a:rPr lang="en-US" altLang="sr-Latn-RS" sz="2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sr-Latn-RS" altLang="sr-Latn-RS" sz="2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.getDeclaredField("a");</a:t>
            </a:r>
          </a:p>
          <a:p>
            <a:pPr eaLnBrk="1" hangingPunct="1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Object obj = </a:t>
            </a:r>
            <a:r>
              <a:rPr lang="en-US" alt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.newInstance();</a:t>
            </a:r>
          </a:p>
          <a:p>
            <a:pPr eaLnBrk="1" hangingPunct="1">
              <a:buFontTx/>
              <a:buNone/>
            </a:pPr>
            <a:r>
              <a:rPr lang="en-US" altLang="sr-Latn-RS" sz="2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sr-Latn-RS" altLang="sr-Latn-RS" sz="2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.setAccessible(true);</a:t>
            </a:r>
          </a:p>
          <a:p>
            <a:pPr eaLnBrk="1" hangingPunct="1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out.println("Vrednost atributa a je: "+</a:t>
            </a:r>
            <a:r>
              <a:rPr lang="sr-Latn-R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400" b="1" i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sr-Latn-RS" altLang="sr-Latn-RS" sz="2400" b="1" i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.getInt(obj));</a:t>
            </a:r>
          </a:p>
          <a:p>
            <a:pPr eaLnBrk="1" hangingPunct="1">
              <a:buFontTx/>
              <a:buNone/>
            </a:pPr>
            <a:r>
              <a:rPr lang="en-US" altLang="sr-Latn-RS" sz="2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sr-Latn-RS" altLang="sr-Latn-RS" sz="2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.setInt(obj, 5);</a:t>
            </a: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out.println("Vrednost atributa a je: "+ </a:t>
            </a:r>
            <a:r>
              <a:rPr lang="en-US" altLang="sr-Latn-RS" sz="2400" b="1" i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sr-Latn-RS" altLang="sr-Latn-RS" sz="2400" b="1" i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.getInt(obj));</a:t>
            </a:r>
            <a:endParaRPr lang="en-U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EF214D7E-2F0D-C6BB-4144-A5A3D8D54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6165850"/>
            <a:ext cx="2736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800">
                <a:latin typeface="Tahoma" panose="020B0604030504040204" pitchFamily="34" charset="0"/>
              </a:rPr>
              <a:t>IzmenaAtributa</a:t>
            </a:r>
            <a:endParaRPr lang="en-US" altLang="sr-Latn-R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27FA4EB-277E-B3F4-0ABE-A304B30147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Hack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FCFD876-8A5E-54CE-F247-8D2FA55ABC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Uz pomo</a:t>
            </a:r>
            <a:r>
              <a:rPr lang="sr-Latn-CS" altLang="sr-Latn-RS"/>
              <a:t>ć refleksije moguće je promeniti </a:t>
            </a:r>
            <a:r>
              <a:rPr lang="sr-Latn-CS" altLang="sr-Latn-RS" i="1"/>
              <a:t>access modifier</a:t>
            </a:r>
            <a:r>
              <a:rPr lang="sr-Latn-CS" altLang="sr-Latn-RS"/>
              <a:t> nekog atributa ili metode!</a:t>
            </a:r>
          </a:p>
          <a:p>
            <a:pPr lvl="1" eaLnBrk="1" hangingPunct="1"/>
            <a:r>
              <a:rPr lang="sr-Latn-CS" altLang="sr-Latn-RS"/>
              <a:t>sa protected na public:</a:t>
            </a:r>
          </a:p>
          <a:p>
            <a:pPr lvl="1" eaLnBrk="1" hangingPunct="1">
              <a:buFontTx/>
              <a:buNone/>
            </a:pPr>
            <a:r>
              <a:rPr lang="sr-Latn-CS" altLang="sr-Latn-RS"/>
              <a:t>		</a:t>
            </a:r>
            <a:r>
              <a:rPr lang="en-US" altLang="sr-Latn-RS" b="1">
                <a:latin typeface="Courier New" panose="02070309020205020404" pitchFamily="49" charset="0"/>
              </a:rPr>
              <a:t>method.setAccessible(true);</a:t>
            </a: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23C2A128-2C28-5CF5-BFA9-A3A659AC0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6165850"/>
            <a:ext cx="2736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800">
                <a:latin typeface="Tahoma" panose="020B0604030504040204" pitchFamily="34" charset="0"/>
              </a:rPr>
              <a:t>IzmenaAtributa</a:t>
            </a:r>
            <a:endParaRPr lang="en-US" altLang="sr-Latn-R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6B8BF2E-9D75-A00A-0BB0-07831A8438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905807"/>
          </a:xfrm>
        </p:spPr>
        <p:txBody>
          <a:bodyPr/>
          <a:lstStyle/>
          <a:p>
            <a:pPr eaLnBrk="1" hangingPunct="1"/>
            <a:r>
              <a:rPr lang="sr-Latn-CS" altLang="sr-Latn-RS"/>
              <a:t>Pregled metoda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5FEDA3C-E607-E4EA-041E-67FA9D7B6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1453" y="1514213"/>
            <a:ext cx="9695723" cy="501041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private void printMethods(Class cl)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Method[]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methods</a:t>
            </a:r>
            <a:r>
              <a:rPr lang="sr-Latn-CS" altLang="sr-Latn-RS" sz="1800" b="1">
                <a:latin typeface="Courier New" panose="02070309020205020404" pitchFamily="49" charset="0"/>
              </a:rPr>
              <a:t> =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cl.getDeclaredMethods()</a:t>
            </a:r>
            <a:r>
              <a:rPr lang="sr-Latn-CS" altLang="sr-Latn-RS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for (Method </a:t>
            </a:r>
            <a:r>
              <a:rPr lang="sr-Latn-C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mtd</a:t>
            </a:r>
            <a:r>
              <a:rPr lang="sr-Latn-CS" altLang="sr-Latn-RS" sz="1800" b="1">
                <a:latin typeface="Courier New" panose="02070309020205020404" pitchFamily="49" charset="0"/>
              </a:rPr>
              <a:t> :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methods</a:t>
            </a:r>
            <a:r>
              <a:rPr lang="sr-Latn-CS" altLang="sr-Latn-RS" sz="1800" b="1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  String modifier = Modifier.toString(</a:t>
            </a:r>
            <a:r>
              <a:rPr lang="sr-Latn-C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mtd</a:t>
            </a:r>
            <a:r>
              <a:rPr lang="sr-Latn-CS" altLang="sr-Latn-RS" sz="1800" b="1">
                <a:latin typeface="Courier New" panose="02070309020205020404" pitchFamily="49" charset="0"/>
              </a:rPr>
              <a:t>.getModifiers());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  Class retType = </a:t>
            </a:r>
            <a:r>
              <a:rPr lang="sr-Latn-C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mtd</a:t>
            </a:r>
            <a:r>
              <a:rPr lang="sr-Latn-CS" altLang="sr-Latn-RS" sz="1800" b="1">
                <a:latin typeface="Courier New" panose="02070309020205020404" pitchFamily="49" charset="0"/>
              </a:rPr>
              <a:t>.getReturnType();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  String name = </a:t>
            </a:r>
            <a:r>
              <a:rPr lang="sr-Latn-C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mtd</a:t>
            </a:r>
            <a:r>
              <a:rPr lang="sr-Latn-CS" altLang="sr-Latn-RS" sz="1800" b="1">
                <a:latin typeface="Courier New" panose="02070309020205020404" pitchFamily="49" charset="0"/>
              </a:rPr>
              <a:t>.getName();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  System.out.print(modifier+" "+retType+" "+name+"(");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  Class[] paramTypes = </a:t>
            </a:r>
            <a:r>
              <a:rPr lang="sr-Latn-C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mtd</a:t>
            </a:r>
            <a:r>
              <a:rPr lang="sr-Latn-CS" altLang="sr-Latn-RS" sz="1800" b="1">
                <a:latin typeface="Courier New" panose="02070309020205020404" pitchFamily="49" charset="0"/>
              </a:rPr>
              <a:t>.getParameterTypes();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  for (int i = 0; i &lt; paramTypes.length; i++)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    System.out.print(paramTypes[i].getName());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  System.out.println(")");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}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E6BD20C0-479E-AFD9-7CF5-786799653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6289676"/>
            <a:ext cx="4679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800">
                <a:latin typeface="Tahoma" panose="020B0604030504040204" pitchFamily="34" charset="0"/>
              </a:rPr>
              <a:t>AtributiMetodeKonstruktori</a:t>
            </a:r>
            <a:endParaRPr lang="en-US" altLang="sr-Latn-R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3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411CDAA-8233-3FE3-45CE-D7EF82966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Klasa </a:t>
            </a:r>
            <a:r>
              <a:rPr lang="sr-Latn-CS" altLang="sr-Latn-RS" i="1"/>
              <a:t>Method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DB262F0-4A85-9E12-2BE6-6635AD2C8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5588" y="1981200"/>
            <a:ext cx="11232859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Reprezentuje metode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Osim podataka o metodi, omogućuje i pozivanje metode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metoda </a:t>
            </a:r>
            <a:r>
              <a:rPr lang="sr-Latn-CS" altLang="sr-Latn-RS" sz="2000" i="1"/>
              <a:t>invoke(Object obj, Object... args)</a:t>
            </a:r>
            <a:r>
              <a:rPr lang="sr-Latn-CS" altLang="sr-Latn-RS" sz="2000"/>
              <a:t> poziva metodu i prosleđuje joj argumente</a:t>
            </a:r>
          </a:p>
          <a:p>
            <a:pPr lvl="1" eaLnBrk="1" hangingPunct="1">
              <a:lnSpc>
                <a:spcPct val="90000"/>
              </a:lnSpc>
            </a:pPr>
            <a:endParaRPr lang="sr-Latn-CS" altLang="sr-Latn-RS" sz="2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Class </a:t>
            </a:r>
            <a:r>
              <a:rPr lang="sr-Latn-CS" altLang="sr-Latn-RS" sz="2400" b="1">
                <a:solidFill>
                  <a:srgbClr val="FF0000"/>
                </a:solidFill>
                <a:latin typeface="Courier New" panose="02070309020205020404" pitchFamily="49" charset="0"/>
              </a:rPr>
              <a:t>cl</a:t>
            </a:r>
            <a:r>
              <a:rPr lang="sr-Latn-CS" altLang="sr-Latn-RS" sz="2400" b="1">
                <a:latin typeface="Courier New" panose="02070309020205020404" pitchFamily="49" charset="0"/>
              </a:rPr>
              <a:t> = Class.forName("PozivMetode");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Method </a:t>
            </a:r>
            <a:r>
              <a:rPr lang="sr-Latn-CS" altLang="sr-Latn-RS" sz="2400" b="1">
                <a:solidFill>
                  <a:schemeClr val="accent4"/>
                </a:solidFill>
                <a:latin typeface="Courier New" panose="02070309020205020404" pitchFamily="49" charset="0"/>
              </a:rPr>
              <a:t>mtd</a:t>
            </a:r>
            <a:r>
              <a:rPr lang="sr-Latn-CS" altLang="sr-Latn-RS" sz="2400" b="1">
                <a:latin typeface="Courier New" panose="02070309020205020404" pitchFamily="49" charset="0"/>
              </a:rPr>
              <a:t> = </a:t>
            </a:r>
            <a:r>
              <a:rPr lang="sr-Latn-CS" altLang="sr-Latn-RS" sz="2400" b="1">
                <a:solidFill>
                  <a:srgbClr val="FF0000"/>
                </a:solidFill>
                <a:latin typeface="Courier New" panose="02070309020205020404" pitchFamily="49" charset="0"/>
              </a:rPr>
              <a:t>cl</a:t>
            </a:r>
            <a:r>
              <a:rPr lang="sr-Latn-CS" altLang="sr-Latn-RS" sz="2400" b="1">
                <a:latin typeface="Courier New" panose="02070309020205020404" pitchFamily="49" charset="0"/>
              </a:rPr>
              <a:t>.getDeclaredMethod("strlen", String.class);</a:t>
            </a:r>
            <a:endParaRPr lang="en-U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Object obj = </a:t>
            </a:r>
            <a:r>
              <a:rPr lang="sr-Latn-CS" altLang="sr-Latn-RS" sz="2400" b="1">
                <a:solidFill>
                  <a:srgbClr val="FF0000"/>
                </a:solidFill>
                <a:latin typeface="Courier New" panose="02070309020205020404" pitchFamily="49" charset="0"/>
              </a:rPr>
              <a:t>cl</a:t>
            </a:r>
            <a:r>
              <a:rPr lang="sr-Latn-CS" altLang="sr-Latn-RS" sz="2400" b="1">
                <a:latin typeface="Courier New" panose="02070309020205020404" pitchFamily="49" charset="0"/>
              </a:rPr>
              <a:t>.newInstance();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int len = (Integer)</a:t>
            </a:r>
            <a:r>
              <a:rPr lang="sr-Latn-CS" altLang="sr-Latn-RS" sz="2400" b="1">
                <a:solidFill>
                  <a:schemeClr val="accent4"/>
                </a:solidFill>
                <a:latin typeface="Courier New" panose="02070309020205020404" pitchFamily="49" charset="0"/>
              </a:rPr>
              <a:t>mtd</a:t>
            </a:r>
            <a:r>
              <a:rPr lang="sr-Latn-CS" altLang="sr-Latn-RS" sz="2400" b="1">
                <a:latin typeface="Courier New" panose="02070309020205020404" pitchFamily="49" charset="0"/>
              </a:rPr>
              <a:t>.invoke(obj, "Test");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System.out.println(len);</a:t>
            </a:r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791703EB-3D1B-C12E-2BC9-0A4ED8F07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525" y="6092826"/>
            <a:ext cx="2160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800">
                <a:latin typeface="Tahoma" panose="020B0604030504040204" pitchFamily="34" charset="0"/>
              </a:rPr>
              <a:t>PozivMetode</a:t>
            </a:r>
            <a:endParaRPr lang="en-US" altLang="sr-Latn-R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C866EE6-60E6-F227-624B-310BC78E6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Klasa </a:t>
            </a:r>
            <a:r>
              <a:rPr lang="sr-Latn-CS" altLang="sr-Latn-RS" i="1"/>
              <a:t>Method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78D5895-1D38-E45A-7705-51194A515D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396" y="1981200"/>
            <a:ext cx="9804779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Poziv statičke metode ne zahteva referencu na objekat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metoda </a:t>
            </a:r>
            <a:r>
              <a:rPr lang="sr-Latn-CS" altLang="sr-Latn-RS" sz="2000" i="1"/>
              <a:t>invoke(Object obj, Object... args)</a:t>
            </a:r>
            <a:r>
              <a:rPr lang="sr-Latn-CS" altLang="sr-Latn-RS" sz="2000"/>
              <a:t> poziva metodu i prosleđuje joj argumente</a:t>
            </a:r>
          </a:p>
          <a:p>
            <a:pPr lvl="1" eaLnBrk="1" hangingPunct="1">
              <a:lnSpc>
                <a:spcPct val="90000"/>
              </a:lnSpc>
            </a:pPr>
            <a:endParaRPr lang="sr-Latn-CS" altLang="sr-Latn-RS" sz="2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Class </a:t>
            </a:r>
            <a:r>
              <a:rPr lang="sr-Latn-CS" altLang="sr-Latn-RS" sz="2400" b="1">
                <a:solidFill>
                  <a:srgbClr val="FF0000"/>
                </a:solidFill>
                <a:latin typeface="Courier New" panose="02070309020205020404" pitchFamily="49" charset="0"/>
              </a:rPr>
              <a:t>cl</a:t>
            </a:r>
            <a:r>
              <a:rPr lang="sr-Latn-CS" altLang="sr-Latn-RS" sz="2400" b="1">
                <a:latin typeface="Courier New" panose="02070309020205020404" pitchFamily="49" charset="0"/>
              </a:rPr>
              <a:t> = Class.forName("PozivMetode");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Method </a:t>
            </a:r>
            <a:r>
              <a:rPr lang="sr-Latn-CS" altLang="sr-Latn-RS" sz="2400" b="1">
                <a:solidFill>
                  <a:schemeClr val="accent4"/>
                </a:solidFill>
                <a:latin typeface="Courier New" panose="02070309020205020404" pitchFamily="49" charset="0"/>
              </a:rPr>
              <a:t>mtdF</a:t>
            </a:r>
            <a:r>
              <a:rPr lang="sr-Latn-CS" altLang="sr-Latn-RS" sz="2400" b="1">
                <a:latin typeface="Courier New" panose="02070309020205020404" pitchFamily="49" charset="0"/>
              </a:rPr>
              <a:t> = </a:t>
            </a:r>
            <a:r>
              <a:rPr lang="sr-Latn-CS" altLang="sr-Latn-RS" sz="2400" b="1">
                <a:solidFill>
                  <a:srgbClr val="FF0000"/>
                </a:solidFill>
                <a:latin typeface="Courier New" panose="02070309020205020404" pitchFamily="49" charset="0"/>
              </a:rPr>
              <a:t>cl</a:t>
            </a:r>
            <a:r>
              <a:rPr lang="sr-Latn-CS" altLang="sr-Latn-RS" sz="2400" b="1">
                <a:latin typeface="Courier New" panose="02070309020205020404" pitchFamily="49" charset="0"/>
              </a:rPr>
              <a:t>.getDeclaredMethod("f");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solidFill>
                  <a:schemeClr val="accent4"/>
                </a:solidFill>
                <a:latin typeface="Courier New" panose="02070309020205020404" pitchFamily="49" charset="0"/>
              </a:rPr>
              <a:t>mtdF</a:t>
            </a:r>
            <a:r>
              <a:rPr lang="sr-Latn-CS" altLang="sr-Latn-RS" sz="2400" b="1">
                <a:latin typeface="Courier New" panose="02070309020205020404" pitchFamily="49" charset="0"/>
              </a:rPr>
              <a:t>.invoke(null);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r-Latn-CS" altLang="sr-Latn-RS" sz="2400" b="1">
              <a:latin typeface="Courier New" panose="02070309020205020404" pitchFamily="49" charset="0"/>
            </a:endParaRP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19407E8E-3D7B-EE0D-24DB-1F5674E0D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525" y="6092826"/>
            <a:ext cx="2160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800">
                <a:latin typeface="Tahoma" panose="020B0604030504040204" pitchFamily="34" charset="0"/>
              </a:rPr>
              <a:t>PozivMetode</a:t>
            </a:r>
            <a:endParaRPr lang="en-US" altLang="sr-Latn-R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A68C620-FE8E-5566-AD3B-C5AC9D796D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67389"/>
          </a:xfrm>
        </p:spPr>
        <p:txBody>
          <a:bodyPr/>
          <a:lstStyle/>
          <a:p>
            <a:pPr eaLnBrk="1" hangingPunct="1"/>
            <a:r>
              <a:rPr lang="sr-Latn-CS" altLang="sr-Latn-RS"/>
              <a:t>Pregled konstruktora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E3A703E-B669-2CDB-DC67-2180B80B8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17072"/>
            <a:ext cx="10956721" cy="5280578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private void printConstructors(Class cl)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Constructor[] </a:t>
            </a:r>
            <a:r>
              <a:rPr lang="sr-Latn-CS" altLang="sr-Latn-RS" sz="2000" b="1">
                <a:solidFill>
                  <a:schemeClr val="accent4"/>
                </a:solidFill>
                <a:latin typeface="Courier New" panose="02070309020205020404" pitchFamily="49" charset="0"/>
              </a:rPr>
              <a:t>consts</a:t>
            </a:r>
            <a:r>
              <a:rPr lang="sr-Latn-CS" altLang="sr-Latn-RS" sz="2000" b="1">
                <a:latin typeface="Courier New" panose="02070309020205020404" pitchFamily="49" charset="0"/>
              </a:rPr>
              <a:t> = </a:t>
            </a:r>
            <a:r>
              <a:rPr lang="sr-Latn-C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cl.getDeclaredConstructors()</a:t>
            </a:r>
            <a:r>
              <a:rPr lang="sr-Latn-CS" altLang="sr-Latn-RS" sz="20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for (Constructor </a:t>
            </a:r>
            <a:r>
              <a:rPr lang="sr-Latn-CS" altLang="sr-Latn-RS" sz="2000" b="1">
                <a:solidFill>
                  <a:schemeClr val="accent6"/>
                </a:solidFill>
                <a:latin typeface="Courier New" panose="02070309020205020404" pitchFamily="49" charset="0"/>
              </a:rPr>
              <a:t>cns</a:t>
            </a:r>
            <a:r>
              <a:rPr lang="sr-Latn-CS" altLang="sr-Latn-RS" sz="2000" b="1">
                <a:latin typeface="Courier New" panose="02070309020205020404" pitchFamily="49" charset="0"/>
              </a:rPr>
              <a:t> : </a:t>
            </a:r>
            <a:r>
              <a:rPr lang="sr-Latn-CS" altLang="sr-Latn-RS" sz="2000" b="1">
                <a:solidFill>
                  <a:schemeClr val="accent4"/>
                </a:solidFill>
                <a:latin typeface="Courier New" panose="02070309020205020404" pitchFamily="49" charset="0"/>
              </a:rPr>
              <a:t>consts</a:t>
            </a:r>
            <a:r>
              <a:rPr lang="sr-Latn-CS" altLang="sr-Latn-RS" sz="2000" b="1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  String modifier = Modifier.toString(</a:t>
            </a:r>
            <a:r>
              <a:rPr lang="sr-Latn-CS" altLang="sr-Latn-RS" sz="2000" b="1">
                <a:solidFill>
                  <a:schemeClr val="accent6"/>
                </a:solidFill>
                <a:latin typeface="Courier New" panose="02070309020205020404" pitchFamily="49" charset="0"/>
              </a:rPr>
              <a:t>c</a:t>
            </a:r>
            <a:r>
              <a:rPr lang="sr-Latn-CS" altLang="sr-Latn-RS" sz="2000" b="1">
                <a:latin typeface="Courier New" panose="02070309020205020404" pitchFamily="49" charset="0"/>
              </a:rPr>
              <a:t>.getModifiers());</a:t>
            </a:r>
          </a:p>
          <a:p>
            <a:pPr>
              <a:lnSpc>
                <a:spcPct val="80000"/>
              </a:lnSpc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  String name = </a:t>
            </a:r>
            <a:r>
              <a:rPr lang="sr-Latn-CS" altLang="sr-Latn-RS" sz="2000" b="1">
                <a:solidFill>
                  <a:schemeClr val="accent6"/>
                </a:solidFill>
                <a:latin typeface="Courier New" panose="02070309020205020404" pitchFamily="49" charset="0"/>
              </a:rPr>
              <a:t>cns</a:t>
            </a:r>
            <a:r>
              <a:rPr lang="sr-Latn-CS" altLang="sr-Latn-RS" sz="2000" b="1">
                <a:latin typeface="Courier New" panose="02070309020205020404" pitchFamily="49" charset="0"/>
              </a:rPr>
              <a:t>.getName();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  System.out.print(modifier+" "+name+"(");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2000" b="1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  Class[] paramTypes = </a:t>
            </a:r>
            <a:r>
              <a:rPr lang="sr-Latn-CS" altLang="sr-Latn-RS" sz="2000" b="1">
                <a:solidFill>
                  <a:schemeClr val="accent6"/>
                </a:solidFill>
                <a:latin typeface="Courier New" panose="02070309020205020404" pitchFamily="49" charset="0"/>
              </a:rPr>
              <a:t>cns</a:t>
            </a:r>
            <a:r>
              <a:rPr lang="sr-Latn-CS" altLang="sr-Latn-RS" sz="2000" b="1">
                <a:latin typeface="Courier New" panose="02070309020205020404" pitchFamily="49" charset="0"/>
              </a:rPr>
              <a:t>.getParameterTypes();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  for (int i = 0; i &lt; paramTypes.length; i++)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    System.out.print(paramTypes[i].getName());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  System.out.println(")");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}</a:t>
            </a: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9B6B4DBF-A290-DB49-2388-FDEB66A35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6" y="6218239"/>
            <a:ext cx="4608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800">
                <a:latin typeface="Tahoma" panose="020B0604030504040204" pitchFamily="34" charset="0"/>
              </a:rPr>
              <a:t>AtributiMetodeKonstruktori</a:t>
            </a:r>
            <a:endParaRPr lang="en-US" altLang="sr-Latn-R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4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AC01266-AA54-5397-F4D9-AC4AA4B7AB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Klasa </a:t>
            </a:r>
            <a:r>
              <a:rPr lang="sr-Latn-CS" altLang="sr-Latn-RS" i="1"/>
              <a:t>Constructor</a:t>
            </a:r>
            <a:endParaRPr lang="sr-Latn-CS" altLang="sr-Latn-R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DDDA1C4E-6D77-467D-D450-FF5E371A5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2730" y="1557339"/>
            <a:ext cx="11023134" cy="42560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Reprezentuje konstruktor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Može se pozvati proizvoljan konstruktor neke klase:</a:t>
            </a:r>
          </a:p>
          <a:p>
            <a:pPr eaLnBrk="1" hangingPunct="1">
              <a:lnSpc>
                <a:spcPct val="90000"/>
              </a:lnSpc>
            </a:pPr>
            <a:endParaRPr lang="sr-Latn-CS" altLang="sr-Latn-RS" sz="24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Class </a:t>
            </a:r>
            <a:r>
              <a:rPr lang="sr-Latn-CS" altLang="sr-Latn-RS" sz="2400" b="1">
                <a:solidFill>
                  <a:srgbClr val="FF0000"/>
                </a:solidFill>
                <a:latin typeface="Courier New" panose="02070309020205020404" pitchFamily="49" charset="0"/>
              </a:rPr>
              <a:t>cl</a:t>
            </a:r>
            <a:r>
              <a:rPr lang="sr-Latn-CS" altLang="sr-Latn-RS" sz="2400" b="1">
                <a:latin typeface="Courier New" panose="02070309020205020404" pitchFamily="49" charset="0"/>
              </a:rPr>
              <a:t> = Class.forName("PozivKonstruktora");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Constructor </a:t>
            </a:r>
            <a:r>
              <a:rPr lang="sr-Latn-CS" altLang="sr-Latn-RS" sz="2400" b="1">
                <a:solidFill>
                  <a:schemeClr val="accent4"/>
                </a:solidFill>
                <a:latin typeface="Courier New" panose="02070309020205020404" pitchFamily="49" charset="0"/>
              </a:rPr>
              <a:t>cns</a:t>
            </a:r>
            <a:r>
              <a:rPr lang="sr-Latn-CS" altLang="sr-Latn-RS" sz="2400" b="1">
                <a:latin typeface="Courier New" panose="02070309020205020404" pitchFamily="49" charset="0"/>
              </a:rPr>
              <a:t> = </a:t>
            </a:r>
            <a:r>
              <a:rPr lang="sr-Latn-CS" altLang="sr-Latn-RS" sz="2400" b="1">
                <a:solidFill>
                  <a:srgbClr val="FF0000"/>
                </a:solidFill>
                <a:latin typeface="Courier New" panose="02070309020205020404" pitchFamily="49" charset="0"/>
              </a:rPr>
              <a:t>cl</a:t>
            </a:r>
            <a:r>
              <a:rPr lang="sr-Latn-CS" altLang="sr-Latn-RS" sz="2400" b="1">
                <a:latin typeface="Courier New" panose="02070309020205020404" pitchFamily="49" charset="0"/>
              </a:rPr>
              <a:t>.getDeclaredConstructor(String.class);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400" b="1">
                <a:solidFill>
                  <a:schemeClr val="accent4"/>
                </a:solidFill>
                <a:latin typeface="Courier New" panose="02070309020205020404" pitchFamily="49" charset="0"/>
              </a:rPr>
              <a:t>cns</a:t>
            </a:r>
            <a:r>
              <a:rPr lang="sr-Latn-CS" altLang="sr-Latn-RS" sz="2400" b="1">
                <a:latin typeface="Courier New" panose="02070309020205020404" pitchFamily="49" charset="0"/>
              </a:rPr>
              <a:t>.newInstance("tekst");</a:t>
            </a:r>
            <a:endParaRPr lang="sr-Latn-CS" altLang="sr-Latn-RS" sz="2400">
              <a:latin typeface="Courier New" panose="02070309020205020404" pitchFamily="49" charset="0"/>
            </a:endParaRP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ABF8F11E-B18A-EC9F-900F-343327880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8" y="6165850"/>
            <a:ext cx="31686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800">
                <a:latin typeface="Tahoma" panose="020B0604030504040204" pitchFamily="34" charset="0"/>
              </a:rPr>
              <a:t>PozivKonstruktora</a:t>
            </a:r>
            <a:endParaRPr lang="en-US" altLang="sr-Latn-R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130F73A-9B3F-D5A2-B94D-5F0ABC82B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Hack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8990367-4AEC-078C-0D10-BAA4F188DB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Uz pomo</a:t>
            </a:r>
            <a:r>
              <a:rPr lang="sr-Latn-CS" altLang="sr-Latn-RS"/>
              <a:t>ć refleksije moguće je promeniti </a:t>
            </a:r>
            <a:r>
              <a:rPr lang="sr-Latn-CS" altLang="sr-Latn-RS" i="1"/>
              <a:t>access modifier</a:t>
            </a:r>
            <a:r>
              <a:rPr lang="sr-Latn-CS" altLang="sr-Latn-RS"/>
              <a:t> nekog atributa ili metode!</a:t>
            </a:r>
          </a:p>
          <a:p>
            <a:pPr lvl="1" eaLnBrk="1" hangingPunct="1"/>
            <a:r>
              <a:rPr lang="sr-Latn-CS" altLang="sr-Latn-RS"/>
              <a:t>sa protected na public:</a:t>
            </a:r>
          </a:p>
          <a:p>
            <a:pPr lvl="1" eaLnBrk="1" hangingPunct="1">
              <a:buFontTx/>
              <a:buNone/>
            </a:pPr>
            <a:r>
              <a:rPr lang="sr-Latn-CS" altLang="sr-Latn-RS"/>
              <a:t>		</a:t>
            </a:r>
            <a:r>
              <a:rPr lang="en-US" altLang="sr-Latn-RS" b="1">
                <a:latin typeface="Courier New" panose="02070309020205020404" pitchFamily="49" charset="0"/>
              </a:rPr>
              <a:t>method.setAccessible(true);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2536017C-5C6E-3DCE-E7CE-598486467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6165850"/>
            <a:ext cx="2736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sr-Latn-CS" altLang="sr-Latn-RS" sz="2800">
                <a:latin typeface="Tahoma" panose="020B0604030504040204" pitchFamily="34" charset="0"/>
              </a:rPr>
              <a:t>IzmenaAtributa</a:t>
            </a:r>
            <a:endParaRPr lang="en-US" altLang="sr-Latn-R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68133ED-364E-5F20-18CF-B4B33816E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"magični" </a:t>
            </a:r>
            <a:r>
              <a:rPr lang="sr-Latn-CS" altLang="sr-Latn-RS" i="1"/>
              <a:t>lib</a:t>
            </a:r>
            <a:r>
              <a:rPr lang="sr-Latn-CS" altLang="sr-Latn-RS"/>
              <a:t> folder</a:t>
            </a:r>
            <a:endParaRPr lang="en-US" altLang="sr-Latn-R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DF66BF3-D255-EABE-C25C-CD9C36D98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7868" y="1600201"/>
            <a:ext cx="11295776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Ubacivanjem jar arhive u "magični" lib folder, on se automatski ubacuje  u class path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Jedno rešenje: prilikom startovanja aplikacije izlistati lib folder i svaki jar fajl ubaciti u class path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problem: metoda </a:t>
            </a:r>
            <a:r>
              <a:rPr lang="sr-Latn-CS" altLang="sr-Latn-RS" i="1"/>
              <a:t>addUrl</a:t>
            </a:r>
            <a:r>
              <a:rPr lang="sr-Latn-CS" altLang="sr-Latn-RS"/>
              <a:t> default class loader-a je protected!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rešenje: refleksijom promeniti access modifier na public, pa pozvati tu metodu!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5A2585D-84DC-8D41-402F-93ECC1632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"</a:t>
            </a:r>
            <a:r>
              <a:rPr lang="en-US" altLang="sr-Latn-RS"/>
              <a:t>magi</a:t>
            </a:r>
            <a:r>
              <a:rPr lang="sr-Latn-CS" altLang="sr-Latn-RS"/>
              <a:t>čni" </a:t>
            </a:r>
            <a:r>
              <a:rPr lang="sr-Latn-CS" altLang="sr-Latn-RS" i="1"/>
              <a:t>lib</a:t>
            </a:r>
            <a:r>
              <a:rPr lang="sr-Latn-CS" altLang="sr-Latn-RS"/>
              <a:t> folder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727A5C72-9F26-F15D-66FB-1827643BA8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0059" y="1981200"/>
            <a:ext cx="11383860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public void setLibraryPath()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String 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libDirStr</a:t>
            </a:r>
            <a:r>
              <a:rPr lang="en-US" altLang="sr-Latn-RS" sz="2000" b="1">
                <a:latin typeface="Courier New" panose="02070309020205020404" pitchFamily="49" charset="0"/>
              </a:rPr>
              <a:t> =</a:t>
            </a: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</a:t>
            </a:r>
            <a:r>
              <a:rPr lang="en-US" altLang="sr-Latn-RS" sz="2000" b="1">
                <a:latin typeface="Courier New" panose="02070309020205020404" pitchFamily="49" charset="0"/>
              </a:rPr>
              <a:t> getClassDir(worksheet.MainFrame.class) +</a:t>
            </a:r>
            <a:r>
              <a:rPr lang="sr-Latn-CS" altLang="sr-Latn-RS" sz="2000" b="1">
                <a:latin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</a:rPr>
              <a:t>File.separatorChar + "lib";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File </a:t>
            </a:r>
            <a:r>
              <a:rPr lang="en-US" altLang="sr-Latn-RS" sz="2000" b="1">
                <a:solidFill>
                  <a:schemeClr val="accent4"/>
                </a:solidFill>
                <a:latin typeface="Courier New" panose="02070309020205020404" pitchFamily="49" charset="0"/>
              </a:rPr>
              <a:t>libDir</a:t>
            </a:r>
            <a:r>
              <a:rPr lang="en-US" altLang="sr-Latn-RS" sz="2000" b="1">
                <a:latin typeface="Courier New" panose="02070309020205020404" pitchFamily="49" charset="0"/>
              </a:rPr>
              <a:t> = new File(</a:t>
            </a:r>
            <a:r>
              <a:rPr lang="en-U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libDirStr</a:t>
            </a:r>
            <a:r>
              <a:rPr lang="en-US" altLang="sr-Latn-RS" sz="20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File[] </a:t>
            </a:r>
            <a:r>
              <a:rPr lang="en-US" altLang="sr-Latn-RS" sz="2000" b="1">
                <a:solidFill>
                  <a:schemeClr val="accent6"/>
                </a:solidFill>
                <a:latin typeface="Courier New" panose="02070309020205020404" pitchFamily="49" charset="0"/>
              </a:rPr>
              <a:t>files</a:t>
            </a:r>
            <a:r>
              <a:rPr lang="en-US" altLang="sr-Latn-RS" sz="2000" b="1">
                <a:latin typeface="Courier New" panose="02070309020205020404" pitchFamily="49" charset="0"/>
              </a:rPr>
              <a:t> = </a:t>
            </a:r>
            <a:r>
              <a:rPr lang="en-US" altLang="sr-Latn-RS" sz="2000" b="1">
                <a:solidFill>
                  <a:schemeClr val="accent4"/>
                </a:solidFill>
                <a:latin typeface="Courier New" panose="02070309020205020404" pitchFamily="49" charset="0"/>
              </a:rPr>
              <a:t>libDir</a:t>
            </a:r>
            <a:r>
              <a:rPr lang="en-US" altLang="sr-Latn-RS" sz="2000" b="1">
                <a:latin typeface="Courier New" panose="02070309020205020404" pitchFamily="49" charset="0"/>
              </a:rPr>
              <a:t>.listFiles();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for (int i = 0; i &lt; </a:t>
            </a:r>
            <a:r>
              <a:rPr lang="en-US" altLang="sr-Latn-RS" sz="2000" b="1">
                <a:solidFill>
                  <a:schemeClr val="accent6"/>
                </a:solidFill>
                <a:latin typeface="Courier New" panose="02070309020205020404" pitchFamily="49" charset="0"/>
              </a:rPr>
              <a:t>files</a:t>
            </a:r>
            <a:r>
              <a:rPr lang="en-US" altLang="sr-Latn-RS" sz="2000" b="1">
                <a:latin typeface="Courier New" panose="02070309020205020404" pitchFamily="49" charset="0"/>
              </a:rPr>
              <a:t>.length; i++)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  try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    ClassLoaderHacker.addFile(</a:t>
            </a:r>
            <a:r>
              <a:rPr lang="en-US" altLang="sr-Latn-RS" sz="2000" b="1">
                <a:solidFill>
                  <a:schemeClr val="accent6"/>
                </a:solidFill>
                <a:latin typeface="Courier New" panose="02070309020205020404" pitchFamily="49" charset="0"/>
              </a:rPr>
              <a:t>files</a:t>
            </a:r>
            <a:r>
              <a:rPr lang="en-US" altLang="sr-Latn-RS" sz="2000" b="1">
                <a:latin typeface="Courier New" panose="02070309020205020404" pitchFamily="49" charset="0"/>
              </a:rPr>
              <a:t>[i]);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  } catch (Exception ex) {};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5B12347-C09B-D674-BD1F-81C205AA9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sr-Latn-CS" altLang="sr-Latn-RS"/>
              <a:t>"</a:t>
            </a:r>
            <a:r>
              <a:rPr lang="en-US" altLang="sr-Latn-RS"/>
              <a:t>magi</a:t>
            </a:r>
            <a:r>
              <a:rPr lang="sr-Latn-CS" altLang="sr-Latn-RS"/>
              <a:t>čni" </a:t>
            </a:r>
            <a:r>
              <a:rPr lang="sr-Latn-CS" altLang="sr-Latn-RS" i="1"/>
              <a:t>lib</a:t>
            </a:r>
            <a:r>
              <a:rPr lang="sr-Latn-CS" altLang="sr-Latn-RS"/>
              <a:t> folder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AEDD721-0FFC-9CA4-43A7-C73ACE2652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4284" y="1493240"/>
            <a:ext cx="10834380" cy="52011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private static final Class[] parameters = new Class[]{URL.class};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public static void addURL(URL u) throws IOException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</a:t>
            </a:r>
            <a:r>
              <a:rPr lang="sr-Latn-C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URLClassLoader sysloader = (URLClassLoader)ClassLoader.getSystemClassLoader();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Class sysclass = URLClassLoader.class;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try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Method </a:t>
            </a:r>
            <a:r>
              <a:rPr lang="sr-Latn-CS" altLang="sr-Latn-RS" sz="2000" b="1">
                <a:solidFill>
                  <a:schemeClr val="accent4"/>
                </a:solidFill>
                <a:latin typeface="Courier New" panose="02070309020205020404" pitchFamily="49" charset="0"/>
              </a:rPr>
              <a:t>method</a:t>
            </a:r>
            <a:r>
              <a:rPr lang="sr-Latn-CS" altLang="sr-Latn-RS" sz="2000" b="1">
                <a:latin typeface="Courier New" panose="02070309020205020404" pitchFamily="49" charset="0"/>
              </a:rPr>
              <a:t> = sysclass.getDeclaredMethod("addURL",parameters);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</a:t>
            </a:r>
            <a:r>
              <a:rPr lang="sr-Latn-CS" altLang="sr-Latn-RS" sz="2000" b="1">
                <a:solidFill>
                  <a:schemeClr val="accent4"/>
                </a:solidFill>
                <a:latin typeface="Courier New" panose="02070309020205020404" pitchFamily="49" charset="0"/>
              </a:rPr>
              <a:t>method</a:t>
            </a:r>
            <a:r>
              <a:rPr lang="sr-Latn-CS" altLang="sr-Latn-RS" sz="2000" b="1">
                <a:latin typeface="Courier New" panose="02070309020205020404" pitchFamily="49" charset="0"/>
              </a:rPr>
              <a:t>.setAccessible(true);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</a:t>
            </a:r>
            <a:r>
              <a:rPr lang="sr-Latn-CS" altLang="sr-Latn-RS" sz="2000" b="1">
                <a:solidFill>
                  <a:schemeClr val="accent4"/>
                </a:solidFill>
                <a:latin typeface="Courier New" panose="02070309020205020404" pitchFamily="49" charset="0"/>
              </a:rPr>
              <a:t>method</a:t>
            </a:r>
            <a:r>
              <a:rPr lang="sr-Latn-CS" altLang="sr-Latn-RS" sz="2000" b="1">
                <a:latin typeface="Courier New" panose="02070309020205020404" pitchFamily="49" charset="0"/>
              </a:rPr>
              <a:t>.invoke(</a:t>
            </a:r>
            <a:r>
              <a:rPr lang="sr-Latn-C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sysloader</a:t>
            </a:r>
            <a:r>
              <a:rPr lang="sr-Latn-CS" altLang="sr-Latn-RS" sz="2000" b="1">
                <a:latin typeface="Courier New" panose="02070309020205020404" pitchFamily="49" charset="0"/>
              </a:rPr>
              <a:t>,new Object[]{ u });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} catch (Throwable t)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t.printStackTrace();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throw new IOException("Error, could not add URL to system classloader");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2000" b="1">
              <a:latin typeface="Courier New" panose="02070309020205020404" pitchFamily="49" charset="0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D320D851-BA11-465B-2705-09231560E654}"/>
              </a:ext>
            </a:extLst>
          </p:cNvPr>
          <p:cNvSpPr/>
          <p:nvPr/>
        </p:nvSpPr>
        <p:spPr>
          <a:xfrm>
            <a:off x="9221556" y="2004852"/>
            <a:ext cx="2663825" cy="1079500"/>
          </a:xfrm>
          <a:prstGeom prst="wedgeRoundRectCallout">
            <a:avLst>
              <a:gd name="adj1" fmla="val -75859"/>
              <a:gd name="adj2" fmla="val 316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sr-Latn-RS"/>
              <a:t>Od Java 9 sistemski ClassLoader nije URLClassLoader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85F06C28-B7A8-6F1E-AC38-A1CB4ADB7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15888"/>
            <a:ext cx="8229600" cy="850900"/>
          </a:xfrm>
        </p:spPr>
        <p:txBody>
          <a:bodyPr/>
          <a:lstStyle/>
          <a:p>
            <a:r>
              <a:rPr lang="sr-Latn-RS" altLang="en-US"/>
              <a:t>Rešenje za Javu 1.9 na gore</a:t>
            </a:r>
            <a:endParaRPr lang="en-US" altLang="en-US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D2B2C089-D77D-93AC-EE67-8B6699E327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2396" y="966788"/>
            <a:ext cx="11220275" cy="56308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try {</a:t>
            </a:r>
          </a:p>
          <a:p>
            <a:pPr marL="0" indent="0">
              <a:buNone/>
            </a:pP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ClassLoader </a:t>
            </a:r>
            <a:r>
              <a:rPr lang="sr-Latn-RS" altLang="en-U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ClassLoader.getSystemClassLoader();</a:t>
            </a:r>
          </a:p>
          <a:p>
            <a:pPr marL="0" indent="0">
              <a:buNone/>
            </a:pP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URLClassLoader sysloader = (URLClassLoader) ldr;</a:t>
            </a:r>
          </a:p>
          <a:p>
            <a:pPr marL="0" indent="0">
              <a:buNone/>
            </a:pP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Class&lt;?&gt; sysclass = URLClassLoader.class;</a:t>
            </a:r>
          </a:p>
          <a:p>
            <a:pPr marL="0" indent="0">
              <a:buNone/>
            </a:pP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Method </a:t>
            </a:r>
            <a:r>
              <a:rPr lang="en-US" altLang="en-U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sysclass.getDeclaredMethod("addURL", </a:t>
            </a:r>
            <a:r>
              <a:rPr lang="en-US" alt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parameters);</a:t>
            </a:r>
          </a:p>
          <a:p>
            <a:pPr marL="0" indent="0">
              <a:buNone/>
            </a:pP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.setAccessible(true);</a:t>
            </a:r>
          </a:p>
          <a:p>
            <a:pPr marL="0" indent="0">
              <a:buNone/>
            </a:pP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.invoke(</a:t>
            </a:r>
            <a:r>
              <a:rPr lang="en-US" alt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sysloader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, new Object[] { u });</a:t>
            </a:r>
          </a:p>
          <a:p>
            <a:pPr marL="0" indent="0"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} catch (Throwable  ex) {</a:t>
            </a:r>
          </a:p>
          <a:p>
            <a:pPr marL="0" indent="0">
              <a:buNone/>
            </a:pP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try {</a:t>
            </a:r>
          </a:p>
          <a:p>
            <a:pPr marL="0" indent="0">
              <a:buNone/>
            </a:pP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.getClass()</a:t>
            </a:r>
          </a:p>
          <a:p>
            <a:pPr marL="0" indent="0"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  .getDeclaredMethod("appendToClassPathForInstrumentation",</a:t>
            </a:r>
            <a:b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String.class);</a:t>
            </a:r>
          </a:p>
          <a:p>
            <a:pPr marL="0" indent="0"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.setAccessible(true);</a:t>
            </a:r>
          </a:p>
          <a:p>
            <a:pPr marL="0" indent="0">
              <a:buNone/>
            </a:pP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.invoke(</a:t>
            </a:r>
            <a:r>
              <a:rPr lang="en-US" altLang="en-U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, u.getPath());</a:t>
            </a:r>
          </a:p>
          <a:p>
            <a:pPr marL="0" indent="0">
              <a:buNone/>
            </a:pP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pPr marL="0" indent="0">
              <a:buNone/>
            </a:pP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e.printStackTrace();</a:t>
            </a:r>
          </a:p>
          <a:p>
            <a:pPr marL="0" indent="0">
              <a:buNone/>
            </a:pP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9ADB427D-B266-F649-DCE5-241CC9972668}"/>
              </a:ext>
            </a:extLst>
          </p:cNvPr>
          <p:cNvSpPr/>
          <p:nvPr/>
        </p:nvSpPr>
        <p:spPr>
          <a:xfrm>
            <a:off x="4262453" y="5846516"/>
            <a:ext cx="5472113" cy="612775"/>
          </a:xfrm>
          <a:prstGeom prst="wedgeRoundRectCallout">
            <a:avLst>
              <a:gd name="adj1" fmla="val 23356"/>
              <a:gd name="adj2" fmla="val -30548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>
                <a:solidFill>
                  <a:schemeClr val="bg1"/>
                </a:solidFill>
              </a:rPr>
              <a:t>java </a:t>
            </a:r>
            <a:r>
              <a:rPr lang="sr-Latn-RS" sz="1400">
                <a:solidFill>
                  <a:schemeClr val="bg1"/>
                </a:solidFill>
              </a:rPr>
              <a:t>  </a:t>
            </a:r>
            <a:r>
              <a:rPr lang="en-US" sz="1400">
                <a:solidFill>
                  <a:schemeClr val="bg1"/>
                </a:solidFill>
              </a:rPr>
              <a:t>--add-opens java.base/jdk.internal.loader=ALL-UNNAMED </a:t>
            </a:r>
            <a:r>
              <a:rPr lang="sr-Latn-RS" sz="1400">
                <a:solidFill>
                  <a:schemeClr val="bg1"/>
                </a:solidFill>
              </a:rPr>
              <a:t>       </a:t>
            </a:r>
            <a:r>
              <a:rPr lang="en-US" sz="1400">
                <a:solidFill>
                  <a:schemeClr val="bg1"/>
                </a:solidFill>
              </a:rPr>
              <a:t>--add-opens jdk.zipfs/jdk.nio.zipfs=ALL-UNNAMED </a:t>
            </a:r>
            <a:br>
              <a:rPr lang="sr-Latn-RS" sz="1400">
                <a:solidFill>
                  <a:schemeClr val="bg1"/>
                </a:solidFill>
              </a:rPr>
            </a:br>
            <a:r>
              <a:rPr lang="en-US" sz="1400">
                <a:solidFill>
                  <a:schemeClr val="bg1"/>
                </a:solidFill>
              </a:rPr>
              <a:t>-jar </a:t>
            </a:r>
            <a:r>
              <a:rPr lang="sr-Latn-RS" sz="1400">
                <a:solidFill>
                  <a:schemeClr val="bg1"/>
                </a:solidFill>
              </a:rPr>
              <a:t>program.jar</a:t>
            </a:r>
            <a:endParaRPr lang="en-US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5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A05D891-86CA-2BAD-7EEE-19F2F22A7C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2060" y="151206"/>
            <a:ext cx="10515600" cy="721249"/>
          </a:xfrm>
        </p:spPr>
        <p:txBody>
          <a:bodyPr/>
          <a:lstStyle/>
          <a:p>
            <a:pPr eaLnBrk="1" hangingPunct="1"/>
            <a:r>
              <a:rPr lang="sr-Latn-CS" altLang="sr-Latn-RS"/>
              <a:t>"</a:t>
            </a:r>
            <a:r>
              <a:rPr lang="en-US" altLang="sr-Latn-RS"/>
              <a:t>magi</a:t>
            </a:r>
            <a:r>
              <a:rPr lang="sr-Latn-CS" altLang="sr-Latn-RS"/>
              <a:t>čni" </a:t>
            </a:r>
            <a:r>
              <a:rPr lang="sr-Latn-CS" altLang="sr-Latn-RS" i="1"/>
              <a:t>lib</a:t>
            </a:r>
            <a:r>
              <a:rPr lang="sr-Latn-CS" altLang="sr-Latn-RS"/>
              <a:t> folder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8E902B8-8227-8035-AB04-79CE5862FB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4341" y="981513"/>
            <a:ext cx="9762836" cy="5662568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private String getClassDir(Class clazz)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String className = clazz.getName().replace('.', '/');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String jarName = clazz.getResource("/" + className + ".class").toString();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try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jarName = URLDecoder.decode(jarName, "UTF-8");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} catch (Exception ex)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ex.printStackTrace();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File installDir = null;</a:t>
            </a:r>
            <a:endParaRPr lang="sr-Latn-RS" altLang="sr-Latn-RS" sz="1400" b="1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sr-Latn-RS" altLang="sr-Latn-RS" sz="1400" b="1">
                <a:latin typeface="Courier New" panose="02070309020205020404" pitchFamily="49" charset="0"/>
              </a:rPr>
              <a:t>  </a:t>
            </a:r>
            <a:r>
              <a:rPr lang="sr-Latn-RS" altLang="sr-Latn-RS" sz="1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</a:t>
            </a:r>
            <a:r>
              <a:rPr lang="en-US" altLang="sr-Latn-RS" sz="1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jar:file:/C:/Prj/worksheet/worksheet/worksheet11.jar!/worksheet/MainFrame.class</a:t>
            </a:r>
            <a:endParaRPr lang="sr-Latn-RS" altLang="sr-Latn-RS" sz="14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None/>
            </a:pPr>
            <a:r>
              <a:rPr lang="sr-Latn-RS" altLang="sr-Latn-RS" sz="1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// </a:t>
            </a:r>
            <a:r>
              <a:rPr lang="en-US" altLang="sr-Latn-RS" sz="1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file:/C:/Prj/worksheet/worksheet/bin/worksheet/MainFrame.class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if (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jarName.startsWith("jar:"))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installDir = new File(jarName.substring(10, jarName.indexOf('!')));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else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installDir = new File(jarName.substring(6));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String retVal = installDir.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getParent</a:t>
            </a:r>
            <a:r>
              <a:rPr lang="en-US" altLang="sr-Latn-RS" sz="1400" b="1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if (retVal.charAt(1) != ':') // ako je unix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retVal = "/" + retVal;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return retVal;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6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60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560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60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560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1511</Words>
  <Application>Microsoft Office PowerPoint</Application>
  <PresentationFormat>Widescreen</PresentationFormat>
  <Paragraphs>202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Tahoma</vt:lpstr>
      <vt:lpstr>Office Theme</vt:lpstr>
      <vt:lpstr>Inženjerstvo Serverskog Sloja prof. dr Milan Vidaković</vt:lpstr>
      <vt:lpstr>Refleksija</vt:lpstr>
      <vt:lpstr>Odakle krenuti?</vt:lpstr>
      <vt:lpstr>Metoda Object.getClass</vt:lpstr>
      <vt:lpstr>Metoda Class.forName</vt:lpstr>
      <vt:lpstr>Statički atribut class</vt:lpstr>
      <vt:lpstr>Šta možemo da uradimo sa Class klasom?</vt:lpstr>
      <vt:lpstr>Pregled atributa</vt:lpstr>
      <vt:lpstr>Klasa Field</vt:lpstr>
      <vt:lpstr>Klasa Field</vt:lpstr>
      <vt:lpstr>Hack</vt:lpstr>
      <vt:lpstr>Pregled metoda</vt:lpstr>
      <vt:lpstr>Klasa Method</vt:lpstr>
      <vt:lpstr>Klasa Method</vt:lpstr>
      <vt:lpstr>Pregled konstruktora</vt:lpstr>
      <vt:lpstr>Klasa Constructor</vt:lpstr>
      <vt:lpstr>Hack</vt:lpstr>
      <vt:lpstr>"magični" lib folder</vt:lpstr>
      <vt:lpstr>"magični" lib folder</vt:lpstr>
      <vt:lpstr>"magični" lib folder</vt:lpstr>
      <vt:lpstr>Rešenje za Javu 1.9 na gore</vt:lpstr>
      <vt:lpstr>"magični" lib folder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34</cp:revision>
  <dcterms:created xsi:type="dcterms:W3CDTF">2024-06-23T05:47:25Z</dcterms:created>
  <dcterms:modified xsi:type="dcterms:W3CDTF">2024-07-01T19:34:06Z</dcterms:modified>
</cp:coreProperties>
</file>