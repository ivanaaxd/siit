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8" r:id="rId4"/>
    <p:sldId id="259" r:id="rId5"/>
    <p:sldId id="260" r:id="rId6"/>
    <p:sldId id="261" r:id="rId7"/>
    <p:sldId id="262" r:id="rId8"/>
    <p:sldId id="277" r:id="rId9"/>
    <p:sldId id="278" r:id="rId10"/>
    <p:sldId id="279" r:id="rId11"/>
    <p:sldId id="263" r:id="rId12"/>
    <p:sldId id="264" r:id="rId13"/>
    <p:sldId id="265" r:id="rId14"/>
    <p:sldId id="266" r:id="rId15"/>
    <p:sldId id="283" r:id="rId16"/>
    <p:sldId id="267" r:id="rId17"/>
    <p:sldId id="269" r:id="rId18"/>
    <p:sldId id="270" r:id="rId19"/>
    <p:sldId id="271" r:id="rId20"/>
    <p:sldId id="272" r:id="rId21"/>
    <p:sldId id="281" r:id="rId22"/>
    <p:sldId id="276" r:id="rId23"/>
    <p:sldId id="273" r:id="rId24"/>
    <p:sldId id="274" r:id="rId25"/>
    <p:sldId id="275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8A43751-6BAD-2B9C-CBDB-941E5B6E87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79650" y="4076701"/>
            <a:ext cx="7772400" cy="1470025"/>
          </a:xfrm>
        </p:spPr>
        <p:txBody>
          <a:bodyPr/>
          <a:lstStyle/>
          <a:p>
            <a:pPr eaLnBrk="1" hangingPunct="1"/>
            <a:r>
              <a:rPr lang="sr-Latn-CS" altLang="sr-Latn-RS" sz="3200"/>
              <a:t>Konkurentno programiranje</a:t>
            </a:r>
            <a:br>
              <a:rPr lang="sr-Latn-CS" altLang="sr-Latn-RS" sz="3200"/>
            </a:br>
            <a:r>
              <a:rPr lang="sr-Latn-CS" altLang="sr-Latn-RS" sz="3200"/>
              <a:t>u Javi</a:t>
            </a:r>
            <a:endParaRPr lang="en-GB" altLang="sr-Latn-RS" sz="3200"/>
          </a:p>
        </p:txBody>
      </p:sp>
      <p:sp>
        <p:nvSpPr>
          <p:cNvPr id="3075" name="TextBox 1">
            <a:extLst>
              <a:ext uri="{FF2B5EF4-FFF2-40B4-BE49-F238E27FC236}">
                <a16:creationId xmlns:a16="http://schemas.microsoft.com/office/drawing/2014/main" id="{14739E36-9CF2-1539-5601-B40202B0F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9" y="2276475"/>
            <a:ext cx="68421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3600"/>
              <a:t>Inženjerstvo Serverskog Sloja</a:t>
            </a:r>
            <a:br>
              <a:rPr lang="sr-Latn-CS" altLang="sr-Latn-RS" sz="4400"/>
            </a:br>
            <a:r>
              <a:rPr lang="sr-Latn-CS" altLang="sr-Latn-RS" sz="2800"/>
              <a:t>prof. dr Milan Vidaković</a:t>
            </a:r>
            <a:endParaRPr lang="sr-Latn-CS" altLang="sr-Latn-R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862B-981A-E6FD-9559-FB90D853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CS" altLang="sr-Latn-RS"/>
              <a:t>Konkurentno programiranje u Javi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9C4DC-BE5D-1F7D-3297-139883569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7551"/>
            <a:ext cx="10515600" cy="4159411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sr-Latn-RS"/>
              <a:t>Java sadr</a:t>
            </a:r>
            <a:r>
              <a:rPr lang="sr-Latn-CS" altLang="sr-Latn-RS"/>
              <a:t>ž</a:t>
            </a:r>
            <a:r>
              <a:rPr lang="en-US" altLang="sr-Latn-RS"/>
              <a:t>i koncepte potre</a:t>
            </a:r>
            <a:r>
              <a:rPr lang="sr-Latn-CS" altLang="sr-Latn-RS"/>
              <a:t>bne za konkurentno programiranje.</a:t>
            </a:r>
          </a:p>
          <a:p>
            <a:pPr eaLnBrk="1" hangingPunct="1">
              <a:spcBef>
                <a:spcPct val="50000"/>
              </a:spcBef>
            </a:pPr>
            <a:r>
              <a:rPr lang="sr-Latn-CS" altLang="sr-Latn-RS"/>
              <a:t>Svaki Java program je konkurentni program – </a:t>
            </a:r>
            <a:r>
              <a:rPr lang="sr-Latn-CS" altLang="sr-Latn-RS" i="1"/>
              <a:t>garbage collector</a:t>
            </a:r>
            <a:r>
              <a:rPr lang="sr-Latn-CS" altLang="sr-Latn-RS"/>
              <a:t> je posebna programska nit (thread).</a:t>
            </a:r>
          </a:p>
          <a:p>
            <a:pPr eaLnBrk="1" hangingPunct="1">
              <a:spcBef>
                <a:spcPct val="50000"/>
              </a:spcBef>
            </a:pPr>
            <a:r>
              <a:rPr lang="sr-Latn-CS" altLang="sr-Latn-RS"/>
              <a:t>U Javi je moguće pisati konkurentne programe bez pozivanja sistemskih rutina za konkurentno programiranje </a:t>
            </a:r>
          </a:p>
          <a:p>
            <a:pPr lvl="1" eaLnBrk="1" hangingPunct="1">
              <a:spcBef>
                <a:spcPct val="50000"/>
              </a:spcBef>
            </a:pPr>
            <a:r>
              <a:rPr lang="sr-Latn-CS" altLang="sr-Latn-RS"/>
              <a:t>sve što je potrebno enkapsulirano je u odgovarajućim klasama i u VM.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96783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75B26BF6-DDFF-F3C4-82F5-C0E62426C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Kreiranje programskih niti</a:t>
            </a:r>
            <a:endParaRPr lang="en-GB" altLang="sr-Latn-RS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10F5DC3-FE74-5AF4-20A3-C1FF69D3B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Nasleđivanje klase </a:t>
            </a:r>
            <a:r>
              <a:rPr lang="sr-Latn-CS" altLang="sr-Latn-RS" b="1">
                <a:latin typeface="Courier New" panose="02070309020205020404" pitchFamily="49" charset="0"/>
              </a:rPr>
              <a:t>Thread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public class MojThread </a:t>
            </a:r>
            <a:r>
              <a:rPr lang="sr-Latn-C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extends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Thread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@Override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public void run() </a:t>
            </a:r>
            <a:r>
              <a:rPr lang="sr-Latn-CS" altLang="sr-Latn-RS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  // programski kod niti je ovde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}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...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MojThread mt = new MojThread();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mt.start();</a:t>
            </a: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4B5DDB5C-0CB9-6C5C-1028-1E7527E07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primer01</a:t>
            </a:r>
            <a:endParaRPr lang="en-US" altLang="sr-Latn-R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81D899CB-61BD-7810-7AB6-8C3FA6109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Kreiranje programskih niti</a:t>
            </a:r>
            <a:endParaRPr lang="en-GB" altLang="sr-Latn-RS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ED057A1-EFAC-EAA6-46FE-AE9B2E71A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Implementiranje interfejsa </a:t>
            </a:r>
            <a:r>
              <a:rPr lang="sr-Latn-CS" altLang="sr-Latn-RS" b="1">
                <a:latin typeface="Courier New" panose="02070309020205020404" pitchFamily="49" charset="0"/>
              </a:rPr>
              <a:t>Runnable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public class MojThread </a:t>
            </a:r>
            <a:r>
              <a:rPr lang="sr-Latn-C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implements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Runnable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@Override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public void run() </a:t>
            </a:r>
            <a:r>
              <a:rPr lang="sr-Latn-CS" altLang="sr-Latn-RS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  // programski kod niti je ovde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}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...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MojThread mt = new MojThread();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Thread t = new Thread(mt);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	t.start();</a:t>
            </a:r>
          </a:p>
          <a:p>
            <a:pPr eaLnBrk="1" hangingPunct="1">
              <a:buFontTx/>
              <a:buNone/>
            </a:pPr>
            <a:endParaRPr lang="en-GB" altLang="sr-Latn-R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84F39928-8CE0-AB08-EFEE-CE54031F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Kreiranje programskih niti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97D5AC2-7BB2-D6EA-41C8-5ADCFC4A6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58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02352A47-1F90-E71C-6343-0B43F4C56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58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graphicFrame>
        <p:nvGraphicFramePr>
          <p:cNvPr id="7174" name="Object 5">
            <a:extLst>
              <a:ext uri="{FF2B5EF4-FFF2-40B4-BE49-F238E27FC236}">
                <a16:creationId xmlns:a16="http://schemas.microsoft.com/office/drawing/2014/main" id="{9DFDC8C3-BA2C-0042-36A3-6328D4F34C2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275014" y="1925639"/>
          <a:ext cx="6937375" cy="418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86954" imgH="2723810" progId="Paint.Picture">
                  <p:embed/>
                </p:oleObj>
              </mc:Choice>
              <mc:Fallback>
                <p:oleObj name="Bitmap Image" r:id="rId2" imgW="4686954" imgH="2723810" progId="Paint.Picture">
                  <p:embed/>
                  <p:pic>
                    <p:nvPicPr>
                      <p:cNvPr id="7174" name="Object 5">
                        <a:extLst>
                          <a:ext uri="{FF2B5EF4-FFF2-40B4-BE49-F238E27FC236}">
                            <a16:creationId xmlns:a16="http://schemas.microsoft.com/office/drawing/2014/main" id="{9DFDC8C3-BA2C-0042-36A3-6328D4F34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4" y="1925639"/>
                        <a:ext cx="6937375" cy="418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1574D8E4-57AA-C4A1-A77C-E2CA767DB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Kreiranje više programskih niti</a:t>
            </a:r>
            <a:endParaRPr lang="en-US" altLang="sr-Latn-RS"/>
          </a:p>
        </p:txBody>
      </p:sp>
      <p:pic>
        <p:nvPicPr>
          <p:cNvPr id="8196" name="Picture 3">
            <a:extLst>
              <a:ext uri="{FF2B5EF4-FFF2-40B4-BE49-F238E27FC236}">
                <a16:creationId xmlns:a16="http://schemas.microsoft.com/office/drawing/2014/main" id="{55E1D717-61B9-B1D6-1223-823936210F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9150" y="1844676"/>
            <a:ext cx="5761038" cy="4411663"/>
          </a:xfrm>
          <a:noFill/>
        </p:spPr>
      </p:pic>
      <p:sp>
        <p:nvSpPr>
          <p:cNvPr id="8197" name="Text Box 4">
            <a:extLst>
              <a:ext uri="{FF2B5EF4-FFF2-40B4-BE49-F238E27FC236}">
                <a16:creationId xmlns:a16="http://schemas.microsoft.com/office/drawing/2014/main" id="{93DD978F-9163-D4B0-0D94-5543E33E2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primer01</a:t>
            </a:r>
            <a:endParaRPr lang="en-US" altLang="sr-Latn-R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51FC4D44-51D0-5F1F-3C67-BBB700DA3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Daemon i non-daemon niti</a:t>
            </a:r>
            <a:endParaRPr lang="en-GB" altLang="sr-Latn-R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E672A13-F820-EFE8-16DD-E2C3DFF84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Java program završava svoje izvršavanje kada se završe sve njegove </a:t>
            </a:r>
            <a:r>
              <a:rPr lang="sr-Latn-CS" altLang="sr-Latn-RS" i="1"/>
              <a:t>non-daemon</a:t>
            </a:r>
            <a:r>
              <a:rPr lang="sr-Latn-CS" altLang="sr-Latn-RS"/>
              <a:t> niti.</a:t>
            </a:r>
          </a:p>
          <a:p>
            <a:pPr eaLnBrk="1" hangingPunct="1"/>
            <a:r>
              <a:rPr lang="sr-Latn-CS" altLang="sr-Latn-RS"/>
              <a:t>Java program inicijalno kreće sa jednom non-daemon niti.</a:t>
            </a:r>
          </a:p>
          <a:p>
            <a:pPr eaLnBrk="1" hangingPunct="1"/>
            <a:r>
              <a:rPr lang="sr-Latn-CS" altLang="sr-Latn-RS"/>
              <a:t>Daemon atribut: </a:t>
            </a:r>
            <a:r>
              <a:rPr lang="sr-Latn-CS" altLang="sr-Latn-RS" sz="2400" b="1">
                <a:latin typeface="Courier New" panose="02070309020205020404" pitchFamily="49" charset="0"/>
              </a:rPr>
              <a:t>setDaemon()/getDaemon</a:t>
            </a:r>
            <a:endParaRPr lang="en-GB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1151376-56BE-1474-2661-57CEEA497A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 b="1">
                <a:latin typeface="Courier New" panose="02070309020205020404" pitchFamily="49" charset="0"/>
              </a:rPr>
              <a:t>sleep</a:t>
            </a:r>
            <a:r>
              <a:rPr lang="sr-Latn-CS" altLang="sr-Latn-RS" sz="4000" b="1">
                <a:latin typeface="Courier New" panose="02070309020205020404" pitchFamily="49" charset="0"/>
              </a:rPr>
              <a:t>(n)</a:t>
            </a:r>
            <a:r>
              <a:rPr lang="en-US" altLang="sr-Latn-RS"/>
              <a:t> metoda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5F66E09D-6CA8-0A91-0D57-C0B1EBC37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981200"/>
            <a:ext cx="9578976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sr-Latn-RS" sz="2800" b="1">
                <a:latin typeface="Courier New" panose="02070309020205020404" pitchFamily="49" charset="0"/>
              </a:rPr>
              <a:t>sleep</a:t>
            </a:r>
            <a:r>
              <a:rPr lang="sr-Latn-CS" altLang="sr-Latn-RS" sz="2800" b="1">
                <a:latin typeface="Courier New" panose="02070309020205020404" pitchFamily="49" charset="0"/>
              </a:rPr>
              <a:t>(n)</a:t>
            </a:r>
            <a:r>
              <a:rPr lang="sr-Latn-CS" altLang="sr-Latn-RS" sz="2800"/>
              <a:t>: </a:t>
            </a:r>
            <a:r>
              <a:rPr lang="en-US" altLang="sr-Latn-RS" sz="2800"/>
              <a:t>programska nit </a:t>
            </a:r>
            <a:r>
              <a:rPr lang="sr-Latn-CS" altLang="sr-Latn-RS" sz="2800"/>
              <a:t>čija se metoda </a:t>
            </a:r>
            <a:r>
              <a:rPr lang="sr-Latn-CS" altLang="sr-Latn-RS" sz="2400" b="1">
                <a:latin typeface="Courier New" panose="02070309020205020404" pitchFamily="49" charset="0"/>
              </a:rPr>
              <a:t>sleep(n)</a:t>
            </a:r>
            <a:r>
              <a:rPr lang="sr-Latn-CS" altLang="sr-Latn-RS" sz="2800"/>
              <a:t> pozove “spava” zadati broj (n) milisekundi</a:t>
            </a:r>
          </a:p>
          <a:p>
            <a:pPr eaLnBrk="1" hangingPunct="1">
              <a:lnSpc>
                <a:spcPct val="90000"/>
              </a:lnSpc>
            </a:pPr>
            <a:endParaRPr lang="sr-Latn-CS" altLang="sr-Latn-RS" sz="2800"/>
          </a:p>
          <a:p>
            <a:pPr>
              <a:lnSpc>
                <a:spcPct val="90000"/>
              </a:lnSpc>
            </a:pPr>
            <a:r>
              <a:rPr lang="sr-Latn-RS" altLang="sr-Latn-RS" sz="2800"/>
              <a:t>K</a:t>
            </a:r>
            <a:r>
              <a:rPr lang="en-US" altLang="sr-Latn-RS" sz="2800"/>
              <a:t>ako </a:t>
            </a:r>
            <a:r>
              <a:rPr lang="sr-Latn-RS" altLang="sr-Latn-RS" sz="2800"/>
              <a:t>u </a:t>
            </a:r>
            <a:r>
              <a:rPr lang="en-US" altLang="sr-Latn-RS" sz="2800"/>
              <a:t>main() metod</a:t>
            </a:r>
            <a:r>
              <a:rPr lang="sr-Latn-RS" altLang="sr-Latn-RS" sz="2800"/>
              <a:t>i napisati sleep</a:t>
            </a:r>
            <a:r>
              <a:rPr lang="en-US" altLang="sr-Latn-RS" sz="2800"/>
              <a:t>?</a:t>
            </a:r>
            <a:endParaRPr lang="sr-Latn-RS" altLang="sr-Latn-RS" sz="2800"/>
          </a:p>
          <a:p>
            <a:pPr marL="457200" lvl="1" indent="0">
              <a:lnSpc>
                <a:spcPct val="90000"/>
              </a:lnSpc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Thread.sleep(x);</a:t>
            </a:r>
            <a:endParaRPr lang="sr-Latn-C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A3ED9656-7196-7710-6C72-B344BC6A0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61277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primer01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1261BEBE-70BE-9DEA-69F3-2A397A34E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yield()</a:t>
            </a:r>
            <a:r>
              <a:rPr lang="sr-Latn-CS" altLang="sr-Latn-RS"/>
              <a:t> metoda</a:t>
            </a:r>
            <a:endParaRPr lang="en-US" altLang="sr-Latn-RS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591EE04-D3BC-BC3A-B4A3-FD1B920AA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sr-Latn-RS" sz="3600"/>
              <a:t>Nit prebacuje kontrolu na drugu</a:t>
            </a:r>
          </a:p>
          <a:p>
            <a:pPr lvl="1" eaLnBrk="1" hangingPunct="1"/>
            <a:r>
              <a:rPr lang="sr-Latn-CS" altLang="sr-Latn-RS" sz="3200"/>
              <a:t>ne bira se koja će biti nit na koju se prebacuje kontrola</a:t>
            </a:r>
          </a:p>
          <a:p>
            <a:pPr lvl="1" eaLnBrk="1" hangingPunct="1"/>
            <a:r>
              <a:rPr lang="sr-Latn-CS" altLang="sr-Latn-RS" sz="3200"/>
              <a:t>privremeno se suspenduje nit koja je pozvala </a:t>
            </a:r>
            <a:r>
              <a:rPr lang="sr-Latn-CS" altLang="sr-Latn-RS" sz="3200" b="1">
                <a:latin typeface="Courier New" panose="02070309020205020404" pitchFamily="49" charset="0"/>
              </a:rPr>
              <a:t>yield()</a:t>
            </a:r>
            <a:endParaRPr lang="en-US" altLang="sr-Latn-RS" sz="32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9B364EA6-2614-4C5A-BA02-84F4640E2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join()</a:t>
            </a:r>
            <a:r>
              <a:rPr lang="sr-Latn-CS" altLang="sr-Latn-RS"/>
              <a:t> metoda</a:t>
            </a:r>
            <a:endParaRPr lang="en-US" altLang="sr-Latn-RS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17F15B3-9AF7-1793-676B-AB9F80890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62667"/>
            <a:ext cx="9829800" cy="4263497"/>
          </a:xfrm>
        </p:spPr>
        <p:txBody>
          <a:bodyPr/>
          <a:lstStyle/>
          <a:p>
            <a:pPr eaLnBrk="1" hangingPunct="1"/>
            <a:r>
              <a:rPr lang="sr-Latn-CS" altLang="sr-Latn-RS"/>
              <a:t>Blokira nit koja je pozvala ovu metodu dok nit ne završi.</a:t>
            </a:r>
          </a:p>
          <a:p>
            <a:pPr eaLnBrk="1" hangingPunct="1"/>
            <a:r>
              <a:rPr lang="sr-Latn-C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thread2.start();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</a:t>
            </a:r>
            <a:r>
              <a:rPr lang="sr-Latn-CS" altLang="sr-Latn-RS" sz="2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sada glavna nit i thread  2 rade paralelno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thread2.join(); </a:t>
            </a:r>
            <a:r>
              <a:rPr lang="sr-Latn-CS" altLang="sr-Latn-RS" sz="2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sada čekamo da thread2 završi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System.out.println("</a:t>
            </a:r>
            <a:r>
              <a:rPr lang="sr-Latn-CS" altLang="sr-Latn-RS" sz="2400" b="1">
                <a:latin typeface="Courier New" panose="02070309020205020404" pitchFamily="49" charset="0"/>
              </a:rPr>
              <a:t>Sačekali</a:t>
            </a:r>
            <a:r>
              <a:rPr lang="en-US" altLang="sr-Latn-RS" sz="2400" b="1">
                <a:latin typeface="Courier New" panose="02070309020205020404" pitchFamily="49" charset="0"/>
              </a:rPr>
              <a:t>"); 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26B4B287-06E4-A2E6-F4AA-70A6D24DE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primer01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53A431EA-D02D-714F-6C51-0C820A041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Deljenje resursa između niti</a:t>
            </a:r>
            <a:endParaRPr lang="en-GB" altLang="sr-Latn-RS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C1E1BD7-686F-D8BD-7F82-FA6B94266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34633"/>
            <a:ext cx="10515600" cy="4242330"/>
          </a:xfrm>
        </p:spPr>
        <p:txBody>
          <a:bodyPr/>
          <a:lstStyle/>
          <a:p>
            <a:pPr eaLnBrk="1" hangingPunct="1"/>
            <a:r>
              <a:rPr lang="sr-Latn-CS" altLang="sr-Latn-RS"/>
              <a:t>Mehanizam zaključavanja objekata: u jednom trenutku samo jedna nit može pristupati objektu</a:t>
            </a:r>
            <a:endParaRPr lang="en-GB" altLang="sr-Latn-R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6F759C92-D6D3-1C2C-8A86-B0024C2F6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Deljenje resursa između niti</a:t>
            </a:r>
            <a:endParaRPr lang="en-GB" altLang="sr-Latn-RS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605676B-2394-E742-6A2F-9D65A44E6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synchronized</a:t>
            </a:r>
            <a:r>
              <a:rPr lang="sr-Latn-CS" altLang="sr-Latn-RS"/>
              <a:t> blok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...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synchronized(obj) {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kod koji radi sa deljenim resursima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...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synchronized</a:t>
            </a:r>
            <a:r>
              <a:rPr lang="sr-Latn-CS" altLang="sr-Latn-RS"/>
              <a:t> metoda</a:t>
            </a:r>
          </a:p>
          <a:p>
            <a:pPr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public synchronized void metoda() { ... }</a:t>
            </a:r>
            <a:endParaRPr lang="en-GB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281D480E-68E3-18C1-E4ED-3451933D3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5876926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primer02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3C413EA5-7C6B-05AF-0E58-D24F10800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</a:t>
            </a:r>
            <a:r>
              <a:rPr lang="en-US" altLang="sr-Latn-RS"/>
              <a:t>y</a:t>
            </a:r>
            <a:r>
              <a:rPr lang="sr-Latn-CS" altLang="sr-Latn-RS"/>
              <a:t>nchron</a:t>
            </a:r>
            <a:r>
              <a:rPr lang="en-US" altLang="sr-Latn-RS"/>
              <a:t>i</a:t>
            </a:r>
            <a:r>
              <a:rPr lang="sr-Latn-CS" altLang="sr-Latn-RS"/>
              <a:t>zed blok</a:t>
            </a:r>
            <a:endParaRPr lang="en-US" altLang="sr-Latn-RS"/>
          </a:p>
        </p:txBody>
      </p:sp>
      <p:pic>
        <p:nvPicPr>
          <p:cNvPr id="15364" name="Picture 3">
            <a:extLst>
              <a:ext uri="{FF2B5EF4-FFF2-40B4-BE49-F238E27FC236}">
                <a16:creationId xmlns:a16="http://schemas.microsoft.com/office/drawing/2014/main" id="{04326318-D15E-B607-88C3-75514EEE48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9814" y="1687513"/>
            <a:ext cx="5494337" cy="3941762"/>
          </a:xfrm>
          <a:noFill/>
        </p:spPr>
      </p:pic>
      <p:sp>
        <p:nvSpPr>
          <p:cNvPr id="15365" name="Text Box 4">
            <a:extLst>
              <a:ext uri="{FF2B5EF4-FFF2-40B4-BE49-F238E27FC236}">
                <a16:creationId xmlns:a16="http://schemas.microsoft.com/office/drawing/2014/main" id="{32054CD1-7143-D357-BF69-39C5070E7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6021388"/>
            <a:ext cx="172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primer02</a:t>
            </a:r>
            <a:endParaRPr lang="en-US" altLang="sr-Latn-R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764CB3FC-ABE4-785F-15BE-E0A310905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78459"/>
            <a:ext cx="9296400" cy="647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/>
              <a:t>Deljenje resursa između niti</a:t>
            </a:r>
            <a:endParaRPr lang="en-GB" altLang="sr-Latn-RS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236ED9D-661F-D567-07FB-84312473E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1" y="1598103"/>
            <a:ext cx="11120966" cy="471062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Ako imamo dve niti koje dele isti resurs, i zavise jedna od druge, 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onda je isplativije da ona nit koja nema šta da radi sa deljenim resursom </a:t>
            </a:r>
            <a:r>
              <a:rPr lang="sr-Latn-CS" altLang="sr-Latn-RS" b="1"/>
              <a:t>privremeno oslobodi </a:t>
            </a:r>
            <a:r>
              <a:rPr lang="sr-Latn-CS" altLang="sr-Latn-RS"/>
              <a:t>taj resurs 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i zatim "</a:t>
            </a:r>
            <a:r>
              <a:rPr lang="sr-Latn-CS" altLang="sr-Latn-RS" b="1"/>
              <a:t>zaspi</a:t>
            </a:r>
            <a:r>
              <a:rPr lang="sr-Latn-CS" altLang="sr-Latn-RS"/>
              <a:t>", a da je druga nit nakon završetka posla  "</a:t>
            </a:r>
            <a:r>
              <a:rPr lang="sr-Latn-CS" altLang="sr-Latn-RS" b="1"/>
              <a:t>probudi</a:t>
            </a:r>
            <a:r>
              <a:rPr lang="sr-Latn-CS" altLang="sr-Latn-RS"/>
              <a:t>" i preda joj kontrolu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nit koja "</a:t>
            </a:r>
            <a:r>
              <a:rPr lang="sr-Latn-CS" altLang="sr-Latn-RS" b="1"/>
              <a:t>spava</a:t>
            </a:r>
            <a:r>
              <a:rPr lang="sr-Latn-CS" altLang="sr-Latn-RS"/>
              <a:t>" ne troši procesorsko vreme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To je efikasnije, nego da se stalno u nekakvoj petlji proverava da li je uslov zadovoljen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štedi se baterija kod prenosnih uređaja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>
            <a:extLst>
              <a:ext uri="{FF2B5EF4-FFF2-40B4-BE49-F238E27FC236}">
                <a16:creationId xmlns:a16="http://schemas.microsoft.com/office/drawing/2014/main" id="{B236ED9D-661F-D567-07FB-84312473E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1" y="1367405"/>
            <a:ext cx="9502776" cy="494131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b="1">
                <a:latin typeface="Courier New" panose="02070309020205020404" pitchFamily="49" charset="0"/>
              </a:rPr>
              <a:t>obj.wait()</a:t>
            </a:r>
            <a:r>
              <a:rPr lang="sr-Latn-CS" altLang="sr-Latn-RS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oslobađa pristup objektu unutar </a:t>
            </a:r>
            <a:r>
              <a:rPr lang="sr-Latn-CS" altLang="sr-Latn-RS" b="1">
                <a:latin typeface="Courier New" panose="02070309020205020404" pitchFamily="49" charset="0"/>
              </a:rPr>
              <a:t>synchronized(obj)</a:t>
            </a:r>
            <a:r>
              <a:rPr lang="sr-Latn-CS" altLang="sr-Latn-RS"/>
              <a:t> bloka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blokira izvršavanje niti dok neka druga nit ne pošalje </a:t>
            </a:r>
            <a:r>
              <a:rPr lang="sr-Latn-CS" altLang="sr-Latn-RS" b="1">
                <a:latin typeface="Courier New" panose="02070309020205020404" pitchFamily="49" charset="0"/>
              </a:rPr>
              <a:t>notify()</a:t>
            </a:r>
            <a:endParaRPr lang="sr-Latn-CS" altLang="sr-Latn-RS"/>
          </a:p>
          <a:p>
            <a:pPr eaLnBrk="1" hangingPunct="1">
              <a:lnSpc>
                <a:spcPct val="80000"/>
              </a:lnSpc>
            </a:pPr>
            <a:r>
              <a:rPr lang="sr-Latn-CS" altLang="sr-Latn-RS" b="1">
                <a:latin typeface="Courier New" panose="02070309020205020404" pitchFamily="49" charset="0"/>
              </a:rPr>
              <a:t>obj.notify()</a:t>
            </a:r>
            <a:r>
              <a:rPr lang="sr-Latn-CS" altLang="sr-Latn-RS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obaveštava jednu od niti koje čekaju sa obj.</a:t>
            </a:r>
            <a:r>
              <a:rPr lang="sr-Latn-CS" altLang="sr-Latn-RS" b="1">
                <a:latin typeface="Courier New" panose="02070309020205020404" pitchFamily="49" charset="0"/>
              </a:rPr>
              <a:t>wait()</a:t>
            </a:r>
            <a:r>
              <a:rPr lang="sr-Latn-CS" altLang="sr-Latn-RS"/>
              <a:t> da nastavi sa izvršavanjem</a:t>
            </a:r>
            <a:endParaRPr lang="en-US" altLang="sr-Latn-RS"/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ako više niti čeka, </a:t>
            </a:r>
            <a:r>
              <a:rPr lang="en-US" altLang="sr-Latn-RS"/>
              <a:t>nema garancije da </a:t>
            </a:r>
            <a:r>
              <a:rPr lang="sr-Latn-CS" altLang="sr-Latn-RS"/>
              <a:t>će se poštovati hro</a:t>
            </a:r>
            <a:r>
              <a:rPr lang="en-US" altLang="sr-Latn-RS"/>
              <a:t>n</a:t>
            </a:r>
            <a:r>
              <a:rPr lang="sr-Latn-CS" altLang="sr-Latn-RS"/>
              <a:t>ološki redosled odlaska u stanje čekanja prilikom izvršenja notify() metode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b="1">
                <a:latin typeface="Courier New" panose="02070309020205020404" pitchFamily="49" charset="0"/>
              </a:rPr>
              <a:t>obj.notifyAll()</a:t>
            </a:r>
            <a:r>
              <a:rPr lang="sr-Latn-CS" altLang="sr-Latn-RS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obaveštava </a:t>
            </a:r>
            <a:r>
              <a:rPr lang="sr-Latn-CS" altLang="sr-Latn-RS">
                <a:solidFill>
                  <a:schemeClr val="tx2"/>
                </a:solidFill>
              </a:rPr>
              <a:t>sve</a:t>
            </a:r>
            <a:r>
              <a:rPr lang="sr-Latn-CS" altLang="sr-Latn-RS"/>
              <a:t> niti koje čekaju sa </a:t>
            </a:r>
            <a:r>
              <a:rPr lang="sr-Latn-CS" altLang="sr-Latn-RS" b="1">
                <a:latin typeface="Courier New" panose="02070309020205020404" pitchFamily="49" charset="0"/>
              </a:rPr>
              <a:t>obj.wait()</a:t>
            </a:r>
            <a:r>
              <a:rPr lang="sr-Latn-CS" altLang="sr-Latn-RS"/>
              <a:t> da nastave sa radom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EA004C-0845-1F71-38B9-5615D0E61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78459"/>
            <a:ext cx="9296400" cy="647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/>
              <a:t>Deljenje resursa između niti</a:t>
            </a:r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66319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4E877788-A411-1EAD-76B6-90C9CFAC0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wait-notify</a:t>
            </a:r>
            <a:endParaRPr lang="en-US" altLang="sr-Latn-RS"/>
          </a:p>
        </p:txBody>
      </p:sp>
      <p:pic>
        <p:nvPicPr>
          <p:cNvPr id="17412" name="Picture 3">
            <a:extLst>
              <a:ext uri="{FF2B5EF4-FFF2-40B4-BE49-F238E27FC236}">
                <a16:creationId xmlns:a16="http://schemas.microsoft.com/office/drawing/2014/main" id="{7AD2081E-9705-2121-C9B7-3542F4439D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075" y="1844676"/>
            <a:ext cx="5327650" cy="4486275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23427DF2-9030-0EAB-325F-2FB5E9F95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Deljenje resursa između niti</a:t>
            </a:r>
            <a:endParaRPr lang="en-GB" altLang="sr-Latn-RS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B971116-1BB1-AE82-1227-06B21416B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primer: proizvođač</a:t>
            </a:r>
            <a:r>
              <a:rPr lang="sr-Latn-CS" altLang="sr-Latn-RS">
                <a:sym typeface="Symbol" panose="05050102010706020507" pitchFamily="18" charset="2"/>
              </a:rPr>
              <a:t></a:t>
            </a:r>
            <a:r>
              <a:rPr lang="sr-Latn-CS" altLang="sr-Latn-RS"/>
              <a:t>bafer</a:t>
            </a:r>
            <a:r>
              <a:rPr lang="sr-Latn-CS" altLang="sr-Latn-RS">
                <a:sym typeface="Symbol" panose="05050102010706020507" pitchFamily="18" charset="2"/>
              </a:rPr>
              <a:t></a:t>
            </a:r>
            <a:r>
              <a:rPr lang="sr-Latn-CS" altLang="sr-Latn-RS"/>
              <a:t>potrošač</a:t>
            </a:r>
            <a:endParaRPr lang="en-GB" altLang="sr-Latn-RS"/>
          </a:p>
        </p:txBody>
      </p:sp>
      <p:sp>
        <p:nvSpPr>
          <p:cNvPr id="18437" name="Oval 4">
            <a:extLst>
              <a:ext uri="{FF2B5EF4-FFF2-40B4-BE49-F238E27FC236}">
                <a16:creationId xmlns:a16="http://schemas.microsoft.com/office/drawing/2014/main" id="{BC6EC458-E638-30FD-2822-019675A0E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200400"/>
            <a:ext cx="16002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18438" name="Text Box 5">
            <a:extLst>
              <a:ext uri="{FF2B5EF4-FFF2-40B4-BE49-F238E27FC236}">
                <a16:creationId xmlns:a16="http://schemas.microsoft.com/office/drawing/2014/main" id="{56E0F330-1016-41E8-E7E5-D12FFE7A4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114801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producer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  <p:sp>
        <p:nvSpPr>
          <p:cNvPr id="18439" name="Oval 6">
            <a:extLst>
              <a:ext uri="{FF2B5EF4-FFF2-40B4-BE49-F238E27FC236}">
                <a16:creationId xmlns:a16="http://schemas.microsoft.com/office/drawing/2014/main" id="{8B6272E9-D726-1BCB-52A2-CC19519C2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00400"/>
            <a:ext cx="16002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18440" name="Text Box 7">
            <a:extLst>
              <a:ext uri="{FF2B5EF4-FFF2-40B4-BE49-F238E27FC236}">
                <a16:creationId xmlns:a16="http://schemas.microsoft.com/office/drawing/2014/main" id="{47903F74-980F-419B-0994-69241208D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114801"/>
            <a:ext cx="1163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consumer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22C98C73-3D10-8BA0-E0E2-93BE5F83B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352800"/>
            <a:ext cx="1295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18442" name="Text Box 9">
            <a:extLst>
              <a:ext uri="{FF2B5EF4-FFF2-40B4-BE49-F238E27FC236}">
                <a16:creationId xmlns:a16="http://schemas.microsoft.com/office/drawing/2014/main" id="{2C34E33D-FA05-0774-53A0-A3DAC5746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114801"/>
            <a:ext cx="78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>
                <a:latin typeface="Tahoma" panose="020B0604030504040204" pitchFamily="34" charset="0"/>
              </a:rPr>
              <a:t>buffer</a:t>
            </a:r>
            <a:endParaRPr lang="en-GB" altLang="sr-Latn-RS" sz="1800">
              <a:latin typeface="Tahoma" panose="020B0604030504040204" pitchFamily="34" charset="0"/>
            </a:endParaRPr>
          </a:p>
        </p:txBody>
      </p:sp>
      <p:sp>
        <p:nvSpPr>
          <p:cNvPr id="18443" name="AutoShape 10">
            <a:extLst>
              <a:ext uri="{FF2B5EF4-FFF2-40B4-BE49-F238E27FC236}">
                <a16:creationId xmlns:a16="http://schemas.microsoft.com/office/drawing/2014/main" id="{C9E83558-54E8-D2BD-B33D-DA8CDC77B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05200"/>
            <a:ext cx="990600" cy="228600"/>
          </a:xfrm>
          <a:prstGeom prst="rightArrow">
            <a:avLst>
              <a:gd name="adj1" fmla="val 40278"/>
              <a:gd name="adj2" fmla="val 10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18444" name="AutoShape 11">
            <a:extLst>
              <a:ext uri="{FF2B5EF4-FFF2-40B4-BE49-F238E27FC236}">
                <a16:creationId xmlns:a16="http://schemas.microsoft.com/office/drawing/2014/main" id="{ECC30B71-7B78-959D-E646-A4119842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505200"/>
            <a:ext cx="990600" cy="228600"/>
          </a:xfrm>
          <a:prstGeom prst="rightArrow">
            <a:avLst>
              <a:gd name="adj1" fmla="val 40278"/>
              <a:gd name="adj2" fmla="val 10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18445" name="Text Box 12">
            <a:extLst>
              <a:ext uri="{FF2B5EF4-FFF2-40B4-BE49-F238E27FC236}">
                <a16:creationId xmlns:a16="http://schemas.microsoft.com/office/drawing/2014/main" id="{12EAE36B-4C80-A9A7-0200-A93634431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primer03</a:t>
            </a:r>
            <a:endParaRPr lang="en-US" altLang="sr-Latn-R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4E9CC154-667A-3A50-B797-F4670E4AA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Prazan bafer</a:t>
            </a:r>
            <a:endParaRPr lang="en-US" altLang="sr-Latn-RS"/>
          </a:p>
        </p:txBody>
      </p:sp>
      <p:pic>
        <p:nvPicPr>
          <p:cNvPr id="19460" name="Picture 3">
            <a:extLst>
              <a:ext uri="{FF2B5EF4-FFF2-40B4-BE49-F238E27FC236}">
                <a16:creationId xmlns:a16="http://schemas.microsoft.com/office/drawing/2014/main" id="{C8449DF4-B466-1123-5E1A-D48BE58C94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67" y="2420888"/>
            <a:ext cx="5150667" cy="1143000"/>
          </a:xfrm>
          <a:noFill/>
        </p:spPr>
      </p:pic>
      <p:pic>
        <p:nvPicPr>
          <p:cNvPr id="19461" name="Picture 4">
            <a:extLst>
              <a:ext uri="{FF2B5EF4-FFF2-40B4-BE49-F238E27FC236}">
                <a16:creationId xmlns:a16="http://schemas.microsoft.com/office/drawing/2014/main" id="{ADDC9C88-90F2-394F-81F2-D5EB8B72787F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07769" y="3933056"/>
            <a:ext cx="4725987" cy="1282700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B4DE564E-AFCF-7BEC-EE9B-A80E69312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Pun bafer</a:t>
            </a:r>
            <a:endParaRPr lang="en-US" altLang="sr-Latn-RS"/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EF89C97D-1CDA-A711-1670-48D8C1C582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2420888"/>
            <a:ext cx="5040560" cy="1314580"/>
          </a:xfrm>
          <a:noFill/>
        </p:spPr>
      </p:pic>
      <p:pic>
        <p:nvPicPr>
          <p:cNvPr id="20485" name="Picture 4">
            <a:extLst>
              <a:ext uri="{FF2B5EF4-FFF2-40B4-BE49-F238E27FC236}">
                <a16:creationId xmlns:a16="http://schemas.microsoft.com/office/drawing/2014/main" id="{1B8EF44F-34C6-5435-70F0-DAE6A50A84D4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3793" y="3976718"/>
            <a:ext cx="4954587" cy="1524000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76BD74E3-1D03-D6C2-4615-082344AE2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Bafer ni pun ni prazan</a:t>
            </a:r>
            <a:endParaRPr lang="en-US" altLang="sr-Latn-RS"/>
          </a:p>
        </p:txBody>
      </p:sp>
      <p:pic>
        <p:nvPicPr>
          <p:cNvPr id="21508" name="Picture 3">
            <a:extLst>
              <a:ext uri="{FF2B5EF4-FFF2-40B4-BE49-F238E27FC236}">
                <a16:creationId xmlns:a16="http://schemas.microsoft.com/office/drawing/2014/main" id="{B6FA62EA-DBDC-B33F-D4D2-25E6E1BEE7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2214" y="2084389"/>
            <a:ext cx="6022975" cy="1685925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>
            <a:extLst>
              <a:ext uri="{FF2B5EF4-FFF2-40B4-BE49-F238E27FC236}">
                <a16:creationId xmlns:a16="http://schemas.microsoft.com/office/drawing/2014/main" id="{666C68E4-EB87-3ECE-70E6-E99DDF9E1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442906"/>
            <a:ext cx="11123802" cy="4978533"/>
          </a:xfrm>
        </p:spPr>
        <p:txBody>
          <a:bodyPr/>
          <a:lstStyle/>
          <a:p>
            <a:pPr eaLnBrk="1" hangingPunct="1"/>
            <a:r>
              <a:rPr lang="sr-Latn-CS" altLang="sr-Latn-RS"/>
              <a:t>Omogućuje:</a:t>
            </a:r>
          </a:p>
          <a:p>
            <a:pPr lvl="1" eaLnBrk="1" hangingPunct="1"/>
            <a:r>
              <a:rPr lang="sr-Latn-CS" altLang="sr-Latn-RS"/>
              <a:t>zaključavanje niti 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lock()</a:t>
            </a:r>
            <a:r>
              <a:rPr lang="sr-Latn-CS" altLang="sr-Latn-RS"/>
              <a:t>), </a:t>
            </a:r>
          </a:p>
          <a:p>
            <a:pPr lvl="1" eaLnBrk="1" hangingPunct="1"/>
            <a:r>
              <a:rPr lang="sr-Latn-CS" altLang="sr-Latn-RS"/>
              <a:t>otključavanje niti 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unlock()</a:t>
            </a:r>
            <a:r>
              <a:rPr lang="sr-Latn-CS" altLang="sr-Latn-RS"/>
              <a:t>),</a:t>
            </a:r>
          </a:p>
          <a:p>
            <a:pPr lvl="1" eaLnBrk="1" hangingPunct="1"/>
            <a:r>
              <a:rPr lang="sr-Latn-CS" altLang="sr-Latn-RS"/>
              <a:t>uslovno zaključavanje niti 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tryLock()</a:t>
            </a:r>
            <a:r>
              <a:rPr lang="sr-Latn-CS" altLang="sr-Latn-RS"/>
              <a:t>)</a:t>
            </a:r>
          </a:p>
          <a:p>
            <a:pPr lvl="2" eaLnBrk="1" hangingPunct="1"/>
            <a:r>
              <a:rPr lang="sr-Latn-CS" altLang="sr-Latn-RS"/>
              <a:t>ako druga nit već drži zaključano, momentalno se vraća (false),</a:t>
            </a:r>
          </a:p>
          <a:p>
            <a:pPr lvl="1" eaLnBrk="1" hangingPunct="1"/>
            <a:r>
              <a:rPr lang="sr-Latn-CS" altLang="sr-Latn-RS"/>
              <a:t>zaključavanje koje može biti prekinuto 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lockInterruptibly()</a:t>
            </a:r>
            <a:r>
              <a:rPr lang="sr-Latn-CS" altLang="sr-Latn-RS"/>
              <a:t>)</a:t>
            </a:r>
          </a:p>
          <a:p>
            <a:pPr lvl="2" eaLnBrk="1" hangingPunct="1"/>
            <a:r>
              <a:rPr lang="sr-Latn-CS" altLang="sr-Latn-RS"/>
              <a:t>prekida se metodom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Thread.interrupt()</a:t>
            </a:r>
            <a:r>
              <a:rPr lang="sr-Latn-CS" altLang="sr-Latn-RS"/>
              <a:t> i</a:t>
            </a:r>
          </a:p>
          <a:p>
            <a:pPr lvl="1" eaLnBrk="1" hangingPunct="1"/>
            <a:r>
              <a:rPr lang="sr-Latn-CS" altLang="sr-Latn-RS"/>
              <a:t>uslovno zaključavanje, sa rokom 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tryLock(long, TimeUnit)</a:t>
            </a:r>
            <a:r>
              <a:rPr lang="sr-Latn-CS" altLang="sr-Latn-RS"/>
              <a:t>)</a:t>
            </a:r>
          </a:p>
          <a:p>
            <a:pPr eaLnBrk="1" hangingPunct="1"/>
            <a:r>
              <a:rPr lang="sr-Latn-CS" altLang="sr-Latn-RS"/>
              <a:t>Klasa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sr-Latn-CS" altLang="sr-Latn-RS"/>
              <a:t> 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lock.newCondition()</a:t>
            </a:r>
            <a:r>
              <a:rPr lang="sr-Latn-CS" altLang="sr-Latn-RS"/>
              <a:t>) ima metode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sr-Latn-CS" altLang="sr-Latn-RS"/>
              <a:t> i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708BA4CB-6BB6-315A-0A5C-91E19C01F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3" y="6416676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primer08</a:t>
            </a:r>
            <a:endParaRPr lang="en-US" altLang="sr-Latn-RS" sz="18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DAF00D7-94F7-EB58-D88A-05F0BF60A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78459"/>
            <a:ext cx="9296400" cy="647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/>
              <a:t>Reentrant Lock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069827C2-5809-057C-ED0A-1EF17623E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/>
              <a:t>BlockingQueue interfejs</a:t>
            </a:r>
            <a:endParaRPr lang="sr-Latn-CS" altLang="sr-Latn-RS" sz="40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A3C3237-F2BC-7BB9-760F-3383152E1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45578"/>
            <a:ext cx="11166446" cy="432662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Klase koje implementiraju ovaj interfejs (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ArrayBlockingQueue</a:t>
            </a:r>
            <a:r>
              <a:rPr lang="en-US" altLang="sr-Latn-RS" sz="2400"/>
              <a:t>,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ListBlockingQueue</a:t>
            </a:r>
            <a:r>
              <a:rPr lang="en-US" altLang="sr-Latn-RS" sz="2400"/>
              <a:t>, itd.) implementiraju red (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US" altLang="sr-Latn-RS" sz="240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Red ima po</a:t>
            </a:r>
            <a:r>
              <a:rPr lang="sr-Latn-CS" altLang="sr-Latn-RS" sz="2400"/>
              <a:t>č</a:t>
            </a:r>
            <a:r>
              <a:rPr lang="en-US" altLang="sr-Latn-RS" sz="2400"/>
              <a:t>etak i kraj</a:t>
            </a:r>
            <a:r>
              <a:rPr lang="sr-Latn-CS" altLang="sr-Latn-RS" sz="2400"/>
              <a:t> (head i tail)</a:t>
            </a:r>
            <a:endParaRPr lang="en-US" altLang="sr-Latn-RS" sz="2400"/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novi elementi se dodaju na kraj (tail)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elementi se vade sa početka (head)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BlockingQueue</a:t>
            </a:r>
            <a:r>
              <a:rPr lang="sr-Latn-CS" altLang="sr-Latn-RS" sz="2400"/>
              <a:t> obezbeđuje da: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ako je red prazan, pokušaj vađenja elementa dovodi do blokiranja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ako je red pun, pokušaj dodavanja elementa dovodi do blokiranja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Ako se u konstruktoru doda drugi </a:t>
            </a:r>
            <a:r>
              <a:rPr lang="en-US" altLang="sr-Latn-RS" sz="2400"/>
              <a:t>(</a:t>
            </a:r>
            <a:r>
              <a:rPr lang="sr-Latn-CS" altLang="sr-Latn-RS" sz="2400" i="1"/>
              <a:t>boolean</a:t>
            </a:r>
            <a:r>
              <a:rPr lang="en-US" altLang="sr-Latn-RS" sz="2400"/>
              <a:t>)</a:t>
            </a:r>
            <a:r>
              <a:rPr lang="sr-Latn-CS" altLang="sr-Latn-RS" sz="2400"/>
              <a:t> parametar (</a:t>
            </a:r>
            <a:r>
              <a:rPr lang="sr-Latn-CS" altLang="sr-Latn-RS" sz="2400" i="1"/>
              <a:t>fairnes</a:t>
            </a:r>
            <a:r>
              <a:rPr lang="sr-Latn-CS" altLang="sr-Latn-RS" sz="2400"/>
              <a:t>) sa vrednošću </a:t>
            </a:r>
            <a:r>
              <a:rPr lang="sr-Latn-CS" altLang="sr-Latn-RS" sz="2400" i="1"/>
              <a:t>true</a:t>
            </a:r>
            <a:r>
              <a:rPr lang="sr-Latn-CS" altLang="sr-Latn-RS" sz="2400"/>
              <a:t>, garantuje se redosled niti koje su pristupale redu (uz degradiranje preformansi)</a:t>
            </a:r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0A8F8DE2-46F4-2592-F35A-64C390922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063" y="6092826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primer07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804AD932-52D1-40E9-D05F-FE6373F16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/>
              <a:t>Se</a:t>
            </a:r>
            <a:r>
              <a:rPr lang="sr-Latn-CS" altLang="sr-Latn-RS" sz="4000"/>
              <a:t>mafor</a:t>
            </a:r>
            <a:endParaRPr lang="en-US" altLang="sr-Latn-RS" sz="4000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85C4231-CD4D-484E-8CE2-C6DD4B5A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Semafori odr</a:t>
            </a:r>
            <a:r>
              <a:rPr lang="sr-Latn-CS" altLang="sr-Latn-RS"/>
              <a:t>ž</a:t>
            </a:r>
            <a:r>
              <a:rPr lang="en-US" altLang="sr-Latn-RS"/>
              <a:t>avaju </a:t>
            </a:r>
            <a:r>
              <a:rPr lang="sr-Latn-CS" altLang="sr-Latn-RS"/>
              <a:t>skup dozvola</a:t>
            </a:r>
          </a:p>
          <a:p>
            <a:pPr lvl="1" eaLnBrk="1" hangingPunct="1"/>
            <a:r>
              <a:rPr lang="sr-Latn-CS" altLang="sr-Latn-RS"/>
              <a:t>svaki poziv metode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acquire()</a:t>
            </a:r>
            <a:r>
              <a:rPr lang="sr-Latn-CS" altLang="sr-Latn-RS"/>
              <a:t> uzima dozvolu</a:t>
            </a:r>
          </a:p>
          <a:p>
            <a:pPr lvl="1" eaLnBrk="1" hangingPunct="1"/>
            <a:r>
              <a:rPr lang="sr-Latn-CS" altLang="sr-Latn-RS"/>
              <a:t>svaki poziv metode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release()</a:t>
            </a:r>
            <a:r>
              <a:rPr lang="sr-Latn-CS" altLang="sr-Latn-RS"/>
              <a:t> dodaje dozvolu</a:t>
            </a:r>
          </a:p>
          <a:p>
            <a:pPr eaLnBrk="1" hangingPunct="1"/>
            <a:r>
              <a:rPr lang="sr-Latn-CS" altLang="sr-Latn-RS"/>
              <a:t>Ne čuvaju se stvarne dozvole, već se broje dozvole.</a:t>
            </a:r>
          </a:p>
          <a:p>
            <a:pPr lvl="1" eaLnBrk="1" hangingPunct="1"/>
            <a:r>
              <a:rPr lang="sr-Latn-CS" altLang="sr-Latn-RS"/>
              <a:t>ako više nema dozvola, nit koja je pozvala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acquire() </a:t>
            </a:r>
            <a:r>
              <a:rPr lang="sr-Latn-CS" altLang="sr-Latn-RS"/>
              <a:t>se blokira</a:t>
            </a:r>
          </a:p>
          <a:p>
            <a:pPr lvl="1" eaLnBrk="1" hangingPunct="1"/>
            <a:r>
              <a:rPr lang="sr-Latn-CS" altLang="sr-Latn-RS"/>
              <a:t>poziv metode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release() </a:t>
            </a:r>
            <a:r>
              <a:rPr lang="sr-Latn-CS" altLang="sr-Latn-RS"/>
              <a:t>može da deblokira pozivajuću nit (ako je bila blokirana)</a:t>
            </a:r>
            <a:endParaRPr lang="en-US" altLang="sr-Latn-R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09F473BD-6B99-2B18-E4CA-22A3A77F5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primer04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E65DEF0B-97AC-F836-0AD3-4A7E4A7EB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CyclicBarrier</a:t>
            </a:r>
            <a:endParaRPr lang="en-US" altLang="sr-Latn-RS" sz="4000"/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417B1BB-27C8-95F2-D688-833E09273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Barijera zaustavlja sve niti dok se interni brojač ne dovede na nulu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tada se sve niti deblokiraju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Barijera blokira pozivajuću nit (nit koja je pozvala metodu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sr-Latn-CS" altLang="sr-Latn-RS"/>
              <a:t>) i smanjuje interni brojač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kada brojač dospe do nule, sve niti se deblokiraju,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opciono može posebna nit da se tada startuje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Služi za sinhronizaciju većeg broja niti na jedan događaj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sve niti čekaju na istoj barijeri</a:t>
            </a:r>
            <a:endParaRPr lang="en-US" altLang="sr-Latn-R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9AFA1541-945E-9C99-D31D-E247995CA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primer05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989CD339-B44B-7BF8-BE81-927920AAB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CountDownLatch</a:t>
            </a:r>
            <a:endParaRPr lang="en-US" altLang="sr-Latn-RS" sz="4000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F195F13-E89B-CF8E-6C68-67330BECF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Blokira nit dok se interni brojač ne dovede na nulu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Nit koja pozove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sr-Latn-CS" altLang="sr-Latn-RS"/>
              <a:t> metodu se blokira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Svaki poziv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countDown()</a:t>
            </a:r>
            <a:r>
              <a:rPr lang="sr-Latn-CS" altLang="sr-Latn-RS"/>
              <a:t> metode smanjuje interni brojač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kada brojač dođe do nule, blokirana nit se deblokira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Služi da jedna nit sačeka da ostale niti obave neki posao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tek kada sve niti obave posao, ova nit se deblokira</a:t>
            </a:r>
            <a:endParaRPr lang="en-US" altLang="sr-Latn-R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E35EC7BA-0FFB-97DB-D429-DE661EF54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949951"/>
            <a:ext cx="172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primer06</a:t>
            </a:r>
            <a:endParaRPr lang="en-US" altLang="sr-Latn-R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3D39803D-F3A7-F443-D6EE-2060057EA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java.util.concurrent.atomic</a:t>
            </a:r>
            <a:endParaRPr lang="en-US" altLang="sr-Latn-RS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BD55796-4C5F-A20B-236F-AACB1EEC6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</a:t>
            </a:r>
            <a:r>
              <a:rPr lang="en-US" altLang="sr-Latn-RS"/>
              <a:t>ock-free thread-safe </a:t>
            </a:r>
            <a:r>
              <a:rPr lang="sr-Latn-CS" altLang="sr-Latn-RS"/>
              <a:t>promenljive</a:t>
            </a:r>
          </a:p>
          <a:p>
            <a:pPr eaLnBrk="1" hangingPunct="1"/>
            <a:r>
              <a:rPr lang="sr-Latn-CS" altLang="sr-Latn-RS"/>
              <a:t>Metode poput: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addAndGet(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param)</a:t>
            </a:r>
            <a:r>
              <a:rPr lang="sr-Latn-CS" altLang="sr-Latn-RS"/>
              <a:t>,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compareAndSet(expect, update)</a:t>
            </a:r>
            <a:r>
              <a:rPr lang="sr-Latn-CS" altLang="sr-Latn-RS"/>
              <a:t>, </a:t>
            </a: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incrementAndGet()</a:t>
            </a:r>
            <a:r>
              <a:rPr lang="sr-Latn-CS" altLang="sr-Latn-RS"/>
              <a:t> i sl.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1013</Words>
  <Application>Microsoft Office PowerPoint</Application>
  <PresentationFormat>Widescreen</PresentationFormat>
  <Paragraphs>145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Courier New</vt:lpstr>
      <vt:lpstr>Symbol</vt:lpstr>
      <vt:lpstr>Tahoma</vt:lpstr>
      <vt:lpstr>Office Theme</vt:lpstr>
      <vt:lpstr>Bitmap Image</vt:lpstr>
      <vt:lpstr>Konkurentno programiranje u Javi</vt:lpstr>
      <vt:lpstr>Konkurentno programiranje u Javi</vt:lpstr>
      <vt:lpstr>Kreiranje programskih niti</vt:lpstr>
      <vt:lpstr>Kreiranje programskih niti</vt:lpstr>
      <vt:lpstr>Kreiranje programskih niti</vt:lpstr>
      <vt:lpstr>Kreiranje više programskih niti</vt:lpstr>
      <vt:lpstr>Daemon i non-daemon niti</vt:lpstr>
      <vt:lpstr>sleep(n) metoda</vt:lpstr>
      <vt:lpstr>yield() metoda</vt:lpstr>
      <vt:lpstr>join() metoda</vt:lpstr>
      <vt:lpstr>Deljenje resursa između niti</vt:lpstr>
      <vt:lpstr>Deljenje resursa između niti</vt:lpstr>
      <vt:lpstr>synchronized blok</vt:lpstr>
      <vt:lpstr>Deljenje resursa između niti</vt:lpstr>
      <vt:lpstr>Deljenje resursa između niti</vt:lpstr>
      <vt:lpstr>wait-notify</vt:lpstr>
      <vt:lpstr>Deljenje resursa između niti</vt:lpstr>
      <vt:lpstr>Prazan bafer</vt:lpstr>
      <vt:lpstr>Pun bafer</vt:lpstr>
      <vt:lpstr>Bafer ni pun ni prazan</vt:lpstr>
      <vt:lpstr>Reentrant Lock</vt:lpstr>
      <vt:lpstr>BlockingQueue interfejs</vt:lpstr>
      <vt:lpstr>Semafor</vt:lpstr>
      <vt:lpstr>CyclicBarrier</vt:lpstr>
      <vt:lpstr>CountDownLatch</vt:lpstr>
      <vt:lpstr>java.util.concurrent.atomic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316</cp:revision>
  <dcterms:created xsi:type="dcterms:W3CDTF">2024-06-23T14:59:21Z</dcterms:created>
  <dcterms:modified xsi:type="dcterms:W3CDTF">2024-09-23T17:39:58Z</dcterms:modified>
</cp:coreProperties>
</file>