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90" r:id="rId5"/>
    <p:sldId id="292" r:id="rId6"/>
    <p:sldId id="279" r:id="rId7"/>
    <p:sldId id="306" r:id="rId8"/>
    <p:sldId id="307" r:id="rId9"/>
    <p:sldId id="308" r:id="rId10"/>
    <p:sldId id="280" r:id="rId11"/>
    <p:sldId id="281" r:id="rId12"/>
    <p:sldId id="282" r:id="rId13"/>
    <p:sldId id="286" r:id="rId14"/>
    <p:sldId id="287" r:id="rId15"/>
    <p:sldId id="283" r:id="rId16"/>
    <p:sldId id="302" r:id="rId17"/>
    <p:sldId id="284" r:id="rId18"/>
    <p:sldId id="285" r:id="rId19"/>
    <p:sldId id="288" r:id="rId20"/>
    <p:sldId id="289" r:id="rId21"/>
    <p:sldId id="293" r:id="rId22"/>
    <p:sldId id="294" r:id="rId23"/>
    <p:sldId id="303" r:id="rId24"/>
    <p:sldId id="304" r:id="rId25"/>
    <p:sldId id="305" r:id="rId26"/>
    <p:sldId id="260" r:id="rId27"/>
    <p:sldId id="262" r:id="rId28"/>
    <p:sldId id="263" r:id="rId29"/>
    <p:sldId id="264" r:id="rId30"/>
    <p:sldId id="265" r:id="rId31"/>
    <p:sldId id="266" r:id="rId32"/>
    <p:sldId id="267" r:id="rId33"/>
    <p:sldId id="269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604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EA1E6-74B9-B007-5B8B-E3A5BEC7E7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25DC65-D9A3-8C91-D14F-135FD3277F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61B2D0-ABF2-DADC-98E8-D615EE8EF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66D3-81FA-46C7-BBEE-81AC462F986E}" type="datetimeFigureOut">
              <a:rPr lang="en-US" smtClean="0"/>
              <a:t>6/24/2024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4E711A-EC7D-8349-D77F-89CD63C04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CE1356-1B18-3548-65B5-08AF3EB65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DBAF-28A0-433E-9338-4C22205A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78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762C9-9004-FAA2-0F2F-3B0AA3913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58230-FC2A-7231-CFF5-8A749913C3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44128B-F2A3-5D22-4112-A9C432376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66D3-81FA-46C7-BBEE-81AC462F986E}" type="datetimeFigureOut">
              <a:rPr lang="en-US" smtClean="0"/>
              <a:t>6/24/2024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CAC9AA-B4B6-1FE3-7822-7C8A415C2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52A48F-7FF1-5C4E-8940-5DF337B1AC88}"/>
              </a:ext>
            </a:extLst>
          </p:cNvPr>
          <p:cNvSpPr txBox="1"/>
          <p:nvPr userDrawn="1"/>
        </p:nvSpPr>
        <p:spPr>
          <a:xfrm>
            <a:off x="8606348" y="6356350"/>
            <a:ext cx="27474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C0990961-FEE4-4147-85DF-F26C93E51AE9}" type="slidenum">
              <a:rPr lang="en-US" smtClean="0"/>
              <a:pPr algn="r"/>
              <a:t>‹#›</a:t>
            </a:fld>
            <a:r>
              <a:rPr lang="sr-Latn-RS"/>
              <a:t>/33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225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D78E1-36ED-F2E5-5AE2-BBF0048D3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D37252-6392-D97E-A32E-DF0DF5B966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66E1B3-93BA-60B1-5749-46AD88553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66D3-81FA-46C7-BBEE-81AC462F986E}" type="datetimeFigureOut">
              <a:rPr lang="en-US" smtClean="0"/>
              <a:t>6/24/2024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FD68F8-B119-91F9-ED23-0E303ACEC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B75E46-38EE-04FB-8F4C-08A7F14B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DBAF-28A0-433E-9338-4C22205A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32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BC009-88D3-3972-F885-2A8BFD424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4CF20C-A309-F9DA-63F3-26BC519C91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92264E-8D42-E2BE-9287-EC0885F1C4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9CAA43-CF6B-E2D0-7E48-984532AB4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66D3-81FA-46C7-BBEE-81AC462F986E}" type="datetimeFigureOut">
              <a:rPr lang="en-US" smtClean="0"/>
              <a:t>6/24/2024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37FBBB-A6A4-916E-C2F8-1713820F0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B8F410-6D25-0349-92D2-8E61E5242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DBAF-28A0-433E-9338-4C22205A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768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5540A-E0DF-243B-D9C7-EF52AC8C5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D80F96-DD89-F749-F6B7-CEAD4BAD5F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BDF807-9C41-E99E-7F37-F4132EAA4F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474686-207E-C685-98A0-419353DF27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85AE6D-D3CC-9A61-683C-598C5D8337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05CADA-7E10-0255-BD45-26816E36C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66D3-81FA-46C7-BBEE-81AC462F986E}" type="datetimeFigureOut">
              <a:rPr lang="en-US" smtClean="0"/>
              <a:t>6/24/2024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FE906F-F859-6D3D-3E05-12BDD9DE6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D7164-45E3-3B46-BDD8-D7F3FAD6C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DBAF-28A0-433E-9338-4C22205A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321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A7579-F4A2-BA42-2D55-A3A68C92D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2C16C9-DCA0-CB78-5FC9-2B190A96C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66D3-81FA-46C7-BBEE-81AC462F986E}" type="datetimeFigureOut">
              <a:rPr lang="en-US" smtClean="0"/>
              <a:t>6/24/2024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DFCEFE-F0D9-C890-4083-336E657B0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AC13E0-9B4B-453E-17BA-F01D4E7DC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DBAF-28A0-433E-9338-4C22205A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3289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6C93AE-636C-EAE0-3F80-219438AD6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66D3-81FA-46C7-BBEE-81AC462F986E}" type="datetimeFigureOut">
              <a:rPr lang="en-US" smtClean="0"/>
              <a:t>6/24/2024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F733B9-E924-3C34-33B8-D3AC8F677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0BCC0E-1D47-0ED3-FFCB-C5540DABA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DBAF-28A0-433E-9338-4C22205A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707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1E3C8-5253-05F9-9412-7C9F274BB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87C69-CD9D-604F-BE2C-EB26DFE484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F42EF5-B3D6-56DA-92F8-36D1EADC9C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99160B-36E5-28B5-DD65-680BED931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66D3-81FA-46C7-BBEE-81AC462F986E}" type="datetimeFigureOut">
              <a:rPr lang="en-US" smtClean="0"/>
              <a:t>6/24/2024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91F8A6-C26B-CB55-507E-CD7A98B33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0375D1-C5AB-B42C-F0F8-6D1CDE29E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DBAF-28A0-433E-9338-4C22205A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109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F97B1-508A-A836-2017-A1E1FF89B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D13571-0329-952B-89AA-B512A60AF2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30C187-5142-7791-AA17-D5D69330EC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D310CA-AB77-1BEC-92D7-F375EECB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66D3-81FA-46C7-BBEE-81AC462F986E}" type="datetimeFigureOut">
              <a:rPr lang="en-US" smtClean="0"/>
              <a:t>6/24/2024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2E4817-AB0E-5596-A378-05A0B1D17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A87B7E-8673-C82E-3626-04A9E76EE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DBAF-28A0-433E-9338-4C22205A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146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38929-9984-F28E-2B3D-2C95D224B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E0EBCC-FB38-E1A6-C695-04589A11BD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44006F-CBAC-6702-15D4-A4C779972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66D3-81FA-46C7-BBEE-81AC462F986E}" type="datetimeFigureOut">
              <a:rPr lang="en-US" smtClean="0"/>
              <a:t>6/24/2024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40036A-FD6E-7308-2B3D-B4E5FC219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E6DCA0-62F2-F218-904D-EF522795F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DBAF-28A0-433E-9338-4C22205A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41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642F05-54B6-2C5A-F807-FEEB02216C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AB4F83-82F3-0FDE-5BC4-A96CAF7B9D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66EBDC-CDE1-E403-836B-C85FEDED1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66D3-81FA-46C7-BBEE-81AC462F986E}" type="datetimeFigureOut">
              <a:rPr lang="en-US" smtClean="0"/>
              <a:t>6/24/2024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C3D518-2EEE-EEF6-B5AA-92138BC35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0B789C-1E49-4CE2-9965-82FD9046D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DBAF-28A0-433E-9338-4C22205A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53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A4C8D8-6766-8B92-F773-71A1DF940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A57BD0-82D6-03A3-CB53-950A90FF79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70C2FD-5433-4460-9C48-9193FCBE69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6F66D3-81FA-46C7-BBEE-81AC462F986E}" type="datetimeFigureOut">
              <a:rPr lang="en-US" smtClean="0"/>
              <a:t>6/24/2024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3668D8-10DC-445B-41A0-348DA8F26E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09E9E3-3351-81DD-B3EC-22EF79A96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EBDBAF-28A0-433E-9338-4C22205A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658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r-Latn-CS" altLang="sr-Latn-RS"/>
              <a:t>Inženjerstvo Serverskog Sloja</a:t>
            </a:r>
            <a:br>
              <a:rPr lang="sr-Latn-CS" altLang="sr-Latn-RS"/>
            </a:br>
            <a:r>
              <a:rPr lang="sr-Latn-CS" altLang="sr-Latn-RS" sz="2800"/>
              <a:t>prof. dr Milan Vidaković</a:t>
            </a:r>
            <a:endParaRPr lang="sr-Latn-R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r-Latn-RS">
                <a:solidFill>
                  <a:schemeClr val="bg1">
                    <a:lumMod val="50000"/>
                  </a:schemeClr>
                </a:solidFill>
              </a:rPr>
              <a:t>Spring Boot</a:t>
            </a:r>
          </a:p>
          <a:p>
            <a:r>
              <a:rPr lang="sr-Latn-RS">
                <a:solidFill>
                  <a:schemeClr val="bg1">
                    <a:lumMod val="50000"/>
                  </a:schemeClr>
                </a:solidFill>
              </a:rPr>
              <a:t>Uvod</a:t>
            </a:r>
          </a:p>
        </p:txBody>
      </p:sp>
    </p:spTree>
    <p:extLst>
      <p:ext uri="{BB962C8B-B14F-4D97-AF65-F5344CB8AC3E}">
        <p14:creationId xmlns:p14="http://schemas.microsoft.com/office/powerpoint/2010/main" val="40917575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Uvod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r-Latn-RS"/>
              <a:t>Spring je okruženje koje značajno pojednostavljuje programiranje</a:t>
            </a:r>
          </a:p>
          <a:p>
            <a:pPr lvl="1"/>
            <a:r>
              <a:rPr lang="sr-Latn-RS"/>
              <a:t>kolekcija biblioteka.</a:t>
            </a:r>
          </a:p>
          <a:p>
            <a:r>
              <a:rPr lang="sr-Latn-RS"/>
              <a:t>Koristi se Dependency Injection, AOP, itd.</a:t>
            </a:r>
          </a:p>
          <a:p>
            <a:r>
              <a:rPr lang="sr-Latn-RS"/>
              <a:t>Spring Boot je okruženje koje inkorporira Spring, ali i built-in Tomcat, tako da se prave standalone aplikacije (klasične, ne nužno JavaEE), koje se brzo startuju, pa je i razvoj brži</a:t>
            </a:r>
          </a:p>
          <a:p>
            <a:pPr lvl="1"/>
            <a:r>
              <a:rPr lang="sr-Latn-RS"/>
              <a:t>može posle da se instalira i u JavaEE aplikativni server,</a:t>
            </a:r>
          </a:p>
          <a:p>
            <a:pPr lvl="1"/>
            <a:r>
              <a:rPr lang="sr-Latn-RS"/>
              <a:t>veliki broj anotacija koje eliminišu potrebu za obimnim konfigurisanjem.</a:t>
            </a:r>
          </a:p>
        </p:txBody>
      </p:sp>
    </p:spTree>
    <p:extLst>
      <p:ext uri="{BB962C8B-B14F-4D97-AF65-F5344CB8AC3E}">
        <p14:creationId xmlns:p14="http://schemas.microsoft.com/office/powerpoint/2010/main" val="3114584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Spring moduli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sr-Latn-R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4275" y="1406228"/>
            <a:ext cx="4743450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23165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Spring Boot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/>
              <a:t>Fokusiraćemo se na:</a:t>
            </a:r>
          </a:p>
          <a:p>
            <a:pPr lvl="1"/>
            <a:r>
              <a:rPr lang="sr-Latn-RS"/>
              <a:t>Spring Dependency Injection,</a:t>
            </a:r>
          </a:p>
          <a:p>
            <a:pPr lvl="1"/>
            <a:r>
              <a:rPr lang="sr-Latn-RS"/>
              <a:t>Spring Web/REST,</a:t>
            </a:r>
          </a:p>
          <a:p>
            <a:pPr lvl="1"/>
            <a:r>
              <a:rPr lang="sr-Latn-RS"/>
              <a:t>Spring ORM/JPA,</a:t>
            </a:r>
          </a:p>
          <a:p>
            <a:pPr lvl="1"/>
            <a:r>
              <a:rPr lang="sr-Latn-RS"/>
              <a:t>Spring Web/Security.</a:t>
            </a:r>
          </a:p>
        </p:txBody>
      </p:sp>
    </p:spTree>
    <p:extLst>
      <p:ext uri="{BB962C8B-B14F-4D97-AF65-F5344CB8AC3E}">
        <p14:creationId xmlns:p14="http://schemas.microsoft.com/office/powerpoint/2010/main" val="2872661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Spring Dependency Injection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26436775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Spring Dependency Injection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/>
              <a:t>Umesto ručnog instanciranja, compile-time, Spring omogućuje da instanciranje obavimo run-time</a:t>
            </a:r>
          </a:p>
          <a:p>
            <a:pPr lvl="1"/>
            <a:r>
              <a:rPr lang="sr-Latn-RS"/>
              <a:t>to znači da u kodu nećemo instancirati potrebne softverske komponente, već ćemo označiti da hoćemo da Spring ubaci konkretne instance;</a:t>
            </a:r>
          </a:p>
          <a:p>
            <a:pPr lvl="1"/>
            <a:r>
              <a:rPr lang="sr-Latn-RS"/>
              <a:t>možemo da sve ovo uradimo anotacijama, ili</a:t>
            </a:r>
          </a:p>
          <a:p>
            <a:pPr lvl="1"/>
            <a:r>
              <a:rPr lang="sr-Latn-RS"/>
              <a:t>xml konfiguracionim fajlom.</a:t>
            </a:r>
          </a:p>
        </p:txBody>
      </p:sp>
    </p:spTree>
    <p:extLst>
      <p:ext uri="{BB962C8B-B14F-4D97-AF65-F5344CB8AC3E}">
        <p14:creationId xmlns:p14="http://schemas.microsoft.com/office/powerpoint/2010/main" val="3975454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586B3-DB0A-4D73-95CD-4FE5BB33E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Spring Dependancy Injection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F81B35-75AD-1EE2-6353-DC09A4B7B2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r-Latn-RS"/>
              <a:t>Kako bismo bez DI obezbedili da imamo u ove tri klase sve atribute postavljene na odgovarajuće vrednosti?</a:t>
            </a:r>
          </a:p>
          <a:p>
            <a:pPr marL="0" indent="0">
              <a:buNone/>
            </a:pPr>
            <a:r>
              <a:rPr 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class A { B b; }</a:t>
            </a:r>
          </a:p>
          <a:p>
            <a:pPr marL="0" indent="0">
              <a:buNone/>
            </a:pPr>
            <a:r>
              <a:rPr 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class B { C c; }</a:t>
            </a:r>
          </a:p>
          <a:p>
            <a:pPr marL="0" indent="0">
              <a:buNone/>
            </a:pPr>
            <a:r>
              <a:rPr 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class C { D d; }</a:t>
            </a:r>
          </a:p>
          <a:p>
            <a:pPr marL="0" indent="0">
              <a:buNone/>
            </a:pPr>
            <a:r>
              <a:rPr 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class D { }</a:t>
            </a:r>
          </a:p>
          <a:p>
            <a:r>
              <a:rPr lang="sr-Latn-RS"/>
              <a:t>Morali bismo da pišemo konstruktore sa parametrima i da vodimo računa ko koga poziva.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147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2DE2A-68EF-927E-E75C-5B2C24267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Spring Dependancy Injection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1832DB-A291-6365-CF71-EE6733182A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1"/>
            <a:ext cx="9650288" cy="45259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... public B (C c) { this.c = c; }...</a:t>
            </a:r>
          </a:p>
          <a:p>
            <a:pPr marL="0" indent="0">
              <a:buNone/>
            </a:pPr>
            <a:r>
              <a:rPr 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... public C (D d) { this.d = d; }...</a:t>
            </a:r>
          </a:p>
          <a:p>
            <a:pPr marL="0" indent="0">
              <a:buNone/>
            </a:pPr>
            <a:r>
              <a:rPr 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class A {</a:t>
            </a:r>
          </a:p>
          <a:p>
            <a:pPr marL="0" indent="0">
              <a:buNone/>
            </a:pPr>
            <a:r>
              <a:rPr 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   B b;</a:t>
            </a:r>
          </a:p>
          <a:p>
            <a:pPr marL="0" indent="0">
              <a:buNone/>
            </a:pPr>
            <a:r>
              <a:rPr 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   public A() {</a:t>
            </a:r>
          </a:p>
          <a:p>
            <a:pPr marL="0" indent="0">
              <a:buNone/>
            </a:pPr>
            <a:r>
              <a:rPr 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      D d = new D();</a:t>
            </a:r>
          </a:p>
          <a:p>
            <a:pPr marL="0" indent="0">
              <a:buNone/>
            </a:pPr>
            <a:r>
              <a:rPr 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      C c = new C(d);</a:t>
            </a:r>
          </a:p>
          <a:p>
            <a:pPr marL="0" indent="0">
              <a:buNone/>
            </a:pPr>
            <a:r>
              <a:rPr 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      this.b = new B(c);</a:t>
            </a:r>
          </a:p>
          <a:p>
            <a:pPr marL="0" indent="0">
              <a:buNone/>
            </a:pPr>
            <a:r>
              <a:rPr 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</a:p>
          <a:p>
            <a:pPr marL="0" indent="0">
              <a:buNone/>
            </a:pPr>
            <a:r>
              <a:rPr 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10044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271AF-59C6-70EE-7FB5-265EC36B8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Spring Dependancy Injection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B5E774-0D8A-36C1-3FF8-18BA68BDD0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/>
              <a:t>Umesto svega ovoga, mi samo napišemo:</a:t>
            </a:r>
          </a:p>
          <a:p>
            <a:pPr marL="0" indent="0">
              <a:buNone/>
            </a:pPr>
            <a:r>
              <a:rPr 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class A { @Autowired B b; }</a:t>
            </a:r>
          </a:p>
          <a:p>
            <a:pPr marL="0" indent="0">
              <a:buNone/>
            </a:pPr>
            <a:r>
              <a:rPr 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class B { @Autowired C c; }</a:t>
            </a:r>
          </a:p>
          <a:p>
            <a:pPr marL="0" indent="0">
              <a:buNone/>
            </a:pPr>
            <a:r>
              <a:rPr 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class C { @Autowired D d; }</a:t>
            </a:r>
          </a:p>
          <a:p>
            <a:pPr marL="0" indent="0">
              <a:buNone/>
            </a:pPr>
            <a:r>
              <a:rPr 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class D { }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0722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Spring Dependency Injection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567731"/>
            <a:ext cx="11053234" cy="4925144"/>
          </a:xfrm>
        </p:spPr>
        <p:txBody>
          <a:bodyPr>
            <a:normAutofit fontScale="77500" lnSpcReduction="20000"/>
          </a:bodyPr>
          <a:lstStyle/>
          <a:p>
            <a:r>
              <a:rPr lang="sr-Latn-RS"/>
              <a:t>Sve softverske komponente koje ćemo koristiti označavamo @</a:t>
            </a:r>
            <a:r>
              <a:rPr lang="sr-Latn-RS" b="1"/>
              <a:t>Component</a:t>
            </a:r>
            <a:r>
              <a:rPr lang="sr-Latn-RS"/>
              <a:t> anotacijom.</a:t>
            </a:r>
          </a:p>
          <a:p>
            <a:r>
              <a:rPr lang="sr-Latn-RS"/>
              <a:t>Postoje i specijalizacije ove anotacije:</a:t>
            </a:r>
          </a:p>
          <a:p>
            <a:endParaRPr lang="sr-Latn-RS"/>
          </a:p>
          <a:p>
            <a:endParaRPr lang="sr-Latn-RS"/>
          </a:p>
          <a:p>
            <a:endParaRPr lang="sr-Latn-RS"/>
          </a:p>
          <a:p>
            <a:endParaRPr lang="sr-Latn-RS"/>
          </a:p>
          <a:p>
            <a:endParaRPr lang="sr-Latn-RS"/>
          </a:p>
          <a:p>
            <a:endParaRPr lang="sr-Latn-RS"/>
          </a:p>
          <a:p>
            <a:endParaRPr lang="sr-Latn-RS"/>
          </a:p>
          <a:p>
            <a:r>
              <a:rPr lang="sr-Latn-RS"/>
              <a:t>@</a:t>
            </a:r>
            <a:r>
              <a:rPr lang="sr-Latn-RS" b="1"/>
              <a:t>Controller</a:t>
            </a:r>
            <a:r>
              <a:rPr lang="sr-Latn-RS"/>
              <a:t> je specijalizovana komponenta za rutiranje HTTP zahteva</a:t>
            </a:r>
          </a:p>
          <a:p>
            <a:r>
              <a:rPr lang="sr-Latn-RS"/>
              <a:t>@</a:t>
            </a:r>
            <a:r>
              <a:rPr lang="sr-Latn-RS" b="1"/>
              <a:t>Service</a:t>
            </a:r>
            <a:r>
              <a:rPr lang="sr-Latn-RS"/>
              <a:t> je specijalizovana komponenta za realizaciju poslovne logike</a:t>
            </a:r>
          </a:p>
          <a:p>
            <a:r>
              <a:rPr lang="sr-Latn-RS"/>
              <a:t>@</a:t>
            </a:r>
            <a:r>
              <a:rPr lang="sr-Latn-RS" b="1"/>
              <a:t>Repository</a:t>
            </a:r>
            <a:r>
              <a:rPr lang="sr-Latn-RS"/>
              <a:t> je specijalizovana komponenta za realizaciju DAO (Data Access Object)</a:t>
            </a:r>
          </a:p>
          <a:p>
            <a:pPr lvl="1"/>
            <a:r>
              <a:rPr lang="sr-Latn-RS"/>
              <a:t>svi izuzeci se prepakuju u spring izuzetke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1777" y="2780928"/>
            <a:ext cx="3810000" cy="165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05222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Spring Dependency Injection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r-Latn-RS"/>
              <a:t>Primer komponente:</a:t>
            </a:r>
          </a:p>
          <a:p>
            <a:pPr marL="0" indent="0">
              <a:buNone/>
            </a:pPr>
            <a:r>
              <a:rPr lang="sr-Latn-RS" sz="2600" b="1">
                <a:latin typeface="Courier New" panose="02070309020205020404" pitchFamily="49" charset="0"/>
                <a:cs typeface="Courier New" panose="02070309020205020404" pitchFamily="49" charset="0"/>
              </a:rPr>
              <a:t>@Component</a:t>
            </a:r>
          </a:p>
          <a:p>
            <a:pPr marL="0" indent="0">
              <a:buNone/>
            </a:pPr>
            <a:r>
              <a:rPr lang="sr-Latn-RS" sz="2600" b="1">
                <a:latin typeface="Courier New" panose="02070309020205020404" pitchFamily="49" charset="0"/>
                <a:cs typeface="Courier New" panose="02070309020205020404" pitchFamily="49" charset="0"/>
              </a:rPr>
              <a:t>class DummyBean {</a:t>
            </a:r>
          </a:p>
          <a:p>
            <a:pPr marL="0" indent="0">
              <a:buNone/>
            </a:pPr>
            <a:r>
              <a:rPr lang="sr-Latn-RS" sz="26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sr-Latn-RS"/>
              <a:t>Tri vrste injekcije neke komponente u drugu:</a:t>
            </a:r>
          </a:p>
          <a:p>
            <a:pPr lvl="1"/>
            <a:r>
              <a:rPr lang="sr-Latn-RS" b="1"/>
              <a:t>Field</a:t>
            </a:r>
            <a:r>
              <a:rPr lang="sr-Latn-RS"/>
              <a:t> </a:t>
            </a:r>
            <a:r>
              <a:rPr lang="sr-Latn-RS" b="1"/>
              <a:t>DI</a:t>
            </a:r>
            <a:r>
              <a:rPr lang="sr-Latn-RS"/>
              <a:t>: stavimo @</a:t>
            </a:r>
            <a:r>
              <a:rPr lang="sr-Latn-RS" b="1"/>
              <a:t>Autowired</a:t>
            </a:r>
            <a:r>
              <a:rPr lang="sr-Latn-RS"/>
              <a:t> iznad atributa tipa </a:t>
            </a:r>
            <a:r>
              <a:rPr lang="sr-Latn-RS" b="1"/>
              <a:t>DummyBean</a:t>
            </a:r>
          </a:p>
          <a:p>
            <a:pPr lvl="1"/>
            <a:r>
              <a:rPr lang="sr-Latn-RS" b="1"/>
              <a:t>Setter</a:t>
            </a:r>
            <a:r>
              <a:rPr lang="sr-Latn-RS"/>
              <a:t> </a:t>
            </a:r>
            <a:r>
              <a:rPr lang="sr-Latn-RS" b="1"/>
              <a:t>DI</a:t>
            </a:r>
            <a:r>
              <a:rPr lang="sr-Latn-RS"/>
              <a:t>: stavimo @</a:t>
            </a:r>
            <a:r>
              <a:rPr lang="sr-Latn-RS" b="1"/>
              <a:t>Autowired</a:t>
            </a:r>
            <a:r>
              <a:rPr lang="sr-Latn-RS"/>
              <a:t> iznad settera, koji prima parametar tipa </a:t>
            </a:r>
            <a:r>
              <a:rPr lang="sr-Latn-RS" b="1"/>
              <a:t>DummyBean</a:t>
            </a:r>
          </a:p>
          <a:p>
            <a:pPr lvl="1"/>
            <a:r>
              <a:rPr lang="sr-Latn-RS" b="1"/>
              <a:t>Constructor</a:t>
            </a:r>
            <a:r>
              <a:rPr lang="sr-Latn-RS"/>
              <a:t> </a:t>
            </a:r>
            <a:r>
              <a:rPr lang="sr-Latn-RS" b="1"/>
              <a:t>DI</a:t>
            </a:r>
            <a:r>
              <a:rPr lang="sr-Latn-RS"/>
              <a:t>: stavimo @</a:t>
            </a:r>
            <a:r>
              <a:rPr lang="sr-Latn-RS" b="1"/>
              <a:t>Autowired</a:t>
            </a:r>
            <a:r>
              <a:rPr lang="sr-Latn-RS"/>
              <a:t> iznad konstruktora koji kao parametar prima objekat klase </a:t>
            </a:r>
            <a:r>
              <a:rPr lang="sr-Latn-RS" b="1"/>
              <a:t>DummyBean</a:t>
            </a:r>
          </a:p>
        </p:txBody>
      </p:sp>
    </p:spTree>
    <p:extLst>
      <p:ext uri="{BB962C8B-B14F-4D97-AF65-F5344CB8AC3E}">
        <p14:creationId xmlns:p14="http://schemas.microsoft.com/office/powerpoint/2010/main" val="1408364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Field Dependency Injection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@Component</a:t>
            </a:r>
          </a:p>
          <a:p>
            <a:pPr marL="0" indent="0">
              <a:buNone/>
            </a:pPr>
            <a:r>
              <a:rPr 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class DummyBean {</a:t>
            </a:r>
          </a:p>
          <a:p>
            <a:pPr marL="0" indent="0">
              <a:buNone/>
            </a:pPr>
            <a:r>
              <a:rPr 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@Component</a:t>
            </a:r>
          </a:p>
          <a:p>
            <a:pPr marL="0" indent="0">
              <a:buNone/>
            </a:pPr>
            <a:r>
              <a:rPr 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class MyApp {</a:t>
            </a:r>
          </a:p>
          <a:p>
            <a:pPr marL="0" indent="0">
              <a:buNone/>
            </a:pPr>
            <a:r>
              <a:rPr 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	@Autowired</a:t>
            </a:r>
          </a:p>
          <a:p>
            <a:pPr marL="0" indent="0">
              <a:buNone/>
            </a:pPr>
            <a:r>
              <a:rPr 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	DummyBean db;</a:t>
            </a:r>
          </a:p>
          <a:p>
            <a:pPr marL="0" indent="0">
              <a:buNone/>
            </a:pPr>
            <a:r>
              <a:rPr 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20670142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Setter Dependency Injection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@Component</a:t>
            </a:r>
          </a:p>
          <a:p>
            <a:pPr marL="0" indent="0">
              <a:buNone/>
            </a:pPr>
            <a:r>
              <a:rPr 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class DummyBean {</a:t>
            </a:r>
          </a:p>
          <a:p>
            <a:pPr marL="0" indent="0">
              <a:buNone/>
            </a:pPr>
            <a:r>
              <a:rPr 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@Component</a:t>
            </a:r>
          </a:p>
          <a:p>
            <a:pPr marL="0" indent="0">
              <a:buNone/>
            </a:pPr>
            <a:r>
              <a:rPr 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class MyApp {</a:t>
            </a:r>
          </a:p>
          <a:p>
            <a:pPr marL="0" indent="0">
              <a:buNone/>
            </a:pPr>
            <a:r>
              <a:rPr 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	@Autowired</a:t>
            </a:r>
          </a:p>
          <a:p>
            <a:pPr marL="0" indent="0">
              <a:buNone/>
            </a:pPr>
            <a:r>
              <a:rPr 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	void setDb(DummyBean db) {</a:t>
            </a:r>
          </a:p>
          <a:p>
            <a:pPr marL="0" indent="0">
              <a:buNone/>
            </a:pPr>
            <a:r>
              <a:rPr 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       ...</a:t>
            </a:r>
          </a:p>
          <a:p>
            <a:pPr marL="0" indent="0">
              <a:buNone/>
            </a:pPr>
            <a:r>
              <a:rPr 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buNone/>
            </a:pPr>
            <a:r>
              <a:rPr 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30027129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Constructor Dependency Injection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@Component</a:t>
            </a:r>
          </a:p>
          <a:p>
            <a:pPr marL="0" indent="0">
              <a:buNone/>
            </a:pPr>
            <a:r>
              <a:rPr 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class DummyBean {</a:t>
            </a:r>
          </a:p>
          <a:p>
            <a:pPr marL="0" indent="0">
              <a:buNone/>
            </a:pPr>
            <a:r>
              <a:rPr 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@Component</a:t>
            </a:r>
          </a:p>
          <a:p>
            <a:pPr marL="0" indent="0">
              <a:buNone/>
            </a:pPr>
            <a:r>
              <a:rPr 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class MyApp {</a:t>
            </a:r>
          </a:p>
          <a:p>
            <a:pPr marL="0" indent="0">
              <a:buNone/>
            </a:pPr>
            <a:r>
              <a:rPr 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	@Autowired</a:t>
            </a:r>
          </a:p>
          <a:p>
            <a:pPr marL="0" indent="0">
              <a:buNone/>
            </a:pPr>
            <a:r>
              <a:rPr 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	public MyApp(DummyBean db) {</a:t>
            </a:r>
          </a:p>
          <a:p>
            <a:pPr marL="0" indent="0">
              <a:buNone/>
            </a:pPr>
            <a:r>
              <a:rPr 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      ...</a:t>
            </a:r>
          </a:p>
          <a:p>
            <a:pPr marL="0" indent="0">
              <a:buNone/>
            </a:pPr>
            <a:r>
              <a:rPr 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buNone/>
            </a:pPr>
            <a:r>
              <a:rPr 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13071008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8867" y="365125"/>
            <a:ext cx="10917765" cy="1325563"/>
          </a:xfrm>
        </p:spPr>
        <p:txBody>
          <a:bodyPr>
            <a:normAutofit/>
          </a:bodyPr>
          <a:lstStyle/>
          <a:p>
            <a:r>
              <a:rPr lang="sr-Latn-RS" sz="4000"/>
              <a:t>Ako ne stavimo @Component anotaciju iznad klase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class DummyBean {</a:t>
            </a:r>
          </a:p>
          <a:p>
            <a:pPr marL="0" indent="0">
              <a:buNone/>
            </a:pPr>
            <a:r>
              <a:rPr 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@Component</a:t>
            </a:r>
          </a:p>
          <a:p>
            <a:pPr marL="0" indent="0">
              <a:buNone/>
            </a:pPr>
            <a:r>
              <a:rPr 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class MyApp {</a:t>
            </a:r>
          </a:p>
          <a:p>
            <a:pPr marL="0" indent="0">
              <a:buNone/>
            </a:pPr>
            <a:r>
              <a:rPr 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	@Autowired</a:t>
            </a:r>
          </a:p>
          <a:p>
            <a:pPr marL="0" indent="0">
              <a:buNone/>
            </a:pPr>
            <a:r>
              <a:rPr 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	DummyBean db;</a:t>
            </a:r>
          </a:p>
          <a:p>
            <a:pPr marL="0" indent="0">
              <a:buNone/>
            </a:pPr>
            <a:r>
              <a:rPr 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sr-Latn-RS"/>
          </a:p>
        </p:txBody>
      </p:sp>
      <p:sp>
        <p:nvSpPr>
          <p:cNvPr id="4" name="Rounded Rectangular Callout 3"/>
          <p:cNvSpPr/>
          <p:nvPr/>
        </p:nvSpPr>
        <p:spPr>
          <a:xfrm>
            <a:off x="6384032" y="3068960"/>
            <a:ext cx="3672408" cy="1584176"/>
          </a:xfrm>
          <a:prstGeom prst="wedgeRoundRectCallout">
            <a:avLst>
              <a:gd name="adj1" fmla="val -72706"/>
              <a:gd name="adj2" fmla="val 26081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/>
              <a:t>Da bi ovo radilo, moramo da napravimo getter u konfiguracionoj klasi i da stavimo @Bean anotaciju</a:t>
            </a:r>
          </a:p>
        </p:txBody>
      </p:sp>
    </p:spTree>
    <p:extLst>
      <p:ext uri="{BB962C8B-B14F-4D97-AF65-F5344CB8AC3E}">
        <p14:creationId xmlns:p14="http://schemas.microsoft.com/office/powerpoint/2010/main" val="24386576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Konfiguraciona klasa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/>
              <a:t>Obavezan deo projekta.</a:t>
            </a:r>
          </a:p>
          <a:p>
            <a:r>
              <a:rPr lang="sr-Latn-RS"/>
              <a:t>Ima @</a:t>
            </a:r>
            <a:r>
              <a:rPr lang="sr-Latn-RS" b="1"/>
              <a:t>Configuration</a:t>
            </a:r>
            <a:r>
              <a:rPr lang="sr-Latn-RS"/>
              <a:t> anotaciju iznad klase.</a:t>
            </a:r>
          </a:p>
          <a:p>
            <a:r>
              <a:rPr lang="sr-Latn-RS"/>
              <a:t>Navodi se kod pretraživanja konteksta.</a:t>
            </a:r>
          </a:p>
        </p:txBody>
      </p:sp>
    </p:spTree>
    <p:extLst>
      <p:ext uri="{BB962C8B-B14F-4D97-AF65-F5344CB8AC3E}">
        <p14:creationId xmlns:p14="http://schemas.microsoft.com/office/powerpoint/2010/main" val="304704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50106"/>
          </a:xfrm>
        </p:spPr>
        <p:txBody>
          <a:bodyPr/>
          <a:lstStyle/>
          <a:p>
            <a:r>
              <a:rPr lang="sr-Latn-RS"/>
              <a:t>Konfiguraciona klasa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47528" y="1556792"/>
            <a:ext cx="8579296" cy="504056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sr-Latn-RS" sz="20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@Configuration</a:t>
            </a:r>
          </a:p>
          <a:p>
            <a:pPr marL="0" indent="0">
              <a:buNone/>
            </a:pP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@ComponentScan(basePackages = {"testspring"})</a:t>
            </a:r>
          </a:p>
          <a:p>
            <a:pPr marL="0" indent="0">
              <a:buNone/>
            </a:pP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public class AppConfig {</a:t>
            </a:r>
          </a:p>
          <a:p>
            <a:pPr marL="0" indent="0">
              <a:buNone/>
            </a:pP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/**</a:t>
            </a:r>
          </a:p>
          <a:p>
            <a:pPr marL="0" indent="0">
              <a:buNone/>
            </a:pP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* Ili stavljamo anotaciju @Bean ispred metode koja</a:t>
            </a:r>
          </a:p>
          <a:p>
            <a:pPr marL="0" indent="0">
              <a:buNone/>
            </a:pP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* kreira instancu,</a:t>
            </a:r>
          </a:p>
          <a:p>
            <a:pPr marL="0" indent="0">
              <a:buNone/>
            </a:pP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* ili stavljamo iznad same klase anotaciju @Component.</a:t>
            </a:r>
          </a:p>
          <a:p>
            <a:pPr marL="0" indent="0">
              <a:buNone/>
            </a:pP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*/</a:t>
            </a:r>
          </a:p>
          <a:p>
            <a:pPr marL="0" indent="0">
              <a:buNone/>
            </a:pP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sr-Latn-RS" sz="20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@Bean</a:t>
            </a:r>
          </a:p>
          <a:p>
            <a:pPr marL="0" indent="0">
              <a:buNone/>
            </a:pPr>
            <a:r>
              <a:rPr lang="sr-Latn-RS" sz="20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public DummyBean getDummy() {</a:t>
            </a:r>
          </a:p>
          <a:p>
            <a:pPr marL="0" indent="0">
              <a:buNone/>
            </a:pPr>
            <a:r>
              <a:rPr lang="sr-Latn-RS" sz="20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 new DummyBean();</a:t>
            </a:r>
          </a:p>
          <a:p>
            <a:pPr marL="0" indent="0">
              <a:buNone/>
            </a:pPr>
            <a:r>
              <a:rPr lang="sr-Latn-RS" sz="20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0" indent="0">
              <a:buNone/>
            </a:pP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867820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sz="4000"/>
              <a:t>Više komponenti koje implementiraju isti interfejs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/>
              <a:t>Šta ako imamo više komponenti koje implementiraju isti interfejs?</a:t>
            </a:r>
          </a:p>
          <a:p>
            <a:pPr lvl="1"/>
            <a:r>
              <a:rPr lang="sr-Latn-RS"/>
              <a:t>DI će imati problem da razluči koju konkretnu komponentu da injektuje, pošto on po defaultu to radi po tipu.</a:t>
            </a:r>
          </a:p>
          <a:p>
            <a:pPr lvl="2"/>
            <a:r>
              <a:rPr lang="sr-Latn-RS"/>
              <a:t>baciće izuzetak!</a:t>
            </a:r>
          </a:p>
          <a:p>
            <a:r>
              <a:rPr lang="sr-Latn-RS"/>
              <a:t>Ubacićemo imena komponenti u igru.</a:t>
            </a:r>
          </a:p>
        </p:txBody>
      </p:sp>
    </p:spTree>
    <p:extLst>
      <p:ext uri="{BB962C8B-B14F-4D97-AF65-F5344CB8AC3E}">
        <p14:creationId xmlns:p14="http://schemas.microsoft.com/office/powerpoint/2010/main" val="1186795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4892"/>
            <a:ext cx="10515600" cy="792760"/>
          </a:xfrm>
        </p:spPr>
        <p:txBody>
          <a:bodyPr>
            <a:normAutofit/>
          </a:bodyPr>
          <a:lstStyle/>
          <a:p>
            <a:r>
              <a:rPr lang="sr-Latn-RS"/>
              <a:t>Primer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79321"/>
            <a:ext cx="9304090" cy="537314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public interface SocialNetwork {</a:t>
            </a:r>
          </a:p>
          <a:p>
            <a:pPr marL="0" indent="0">
              <a:buNone/>
            </a:pP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public void publishMessage(String message);</a:t>
            </a:r>
          </a:p>
          <a:p>
            <a:pPr marL="0" indent="0">
              <a:buNone/>
            </a:pP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sr-Latn-RS" sz="20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@Component(</a:t>
            </a:r>
            <a:r>
              <a:rPr lang="sr-Latn-RS" sz="20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"Twitter"</a:t>
            </a: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public class TwitterSocialNetwork implements SocialNetwork {</a:t>
            </a:r>
          </a:p>
          <a:p>
            <a:pPr marL="0" indent="0">
              <a:buNone/>
            </a:pP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public void publishMessage(String message) {</a:t>
            </a:r>
          </a:p>
          <a:p>
            <a:pPr marL="0" indent="0">
              <a:buNone/>
            </a:pP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 System.out.println("Twiter twitted: " + message);</a:t>
            </a:r>
          </a:p>
          <a:p>
            <a:pPr marL="0" indent="0">
              <a:buNone/>
            </a:pP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0" indent="0">
              <a:buNone/>
            </a:pP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sr-Latn-RS" sz="20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@Component(</a:t>
            </a:r>
            <a:r>
              <a:rPr lang="sr-Latn-RS" sz="20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"Facebook"</a:t>
            </a: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public class FacebookSocialNetwork implements SocialNetwork {</a:t>
            </a:r>
          </a:p>
          <a:p>
            <a:pPr marL="0" indent="0">
              <a:buNone/>
            </a:pP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@Override</a:t>
            </a:r>
          </a:p>
          <a:p>
            <a:pPr marL="0" indent="0">
              <a:buNone/>
            </a:pP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public void publishMessage(String message) {</a:t>
            </a:r>
          </a:p>
          <a:p>
            <a:pPr marL="0" indent="0">
              <a:buNone/>
            </a:pP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 System.out.println("Facebook published: " + message);</a:t>
            </a:r>
          </a:p>
          <a:p>
            <a:pPr marL="0" indent="0">
              <a:buNone/>
            </a:pP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0" indent="0">
              <a:buNone/>
            </a:pP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008400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Primer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4"/>
            <a:ext cx="11107723" cy="4810067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@Autowired</a:t>
            </a:r>
          </a:p>
          <a:p>
            <a:pPr marL="0" indent="0">
              <a:buNone/>
            </a:pPr>
            <a:r>
              <a:rPr lang="sr-Latn-RS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@Qualifier("Twitter")</a:t>
            </a:r>
          </a:p>
          <a:p>
            <a:pPr marL="0" indent="0">
              <a:buNone/>
            </a:pPr>
            <a:r>
              <a:rPr 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public SocialNetwork tw;</a:t>
            </a:r>
          </a:p>
          <a:p>
            <a:pPr marL="0" indent="0">
              <a:buNone/>
            </a:pPr>
            <a:endParaRPr lang="sr-Latn-RS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public SocialNetwork fb;</a:t>
            </a:r>
          </a:p>
          <a:p>
            <a:pPr marL="0" indent="0">
              <a:buNone/>
            </a:pPr>
            <a:r>
              <a:rPr 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@Autowired</a:t>
            </a:r>
          </a:p>
          <a:p>
            <a:pPr marL="0" indent="0">
              <a:buNone/>
            </a:pPr>
            <a:r>
              <a:rPr lang="sr-Latn-RS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@Qualifier("Facebook")</a:t>
            </a:r>
          </a:p>
          <a:p>
            <a:pPr marL="0" indent="0">
              <a:buNone/>
            </a:pPr>
            <a:r>
              <a:rPr 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public void setSocialNetwork(SocialNetwork fb) {</a:t>
            </a:r>
          </a:p>
          <a:p>
            <a:pPr marL="0" indent="0">
              <a:buNone/>
            </a:pPr>
            <a:r>
              <a:rPr 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  this.fb = fb;</a:t>
            </a:r>
          </a:p>
          <a:p>
            <a:pPr marL="0" indent="0">
              <a:buNone/>
            </a:pPr>
            <a:r>
              <a:rPr 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sr-Latn-RS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@Autowired</a:t>
            </a:r>
          </a:p>
          <a:p>
            <a:pPr marL="0" indent="0">
              <a:buNone/>
            </a:pP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public MySpringApplication(</a:t>
            </a:r>
            <a:r>
              <a:rPr lang="en-US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@Qualifier("Twitter")</a:t>
            </a: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 SocialNetwork tw, </a:t>
            </a:r>
            <a:r>
              <a:rPr lang="en-US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@Qualifier("Facebook")</a:t>
            </a: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 SocialNetwork fb) {</a:t>
            </a:r>
          </a:p>
          <a:p>
            <a:pPr marL="0" indent="0">
              <a:buNone/>
            </a:pPr>
            <a:r>
              <a:rPr 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  System.</a:t>
            </a:r>
            <a:r>
              <a:rPr lang="sr-Latn-RS" b="1" i="1">
                <a:latin typeface="Courier New" panose="02070309020205020404" pitchFamily="49" charset="0"/>
                <a:cs typeface="Courier New" panose="02070309020205020404" pitchFamily="49" charset="0"/>
              </a:rPr>
              <a:t>out.println("Constructor DI, two SNs: " + tw.hashCode() + ", and " + fb.hashCode());</a:t>
            </a:r>
          </a:p>
          <a:p>
            <a:pPr marL="0" indent="0">
              <a:buNone/>
            </a:pPr>
            <a:r>
              <a:rPr 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Rounded Rectangular Callout 3"/>
          <p:cNvSpPr/>
          <p:nvPr/>
        </p:nvSpPr>
        <p:spPr>
          <a:xfrm>
            <a:off x="5477660" y="1745216"/>
            <a:ext cx="914400" cy="612648"/>
          </a:xfrm>
          <a:prstGeom prst="wedgeRoundRectCallout">
            <a:avLst>
              <a:gd name="adj1" fmla="val -263690"/>
              <a:gd name="adj2" fmla="val 4650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/>
              <a:t>Field DI</a:t>
            </a:r>
            <a:endParaRPr lang="en-US"/>
          </a:p>
        </p:txBody>
      </p:sp>
      <p:sp>
        <p:nvSpPr>
          <p:cNvPr id="5" name="Rounded Rectangular Callout 4"/>
          <p:cNvSpPr/>
          <p:nvPr/>
        </p:nvSpPr>
        <p:spPr>
          <a:xfrm>
            <a:off x="7152837" y="2730044"/>
            <a:ext cx="914400" cy="612648"/>
          </a:xfrm>
          <a:prstGeom prst="wedgeRoundRectCallout">
            <a:avLst>
              <a:gd name="adj1" fmla="val -362499"/>
              <a:gd name="adj2" fmla="val 121136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/>
              <a:t>SetterDI</a:t>
            </a:r>
            <a:endParaRPr lang="en-US"/>
          </a:p>
        </p:txBody>
      </p:sp>
      <p:sp>
        <p:nvSpPr>
          <p:cNvPr id="6" name="Rounded Rectangular Callout 5"/>
          <p:cNvSpPr/>
          <p:nvPr/>
        </p:nvSpPr>
        <p:spPr>
          <a:xfrm>
            <a:off x="8114328" y="4275332"/>
            <a:ext cx="1490464" cy="612648"/>
          </a:xfrm>
          <a:prstGeom prst="wedgeRoundRectCallout">
            <a:avLst>
              <a:gd name="adj1" fmla="val -147388"/>
              <a:gd name="adj2" fmla="val 10869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/>
              <a:t>Constructor DI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6080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Spring &amp; Maven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10236684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Maven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/>
              <a:t>Spring Boot se najlakše koristi uz Maven.</a:t>
            </a:r>
          </a:p>
          <a:p>
            <a:r>
              <a:rPr lang="sr-Latn-RS"/>
              <a:t>Apache projekat (http://maven.apache.org)</a:t>
            </a:r>
          </a:p>
          <a:p>
            <a:r>
              <a:rPr lang="sr-Latn-RS"/>
              <a:t>Maven omogućuje jednostavnije upravljanje projektom</a:t>
            </a:r>
          </a:p>
          <a:p>
            <a:pPr lvl="1"/>
            <a:r>
              <a:rPr lang="sr-Latn-RS"/>
              <a:t>naglasak je na zavisnostima</a:t>
            </a:r>
          </a:p>
          <a:p>
            <a:pPr lvl="2"/>
            <a:r>
              <a:rPr lang="sr-Latn-RS"/>
              <a:t>svaka biblioteka od koje zavisi naš projekat se može deklarativno prijaviti u pom.xml datoteci, a Maven repozitorijum izvlači za nas odgovarajuće jar-ove.</a:t>
            </a:r>
          </a:p>
        </p:txBody>
      </p:sp>
    </p:spTree>
    <p:extLst>
      <p:ext uri="{BB962C8B-B14F-4D97-AF65-F5344CB8AC3E}">
        <p14:creationId xmlns:p14="http://schemas.microsoft.com/office/powerpoint/2010/main" val="898147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pom.xml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/>
              <a:t>Project Object Model</a:t>
            </a:r>
          </a:p>
          <a:p>
            <a:r>
              <a:rPr lang="sr-Latn-RS"/>
              <a:t>U njemu su specificirani svi artifakti vezani za projekat:</a:t>
            </a:r>
          </a:p>
          <a:p>
            <a:pPr lvl="1"/>
            <a:r>
              <a:rPr lang="sr-Latn-RS"/>
              <a:t>plugins</a:t>
            </a:r>
          </a:p>
          <a:p>
            <a:pPr lvl="1"/>
            <a:r>
              <a:rPr lang="sr-Latn-RS"/>
              <a:t>goals/profiles</a:t>
            </a:r>
          </a:p>
          <a:p>
            <a:pPr lvl="1"/>
            <a:r>
              <a:rPr lang="nn-NO"/>
              <a:t>dodatne biblioteke koje se koriste</a:t>
            </a:r>
            <a:r>
              <a:rPr lang="sr-Latn-RS"/>
              <a:t> (dependencies)</a:t>
            </a:r>
            <a:endParaRPr lang="nn-NO"/>
          </a:p>
          <a:p>
            <a:pPr lvl="1"/>
            <a:r>
              <a:rPr lang="sr-Latn-RS"/>
              <a:t>build profil</a:t>
            </a:r>
          </a:p>
        </p:txBody>
      </p:sp>
    </p:spTree>
    <p:extLst>
      <p:ext uri="{BB962C8B-B14F-4D97-AF65-F5344CB8AC3E}">
        <p14:creationId xmlns:p14="http://schemas.microsoft.com/office/powerpoint/2010/main" val="482542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pom.xml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&lt;project xmlns="http://maven.apache.org/POM/4.0.0" xmlns:xsi="http://www.w3.org/2001/XMLSchema-instance"</a:t>
            </a:r>
          </a:p>
          <a:p>
            <a:pPr marL="0" indent="0">
              <a:buNone/>
            </a:pP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	xsi:schemaLocation="http://maven.apache.org/POM/4.0.0 http://maven.apache.org/xsd/maven-4.0.0.xsd"&gt;</a:t>
            </a:r>
          </a:p>
          <a:p>
            <a:pPr marL="0" indent="0">
              <a:buNone/>
            </a:pP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	&lt;modelVersion&gt;4.0.0&lt;/modelVersion&gt;</a:t>
            </a:r>
          </a:p>
          <a:p>
            <a:pPr marL="0" indent="0">
              <a:buNone/>
            </a:pP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	&lt;groupId&gt;com.crud&lt;/groupId&gt;</a:t>
            </a:r>
          </a:p>
          <a:p>
            <a:pPr marL="0" indent="0">
              <a:buNone/>
            </a:pP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	&lt;artifactId&gt;project-crud&lt;/artifactId&gt;</a:t>
            </a:r>
          </a:p>
          <a:p>
            <a:pPr marL="0" indent="0">
              <a:buNone/>
            </a:pP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	&lt;version&gt;1&lt;/version&gt;</a:t>
            </a:r>
          </a:p>
          <a:p>
            <a:pPr marL="0" indent="0">
              <a:buNone/>
            </a:pP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	&lt;name&gt;crud&lt;/name&gt;</a:t>
            </a:r>
          </a:p>
          <a:p>
            <a:pPr marL="0" indent="0">
              <a:buNone/>
            </a:pP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	&lt;description&gt;crud&lt;/description&gt;</a:t>
            </a:r>
          </a:p>
          <a:p>
            <a:pPr marL="0" indent="0">
              <a:buNone/>
            </a:pP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	&lt;packaging&gt;war&lt;/packaging&gt;</a:t>
            </a:r>
          </a:p>
          <a:p>
            <a:pPr marL="0" indent="0">
              <a:buNone/>
            </a:pP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&lt;/project&gt;</a:t>
            </a:r>
          </a:p>
        </p:txBody>
      </p:sp>
    </p:spTree>
    <p:extLst>
      <p:ext uri="{BB962C8B-B14F-4D97-AF65-F5344CB8AC3E}">
        <p14:creationId xmlns:p14="http://schemas.microsoft.com/office/powerpoint/2010/main" val="557154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pom.xml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b="1"/>
              <a:t>build</a:t>
            </a:r>
            <a:r>
              <a:rPr lang="sr-Latn-RS"/>
              <a:t> – definiše proces kompajliranja i pakovanja aplikacije.</a:t>
            </a:r>
          </a:p>
          <a:p>
            <a:r>
              <a:rPr lang="sr-Latn-RS" b="1"/>
              <a:t>target</a:t>
            </a:r>
            <a:r>
              <a:rPr lang="sr-Latn-RS"/>
              <a:t> – definiše cilj build-ovanja</a:t>
            </a:r>
          </a:p>
          <a:p>
            <a:pPr lvl="1"/>
            <a:r>
              <a:rPr lang="sr-Latn-RS"/>
              <a:t>možemo napraviti različite verzije istog programa</a:t>
            </a:r>
          </a:p>
          <a:p>
            <a:r>
              <a:rPr lang="sr-Latn-RS" b="1"/>
              <a:t>dependencies</a:t>
            </a:r>
            <a:r>
              <a:rPr lang="sr-Latn-RS"/>
              <a:t> – definiše koje dodatne biblioteke treba dobaviti da bi nam proradio projekat.</a:t>
            </a:r>
          </a:p>
          <a:p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3825330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Spring Boot početak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r-Latn-RS"/>
              <a:t>Počinje se od </a:t>
            </a:r>
            <a:r>
              <a:rPr lang="sr-Latn-RS" b="1"/>
              <a:t>pom.xml</a:t>
            </a:r>
            <a:r>
              <a:rPr lang="sr-Latn-RS"/>
              <a:t> datoteke.</a:t>
            </a:r>
          </a:p>
          <a:p>
            <a:pPr marL="0" indent="0">
              <a:buNone/>
            </a:pPr>
            <a:r>
              <a:rPr 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&lt;parent&gt;  </a:t>
            </a:r>
          </a:p>
          <a:p>
            <a:pPr marL="0" indent="0">
              <a:buNone/>
            </a:pPr>
            <a:r>
              <a:rPr 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&lt;groupId&gt;org.springframework.boot&lt;/groupId&gt;  </a:t>
            </a:r>
          </a:p>
          <a:p>
            <a:pPr marL="0" indent="0">
              <a:buNone/>
            </a:pPr>
            <a:r>
              <a:rPr 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&lt;artifactId&gt;</a:t>
            </a:r>
          </a:p>
          <a:p>
            <a:pPr marL="0" indent="0">
              <a:buNone/>
            </a:pPr>
            <a:r>
              <a:rPr 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  spring-boot-starter-parent</a:t>
            </a:r>
          </a:p>
          <a:p>
            <a:pPr marL="0" indent="0">
              <a:buNone/>
            </a:pPr>
            <a:r>
              <a:rPr 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&lt;/artifactId&gt;  </a:t>
            </a:r>
          </a:p>
          <a:p>
            <a:pPr marL="0" indent="0">
              <a:buNone/>
            </a:pPr>
            <a:r>
              <a:rPr 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&lt;version&gt;1.4.2.RELEASE&lt;/version&gt;</a:t>
            </a:r>
          </a:p>
          <a:p>
            <a:pPr marL="0" indent="0">
              <a:buNone/>
            </a:pPr>
            <a:r>
              <a:rPr 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&lt;/parent&gt;</a:t>
            </a:r>
          </a:p>
        </p:txBody>
      </p:sp>
    </p:spTree>
    <p:extLst>
      <p:ext uri="{BB962C8B-B14F-4D97-AF65-F5344CB8AC3E}">
        <p14:creationId xmlns:p14="http://schemas.microsoft.com/office/powerpoint/2010/main" val="1623434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Spring Boot Dependencies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00200"/>
            <a:ext cx="10818303" cy="4781128"/>
          </a:xfrm>
        </p:spPr>
        <p:txBody>
          <a:bodyPr>
            <a:normAutofit/>
          </a:bodyPr>
          <a:lstStyle/>
          <a:p>
            <a:r>
              <a:rPr lang="sr-Latn-RS"/>
              <a:t>Za embedded tomcat:</a:t>
            </a:r>
          </a:p>
          <a:p>
            <a:pPr marL="0" indent="0">
              <a:buNone/>
            </a:pPr>
            <a:r>
              <a:rPr lang="sr-Latn-RS" sz="2200" b="1">
                <a:latin typeface="Courier New" panose="02070309020205020404" pitchFamily="49" charset="0"/>
                <a:cs typeface="Courier New" panose="02070309020205020404" pitchFamily="49" charset="0"/>
              </a:rPr>
              <a:t>&lt;dependency&gt;</a:t>
            </a:r>
          </a:p>
          <a:p>
            <a:pPr marL="0" indent="0">
              <a:buNone/>
            </a:pPr>
            <a:r>
              <a:rPr lang="sr-Latn-RS" sz="2200" b="1">
                <a:latin typeface="Courier New" panose="02070309020205020404" pitchFamily="49" charset="0"/>
                <a:cs typeface="Courier New" panose="02070309020205020404" pitchFamily="49" charset="0"/>
              </a:rPr>
              <a:t>  &lt;groupId&gt;org.springframework.boot&lt;/groupId&gt;</a:t>
            </a:r>
          </a:p>
          <a:p>
            <a:pPr marL="0" indent="0">
              <a:buNone/>
            </a:pPr>
            <a:r>
              <a:rPr lang="sr-Latn-RS" sz="2200" b="1">
                <a:latin typeface="Courier New" panose="02070309020205020404" pitchFamily="49" charset="0"/>
                <a:cs typeface="Courier New" panose="02070309020205020404" pitchFamily="49" charset="0"/>
              </a:rPr>
              <a:t>  &lt;artifactId&gt;spring-boot-starter-web&lt;/artifactId&gt;</a:t>
            </a:r>
          </a:p>
          <a:p>
            <a:pPr marL="0" indent="0">
              <a:buNone/>
            </a:pPr>
            <a:r>
              <a:rPr lang="sr-Latn-RS" sz="2200" b="1">
                <a:latin typeface="Courier New" panose="02070309020205020404" pitchFamily="49" charset="0"/>
                <a:cs typeface="Courier New" panose="02070309020205020404" pitchFamily="49" charset="0"/>
              </a:rPr>
              <a:t>&lt;/dependency&gt;</a:t>
            </a:r>
          </a:p>
          <a:p>
            <a:r>
              <a:rPr lang="sr-Latn-RS"/>
              <a:t>Za web sockete:</a:t>
            </a:r>
          </a:p>
          <a:p>
            <a:pPr marL="0" indent="0">
              <a:buNone/>
            </a:pPr>
            <a:r>
              <a:rPr 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&lt;dependency&gt;</a:t>
            </a:r>
          </a:p>
          <a:p>
            <a:pPr marL="0" indent="0">
              <a:buNone/>
            </a:pPr>
            <a:r>
              <a:rPr 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&lt;groupId&gt;org.springframework.boot&lt;/groupId&gt;</a:t>
            </a:r>
          </a:p>
          <a:p>
            <a:pPr marL="0" indent="0">
              <a:buNone/>
            </a:pPr>
            <a:r>
              <a:rPr 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&lt;artifactId&gt;spring-boot-starter-websocket&lt;/artifactId&gt;</a:t>
            </a:r>
          </a:p>
          <a:p>
            <a:pPr marL="0" indent="0">
              <a:buNone/>
            </a:pPr>
            <a:r>
              <a:rPr 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&lt;/dependency&gt;</a:t>
            </a:r>
          </a:p>
          <a:p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3195963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Spring Boot Dependencies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0200"/>
            <a:ext cx="9829800" cy="4781128"/>
          </a:xfrm>
        </p:spPr>
        <p:txBody>
          <a:bodyPr>
            <a:normAutofit/>
          </a:bodyPr>
          <a:lstStyle/>
          <a:p>
            <a:r>
              <a:rPr lang="sr-Latn-RS"/>
              <a:t>Za web security:</a:t>
            </a:r>
          </a:p>
          <a:p>
            <a:pPr marL="0" indent="0">
              <a:buNone/>
            </a:pPr>
            <a:r>
              <a:rPr lang="sr-Latn-RS" sz="2200" b="1">
                <a:latin typeface="Courier New" panose="02070309020205020404" pitchFamily="49" charset="0"/>
                <a:cs typeface="Courier New" panose="02070309020205020404" pitchFamily="49" charset="0"/>
              </a:rPr>
              <a:t>&lt;dependency&gt;</a:t>
            </a:r>
          </a:p>
          <a:p>
            <a:pPr marL="0" indent="0">
              <a:buNone/>
            </a:pPr>
            <a:r>
              <a:rPr lang="sr-Latn-RS" sz="2200" b="1">
                <a:latin typeface="Courier New" panose="02070309020205020404" pitchFamily="49" charset="0"/>
                <a:cs typeface="Courier New" panose="02070309020205020404" pitchFamily="49" charset="0"/>
              </a:rPr>
              <a:t>  &lt;groupId&gt;org.springframework.security&lt;/groupId&gt;</a:t>
            </a:r>
          </a:p>
          <a:p>
            <a:pPr marL="0" indent="0">
              <a:buNone/>
            </a:pPr>
            <a:r>
              <a:rPr lang="sr-Latn-RS" sz="2200" b="1">
                <a:latin typeface="Courier New" panose="02070309020205020404" pitchFamily="49" charset="0"/>
                <a:cs typeface="Courier New" panose="02070309020205020404" pitchFamily="49" charset="0"/>
              </a:rPr>
              <a:t>  &lt;artifactId&gt;spring-security-web&lt;/artifactId&gt;</a:t>
            </a:r>
          </a:p>
          <a:p>
            <a:pPr marL="0" indent="0">
              <a:buNone/>
            </a:pPr>
            <a:r>
              <a:rPr lang="sr-Latn-RS" sz="2200" b="1">
                <a:latin typeface="Courier New" panose="02070309020205020404" pitchFamily="49" charset="0"/>
                <a:cs typeface="Courier New" panose="02070309020205020404" pitchFamily="49" charset="0"/>
              </a:rPr>
              <a:t>&lt;/dependency&gt;</a:t>
            </a:r>
          </a:p>
          <a:p>
            <a:r>
              <a:rPr lang="sr-Latn-RS"/>
              <a:t>Za spring security configuration:</a:t>
            </a:r>
          </a:p>
          <a:p>
            <a:pPr marL="0" indent="0">
              <a:buNone/>
            </a:pPr>
            <a:r>
              <a:rPr lang="sr-Latn-RS" sz="2200" b="1">
                <a:latin typeface="Courier New" panose="02070309020205020404" pitchFamily="49" charset="0"/>
                <a:cs typeface="Courier New" panose="02070309020205020404" pitchFamily="49" charset="0"/>
              </a:rPr>
              <a:t>&lt;dependency&gt;</a:t>
            </a:r>
          </a:p>
          <a:p>
            <a:pPr marL="0" indent="0">
              <a:buNone/>
            </a:pPr>
            <a:r>
              <a:rPr lang="sr-Latn-RS" sz="2200" b="1">
                <a:latin typeface="Courier New" panose="02070309020205020404" pitchFamily="49" charset="0"/>
                <a:cs typeface="Courier New" panose="02070309020205020404" pitchFamily="49" charset="0"/>
              </a:rPr>
              <a:t>  &lt;groupId&gt;org.springframework.security&lt;/groupId&gt;</a:t>
            </a:r>
          </a:p>
          <a:p>
            <a:pPr marL="0" indent="0">
              <a:buNone/>
            </a:pPr>
            <a:r>
              <a:rPr lang="sr-Latn-RS" sz="2200" b="1">
                <a:latin typeface="Courier New" panose="02070309020205020404" pitchFamily="49" charset="0"/>
                <a:cs typeface="Courier New" panose="02070309020205020404" pitchFamily="49" charset="0"/>
              </a:rPr>
              <a:t>  &lt;artifactId&gt;spring-security-config&lt;/artifactId&gt;</a:t>
            </a:r>
          </a:p>
          <a:p>
            <a:pPr marL="0" indent="0">
              <a:buNone/>
            </a:pPr>
            <a:r>
              <a:rPr lang="sr-Latn-RS" sz="2200" b="1">
                <a:latin typeface="Courier New" panose="02070309020205020404" pitchFamily="49" charset="0"/>
                <a:cs typeface="Courier New" panose="02070309020205020404" pitchFamily="49" charset="0"/>
              </a:rPr>
              <a:t>&lt;/dependency&gt;</a:t>
            </a:r>
          </a:p>
          <a:p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911618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Spring Boot Dependencies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0200"/>
            <a:ext cx="9829800" cy="4781128"/>
          </a:xfrm>
        </p:spPr>
        <p:txBody>
          <a:bodyPr>
            <a:normAutofit lnSpcReduction="10000"/>
          </a:bodyPr>
          <a:lstStyle/>
          <a:p>
            <a:r>
              <a:rPr lang="sr-Latn-RS"/>
              <a:t>Za spring ORM</a:t>
            </a:r>
            <a:r>
              <a:rPr lang="sr-Latn-RS">
                <a:sym typeface="Wingdings" panose="05000000000000000000" pitchFamily="2" charset="2"/>
              </a:rPr>
              <a:t>JPA</a:t>
            </a:r>
            <a:r>
              <a:rPr lang="sr-Latn-RS"/>
              <a:t>:</a:t>
            </a:r>
          </a:p>
          <a:p>
            <a:pPr marL="0" indent="0">
              <a:buNone/>
            </a:pPr>
            <a:r>
              <a:rPr lang="sr-Latn-RS" sz="2200" b="1">
                <a:latin typeface="Courier New" panose="02070309020205020404" pitchFamily="49" charset="0"/>
                <a:cs typeface="Courier New" panose="02070309020205020404" pitchFamily="49" charset="0"/>
              </a:rPr>
              <a:t>&lt;dependency&gt;</a:t>
            </a:r>
          </a:p>
          <a:p>
            <a:pPr marL="0" indent="0">
              <a:buNone/>
            </a:pPr>
            <a:r>
              <a:rPr lang="sr-Latn-RS" sz="2200" b="1">
                <a:latin typeface="Courier New" panose="02070309020205020404" pitchFamily="49" charset="0"/>
                <a:cs typeface="Courier New" panose="02070309020205020404" pitchFamily="49" charset="0"/>
              </a:rPr>
              <a:t>  &lt;groupId&gt;org.springframework.boot&lt;/groupId&gt;</a:t>
            </a:r>
          </a:p>
          <a:p>
            <a:pPr marL="0" indent="0">
              <a:buNone/>
            </a:pPr>
            <a:r>
              <a:rPr lang="sr-Latn-RS" sz="2200" b="1">
                <a:latin typeface="Courier New" panose="02070309020205020404" pitchFamily="49" charset="0"/>
                <a:cs typeface="Courier New" panose="02070309020205020404" pitchFamily="49" charset="0"/>
              </a:rPr>
              <a:t>  &lt;artifactId&gt;spring-boot-starter-data-jpa&lt;/artifactId&gt;</a:t>
            </a:r>
          </a:p>
          <a:p>
            <a:pPr marL="0" indent="0">
              <a:buNone/>
            </a:pPr>
            <a:r>
              <a:rPr lang="sr-Latn-RS" sz="2200" b="1">
                <a:latin typeface="Courier New" panose="02070309020205020404" pitchFamily="49" charset="0"/>
                <a:cs typeface="Courier New" panose="02070309020205020404" pitchFamily="49" charset="0"/>
              </a:rPr>
              <a:t>&lt;/dependency&gt;</a:t>
            </a:r>
          </a:p>
          <a:p>
            <a:r>
              <a:rPr lang="sr-Latn-RS"/>
              <a:t>Za MySQL JDBC drajver:</a:t>
            </a:r>
          </a:p>
          <a:p>
            <a:pPr marL="0" indent="0">
              <a:buNone/>
            </a:pPr>
            <a:r>
              <a:rPr lang="sr-Latn-RS" sz="2200" b="1">
                <a:latin typeface="Courier New" panose="02070309020205020404" pitchFamily="49" charset="0"/>
                <a:cs typeface="Courier New" panose="02070309020205020404" pitchFamily="49" charset="0"/>
              </a:rPr>
              <a:t>&lt;dependency&gt;</a:t>
            </a:r>
          </a:p>
          <a:p>
            <a:pPr marL="0" indent="0">
              <a:buNone/>
            </a:pPr>
            <a:r>
              <a:rPr lang="sr-Latn-RS" sz="2200" b="1">
                <a:latin typeface="Courier New" panose="02070309020205020404" pitchFamily="49" charset="0"/>
                <a:cs typeface="Courier New" panose="02070309020205020404" pitchFamily="49" charset="0"/>
              </a:rPr>
              <a:t>  &lt;groupId&gt;mysql&lt;/groupId&gt;</a:t>
            </a:r>
          </a:p>
          <a:p>
            <a:pPr marL="0" indent="0">
              <a:buNone/>
            </a:pPr>
            <a:r>
              <a:rPr lang="sr-Latn-RS" sz="2200" b="1">
                <a:latin typeface="Courier New" panose="02070309020205020404" pitchFamily="49" charset="0"/>
                <a:cs typeface="Courier New" panose="02070309020205020404" pitchFamily="49" charset="0"/>
              </a:rPr>
              <a:t>  &lt;artifactId&gt;mysql-connector-java&lt;/artifactId&gt;</a:t>
            </a:r>
          </a:p>
          <a:p>
            <a:pPr marL="0" indent="0">
              <a:buNone/>
            </a:pPr>
            <a:r>
              <a:rPr lang="sr-Latn-RS" sz="2200" b="1">
                <a:latin typeface="Courier New" panose="02070309020205020404" pitchFamily="49" charset="0"/>
                <a:cs typeface="Courier New" panose="02070309020205020404" pitchFamily="49" charset="0"/>
              </a:rPr>
              <a:t>  &lt;version&gt;8.0.0&lt;/version&gt;</a:t>
            </a:r>
          </a:p>
          <a:p>
            <a:pPr marL="0" indent="0">
              <a:buNone/>
            </a:pPr>
            <a:r>
              <a:rPr lang="sr-Latn-RS" sz="2200" b="1">
                <a:latin typeface="Courier New" panose="02070309020205020404" pitchFamily="49" charset="0"/>
                <a:cs typeface="Courier New" panose="02070309020205020404" pitchFamily="49" charset="0"/>
              </a:rPr>
              <a:t>&lt;/dependency&gt;</a:t>
            </a:r>
          </a:p>
          <a:p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2804343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Spring Boot Dependencies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0200"/>
            <a:ext cx="9829800" cy="4781128"/>
          </a:xfrm>
        </p:spPr>
        <p:txBody>
          <a:bodyPr>
            <a:normAutofit fontScale="92500" lnSpcReduction="10000"/>
          </a:bodyPr>
          <a:lstStyle/>
          <a:p>
            <a:r>
              <a:rPr lang="sr-Latn-RS"/>
              <a:t>Za testove:</a:t>
            </a:r>
          </a:p>
          <a:p>
            <a:pPr marL="0" indent="0">
              <a:buNone/>
            </a:pPr>
            <a:r>
              <a:rPr lang="sr-Latn-RS" sz="2200" b="1">
                <a:latin typeface="Courier New" panose="02070309020205020404" pitchFamily="49" charset="0"/>
                <a:cs typeface="Courier New" panose="02070309020205020404" pitchFamily="49" charset="0"/>
              </a:rPr>
              <a:t>&lt;dependency&gt;</a:t>
            </a:r>
          </a:p>
          <a:p>
            <a:pPr marL="0" indent="0">
              <a:buNone/>
            </a:pPr>
            <a:r>
              <a:rPr lang="sr-Latn-RS" sz="2200" b="1">
                <a:latin typeface="Courier New" panose="02070309020205020404" pitchFamily="49" charset="0"/>
                <a:cs typeface="Courier New" panose="02070309020205020404" pitchFamily="49" charset="0"/>
              </a:rPr>
              <a:t>  &lt;groupId&gt;org.springframework.boot&lt;/groupId&gt;</a:t>
            </a:r>
          </a:p>
          <a:p>
            <a:pPr marL="0" indent="0">
              <a:buNone/>
            </a:pPr>
            <a:r>
              <a:rPr lang="sr-Latn-RS" sz="2200" b="1">
                <a:latin typeface="Courier New" panose="02070309020205020404" pitchFamily="49" charset="0"/>
                <a:cs typeface="Courier New" panose="02070309020205020404" pitchFamily="49" charset="0"/>
              </a:rPr>
              <a:t>  &lt;artifactId&gt;spring-boot-starter-test&lt;/artifactId&gt;</a:t>
            </a:r>
          </a:p>
          <a:p>
            <a:pPr marL="0" indent="0">
              <a:buNone/>
            </a:pPr>
            <a:r>
              <a:rPr lang="sr-Latn-RS" sz="2200" b="1">
                <a:latin typeface="Courier New" panose="02070309020205020404" pitchFamily="49" charset="0"/>
                <a:cs typeface="Courier New" panose="02070309020205020404" pitchFamily="49" charset="0"/>
              </a:rPr>
              <a:t>  &lt;scope&gt;test&lt;/scope&gt;</a:t>
            </a:r>
          </a:p>
          <a:p>
            <a:pPr marL="0" indent="0">
              <a:buNone/>
            </a:pPr>
            <a:r>
              <a:rPr lang="sr-Latn-RS" sz="2200" b="1">
                <a:latin typeface="Courier New" panose="02070309020205020404" pitchFamily="49" charset="0"/>
                <a:cs typeface="Courier New" panose="02070309020205020404" pitchFamily="49" charset="0"/>
              </a:rPr>
              <a:t>&lt;/dependency&gt;</a:t>
            </a:r>
          </a:p>
          <a:p>
            <a:r>
              <a:rPr lang="sr-Latn-RS"/>
              <a:t>Za Bootstrap:</a:t>
            </a:r>
          </a:p>
          <a:p>
            <a:pPr marL="0" indent="0">
              <a:buNone/>
            </a:pPr>
            <a:r>
              <a:rPr lang="sr-Latn-RS" sz="2200" b="1">
                <a:latin typeface="Courier New" panose="02070309020205020404" pitchFamily="49" charset="0"/>
                <a:cs typeface="Courier New" panose="02070309020205020404" pitchFamily="49" charset="0"/>
              </a:rPr>
              <a:t>&lt;dependency&gt;</a:t>
            </a:r>
          </a:p>
          <a:p>
            <a:pPr marL="0" indent="0">
              <a:buNone/>
            </a:pPr>
            <a:r>
              <a:rPr lang="sr-Latn-RS" sz="2200" b="1">
                <a:latin typeface="Courier New" panose="02070309020205020404" pitchFamily="49" charset="0"/>
                <a:cs typeface="Courier New" panose="02070309020205020404" pitchFamily="49" charset="0"/>
              </a:rPr>
              <a:t>  &lt;groupId&gt;org.webjars&lt;/groupId&gt;</a:t>
            </a:r>
          </a:p>
          <a:p>
            <a:pPr marL="0" indent="0">
              <a:buNone/>
            </a:pPr>
            <a:r>
              <a:rPr lang="sr-Latn-RS" sz="2200" b="1">
                <a:latin typeface="Courier New" panose="02070309020205020404" pitchFamily="49" charset="0"/>
                <a:cs typeface="Courier New" panose="02070309020205020404" pitchFamily="49" charset="0"/>
              </a:rPr>
              <a:t>  &lt;artifactId&gt;bootstrap&lt;/artifactId&gt;</a:t>
            </a:r>
          </a:p>
          <a:p>
            <a:pPr marL="0" indent="0">
              <a:buNone/>
            </a:pPr>
            <a:r>
              <a:rPr lang="sr-Latn-RS" sz="2200" b="1">
                <a:latin typeface="Courier New" panose="02070309020205020404" pitchFamily="49" charset="0"/>
                <a:cs typeface="Courier New" panose="02070309020205020404" pitchFamily="49" charset="0"/>
              </a:rPr>
              <a:t>  &lt;version&gt;3.3.7&lt;/version&gt;</a:t>
            </a:r>
          </a:p>
          <a:p>
            <a:pPr marL="0" indent="0">
              <a:buNone/>
            </a:pPr>
            <a:r>
              <a:rPr lang="sr-Latn-RS" sz="2200" b="1">
                <a:latin typeface="Courier New" panose="02070309020205020404" pitchFamily="49" charset="0"/>
                <a:cs typeface="Courier New" panose="02070309020205020404" pitchFamily="49" charset="0"/>
              </a:rPr>
              <a:t>&lt;/dependency&gt;</a:t>
            </a:r>
          </a:p>
          <a:p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1381522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Spring Boot Dependencies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47528" y="1600200"/>
            <a:ext cx="8820472" cy="4781128"/>
          </a:xfrm>
        </p:spPr>
        <p:txBody>
          <a:bodyPr>
            <a:normAutofit/>
          </a:bodyPr>
          <a:lstStyle/>
          <a:p>
            <a:r>
              <a:rPr lang="sr-Latn-RS"/>
              <a:t>I, mnogo, mnogo drugih biblioteka...</a:t>
            </a:r>
          </a:p>
        </p:txBody>
      </p:sp>
    </p:spTree>
    <p:extLst>
      <p:ext uri="{BB962C8B-B14F-4D97-AF65-F5344CB8AC3E}">
        <p14:creationId xmlns:p14="http://schemas.microsoft.com/office/powerpoint/2010/main" val="17935580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Build sekcija pom.xml datoteke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0201"/>
            <a:ext cx="10285602" cy="4525963"/>
          </a:xfrm>
        </p:spPr>
        <p:txBody>
          <a:bodyPr>
            <a:normAutofit/>
          </a:bodyPr>
          <a:lstStyle/>
          <a:p>
            <a:r>
              <a:rPr lang="sr-Latn-RS"/>
              <a:t>Rezultat kompajliranja je standalone java aplikacija.</a:t>
            </a:r>
          </a:p>
          <a:p>
            <a:pPr marL="0" indent="0">
              <a:buNone/>
            </a:pPr>
            <a:r>
              <a:rPr 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&lt;build&gt;</a:t>
            </a:r>
          </a:p>
          <a:p>
            <a:pPr marL="0" indent="0">
              <a:buNone/>
            </a:pPr>
            <a:r>
              <a:rPr 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&lt;plugins&gt;</a:t>
            </a:r>
          </a:p>
          <a:p>
            <a:pPr marL="0" indent="0">
              <a:buNone/>
            </a:pPr>
            <a:r>
              <a:rPr 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&lt;plugin&gt;</a:t>
            </a:r>
          </a:p>
          <a:p>
            <a:pPr marL="0" indent="0">
              <a:buNone/>
            </a:pPr>
            <a:r>
              <a:rPr 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 &lt;groupId&gt;org.springframework.boot&lt;/groupId&gt;</a:t>
            </a:r>
          </a:p>
          <a:p>
            <a:pPr marL="0" indent="0">
              <a:buNone/>
            </a:pPr>
            <a:r>
              <a:rPr 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 &lt;artifactId&gt;spring-boot-maven-plugin&lt;/artifactId&gt;</a:t>
            </a:r>
          </a:p>
          <a:p>
            <a:pPr marL="0" indent="0">
              <a:buNone/>
            </a:pPr>
            <a:r>
              <a:rPr 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&lt;/plugin&gt;</a:t>
            </a:r>
          </a:p>
          <a:p>
            <a:pPr marL="0" indent="0">
              <a:buNone/>
            </a:pPr>
            <a:r>
              <a:rPr 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&lt;/plugins&gt;</a:t>
            </a:r>
          </a:p>
          <a:p>
            <a:pPr marL="0" indent="0">
              <a:buNone/>
            </a:pPr>
            <a:r>
              <a:rPr 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&lt;/build&gt;</a:t>
            </a:r>
          </a:p>
          <a:p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1996558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Java kod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0201"/>
            <a:ext cx="957828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@SpringBootApplication</a:t>
            </a:r>
          </a:p>
          <a:p>
            <a:pPr marL="0" indent="0">
              <a:buNone/>
            </a:pPr>
            <a:r>
              <a:rPr 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public class Application { </a:t>
            </a:r>
          </a:p>
          <a:p>
            <a:pPr marL="0" indent="0">
              <a:buNone/>
            </a:pPr>
            <a:r>
              <a:rPr 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b="1">
                <a:latin typeface="Courier New" panose="02070309020205020404" pitchFamily="49" charset="0"/>
                <a:cs typeface="Courier New" panose="02070309020205020404" pitchFamily="49" charset="0"/>
              </a:rPr>
              <a:t>public static void main(String[] args) {</a:t>
            </a:r>
          </a:p>
          <a:p>
            <a:pPr marL="0" indent="0">
              <a:buNone/>
            </a:pPr>
            <a:r>
              <a:rPr 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	SpringApplication.</a:t>
            </a:r>
            <a:r>
              <a:rPr lang="sr-Latn-RS" sz="2400" b="1" i="1">
                <a:latin typeface="Courier New" panose="02070309020205020404" pitchFamily="49" charset="0"/>
                <a:cs typeface="Courier New" panose="02070309020205020404" pitchFamily="49" charset="0"/>
              </a:rPr>
              <a:t>run(Application.class);</a:t>
            </a:r>
          </a:p>
          <a:p>
            <a:pPr marL="0" indent="0">
              <a:buNone/>
            </a:pPr>
            <a:r>
              <a:rPr 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0" indent="0">
              <a:buNone/>
            </a:pPr>
            <a:r>
              <a:rPr 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891396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1568</Words>
  <Application>Microsoft Office PowerPoint</Application>
  <PresentationFormat>Widescreen</PresentationFormat>
  <Paragraphs>276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Aptos</vt:lpstr>
      <vt:lpstr>Aptos Display</vt:lpstr>
      <vt:lpstr>Arial</vt:lpstr>
      <vt:lpstr>Courier New</vt:lpstr>
      <vt:lpstr>Wingdings</vt:lpstr>
      <vt:lpstr>Office Theme</vt:lpstr>
      <vt:lpstr>Inženjerstvo Serverskog Sloja prof. dr Milan Vidaković</vt:lpstr>
      <vt:lpstr>Uvod</vt:lpstr>
      <vt:lpstr>Spring moduli</vt:lpstr>
      <vt:lpstr>Spring Boot</vt:lpstr>
      <vt:lpstr>Spring Dependency Injection</vt:lpstr>
      <vt:lpstr>Spring Dependency Injection</vt:lpstr>
      <vt:lpstr>Spring Dependancy Injection</vt:lpstr>
      <vt:lpstr>Spring Dependancy Injection</vt:lpstr>
      <vt:lpstr>Spring Dependancy Injection</vt:lpstr>
      <vt:lpstr>Spring Dependency Injection</vt:lpstr>
      <vt:lpstr>Spring Dependency Injection</vt:lpstr>
      <vt:lpstr>Field Dependency Injection</vt:lpstr>
      <vt:lpstr>Setter Dependency Injection</vt:lpstr>
      <vt:lpstr>Constructor Dependency Injection</vt:lpstr>
      <vt:lpstr>Ako ne stavimo @Component anotaciju iznad klase</vt:lpstr>
      <vt:lpstr>Konfiguraciona klasa</vt:lpstr>
      <vt:lpstr>Konfiguraciona klasa</vt:lpstr>
      <vt:lpstr>Više komponenti koje implementiraju isti interfejs</vt:lpstr>
      <vt:lpstr>Primer</vt:lpstr>
      <vt:lpstr>Primer</vt:lpstr>
      <vt:lpstr>Spring &amp; Maven</vt:lpstr>
      <vt:lpstr>Maven</vt:lpstr>
      <vt:lpstr>pom.xml</vt:lpstr>
      <vt:lpstr>pom.xml</vt:lpstr>
      <vt:lpstr>pom.xml</vt:lpstr>
      <vt:lpstr>Spring Boot početak</vt:lpstr>
      <vt:lpstr>Spring Boot Dependencies</vt:lpstr>
      <vt:lpstr>Spring Boot Dependencies</vt:lpstr>
      <vt:lpstr>Spring Boot Dependencies</vt:lpstr>
      <vt:lpstr>Spring Boot Dependencies</vt:lpstr>
      <vt:lpstr>Spring Boot Dependencies</vt:lpstr>
      <vt:lpstr>Build sekcija pom.xml datoteke</vt:lpstr>
      <vt:lpstr>Java kod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Jovana Vidaković</dc:creator>
  <cp:lastModifiedBy>Jovana Vidaković</cp:lastModifiedBy>
  <cp:revision>68</cp:revision>
  <dcterms:created xsi:type="dcterms:W3CDTF">2024-06-23T14:59:21Z</dcterms:created>
  <dcterms:modified xsi:type="dcterms:W3CDTF">2024-06-24T16:04:35Z</dcterms:modified>
</cp:coreProperties>
</file>