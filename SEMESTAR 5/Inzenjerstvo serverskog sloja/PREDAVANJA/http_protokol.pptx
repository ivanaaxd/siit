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93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91" r:id="rId19"/>
    <p:sldId id="292" r:id="rId20"/>
    <p:sldId id="276" r:id="rId21"/>
    <p:sldId id="277" r:id="rId22"/>
    <p:sldId id="278" r:id="rId23"/>
    <p:sldId id="286" r:id="rId24"/>
    <p:sldId id="295" r:id="rId25"/>
    <p:sldId id="294" r:id="rId26"/>
    <p:sldId id="296" r:id="rId27"/>
    <p:sldId id="288" r:id="rId28"/>
    <p:sldId id="289" r:id="rId29"/>
    <p:sldId id="290" r:id="rId30"/>
    <p:sldId id="297" r:id="rId31"/>
    <p:sldId id="301" r:id="rId32"/>
    <p:sldId id="298" r:id="rId33"/>
    <p:sldId id="299" r:id="rId34"/>
    <p:sldId id="300" r:id="rId35"/>
    <p:sldId id="302" r:id="rId36"/>
    <p:sldId id="287" r:id="rId37"/>
    <p:sldId id="280" r:id="rId38"/>
    <p:sldId id="281" r:id="rId39"/>
    <p:sldId id="282" r:id="rId40"/>
    <p:sldId id="283" r:id="rId41"/>
    <p:sldId id="284" r:id="rId42"/>
    <p:sldId id="28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10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A1E6-74B9-B007-5B8B-E3A5BEC7E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5DC65-D9A3-8C91-D14F-135FD3277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1B2D0-ABF2-DADC-98E8-D615EE8E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E711A-EC7D-8349-D77F-89CD63C0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E1356-1B18-3548-65B5-08AF3EB6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62C9-9004-FAA2-0F2F-3B0AA391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58230-FC2A-7231-CFF5-8A749913C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4128B-F2A3-5D22-4112-A9C43237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AC9AA-B4B6-1FE3-7822-7C8A415C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2A48F-7FF1-5C4E-8940-5DF337B1AC88}"/>
              </a:ext>
            </a:extLst>
          </p:cNvPr>
          <p:cNvSpPr txBox="1"/>
          <p:nvPr userDrawn="1"/>
        </p:nvSpPr>
        <p:spPr>
          <a:xfrm>
            <a:off x="8606348" y="6356350"/>
            <a:ext cx="2747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990961-FEE4-4147-85DF-F26C93E51AE9}" type="slidenum">
              <a:rPr lang="en-US" smtClean="0"/>
              <a:pPr algn="r"/>
              <a:t>‹#›</a:t>
            </a:fld>
            <a:r>
              <a:rPr lang="sr-Latn-RS"/>
              <a:t>/42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25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78E1-36ED-F2E5-5AE2-BBF0048D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37252-6392-D97E-A32E-DF0DF5B96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6E1B3-93BA-60B1-5749-46AD8855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D68F8-B119-91F9-ED23-0E303ACE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75E46-38EE-04FB-8F4C-08A7F14B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C009-88D3-3972-F885-2A8BFD42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CF20C-A309-F9DA-63F3-26BC519C9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2264E-8D42-E2BE-9287-EC0885F1C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CAA43-CF6B-E2D0-7E48-984532AB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7FBBB-A6A4-916E-C2F8-1713820F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8F410-6D25-0349-92D2-8E61E524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6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540A-E0DF-243B-D9C7-EF52AC8C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80F96-DD89-F749-F6B7-CEAD4BAD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DF807-9C41-E99E-7F37-F4132EAA4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74686-207E-C685-98A0-419353DF2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5AE6D-D3CC-9A61-683C-598C5D833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05CADA-7E10-0255-BD45-26816E36C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E906F-F859-6D3D-3E05-12BDD9DE6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D7164-45E3-3B46-BDD8-D7F3FAD6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2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7579-F4A2-BA42-2D55-A3A68C92D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C16C9-DCA0-CB78-5FC9-2B190A96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CEFE-F0D9-C890-4083-336E657B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C13E0-9B4B-453E-17BA-F01D4E7D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2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6C93AE-636C-EAE0-3F80-219438AD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733B9-E924-3C34-33B8-D3AC8F67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BCC0E-1D47-0ED3-FFCB-C5540DAB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0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E3C8-5253-05F9-9412-7C9F274B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87C69-CD9D-604F-BE2C-EB26DFE48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42EF5-B3D6-56DA-92F8-36D1EADC9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9160B-36E5-28B5-DD65-680BED93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1F8A6-C26B-CB55-507E-CD7A98B3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375D1-C5AB-B42C-F0F8-6D1CDE29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97B1-508A-A836-2017-A1E1FF89B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13571-0329-952B-89AA-B512A60AF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0C187-5142-7791-AA17-D5D69330E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310CA-AB77-1BEC-92D7-F375EECB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E4817-AB0E-5596-A378-05A0B1D1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87B7E-8673-C82E-3626-04A9E76E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4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8929-9984-F28E-2B3D-2C95D224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0EBCC-FB38-E1A6-C695-04589A11B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4006F-CBAC-6702-15D4-A4C77997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0036A-FD6E-7308-2B3D-B4E5FC21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6DCA0-62F2-F218-904D-EF522795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42F05-54B6-2C5A-F807-FEEB02216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B4F83-82F3-0FDE-5BC4-A96CAF7B9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6EBDC-CDE1-E403-836B-C85FEDED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3D518-2EEE-EEF6-B5AA-92138BC3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B789C-1E49-4CE2-9965-82FD9046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4C8D8-6766-8B92-F773-71A1DF940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57BD0-82D6-03A3-CB53-950A90FF7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C2FD-5433-4460-9C48-9193FCBE6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F66D3-81FA-46C7-BBEE-81AC462F986E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68D8-10DC-445B-41A0-348DA8F26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E9E3-3351-81DD-B3EC-22EF79A96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5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9898690-906C-65CF-16F9-7D207B7B24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905000"/>
            <a:ext cx="7772400" cy="1295400"/>
          </a:xfrm>
        </p:spPr>
        <p:txBody>
          <a:bodyPr>
            <a:normAutofit fontScale="90000"/>
          </a:bodyPr>
          <a:lstStyle/>
          <a:p>
            <a:r>
              <a:rPr lang="sr-Latn-CS" altLang="sr-Latn-RS"/>
              <a:t>Inženjerstvo Serverskog Sloja</a:t>
            </a:r>
            <a:br>
              <a:rPr lang="sr-Latn-CS" altLang="sr-Latn-RS"/>
            </a:br>
            <a:r>
              <a:rPr lang="sr-Latn-CS" altLang="sr-Latn-RS" sz="2800"/>
              <a:t>prof. dr Milan Vidaković</a:t>
            </a:r>
            <a:endParaRPr lang="sr-Latn-RS" altLang="sr-Latn-R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B5E3CC-93DF-C6BC-542D-F4CA94C33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0" y="3933825"/>
            <a:ext cx="7772400" cy="1295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sr-Latn-RS" sz="3200" kern="0"/>
              <a:t>HTTP protokol</a:t>
            </a:r>
            <a:endParaRPr lang="en-GB" altLang="sr-Latn-RS" sz="3200" ker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3499AA49-6BE8-B3AA-B32A-5236B1CDEA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786855"/>
            <a:ext cx="9372600" cy="4882234"/>
          </a:xfrm>
        </p:spPr>
        <p:txBody>
          <a:bodyPr/>
          <a:lstStyle/>
          <a:p>
            <a:pPr eaLnBrk="1" hangingPunct="1"/>
            <a:r>
              <a:rPr lang="sr-Latn-CS" altLang="sr-Latn-RS"/>
              <a:t>Sadržaj veb sajta:</a:t>
            </a:r>
          </a:p>
          <a:p>
            <a:pPr lvl="1" eaLnBrk="1" hangingPunct="1"/>
            <a:r>
              <a:rPr lang="sr-Latn-CS" altLang="sr-Latn-RS"/>
              <a:t>HTML stranice,</a:t>
            </a:r>
          </a:p>
          <a:p>
            <a:pPr lvl="1" eaLnBrk="1" hangingPunct="1"/>
            <a:r>
              <a:rPr lang="sr-Latn-CS" altLang="sr-Latn-RS"/>
              <a:t>multimedijalni elementi (slike, animacije, itd),</a:t>
            </a:r>
          </a:p>
          <a:p>
            <a:pPr lvl="1" eaLnBrk="1" hangingPunct="1"/>
            <a:r>
              <a:rPr lang="sr-Latn-CS" altLang="sr-Latn-RS"/>
              <a:t>drugi tipovi datoteka,</a:t>
            </a:r>
            <a:endParaRPr lang="en-US" altLang="sr-Latn-RS"/>
          </a:p>
          <a:p>
            <a:pPr eaLnBrk="1" hangingPunct="1"/>
            <a:r>
              <a:rPr lang="en-US" altLang="sr-Latn-RS"/>
              <a:t>www server i klijent komuniciraju preko HTTP protokola</a:t>
            </a:r>
          </a:p>
          <a:p>
            <a:pPr eaLnBrk="1" hangingPunct="1"/>
            <a:r>
              <a:rPr lang="en-US" altLang="sr-Latn-RS"/>
              <a:t>Verzije</a:t>
            </a:r>
          </a:p>
          <a:p>
            <a:pPr lvl="1" eaLnBrk="1" hangingPunct="1"/>
            <a:r>
              <a:rPr lang="en-US" altLang="sr-Latn-RS"/>
              <a:t>HTTP/1.0</a:t>
            </a:r>
          </a:p>
          <a:p>
            <a:pPr lvl="1" eaLnBrk="1" hangingPunct="1"/>
            <a:r>
              <a:rPr lang="en-GB" altLang="sr-Latn-RS"/>
              <a:t>HTTP/1.1 (permanent connection)</a:t>
            </a:r>
            <a:endParaRPr lang="sr-Latn-RS" altLang="sr-Latn-RS"/>
          </a:p>
          <a:p>
            <a:pPr lvl="1" eaLnBrk="1" hangingPunct="1"/>
            <a:r>
              <a:rPr lang="sr-Latn-RS" altLang="sr-Latn-RS"/>
              <a:t>HTTP/2.0 (binarni update, optimizovan)</a:t>
            </a:r>
          </a:p>
          <a:p>
            <a:pPr lvl="1" eaLnBrk="1" hangingPunct="1"/>
            <a:r>
              <a:rPr lang="sr-Latn-RS" altLang="sr-Latn-RS"/>
              <a:t>HTTP/3.0 (više se ne zasniva na TCP/IP, već na QUIC protokolu)</a:t>
            </a:r>
            <a:endParaRPr lang="en-GB" altLang="sr-Latn-R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A5F2F06-7B4D-3461-7B4A-4F2F46C0004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altLang="sr-Latn-RS"/>
              <a:t>Uvod</a:t>
            </a:r>
            <a:endParaRPr lang="en-GB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C6ADF83-79A8-0A75-2F25-3F6C8F1DA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HTTP komunikacija</a:t>
            </a:r>
            <a:r>
              <a:rPr lang="sr-Latn-CS" altLang="sr-Latn-RS"/>
              <a:t> </a:t>
            </a:r>
            <a:r>
              <a:rPr lang="sr-Latn-CS" altLang="sr-Latn-RS" baseline="-25000"/>
              <a:t>1/2</a:t>
            </a:r>
            <a:endParaRPr lang="en-GB" altLang="sr-Latn-R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B6C64E8-B35C-5F85-3CD8-A435269838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RS" altLang="sr-Latn-RS"/>
              <a:t>Z</a:t>
            </a:r>
            <a:r>
              <a:rPr lang="en-US" altLang="sr-Latn-RS"/>
              <a:t>asnovana na zahtev/odgovor principu</a:t>
            </a:r>
            <a:r>
              <a:rPr lang="sr-Latn-RS" altLang="sr-Latn-RS"/>
              <a:t>.</a:t>
            </a:r>
            <a:endParaRPr lang="en-US" altLang="sr-Latn-RS"/>
          </a:p>
          <a:p>
            <a:pPr eaLnBrk="1" hangingPunct="1"/>
            <a:r>
              <a:rPr lang="sr-Latn-CS" altLang="sr-Latn-RS"/>
              <a:t>Svaki par zahtev</a:t>
            </a:r>
            <a:r>
              <a:rPr lang="en-US" altLang="sr-Latn-RS"/>
              <a:t>/</a:t>
            </a:r>
            <a:r>
              <a:rPr lang="sr-Latn-CS" altLang="sr-Latn-RS"/>
              <a:t>odgovor</a:t>
            </a:r>
            <a:r>
              <a:rPr lang="en-US" altLang="sr-Latn-RS"/>
              <a:t> se smatra nezavisnim od ostalih</a:t>
            </a:r>
            <a:r>
              <a:rPr lang="sr-Latn-RS" altLang="sr-Latn-RS"/>
              <a:t>.</a:t>
            </a:r>
            <a:endParaRPr lang="en-US" altLang="sr-Latn-RS"/>
          </a:p>
          <a:p>
            <a:pPr eaLnBrk="1" hangingPunct="1"/>
            <a:r>
              <a:rPr lang="sr-Latn-RS" altLang="sr-Latn-RS"/>
              <a:t>N</a:t>
            </a:r>
            <a:r>
              <a:rPr lang="en-US" altLang="sr-Latn-RS"/>
              <a:t>e</a:t>
            </a:r>
            <a:r>
              <a:rPr lang="sr-Latn-CS" altLang="sr-Latn-RS"/>
              <a:t> omogućava praćenje korisničke sesije, tj. niza zahteva upućenih od strane istog klijenta.</a:t>
            </a:r>
            <a:endParaRPr lang="en-GB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3">
            <a:extLst>
              <a:ext uri="{FF2B5EF4-FFF2-40B4-BE49-F238E27FC236}">
                <a16:creationId xmlns:a16="http://schemas.microsoft.com/office/drawing/2014/main" id="{C27595D1-C810-C6E2-9D5A-0AFC41097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752600"/>
            <a:ext cx="9144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klijent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01C59F53-009A-1F1C-02C5-F26252CEA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1200" y="1752600"/>
            <a:ext cx="884238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server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7173" name="Line 5">
            <a:extLst>
              <a:ext uri="{FF2B5EF4-FFF2-40B4-BE49-F238E27FC236}">
                <a16:creationId xmlns:a16="http://schemas.microsoft.com/office/drawing/2014/main" id="{208025B4-08AF-4EAE-C860-494A38D5C9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1336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7E3D8B45-1B01-D361-0286-F3700D703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1" y="2333625"/>
            <a:ext cx="6951663" cy="1169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GET </a:t>
            </a:r>
            <a:r>
              <a:rPr lang="sr-Latn-RS" altLang="sr-Latn-RS" sz="1400" b="1"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latin typeface="Courier New" panose="02070309020205020404" pitchFamily="49" charset="0"/>
              </a:rPr>
              <a:t>/docs.html</a:t>
            </a:r>
            <a:r>
              <a:rPr lang="sr-Latn-RS" altLang="sr-Latn-RS" sz="1400" b="1"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latin typeface="Courier New" panose="02070309020205020404" pitchFamily="49" charset="0"/>
              </a:rPr>
              <a:t> HTTP/1.0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User-Agent: Mozilla/4.0 (compatible; MSIE 5.01; Windows NT 5.0)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Accept-Cookies: yes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Host: pipin</a:t>
            </a:r>
            <a:r>
              <a:rPr lang="sr-Latn-RS" altLang="sr-Latn-RS" sz="1400" b="1">
                <a:latin typeface="Courier New" panose="02070309020205020404" pitchFamily="49" charset="0"/>
              </a:rPr>
              <a:t>.</a:t>
            </a:r>
            <a:r>
              <a:rPr lang="en-US" altLang="sr-Latn-RS" sz="1400" b="1">
                <a:latin typeface="Courier New" panose="02070309020205020404" pitchFamily="49" charset="0"/>
              </a:rPr>
              <a:t>tmd.ac.</a:t>
            </a:r>
            <a:r>
              <a:rPr lang="sr-Latn-RS" altLang="sr-Latn-RS" sz="1400" b="1">
                <a:latin typeface="Courier New" panose="02070309020205020404" pitchFamily="49" charset="0"/>
              </a:rPr>
              <a:t>rs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...</a:t>
            </a:r>
            <a:endParaRPr lang="en-GB" altLang="sr-Latn-RS" sz="1400" b="1">
              <a:latin typeface="Courier New" panose="02070309020205020404" pitchFamily="49" charset="0"/>
            </a:endParaRPr>
          </a:p>
        </p:txBody>
      </p:sp>
      <p:sp>
        <p:nvSpPr>
          <p:cNvPr id="7175" name="Text Box 7">
            <a:extLst>
              <a:ext uri="{FF2B5EF4-FFF2-40B4-BE49-F238E27FC236}">
                <a16:creationId xmlns:a16="http://schemas.microsoft.com/office/drawing/2014/main" id="{4D3642EE-9D76-477C-803B-0350C4BD4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089400"/>
            <a:ext cx="9144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klijent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7176" name="Text Box 8">
            <a:extLst>
              <a:ext uri="{FF2B5EF4-FFF2-40B4-BE49-F238E27FC236}">
                <a16:creationId xmlns:a16="http://schemas.microsoft.com/office/drawing/2014/main" id="{406CA292-6BA4-86F1-C5DF-1C488F2A0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1200" y="4089400"/>
            <a:ext cx="884238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server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7177" name="Line 9">
            <a:extLst>
              <a:ext uri="{FF2B5EF4-FFF2-40B4-BE49-F238E27FC236}">
                <a16:creationId xmlns:a16="http://schemas.microsoft.com/office/drawing/2014/main" id="{A32C76A8-65AA-0654-7D69-9BB267D3DA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70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8" name="Text Box 10">
            <a:extLst>
              <a:ext uri="{FF2B5EF4-FFF2-40B4-BE49-F238E27FC236}">
                <a16:creationId xmlns:a16="http://schemas.microsoft.com/office/drawing/2014/main" id="{5291FB27-AA61-C50D-6D3F-45512A60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772025"/>
            <a:ext cx="26543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HTTP/1.0 </a:t>
            </a:r>
            <a:r>
              <a:rPr lang="sr-Latn-RS" altLang="sr-Latn-RS" sz="1400" b="1"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latin typeface="Courier New" panose="02070309020205020404" pitchFamily="49" charset="0"/>
              </a:rPr>
              <a:t>200 </a:t>
            </a:r>
            <a:r>
              <a:rPr lang="sr-Latn-RS" altLang="sr-Latn-RS" sz="1400" b="1"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latin typeface="Courier New" panose="02070309020205020404" pitchFamily="49" charset="0"/>
              </a:rPr>
              <a:t>OK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Content-Type: text/html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&lt;HTML&gt;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&lt;HEAD&gt;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5272702-5017-35E6-77BE-952744A15B71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sr-Latn-RS"/>
              <a:t>HTTP komunikacija</a:t>
            </a:r>
            <a:r>
              <a:rPr lang="sr-Latn-CS" altLang="sr-Latn-RS"/>
              <a:t> </a:t>
            </a:r>
            <a:r>
              <a:rPr lang="sr-Latn-CS" altLang="sr-Latn-RS" baseline="-25000"/>
              <a:t>2/2</a:t>
            </a:r>
            <a:endParaRPr lang="en-GB" altLang="sr-Latn-R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CADDD100-8ECC-A370-1832-EBFDF21837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08667"/>
            <a:ext cx="9372600" cy="488420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sr-Latn-RS"/>
              <a:t>Po</a:t>
            </a:r>
            <a:r>
              <a:rPr lang="sr-Latn-CS" altLang="sr-Latn-RS"/>
              <a:t>činje redom: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/>
              <a:t>	</a:t>
            </a:r>
            <a:r>
              <a:rPr lang="sr-Latn-CS" altLang="sr-Latn-RS" b="1"/>
              <a:t>METOD   putanja   HTTP/verzija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METOD je: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GET</a:t>
            </a:r>
            <a:r>
              <a:rPr lang="en-US" altLang="sr-Latn-RS"/>
              <a:t>,</a:t>
            </a:r>
            <a:endParaRPr lang="sr-Latn-CS" altLang="sr-Latn-RS"/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POST</a:t>
            </a:r>
            <a:r>
              <a:rPr lang="en-US" altLang="sr-Latn-RS"/>
              <a:t>, i dr.</a:t>
            </a:r>
            <a:endParaRPr lang="sr-Latn-RS" altLang="sr-Latn-RS"/>
          </a:p>
          <a:p>
            <a:pPr eaLnBrk="1" hangingPunct="1">
              <a:lnSpc>
                <a:spcPct val="90000"/>
              </a:lnSpc>
            </a:pPr>
            <a:r>
              <a:rPr lang="sr-Latn-RS" altLang="sr-Latn-RS"/>
              <a:t>Putanja je: </a:t>
            </a:r>
            <a:r>
              <a:rPr lang="sr-Latn-RS" altLang="sr-Latn-RS" b="1"/>
              <a:t>/nešto</a:t>
            </a:r>
            <a:r>
              <a:rPr lang="sr-Latn-RS" altLang="sr-Latn-RS"/>
              <a:t> ili samo </a:t>
            </a:r>
            <a:r>
              <a:rPr lang="sr-Latn-RS" altLang="sr-Latn-RS" b="1"/>
              <a:t>/</a:t>
            </a:r>
            <a:endParaRPr lang="sr-Latn-CS" altLang="sr-Latn-RS" b="1"/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dodatni redovi sadrže atribute oblika: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sr-Latn-CS" altLang="sr-Latn-RS" b="1"/>
              <a:t>Ime: vrednost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prazan red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opciono telo zahteva</a:t>
            </a:r>
            <a:endParaRPr lang="en-US" altLang="sr-Latn-R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D2CA796-DA47-3F4E-16AB-3E1F638427D7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altLang="sr-Latn-RS"/>
              <a:t>HTTP zahtev</a:t>
            </a:r>
            <a:endParaRPr lang="en-GB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FD2685-AE48-80BA-588A-8FF072768F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METOD</a:t>
            </a:r>
            <a:endParaRPr lang="sr-Latn-CS" altLang="sr-Latn-R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CCEED6F-9E27-D478-BF6C-B9948388C6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199" y="1659467"/>
            <a:ext cx="11070167" cy="4965699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sr-Latn-RS"/>
              <a:t>GET – zahteva resurs od web servera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sr-Latn-RS"/>
              <a:t>POST – </a:t>
            </a:r>
            <a:r>
              <a:rPr lang="sr-Latn-CS" altLang="sr-Latn-RS"/>
              <a:t>šalje parametre forme i traži odgovor</a:t>
            </a:r>
            <a:endParaRPr lang="en-US" altLang="sr-Latn-RS"/>
          </a:p>
          <a:p>
            <a:pPr eaLnBrk="1" hangingPunct="1">
              <a:lnSpc>
                <a:spcPct val="80000"/>
              </a:lnSpc>
            </a:pPr>
            <a:r>
              <a:rPr lang="en-US" altLang="sr-Latn-RS"/>
              <a:t>PUT</a:t>
            </a:r>
            <a:r>
              <a:rPr lang="sr-Latn-CS" altLang="sr-Latn-RS"/>
              <a:t> – omogućava klijentu da pošalje resurs na web server</a:t>
            </a:r>
            <a:endParaRPr lang="en-US" altLang="sr-Latn-RS"/>
          </a:p>
          <a:p>
            <a:pPr>
              <a:lnSpc>
                <a:spcPct val="80000"/>
              </a:lnSpc>
            </a:pPr>
            <a:r>
              <a:rPr lang="en-US" altLang="sr-Latn-RS"/>
              <a:t>DELETE</a:t>
            </a:r>
            <a:r>
              <a:rPr lang="sr-Latn-CS" altLang="sr-Latn-RS"/>
              <a:t> – omogućava klijentu da obriše resurs sa web servera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sr-Latn-RS"/>
              <a:t>OPTIONS</a:t>
            </a:r>
            <a:r>
              <a:rPr lang="sr-Latn-CS" altLang="sr-Latn-RS"/>
              <a:t> – od web servera se traži spisak metoda koje podržava</a:t>
            </a:r>
          </a:p>
          <a:p>
            <a:pPr>
              <a:lnSpc>
                <a:spcPct val="80000"/>
              </a:lnSpc>
            </a:pPr>
            <a:r>
              <a:rPr lang="en-US" altLang="sr-Latn-RS"/>
              <a:t>HEAD</a:t>
            </a:r>
            <a:r>
              <a:rPr lang="sr-Latn-CS" altLang="sr-Latn-RS"/>
              <a:t> – zahteva samo HTTP odgovor (response), bez slanja samog resursa</a:t>
            </a:r>
            <a:endParaRPr lang="en-US" altLang="sr-Latn-RS"/>
          </a:p>
          <a:p>
            <a:pPr eaLnBrk="1" hangingPunct="1">
              <a:lnSpc>
                <a:spcPct val="80000"/>
              </a:lnSpc>
            </a:pPr>
            <a:endParaRPr lang="sr-Latn-CS" altLang="sr-Latn-RS"/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GET,POST, PUT, DELETE i OPTIONS su dobili dodatne funkcionalnosti kod REST-a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14B6010-91E6-8195-A825-385B0B1F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Atributi u HTTP zahtevu</a:t>
            </a:r>
            <a:endParaRPr lang="sr-Latn-CS" altLang="sr-Latn-R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8941754-CDAE-9DA4-DD31-B9D9A3711A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014537"/>
            <a:ext cx="10780552" cy="44783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sr-Latn-RS" sz="2400"/>
              <a:t>User-Agent – identifikuje web browser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>
                <a:solidFill>
                  <a:srgbClr val="0070C0"/>
                </a:solidFill>
              </a:rPr>
              <a:t>User-Agent: Mozilla/5.0 (Windows; U; Windows NT 5.1; en-US; rv:1.8.1.2) Gecko/20070219 Firefox/2.0.0.2</a:t>
            </a:r>
          </a:p>
          <a:p>
            <a:pPr eaLnBrk="1" hangingPunct="1">
              <a:lnSpc>
                <a:spcPct val="80000"/>
              </a:lnSpc>
            </a:pPr>
            <a:r>
              <a:rPr lang="en-US" altLang="sr-Latn-RS" sz="2400"/>
              <a:t>Accept – defini</a:t>
            </a:r>
            <a:r>
              <a:rPr lang="sr-Latn-CS" altLang="sr-Latn-RS" sz="2400"/>
              <a:t>še koje tipove resursa navigator prihvata kao odgovor na ovaj zahtev</a:t>
            </a:r>
            <a:endParaRPr lang="en-US" altLang="sr-Latn-RS" sz="240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>
                <a:solidFill>
                  <a:srgbClr val="0070C0"/>
                </a:solidFill>
              </a:rPr>
              <a:t>Accept: text/xml,application/xml,application/xhtml+xml,text/html;q=0.9,text/plain;q=0.8,image/png,*/*;q=0.5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Accept-Language – definiše koji jezike očekuje kao odgovor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>
                <a:solidFill>
                  <a:srgbClr val="0070C0"/>
                </a:solidFill>
              </a:rPr>
              <a:t>Accept-Language: en-us,en;q=0.5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Accept-Encoding – definiše koje ko</a:t>
            </a:r>
            <a:r>
              <a:rPr lang="en-US" altLang="sr-Latn-RS" sz="2400"/>
              <a:t>d</a:t>
            </a:r>
            <a:r>
              <a:rPr lang="sr-Latn-CS" altLang="sr-Latn-RS" sz="2400"/>
              <a:t>iranje očekuje kao odgovor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>
                <a:solidFill>
                  <a:srgbClr val="0070C0"/>
                </a:solidFill>
              </a:rPr>
              <a:t>Accept-Encoding: gzip,deflate</a:t>
            </a:r>
            <a:endParaRPr lang="sr-Latn-CS" altLang="sr-Latn-RS" sz="200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9CA339D-9259-C537-0576-638179ED1C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Atributi u HTTP zahtevu</a:t>
            </a:r>
            <a:endParaRPr lang="sr-Latn-CS" altLang="sr-Latn-R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2CF3793-1354-6D37-3CFE-6B68EAF146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10591800" cy="4478338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Accept-Charset – definiše koju kodnu stranu očekuje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>
                <a:solidFill>
                  <a:srgbClr val="0070C0"/>
                </a:solidFill>
              </a:rPr>
              <a:t>Accept-Charset: ISO-8859-1,utf-8;q=0.7,*;q=0.7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Cookie – definiše mehanizam praćenja sesije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>
                <a:solidFill>
                  <a:srgbClr val="0070C0"/>
                </a:solidFill>
              </a:rPr>
              <a:t>Cookie: id1172566682241_1=1172566682241_1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Referer – definiše URL sa kojeg se došlo na ovu stranicu</a:t>
            </a:r>
            <a:r>
              <a:rPr lang="en-US" altLang="sr-Latn-RS" sz="2400"/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sr-Latn-RS" sz="2000"/>
              <a:t>koristi se za statistiku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sr-Latn-RS" sz="2000"/>
              <a:t>hotlinking</a:t>
            </a:r>
            <a:endParaRPr lang="sr-Latn-CS" altLang="sr-Latn-RS" sz="200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>
                <a:solidFill>
                  <a:srgbClr val="0070C0"/>
                </a:solidFill>
              </a:rPr>
              <a:t>Referer: http://localhost/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Connection – HTTP1.0 "kaže" serveru da ne zatvara konekciju po isporuci resursa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>
                <a:solidFill>
                  <a:srgbClr val="0070C0"/>
                </a:solidFill>
              </a:rPr>
              <a:t>Connection: Keep-Alive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q=broj definiše </a:t>
            </a:r>
            <a:r>
              <a:rPr lang="sr-Latn-CS" altLang="sr-Latn-RS" sz="2400" i="1"/>
              <a:t>qvalue</a:t>
            </a:r>
            <a:r>
              <a:rPr lang="sr-Latn-CS" altLang="sr-Latn-RS" sz="2400"/>
              <a:t>, odn. floating point vrednost "težine" parametra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78E1C5E-C439-8985-C9C6-03D2D50112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Primer HTTP zahteva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C15D282-6DE5-5FC5-036D-71671A35D6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11218333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GET / HTTP/1.1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Accept: image/gif, image/x-xbitmap, image/jpeg, image/pjpeg, application/vnd.ms-excel, application/vnd.ms-powerpoint, application/msword, application/x-shockwave-flash, */*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Accept-Language: sr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User-Agent: Mozilla/4.0 (compatible; MSIE 6.0; Windows NT 5.1; .NET CLR 1.1.4322)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Host: localhost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Connection: Keep-Alive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sr-Latn-RS" sz="2400"/>
          </a:p>
        </p:txBody>
      </p:sp>
      <p:sp>
        <p:nvSpPr>
          <p:cNvPr id="12292" name="AutoShape 4">
            <a:extLst>
              <a:ext uri="{FF2B5EF4-FFF2-40B4-BE49-F238E27FC236}">
                <a16:creationId xmlns:a16="http://schemas.microsoft.com/office/drawing/2014/main" id="{F25E9E36-C530-9B2E-93E7-1BCF2AD44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6305" y="5210175"/>
            <a:ext cx="2905125" cy="1176337"/>
          </a:xfrm>
          <a:prstGeom prst="wedgeRoundRectCallout">
            <a:avLst>
              <a:gd name="adj1" fmla="val -64796"/>
              <a:gd name="adj2" fmla="val -2386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2400">
                <a:solidFill>
                  <a:schemeClr val="bg1"/>
                </a:solidFill>
                <a:latin typeface="Tahoma" panose="020B0604030504040204" pitchFamily="34" charset="0"/>
              </a:rPr>
              <a:t>Ako je close, konekcija se zatvara</a:t>
            </a:r>
            <a:endParaRPr lang="sr-Latn-CS" altLang="sr-Latn-RS" sz="24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137B729-BAF4-9F05-6E03-CD1D423BF0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HTTP odgovor</a:t>
            </a:r>
            <a:endParaRPr lang="en-US" altLang="sr-Latn-R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FFC0BF4-AD4C-AF18-6DAE-08222CC69A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7317" y="1981200"/>
            <a:ext cx="8468308" cy="4114800"/>
          </a:xfrm>
        </p:spPr>
        <p:txBody>
          <a:bodyPr/>
          <a:lstStyle/>
          <a:p>
            <a:pPr eaLnBrk="1" hangingPunct="1"/>
            <a:r>
              <a:rPr lang="sr-Latn-CS" altLang="sr-Latn-RS"/>
              <a:t>Počinje redom:</a:t>
            </a:r>
          </a:p>
          <a:p>
            <a:pPr eaLnBrk="1" hangingPunct="1">
              <a:buFontTx/>
              <a:buNone/>
            </a:pPr>
            <a:r>
              <a:rPr lang="sr-Latn-CS" altLang="sr-Latn-RS"/>
              <a:t>	</a:t>
            </a:r>
            <a:r>
              <a:rPr lang="sr-Latn-CS" altLang="sr-Latn-RS" b="1"/>
              <a:t>HTTP/verzija  kod  tekstualni_opis</a:t>
            </a:r>
          </a:p>
          <a:p>
            <a:pPr eaLnBrk="1" hangingPunct="1"/>
            <a:r>
              <a:rPr lang="sr-Latn-CS" altLang="sr-Latn-RS"/>
              <a:t>dodatni redovi sadrže atribute:</a:t>
            </a:r>
          </a:p>
          <a:p>
            <a:pPr lvl="1" eaLnBrk="1" hangingPunct="1">
              <a:buFontTx/>
              <a:buNone/>
            </a:pPr>
            <a:r>
              <a:rPr lang="sr-Latn-CS" altLang="sr-Latn-RS"/>
              <a:t>Ime: vrednost</a:t>
            </a:r>
          </a:p>
          <a:p>
            <a:pPr eaLnBrk="1" hangingPunct="1"/>
            <a:r>
              <a:rPr lang="sr-Latn-CS" altLang="sr-Latn-RS"/>
              <a:t>prazan red</a:t>
            </a:r>
          </a:p>
          <a:p>
            <a:pPr eaLnBrk="1" hangingPunct="1"/>
            <a:r>
              <a:rPr lang="sr-Latn-CS" altLang="sr-Latn-RS"/>
              <a:t>sledi sadržaj datoteke</a:t>
            </a:r>
            <a:endParaRPr lang="en-US" altLang="sr-Latn-RS"/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7311C9A5-ABAB-40C0-6A05-E41DB408F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725" y="332657"/>
            <a:ext cx="2305050" cy="644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sr-Latn-RS" altLang="sr-Latn-RS" sz="1400" b="1">
                <a:latin typeface="Tahoma" panose="020B0604030504040204" pitchFamily="34" charset="0"/>
              </a:rPr>
              <a:t>"101</a:t>
            </a:r>
            <a:r>
              <a:rPr lang="en-US" altLang="sr-Latn-RS" sz="1400" b="1">
                <a:latin typeface="Tahoma" panose="020B0604030504040204" pitchFamily="34" charset="0"/>
              </a:rPr>
              <a:t>" ; </a:t>
            </a:r>
            <a:r>
              <a:rPr lang="sr-Latn-RS" altLang="sr-Latn-RS" sz="1400" b="1">
                <a:latin typeface="Tahoma" panose="020B0604030504040204" pitchFamily="34" charset="0"/>
              </a:rPr>
              <a:t>Protocol upgrade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sr-Latn-RS" sz="1400" b="1">
                <a:latin typeface="Tahoma" panose="020B0604030504040204" pitchFamily="34" charset="0"/>
              </a:rPr>
              <a:t>"200" ; OK </a:t>
            </a:r>
            <a:endParaRPr lang="sr-Latn-CS" altLang="sr-Latn-RS" sz="1400" b="1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sr-Latn-RS" sz="1400" b="1">
                <a:latin typeface="Tahoma" panose="020B0604030504040204" pitchFamily="34" charset="0"/>
              </a:rPr>
              <a:t> "201" ; Created </a:t>
            </a:r>
            <a:endParaRPr lang="sr-Latn-CS" altLang="sr-Latn-RS" sz="1400" b="1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sr-Latn-RS" sz="1400" b="1">
                <a:latin typeface="Tahoma" panose="020B0604030504040204" pitchFamily="34" charset="0"/>
              </a:rPr>
              <a:t> "202" ; Accepted </a:t>
            </a:r>
            <a:endParaRPr lang="sr-Latn-CS" altLang="sr-Latn-RS" sz="1400" b="1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sr-Latn-RS" sz="1400" b="1">
                <a:latin typeface="Tahoma" panose="020B0604030504040204" pitchFamily="34" charset="0"/>
              </a:rPr>
              <a:t> "204" ; No Content </a:t>
            </a:r>
            <a:endParaRPr lang="sr-Latn-CS" altLang="sr-Latn-RS" sz="1400" b="1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sr-Latn-RS" sz="1400" b="1">
                <a:latin typeface="Tahoma" panose="020B0604030504040204" pitchFamily="34" charset="0"/>
              </a:rPr>
              <a:t> "301" ; Moved Permanently </a:t>
            </a:r>
            <a:endParaRPr lang="sr-Latn-CS" altLang="sr-Latn-RS" sz="1400" b="1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sr-Latn-RS" sz="1400" b="1">
                <a:latin typeface="Tahoma" panose="020B0604030504040204" pitchFamily="34" charset="0"/>
              </a:rPr>
              <a:t> "302" ; Moved Temporarily </a:t>
            </a:r>
            <a:endParaRPr lang="sr-Latn-CS" altLang="sr-Latn-RS" sz="1400" b="1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sr-Latn-RS" sz="1400" b="1">
                <a:latin typeface="Tahoma" panose="020B0604030504040204" pitchFamily="34" charset="0"/>
              </a:rPr>
              <a:t> "304" ; Not Modified </a:t>
            </a:r>
            <a:endParaRPr lang="sr-Latn-CS" altLang="sr-Latn-RS" sz="1400" b="1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sr-Latn-RS" sz="1400" b="1">
                <a:latin typeface="Tahoma" panose="020B0604030504040204" pitchFamily="34" charset="0"/>
              </a:rPr>
              <a:t> "400" ; Bad Request </a:t>
            </a:r>
            <a:endParaRPr lang="sr-Latn-CS" altLang="sr-Latn-RS" sz="1400" b="1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sr-Latn-RS" sz="1400" b="1">
                <a:latin typeface="Tahoma" panose="020B0604030504040204" pitchFamily="34" charset="0"/>
              </a:rPr>
              <a:t> "401" ; Unauthorized </a:t>
            </a:r>
            <a:endParaRPr lang="sr-Latn-CS" altLang="sr-Latn-RS" sz="1400" b="1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sr-Latn-RS" sz="1400" b="1">
                <a:latin typeface="Tahoma" panose="020B0604030504040204" pitchFamily="34" charset="0"/>
              </a:rPr>
              <a:t> "403" ; Forbidden </a:t>
            </a:r>
            <a:endParaRPr lang="sr-Latn-CS" altLang="sr-Latn-RS" sz="1400" b="1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sr-Latn-RS" sz="1400" b="1">
                <a:latin typeface="Tahoma" panose="020B0604030504040204" pitchFamily="34" charset="0"/>
              </a:rPr>
              <a:t> "404" ; Not Found </a:t>
            </a:r>
            <a:endParaRPr lang="sr-Latn-CS" altLang="sr-Latn-RS" sz="1400" b="1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sr-Latn-RS" sz="1400" b="1">
                <a:latin typeface="Tahoma" panose="020B0604030504040204" pitchFamily="34" charset="0"/>
              </a:rPr>
              <a:t> "500" ; Internal Server Error </a:t>
            </a:r>
            <a:endParaRPr lang="sr-Latn-CS" altLang="sr-Latn-RS" sz="1400" b="1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sr-Latn-RS" sz="1400" b="1">
                <a:latin typeface="Tahoma" panose="020B0604030504040204" pitchFamily="34" charset="0"/>
              </a:rPr>
              <a:t> "501" ; Not Implemented </a:t>
            </a:r>
            <a:endParaRPr lang="sr-Latn-CS" altLang="sr-Latn-RS" sz="1400" b="1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sr-Latn-RS" sz="1400" b="1">
                <a:latin typeface="Tahoma" panose="020B0604030504040204" pitchFamily="34" charset="0"/>
              </a:rPr>
              <a:t> "502" ; Bad Gateway </a:t>
            </a:r>
            <a:endParaRPr lang="sr-Latn-CS" altLang="sr-Latn-RS" sz="1400" b="1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sr-Latn-RS" sz="1400" b="1">
                <a:latin typeface="Tahoma" panose="020B0604030504040204" pitchFamily="34" charset="0"/>
              </a:rPr>
              <a:t> "503" ; Service Unavailable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  <p:bldP spid="133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E492BEB-D9DA-E43E-5F29-F5BAF25C9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Atributi u HTTP odgovoru</a:t>
            </a:r>
            <a:endParaRPr lang="sr-Latn-CS" altLang="sr-Latn-R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C2F858D-3E36-24F9-5776-BB8D38826B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10910582" cy="43513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sr-Latn-RS" sz="2400"/>
              <a:t>Content-type – defini</a:t>
            </a:r>
            <a:r>
              <a:rPr lang="sr-Latn-CS" altLang="sr-Latn-RS" sz="2400"/>
              <a:t>še tip odgovora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>
                <a:solidFill>
                  <a:srgbClr val="0070C0"/>
                </a:solidFill>
              </a:rPr>
              <a:t>Content-Type: text/html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Cache-Control – definiše kako se keš na klijentu ažurira</a:t>
            </a:r>
            <a:endParaRPr lang="en-US" altLang="sr-Latn-RS" sz="2400"/>
          </a:p>
          <a:p>
            <a:pPr lvl="1" eaLnBrk="1" hangingPunct="1">
              <a:lnSpc>
                <a:spcPct val="80000"/>
              </a:lnSpc>
            </a:pPr>
            <a:r>
              <a:rPr lang="en-US" altLang="sr-Latn-RS" sz="2000"/>
              <a:t>koristi se i Pragma: no-cache</a:t>
            </a:r>
            <a:endParaRPr lang="sr-Latn-CS" altLang="sr-Latn-RS" sz="200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>
                <a:solidFill>
                  <a:srgbClr val="0070C0"/>
                </a:solidFill>
              </a:rPr>
              <a:t>Cache-Control: no-cache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Location – definiše novu adrese kod redirekcije</a:t>
            </a:r>
            <a:endParaRPr lang="en-US" altLang="sr-Latn-RS" sz="240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>
                <a:solidFill>
                  <a:srgbClr val="0070C0"/>
                </a:solidFill>
              </a:rPr>
              <a:t>Location</a:t>
            </a:r>
            <a:r>
              <a:rPr lang="sr-Latn-CS" altLang="sr-Latn-RS" sz="2000">
                <a:solidFill>
                  <a:srgbClr val="0070C0"/>
                </a:solidFill>
              </a:rPr>
              <a:t>: new.html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Connection – potvrda klijentu da li da zatvori konekciju ili da je ostavi otvorenu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>
                <a:solidFill>
                  <a:srgbClr val="0070C0"/>
                </a:solidFill>
              </a:rPr>
              <a:t>Connection: Keep-Alive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54D76BF9-4A1B-741E-CEAC-ADF8B32145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5618" y="1405467"/>
            <a:ext cx="10851159" cy="5336646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HTTP/1.0 200 OK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Date: Tue, 04 May </a:t>
            </a: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4 08:55:09 GMT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Status: 200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Servlet-Engine: Tomcat Web Server/3.1 (JSP 1.1; Servlet 2.2; Java 1.4.2_02; Windows XP 5.1 x86; java.vendor=Sun Microsystems Inc.)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Content-Type: text/html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Last-Modified: Fri, 24 Oct 20</a:t>
            </a: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16:07:24 GMT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Content-Length: 2524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Content-Language: en</a:t>
            </a:r>
            <a:endParaRPr lang="sr-Latn-RS" alt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Connection: Keep-Alive</a:t>
            </a:r>
            <a:endParaRPr lang="en-US" alt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&lt;!doctype html public "-//w3c//dtd html 4.0 transitional//en"&gt;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&lt;html&gt;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&lt;meta http-equiv="Content-Type" content="text/html; charset=iso-8859-1"&gt;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&lt;meta name="Author" content="Anil K. Vijendran"&gt;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&lt;title&gt;Tomcat v3.1&lt;/title&gt;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sr-Latn-C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&lt;/body&gt;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  <a:endParaRPr lang="en-US" alt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2CEC46A-F328-CBF5-F307-05401BE7BB14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65126"/>
            <a:ext cx="10515600" cy="862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sr-Latn-RS"/>
              <a:t>Primer HTTP odgovora</a:t>
            </a:r>
            <a:endParaRPr lang="sr-Latn-CS" altLang="sr-Latn-RS"/>
          </a:p>
        </p:txBody>
      </p:sp>
      <p:sp>
        <p:nvSpPr>
          <p:cNvPr id="16388" name="AutoShape 4">
            <a:extLst>
              <a:ext uri="{FF2B5EF4-FFF2-40B4-BE49-F238E27FC236}">
                <a16:creationId xmlns:a16="http://schemas.microsoft.com/office/drawing/2014/main" id="{E45C61E5-9C21-326F-0E94-D18D035CE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7204" y="3001433"/>
            <a:ext cx="2905125" cy="770506"/>
          </a:xfrm>
          <a:prstGeom prst="wedgeRoundRectCallout">
            <a:avLst>
              <a:gd name="adj1" fmla="val -132134"/>
              <a:gd name="adj2" fmla="val 39042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solidFill>
                  <a:schemeClr val="bg1"/>
                </a:solidFill>
                <a:latin typeface="Tahoma" panose="020B0604030504040204" pitchFamily="34" charset="0"/>
              </a:rPr>
              <a:t>Ako je close, konekcija se zatvara</a:t>
            </a:r>
            <a:endParaRPr lang="sr-Latn-CS" altLang="sr-Latn-RS" sz="20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3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3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3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536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536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536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/>
      <p:bldP spid="1638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910DF67-0A89-805D-16CA-7082971661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704471"/>
          </a:xfrm>
        </p:spPr>
        <p:txBody>
          <a:bodyPr/>
          <a:lstStyle/>
          <a:p>
            <a:pPr eaLnBrk="1" hangingPunct="1"/>
            <a:r>
              <a:rPr lang="en-US" altLang="sr-Latn-RS" sz="4000"/>
              <a:t>Primer HTTP odgovora</a:t>
            </a:r>
            <a:r>
              <a:rPr lang="sr-Latn-CS" altLang="sr-Latn-RS" sz="4000"/>
              <a:t> sa redirekcijom</a:t>
            </a:r>
            <a:endParaRPr lang="en-US" altLang="sr-Latn-RS" sz="400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D975057-78DD-5AA1-3FD9-728088DE5B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5315" y="1489046"/>
            <a:ext cx="10581118" cy="513207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HTTP/1.1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302</a:t>
            </a: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Object moved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Server: Microsoft-IIS/5.1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Date: Mon, 26 Apr 20</a:t>
            </a: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4 17:50:55 GMT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X-Powered-By: ASP.NET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Location: localstart.asp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Content-Length: 135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Content-Type: text/html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Set-Cookie: ASPSESSIONIDGGQQQAEK=JKKPPFKCMNDNMEEOHAADJKPM; path=/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Cache-control: private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&lt;html&gt;</a:t>
            </a:r>
            <a:endParaRPr lang="en-US" alt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  <a:endParaRPr lang="sr-Latn-CS" alt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&lt;title&gt;Object moved&lt;/title&gt;</a:t>
            </a:r>
            <a:endParaRPr lang="sr-Latn-CS" alt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  <a:endParaRPr lang="sr-Latn-CS" alt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&lt;body&gt;&lt;h1&gt;Object Moved&lt;/h1&gt;This object may be found &lt;a</a:t>
            </a:r>
            <a:r>
              <a:rPr lang="sr-Latn-C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HREF="localstart.asp"&gt;here&lt;/a&gt;.</a:t>
            </a:r>
            <a:endParaRPr lang="sr-Latn-CS" alt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&lt;/body&gt;</a:t>
            </a:r>
            <a:endParaRPr lang="sr-Latn-CS" alt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&lt;html&gt;</a:t>
            </a:r>
            <a:endParaRPr lang="en-US" alt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3050B04-EEE1-D1CF-A4E1-27E0B8889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Vrste WWW sadržaja</a:t>
            </a:r>
            <a:endParaRPr lang="en-GB" altLang="sr-Latn-R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2422E93-F213-BE30-4558-32C7BBE78F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Statički (unapred uskladišteni) i</a:t>
            </a:r>
          </a:p>
          <a:p>
            <a:pPr eaLnBrk="1" hangingPunct="1"/>
            <a:r>
              <a:rPr lang="sr-Latn-CS" altLang="sr-Latn-RS"/>
              <a:t>Dinamički (generisani po zahtevu)</a:t>
            </a:r>
            <a:endParaRPr lang="en-GB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E208446-E8ED-2169-F785-76FA56E5C1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Isporuka statičkih sadržaja</a:t>
            </a:r>
            <a:endParaRPr lang="en-GB" altLang="sr-Latn-RS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1C086C0-E9C1-9CB7-7215-64022BF7C9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9372600" cy="1257300"/>
          </a:xfrm>
        </p:spPr>
        <p:txBody>
          <a:bodyPr/>
          <a:lstStyle/>
          <a:p>
            <a:pPr eaLnBrk="1" hangingPunct="1"/>
            <a:r>
              <a:rPr lang="sr-Latn-CS" altLang="sr-Latn-RS"/>
              <a:t>Statički sadržaji se nalaze u okviru datoteka WWW servera.</a:t>
            </a:r>
            <a:endParaRPr lang="en-GB" altLang="sr-Latn-RS"/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0A7C7C00-A770-C265-AAFD-B42AD220F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962400"/>
            <a:ext cx="9144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klijent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4152AF21-D999-9754-5CF4-BB9775EF6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1200" y="3962400"/>
            <a:ext cx="884238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server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18438" name="Line 6">
            <a:extLst>
              <a:ext uri="{FF2B5EF4-FFF2-40B4-BE49-F238E27FC236}">
                <a16:creationId xmlns:a16="http://schemas.microsoft.com/office/drawing/2014/main" id="{9E545D94-30CD-96C4-06D4-12E89D189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1148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Line 7">
            <a:extLst>
              <a:ext uri="{FF2B5EF4-FFF2-40B4-BE49-F238E27FC236}">
                <a16:creationId xmlns:a16="http://schemas.microsoft.com/office/drawing/2014/main" id="{EC23C491-2061-456C-C841-1C9FEC398CA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958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40" name="Text Box 8">
            <a:extLst>
              <a:ext uri="{FF2B5EF4-FFF2-40B4-BE49-F238E27FC236}">
                <a16:creationId xmlns:a16="http://schemas.microsoft.com/office/drawing/2014/main" id="{C82B8828-FBBF-8F16-FD4A-70C1053A2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1" y="4648201"/>
            <a:ext cx="49180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sr-Latn-CS" altLang="sr-Latn-RS" sz="2000">
                <a:latin typeface="Tahoma" panose="020B0604030504040204" pitchFamily="34" charset="0"/>
              </a:rPr>
              <a:t>k</a:t>
            </a:r>
            <a:r>
              <a:rPr lang="en-US" altLang="sr-Latn-RS" sz="2000">
                <a:latin typeface="Tahoma" panose="020B0604030504040204" pitchFamily="34" charset="0"/>
              </a:rPr>
              <a:t>lijent zahteva datoteku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sr-Latn-RS" sz="2000">
                <a:latin typeface="Tahoma" panose="020B0604030504040204" pitchFamily="34" charset="0"/>
              </a:rPr>
              <a:t>server je u</a:t>
            </a:r>
            <a:r>
              <a:rPr lang="sr-Latn-CS" altLang="sr-Latn-RS" sz="2000">
                <a:latin typeface="Tahoma" panose="020B0604030504040204" pitchFamily="34" charset="0"/>
              </a:rPr>
              <a:t>čitava sa svog fajl-sistema i</a:t>
            </a:r>
            <a:br>
              <a:rPr lang="sr-Latn-CS" altLang="sr-Latn-RS" sz="2000">
                <a:latin typeface="Tahoma" panose="020B0604030504040204" pitchFamily="34" charset="0"/>
              </a:rPr>
            </a:br>
            <a:r>
              <a:rPr lang="sr-Latn-CS" altLang="sr-Latn-RS" sz="2000">
                <a:latin typeface="Tahoma" panose="020B0604030504040204" pitchFamily="34" charset="0"/>
              </a:rPr>
              <a:t>šalje je klijentu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18441" name="Text Box 9">
            <a:extLst>
              <a:ext uri="{FF2B5EF4-FFF2-40B4-BE49-F238E27FC236}">
                <a16:creationId xmlns:a16="http://schemas.microsoft.com/office/drawing/2014/main" id="{FA3CBAE7-147C-BF56-23D7-58D069E07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810000"/>
            <a:ext cx="2809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1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  <p:sp>
        <p:nvSpPr>
          <p:cNvPr id="18442" name="Text Box 10">
            <a:extLst>
              <a:ext uri="{FF2B5EF4-FFF2-40B4-BE49-F238E27FC236}">
                <a16:creationId xmlns:a16="http://schemas.microsoft.com/office/drawing/2014/main" id="{A6EB8294-9123-3694-B577-8089055CA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0" y="4191000"/>
            <a:ext cx="2809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2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68407A3-97AD-C0DE-82FC-7035E91598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Isporuka dinamičkih sadržaja</a:t>
            </a:r>
            <a:endParaRPr lang="en-GB" altLang="sr-Latn-R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34B028C8-8C4C-0C09-7ACC-F6EA8AAE70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00201"/>
            <a:ext cx="9372600" cy="1173163"/>
          </a:xfrm>
        </p:spPr>
        <p:txBody>
          <a:bodyPr/>
          <a:lstStyle/>
          <a:p>
            <a:pPr eaLnBrk="1" hangingPunct="1"/>
            <a:r>
              <a:rPr lang="sr-Latn-CS" altLang="sr-Latn-RS"/>
              <a:t>Traženi sadržaj se generiše po zahtevu i šalje klijentu.</a:t>
            </a:r>
            <a:endParaRPr lang="en-GB" altLang="sr-Latn-RS"/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2081EBC3-7E57-2CCD-09B3-60FC779DA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962400"/>
            <a:ext cx="9144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klijent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30489275-D3F3-54B7-3CBE-0C2374904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1200" y="3962400"/>
            <a:ext cx="884238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server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19462" name="Line 6">
            <a:extLst>
              <a:ext uri="{FF2B5EF4-FFF2-40B4-BE49-F238E27FC236}">
                <a16:creationId xmlns:a16="http://schemas.microsoft.com/office/drawing/2014/main" id="{3459C288-7AA0-2B1C-04B0-D3AB212BE6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1148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63" name="Line 7">
            <a:extLst>
              <a:ext uri="{FF2B5EF4-FFF2-40B4-BE49-F238E27FC236}">
                <a16:creationId xmlns:a16="http://schemas.microsoft.com/office/drawing/2014/main" id="{7EE4B06E-4AEE-9216-18BE-B411770D6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958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64" name="Text Box 8">
            <a:extLst>
              <a:ext uri="{FF2B5EF4-FFF2-40B4-BE49-F238E27FC236}">
                <a16:creationId xmlns:a16="http://schemas.microsoft.com/office/drawing/2014/main" id="{FA09F97B-41D3-C86D-2EC1-F4B600757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648200"/>
            <a:ext cx="7329488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sr-Latn-CS" altLang="sr-Latn-RS" sz="2000">
                <a:latin typeface="Tahoma" panose="020B0604030504040204" pitchFamily="34" charset="0"/>
              </a:rPr>
              <a:t>k</a:t>
            </a:r>
            <a:r>
              <a:rPr lang="en-US" altLang="sr-Latn-RS" sz="2000">
                <a:latin typeface="Tahoma" panose="020B0604030504040204" pitchFamily="34" charset="0"/>
              </a:rPr>
              <a:t>lijent zahteva “datoteku”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sr-Latn-RS" sz="2000">
                <a:latin typeface="Tahoma" panose="020B0604030504040204" pitchFamily="34" charset="0"/>
              </a:rPr>
              <a:t>server </a:t>
            </a:r>
            <a:r>
              <a:rPr lang="sr-Latn-CS" altLang="sr-Latn-RS" sz="2000">
                <a:latin typeface="Tahoma" panose="020B0604030504040204" pitchFamily="34" charset="0"/>
              </a:rPr>
              <a:t>startuje eksterni program koji direktno šalje sadržaj </a:t>
            </a:r>
            <a:br>
              <a:rPr lang="sr-Latn-CS" altLang="sr-Latn-RS" sz="2000">
                <a:latin typeface="Tahoma" panose="020B0604030504040204" pitchFamily="34" charset="0"/>
              </a:rPr>
            </a:br>
            <a:r>
              <a:rPr lang="sr-Latn-CS" altLang="sr-Latn-RS" sz="2000">
                <a:latin typeface="Tahoma" panose="020B0604030504040204" pitchFamily="34" charset="0"/>
              </a:rPr>
              <a:t>klijentu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19465" name="Text Box 9">
            <a:extLst>
              <a:ext uri="{FF2B5EF4-FFF2-40B4-BE49-F238E27FC236}">
                <a16:creationId xmlns:a16="http://schemas.microsoft.com/office/drawing/2014/main" id="{6C72F90D-4798-198E-AEFE-BC78D03E7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810000"/>
            <a:ext cx="2809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1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  <p:sp>
        <p:nvSpPr>
          <p:cNvPr id="19466" name="Text Box 10">
            <a:extLst>
              <a:ext uri="{FF2B5EF4-FFF2-40B4-BE49-F238E27FC236}">
                <a16:creationId xmlns:a16="http://schemas.microsoft.com/office/drawing/2014/main" id="{01AA1770-0518-D88B-655D-1E45A7DAE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0" y="4191000"/>
            <a:ext cx="2809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2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E48849DD-C19C-6D64-6BB0-5AAA690806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Preuzimanje podataka sa formi</a:t>
            </a:r>
            <a:endParaRPr lang="en-US" altLang="sr-Latn-RS" sz="4000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93AF47BE-30A2-ACC1-A522-441229135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829801" cy="4114800"/>
          </a:xfrm>
        </p:spPr>
        <p:txBody>
          <a:bodyPr/>
          <a:lstStyle/>
          <a:p>
            <a:pPr eaLnBrk="1" hangingPunct="1"/>
            <a:r>
              <a:rPr lang="sr-Latn-CS" altLang="sr-Latn-RS" sz="3600"/>
              <a:t>HTML kod na klijentu:</a:t>
            </a:r>
          </a:p>
          <a:p>
            <a:pPr eaLnBrk="1" hangingPunct="1">
              <a:buFontTx/>
              <a:buNone/>
            </a:pP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&lt;form </a:t>
            </a:r>
            <a:r>
              <a:rPr lang="sr-Latn-CS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method</a:t>
            </a:r>
            <a:r>
              <a:rPr lang="sr-Latn-CS" altLang="sr-Latn-RS" b="1">
                <a:latin typeface="Courier New" panose="02070309020205020404" pitchFamily="49" charset="0"/>
              </a:rPr>
              <a:t>=“get” </a:t>
            </a:r>
            <a:r>
              <a:rPr lang="sr-Latn-CS" altLang="sr-Latn-RS" b="1">
                <a:solidFill>
                  <a:schemeClr val="accent5"/>
                </a:solidFill>
                <a:latin typeface="Courier New" panose="02070309020205020404" pitchFamily="49" charset="0"/>
              </a:rPr>
              <a:t>action</a:t>
            </a:r>
            <a:r>
              <a:rPr lang="sr-Latn-CS" altLang="sr-Latn-RS" b="1">
                <a:latin typeface="Courier New" panose="02070309020205020404" pitchFamily="49" charset="0"/>
              </a:rPr>
              <a:t>=“Form</a:t>
            </a:r>
            <a:r>
              <a:rPr lang="en-US" altLang="sr-Latn-RS" b="1">
                <a:latin typeface="Courier New" panose="02070309020205020404" pitchFamily="49" charset="0"/>
              </a:rPr>
              <a:t>Servlet</a:t>
            </a:r>
            <a:r>
              <a:rPr lang="sr-Latn-CS" altLang="sr-Latn-RS" b="1">
                <a:latin typeface="Courier New" panose="02070309020205020404" pitchFamily="49" charset="0"/>
              </a:rPr>
              <a:t>”&gt;</a:t>
            </a:r>
          </a:p>
          <a:p>
            <a:pPr lvl="1"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&lt;input type=“</a:t>
            </a:r>
            <a:r>
              <a:rPr lang="sr-Latn-CS" altLang="sr-Latn-RS" b="1">
                <a:solidFill>
                  <a:schemeClr val="accent4"/>
                </a:solidFill>
                <a:latin typeface="Courier New" panose="02070309020205020404" pitchFamily="49" charset="0"/>
              </a:rPr>
              <a:t>text</a:t>
            </a:r>
            <a:r>
              <a:rPr lang="sr-Latn-CS" altLang="sr-Latn-RS" b="1">
                <a:latin typeface="Courier New" panose="02070309020205020404" pitchFamily="49" charset="0"/>
              </a:rPr>
              <a:t>” name=“</a:t>
            </a:r>
            <a:r>
              <a:rPr lang="en-US" altLang="sr-Latn-RS" b="1">
                <a:latin typeface="Courier New" panose="02070309020205020404" pitchFamily="49" charset="0"/>
              </a:rPr>
              <a:t>tekst</a:t>
            </a:r>
            <a:r>
              <a:rPr lang="sr-Latn-CS" altLang="sr-Latn-RS" b="1">
                <a:latin typeface="Courier New" panose="02070309020205020404" pitchFamily="49" charset="0"/>
              </a:rPr>
              <a:t>”&gt;</a:t>
            </a:r>
          </a:p>
          <a:p>
            <a:pPr lvl="1"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&lt;input type=“</a:t>
            </a:r>
            <a:r>
              <a:rPr lang="sr-Latn-CS" altLang="sr-Latn-RS" b="1">
                <a:solidFill>
                  <a:schemeClr val="accent6"/>
                </a:solidFill>
                <a:latin typeface="Courier New" panose="02070309020205020404" pitchFamily="49" charset="0"/>
              </a:rPr>
              <a:t>submit</a:t>
            </a:r>
            <a:r>
              <a:rPr lang="sr-Latn-CS" altLang="sr-Latn-RS" b="1">
                <a:latin typeface="Courier New" panose="02070309020205020404" pitchFamily="49" charset="0"/>
              </a:rPr>
              <a:t>” value=“Posalji”&gt;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&lt;/form&gt;</a:t>
            </a:r>
            <a:endParaRPr lang="en-US" altLang="sr-Latn-RS" b="1">
              <a:latin typeface="Courier New" panose="02070309020205020404" pitchFamily="49" charset="0"/>
            </a:endParaRPr>
          </a:p>
        </p:txBody>
      </p:sp>
      <p:sp>
        <p:nvSpPr>
          <p:cNvPr id="20484" name="AutoShape 4">
            <a:extLst>
              <a:ext uri="{FF2B5EF4-FFF2-40B4-BE49-F238E27FC236}">
                <a16:creationId xmlns:a16="http://schemas.microsoft.com/office/drawing/2014/main" id="{06064366-694B-5229-55F2-E75BFD86B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6543" y="1680368"/>
            <a:ext cx="3114675" cy="601663"/>
          </a:xfrm>
          <a:prstGeom prst="wedgeRoundRectCallout">
            <a:avLst>
              <a:gd name="adj1" fmla="val -89500"/>
              <a:gd name="adj2" fmla="val 207519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CS" altLang="sr-Latn-RS" sz="2000">
                <a:solidFill>
                  <a:schemeClr val="bg1"/>
                </a:solidFill>
                <a:latin typeface="Tahoma" panose="020B0604030504040204" pitchFamily="34" charset="0"/>
              </a:rPr>
              <a:t>accept-charset=“utf-8”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048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6F252E0-D113-4994-F1FB-920D365347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Preuzimanje podataka sa formi</a:t>
            </a:r>
            <a:endParaRPr lang="en-GB" altLang="sr-Latn-RS"/>
          </a:p>
        </p:txBody>
      </p:sp>
      <p:pic>
        <p:nvPicPr>
          <p:cNvPr id="21507" name="Picture 3">
            <a:extLst>
              <a:ext uri="{FF2B5EF4-FFF2-40B4-BE49-F238E27FC236}">
                <a16:creationId xmlns:a16="http://schemas.microsoft.com/office/drawing/2014/main" id="{3601624A-9268-767C-3990-A4B5E89068C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82750" y="2062164"/>
            <a:ext cx="3810000" cy="2917825"/>
          </a:xfrm>
          <a:noFill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1508" name="AutoShape 4">
            <a:extLst>
              <a:ext uri="{FF2B5EF4-FFF2-40B4-BE49-F238E27FC236}">
                <a16:creationId xmlns:a16="http://schemas.microsoft.com/office/drawing/2014/main" id="{75BA5736-6B8A-6B36-9344-44E30F222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9913" y="3154364"/>
            <a:ext cx="950912" cy="274637"/>
          </a:xfrm>
          <a:prstGeom prst="notchedRightArrow">
            <a:avLst>
              <a:gd name="adj1" fmla="val 50000"/>
              <a:gd name="adj2" fmla="val 8656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pic>
        <p:nvPicPr>
          <p:cNvPr id="21509" name="Picture 5">
            <a:extLst>
              <a:ext uri="{FF2B5EF4-FFF2-40B4-BE49-F238E27FC236}">
                <a16:creationId xmlns:a16="http://schemas.microsoft.com/office/drawing/2014/main" id="{6E59697B-4265-065A-2871-501AA079B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0" y="2062164"/>
            <a:ext cx="3810000" cy="291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BD8F1906-A8F6-754A-D6D9-2EAA3B5A55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GET i POST zahtevi</a:t>
            </a:r>
            <a:endParaRPr lang="en-GB" altLang="sr-Latn-RS"/>
          </a:p>
        </p:txBody>
      </p:sp>
      <p:pic>
        <p:nvPicPr>
          <p:cNvPr id="22531" name="Picture 3">
            <a:extLst>
              <a:ext uri="{FF2B5EF4-FFF2-40B4-BE49-F238E27FC236}">
                <a16:creationId xmlns:a16="http://schemas.microsoft.com/office/drawing/2014/main" id="{A233FC75-133C-578B-3502-A3A49F6CF2D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99189" y="1628776"/>
            <a:ext cx="4433887" cy="2212975"/>
          </a:xfrm>
          <a:noFill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2532" name="Text Box 4">
            <a:extLst>
              <a:ext uri="{FF2B5EF4-FFF2-40B4-BE49-F238E27FC236}">
                <a16:creationId xmlns:a16="http://schemas.microsoft.com/office/drawing/2014/main" id="{0CAB3FBA-3CA8-3605-B3C2-FF3A85B15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8964" y="1752600"/>
            <a:ext cx="40511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GET /</a:t>
            </a:r>
            <a:r>
              <a:rPr lang="sr-Latn-CS" altLang="sr-Latn-RS" sz="1400" b="1">
                <a:latin typeface="Courier New" panose="02070309020205020404" pitchFamily="49" charset="0"/>
              </a:rPr>
              <a:t>Form</a:t>
            </a:r>
            <a:r>
              <a:rPr lang="en-US" altLang="sr-Latn-RS" sz="1400" b="1">
                <a:latin typeface="Courier New" panose="02070309020205020404" pitchFamily="49" charset="0"/>
              </a:rPr>
              <a:t>Servlet</a:t>
            </a:r>
            <a:r>
              <a:rPr lang="sr-Latn-CS" altLang="sr-Latn-RS" sz="1400" b="1">
                <a:solidFill>
                  <a:schemeClr val="tx2"/>
                </a:solidFill>
                <a:latin typeface="Courier New" panose="02070309020205020404" pitchFamily="49" charset="0"/>
              </a:rPr>
              <a:t>?</a:t>
            </a:r>
            <a:r>
              <a:rPr lang="en-US" altLang="sr-Latn-RS" sz="1400" b="1">
                <a:solidFill>
                  <a:schemeClr val="tx2"/>
                </a:solidFill>
                <a:latin typeface="Courier New" panose="02070309020205020404" pitchFamily="49" charset="0"/>
              </a:rPr>
              <a:t>tekst</a:t>
            </a:r>
            <a:r>
              <a:rPr lang="sr-Latn-CS" altLang="sr-Latn-RS" sz="1400" b="1">
                <a:solidFill>
                  <a:schemeClr val="tx2"/>
                </a:solidFill>
                <a:latin typeface="Courier New" panose="02070309020205020404" pitchFamily="49" charset="0"/>
              </a:rPr>
              <a:t>=</a:t>
            </a:r>
            <a:r>
              <a:rPr lang="en-US" altLang="sr-Latn-RS" sz="1400" b="1">
                <a:solidFill>
                  <a:schemeClr val="tx2"/>
                </a:solidFill>
                <a:latin typeface="Courier New" panose="02070309020205020404" pitchFamily="49" charset="0"/>
              </a:rPr>
              <a:t>asdf</a:t>
            </a:r>
            <a:r>
              <a:rPr lang="en-US" altLang="sr-Latn-RS" sz="1400" b="1">
                <a:latin typeface="Courier New" panose="02070309020205020404" pitchFamily="49" charset="0"/>
              </a:rPr>
              <a:t> HTTP/1.1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...</a:t>
            </a:r>
            <a:endParaRPr lang="en-GB" altLang="sr-Latn-RS" sz="1400" b="1">
              <a:latin typeface="Courier New" panose="02070309020205020404" pitchFamily="49" charset="0"/>
            </a:endParaRP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8EA11180-3407-34C7-0C92-8406D6DD5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8964" y="4552951"/>
            <a:ext cx="297709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POST</a:t>
            </a:r>
            <a:r>
              <a:rPr lang="en-US" altLang="sr-Latn-RS" sz="1400" b="1">
                <a:latin typeface="Courier New" panose="02070309020205020404" pitchFamily="49" charset="0"/>
              </a:rPr>
              <a:t> /</a:t>
            </a:r>
            <a:r>
              <a:rPr lang="sr-Latn-CS" altLang="sr-Latn-RS" sz="1400" b="1">
                <a:latin typeface="Courier New" panose="02070309020205020404" pitchFamily="49" charset="0"/>
              </a:rPr>
              <a:t>Form</a:t>
            </a:r>
            <a:r>
              <a:rPr lang="en-US" altLang="sr-Latn-RS" sz="1400" b="1">
                <a:latin typeface="Courier New" panose="02070309020205020404" pitchFamily="49" charset="0"/>
              </a:rPr>
              <a:t>Servlet HTTP/1.1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 b="1">
                <a:solidFill>
                  <a:schemeClr val="tx2"/>
                </a:solidFill>
                <a:latin typeface="Courier New" panose="02070309020205020404" pitchFamily="49" charset="0"/>
              </a:rPr>
              <a:t>Content-length</a:t>
            </a:r>
            <a:r>
              <a:rPr lang="en-US" altLang="sr-Latn-RS" sz="1400" b="1">
                <a:solidFill>
                  <a:schemeClr val="tx2"/>
                </a:solidFill>
                <a:latin typeface="Courier New" panose="02070309020205020404" pitchFamily="49" charset="0"/>
              </a:rPr>
              <a:t>: 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 b="1">
                <a:solidFill>
                  <a:schemeClr val="tx2"/>
                </a:solidFill>
                <a:latin typeface="Courier New" panose="02070309020205020404" pitchFamily="49" charset="0"/>
              </a:rPr>
              <a:t>...</a:t>
            </a:r>
            <a:endParaRPr lang="en-US" altLang="sr-Latn-RS" sz="1400" b="1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sr-Latn-CS" altLang="sr-Latn-RS" sz="1400" b="1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 b="1">
                <a:solidFill>
                  <a:schemeClr val="tx2"/>
                </a:solidFill>
                <a:latin typeface="Courier New" panose="02070309020205020404" pitchFamily="49" charset="0"/>
              </a:rPr>
              <a:t>tekst</a:t>
            </a:r>
            <a:r>
              <a:rPr lang="sr-Latn-CS" altLang="sr-Latn-RS" sz="1400" b="1">
                <a:solidFill>
                  <a:schemeClr val="tx2"/>
                </a:solidFill>
                <a:latin typeface="Courier New" panose="02070309020205020404" pitchFamily="49" charset="0"/>
              </a:rPr>
              <a:t>=</a:t>
            </a:r>
            <a:r>
              <a:rPr lang="en-US" altLang="sr-Latn-RS" sz="1400" b="1">
                <a:solidFill>
                  <a:schemeClr val="tx2"/>
                </a:solidFill>
                <a:latin typeface="Courier New" panose="02070309020205020404" pitchFamily="49" charset="0"/>
              </a:rPr>
              <a:t>asdf</a:t>
            </a:r>
            <a:endParaRPr lang="en-GB" altLang="sr-Latn-RS" sz="1400" b="1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  <p:sp>
        <p:nvSpPr>
          <p:cNvPr id="22534" name="Oval 6">
            <a:extLst>
              <a:ext uri="{FF2B5EF4-FFF2-40B4-BE49-F238E27FC236}">
                <a16:creationId xmlns:a16="http://schemas.microsoft.com/office/drawing/2014/main" id="{57AAA175-B880-5F7F-B817-0E9611627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750" y="2270125"/>
            <a:ext cx="3633788" cy="490538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pic>
        <p:nvPicPr>
          <p:cNvPr id="22535" name="Picture 7">
            <a:extLst>
              <a:ext uri="{FF2B5EF4-FFF2-40B4-BE49-F238E27FC236}">
                <a16:creationId xmlns:a16="http://schemas.microsoft.com/office/drawing/2014/main" id="{949BB3E0-0598-5576-B5A5-27428777B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189" y="4076701"/>
            <a:ext cx="4433887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F43CD5E6-7C4E-6FF1-CF36-CBF08CBF0A51}"/>
              </a:ext>
            </a:extLst>
          </p:cNvPr>
          <p:cNvSpPr/>
          <p:nvPr/>
        </p:nvSpPr>
        <p:spPr>
          <a:xfrm>
            <a:off x="4583113" y="5300664"/>
            <a:ext cx="914400" cy="612775"/>
          </a:xfrm>
          <a:prstGeom prst="wedgeRoundRectCallout">
            <a:avLst>
              <a:gd name="adj1" fmla="val -308121"/>
              <a:gd name="adj2" fmla="val -5803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r-Latn-RS" sz="1600">
                <a:solidFill>
                  <a:schemeClr val="tx1"/>
                </a:solidFill>
              </a:rPr>
              <a:t>Prazan red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9C5F0C53-4FA8-91CC-4582-30F36E9FC7ED}"/>
              </a:ext>
            </a:extLst>
          </p:cNvPr>
          <p:cNvSpPr/>
          <p:nvPr/>
        </p:nvSpPr>
        <p:spPr>
          <a:xfrm>
            <a:off x="4584700" y="6067426"/>
            <a:ext cx="1079500" cy="612775"/>
          </a:xfrm>
          <a:prstGeom prst="wedgeRoundRectCallout">
            <a:avLst>
              <a:gd name="adj1" fmla="val -221680"/>
              <a:gd name="adj2" fmla="val -88019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r-Latn-RS" sz="1600">
                <a:solidFill>
                  <a:schemeClr val="tx1"/>
                </a:solidFill>
              </a:rPr>
              <a:t>Telo zahteva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17F325A7-713A-B75D-84D1-A6CB4593B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Praćenje sesije korisnika </a:t>
            </a:r>
            <a:r>
              <a:rPr lang="sr-Latn-CS" altLang="sr-Latn-RS" baseline="-25000"/>
              <a:t>1/3</a:t>
            </a:r>
            <a:endParaRPr lang="en-US" altLang="sr-Latn-R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8DE18A3-A344-22B4-F0C7-C6771CEC9B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1"/>
            <a:ext cx="9829801" cy="4614863"/>
          </a:xfrm>
        </p:spPr>
        <p:txBody>
          <a:bodyPr/>
          <a:lstStyle/>
          <a:p>
            <a:pPr eaLnBrk="1" hangingPunct="1"/>
            <a:r>
              <a:rPr lang="sr-Latn-CS" altLang="sr-Latn-RS"/>
              <a:t>HTTP protokol ne prati sesiju – veza klije</a:t>
            </a:r>
            <a:r>
              <a:rPr lang="en-US" altLang="sr-Latn-RS"/>
              <a:t>n</a:t>
            </a:r>
            <a:r>
              <a:rPr lang="sr-Latn-CS" altLang="sr-Latn-RS"/>
              <a:t>ta i servera se zatvara po isporuci resursa.</a:t>
            </a:r>
          </a:p>
          <a:p>
            <a:pPr eaLnBrk="1" hangingPunct="1"/>
            <a:r>
              <a:rPr lang="sr-Latn-CS" altLang="sr-Latn-RS"/>
              <a:t>Koristi se </a:t>
            </a:r>
            <a:r>
              <a:rPr lang="sr-Latn-CS" altLang="sr-Latn-RS" i="1"/>
              <a:t>cookie</a:t>
            </a:r>
            <a:r>
              <a:rPr lang="sr-Latn-CS" altLang="sr-Latn-RS"/>
              <a:t> mehanizam:</a:t>
            </a:r>
          </a:p>
          <a:p>
            <a:pPr lvl="1" eaLnBrk="1" hangingPunct="1"/>
            <a:r>
              <a:rPr lang="sr-Latn-CS" altLang="sr-Latn-RS"/>
              <a:t>Server šalje </a:t>
            </a:r>
            <a:r>
              <a:rPr lang="sr-Latn-CS" altLang="sr-Latn-RS" i="1"/>
              <a:t>cookie</a:t>
            </a:r>
            <a:r>
              <a:rPr lang="sr-Latn-CS" altLang="sr-Latn-RS"/>
              <a:t> klijen</a:t>
            </a:r>
            <a:r>
              <a:rPr lang="en-US" altLang="sr-Latn-RS"/>
              <a:t>t</a:t>
            </a:r>
            <a:r>
              <a:rPr lang="sr-Latn-CS" altLang="sr-Latn-RS"/>
              <a:t>u u okviru http response</a:t>
            </a:r>
          </a:p>
          <a:p>
            <a:pPr lvl="1" eaLnBrk="1" hangingPunct="1"/>
            <a:r>
              <a:rPr lang="sr-Latn-CS" altLang="sr-Latn-RS"/>
              <a:t>Klijent čuva primljeni </a:t>
            </a:r>
            <a:r>
              <a:rPr lang="sr-Latn-CS" altLang="sr-Latn-RS" i="1"/>
              <a:t>cookie</a:t>
            </a:r>
            <a:r>
              <a:rPr lang="sr-Latn-CS" altLang="sr-Latn-RS"/>
              <a:t> i šalje ga uz svaki http request.</a:t>
            </a:r>
          </a:p>
          <a:p>
            <a:pPr eaLnBrk="1" hangingPunct="1"/>
            <a:r>
              <a:rPr lang="sr-Latn-CS" altLang="sr-Latn-RS"/>
              <a:t>Ako navigator ne prihvata </a:t>
            </a:r>
            <a:r>
              <a:rPr lang="sr-Latn-CS" altLang="sr-Latn-RS" i="1"/>
              <a:t>cookie-je</a:t>
            </a:r>
            <a:r>
              <a:rPr lang="sr-Latn-CS" altLang="sr-Latn-RS"/>
              <a:t>, koristi se URL Rewriting mehanizam:</a:t>
            </a:r>
          </a:p>
          <a:p>
            <a:pPr eaLnBrk="1" hangingPunct="1">
              <a:buFontTx/>
              <a:buNone/>
            </a:pPr>
            <a:r>
              <a:rPr lang="sr-Latn-CS" altLang="sr-Latn-RS" sz="2000"/>
              <a:t>&lt;a href="</a:t>
            </a:r>
            <a:r>
              <a:rPr lang="en-US" altLang="sr-Latn-RS" sz="2000"/>
              <a:t>http://www.myserver.com/catalog/index.html;jsessionid=1234</a:t>
            </a:r>
            <a:r>
              <a:rPr lang="sr-Latn-CS" altLang="sr-Latn-RS" sz="2000"/>
              <a:t>"&gt;</a:t>
            </a:r>
          </a:p>
          <a:p>
            <a:pPr eaLnBrk="1" hangingPunct="1">
              <a:buFontTx/>
              <a:buNone/>
            </a:pPr>
            <a:r>
              <a:rPr lang="sr-Latn-CS" altLang="sr-Latn-RS" sz="2000"/>
              <a:t>link</a:t>
            </a:r>
          </a:p>
          <a:p>
            <a:pPr eaLnBrk="1" hangingPunct="1">
              <a:buFontTx/>
              <a:buNone/>
            </a:pPr>
            <a:r>
              <a:rPr lang="sr-Latn-CS" altLang="sr-Latn-RS" sz="2000"/>
              <a:t>&lt;/a&gt;</a:t>
            </a:r>
            <a:endParaRPr lang="en-US" altLang="sr-Latn-R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51687B5-D01A-543C-065A-89C0A03CEB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Praćenje sesije korisnika</a:t>
            </a:r>
            <a:r>
              <a:rPr lang="sr-Latn-CS" altLang="sr-Latn-RS" baseline="-25000"/>
              <a:t> 2/3</a:t>
            </a:r>
            <a:endParaRPr lang="en-GB" altLang="sr-Latn-RS" sz="160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97D6A08-857B-185D-A5A6-A5864456F8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229600" cy="722313"/>
          </a:xfrm>
        </p:spPr>
        <p:txBody>
          <a:bodyPr/>
          <a:lstStyle/>
          <a:p>
            <a:pPr eaLnBrk="1" hangingPunct="1"/>
            <a:r>
              <a:rPr lang="sr-Latn-CS" altLang="sr-Latn-RS" i="1"/>
              <a:t>cookie</a:t>
            </a:r>
            <a:r>
              <a:rPr lang="sr-Latn-CS" altLang="sr-Latn-RS"/>
              <a:t> mehanizam</a:t>
            </a:r>
            <a:endParaRPr lang="en-GB" altLang="sr-Latn-RS"/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6DB72581-02FF-60C5-38EA-58914C753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781300"/>
            <a:ext cx="9144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klijent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6BB456C2-49D8-D00B-FA67-DEC18F080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1200" y="2781300"/>
            <a:ext cx="884238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server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24582" name="Line 6">
            <a:extLst>
              <a:ext uri="{FF2B5EF4-FFF2-40B4-BE49-F238E27FC236}">
                <a16:creationId xmlns:a16="http://schemas.microsoft.com/office/drawing/2014/main" id="{A3BC48F9-D00C-7AAF-EB00-1687A2D4B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9337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3" name="Line 7">
            <a:extLst>
              <a:ext uri="{FF2B5EF4-FFF2-40B4-BE49-F238E27FC236}">
                <a16:creationId xmlns:a16="http://schemas.microsoft.com/office/drawing/2014/main" id="{2B909349-629C-8DFE-4B3E-19D064A32B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3147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4" name="Text Box 8">
            <a:extLst>
              <a:ext uri="{FF2B5EF4-FFF2-40B4-BE49-F238E27FC236}">
                <a16:creationId xmlns:a16="http://schemas.microsoft.com/office/drawing/2014/main" id="{B7DCFE58-0443-AAE2-4615-97CF4A7C5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638425"/>
            <a:ext cx="717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Zahtev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  <p:sp>
        <p:nvSpPr>
          <p:cNvPr id="24585" name="Text Box 9">
            <a:extLst>
              <a:ext uri="{FF2B5EF4-FFF2-40B4-BE49-F238E27FC236}">
                <a16:creationId xmlns:a16="http://schemas.microsoft.com/office/drawing/2014/main" id="{29187725-8555-2FB8-9908-4423E008F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3340100"/>
            <a:ext cx="1592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Odgovor + cookie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  <p:sp>
        <p:nvSpPr>
          <p:cNvPr id="24586" name="Text Box 10">
            <a:extLst>
              <a:ext uri="{FF2B5EF4-FFF2-40B4-BE49-F238E27FC236}">
                <a16:creationId xmlns:a16="http://schemas.microsoft.com/office/drawing/2014/main" id="{2CB17700-135A-1D4A-87F2-6773A9942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514850"/>
            <a:ext cx="9144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klijent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24587" name="Text Box 11">
            <a:extLst>
              <a:ext uri="{FF2B5EF4-FFF2-40B4-BE49-F238E27FC236}">
                <a16:creationId xmlns:a16="http://schemas.microsoft.com/office/drawing/2014/main" id="{F84378A0-7AFF-ECBB-8777-3ABCFB2D1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1200" y="4514850"/>
            <a:ext cx="884238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server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24588" name="Line 12">
            <a:extLst>
              <a:ext uri="{FF2B5EF4-FFF2-40B4-BE49-F238E27FC236}">
                <a16:creationId xmlns:a16="http://schemas.microsoft.com/office/drawing/2014/main" id="{34CA8C83-C666-2DF6-38BE-3A2AEA7EB5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66725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9" name="Line 13">
            <a:extLst>
              <a:ext uri="{FF2B5EF4-FFF2-40B4-BE49-F238E27FC236}">
                <a16:creationId xmlns:a16="http://schemas.microsoft.com/office/drawing/2014/main" id="{17EFD32A-1142-9D51-3526-1075EE37EA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04825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90" name="Text Box 14">
            <a:extLst>
              <a:ext uri="{FF2B5EF4-FFF2-40B4-BE49-F238E27FC236}">
                <a16:creationId xmlns:a16="http://schemas.microsoft.com/office/drawing/2014/main" id="{1295FC04-DA29-24C7-11D2-EFB387DA4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1" y="4371975"/>
            <a:ext cx="1457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Zahtev + cookie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  <p:sp>
        <p:nvSpPr>
          <p:cNvPr id="24591" name="Text Box 15">
            <a:extLst>
              <a:ext uri="{FF2B5EF4-FFF2-40B4-BE49-F238E27FC236}">
                <a16:creationId xmlns:a16="http://schemas.microsoft.com/office/drawing/2014/main" id="{37407846-A8D0-4B09-91B4-898D27DC4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073651"/>
            <a:ext cx="85725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Odgovor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28AECE8-1E2B-4B64-5497-6EA5F4869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8100"/>
            <a:ext cx="7772400" cy="904735"/>
          </a:xfrm>
        </p:spPr>
        <p:txBody>
          <a:bodyPr/>
          <a:lstStyle/>
          <a:p>
            <a:pPr eaLnBrk="1" hangingPunct="1"/>
            <a:r>
              <a:rPr lang="sr-Latn-CS" altLang="sr-Latn-RS"/>
              <a:t>Praćenje sesije korisnika </a:t>
            </a:r>
            <a:r>
              <a:rPr lang="sr-Latn-CS" altLang="sr-Latn-RS" baseline="-25000"/>
              <a:t>3/3</a:t>
            </a:r>
            <a:endParaRPr lang="en-US" altLang="sr-Latn-R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627103F-F363-0DDE-A508-5D87286FED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4188" y="1036040"/>
            <a:ext cx="8983662" cy="130711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/>
              <a:t>GET / HTTP/1.1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/>
              <a:t>Accept-Language: sr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/>
              <a:t>User-Agent: Mozilla/4.0 (compatible; MSIE 6.0; Windows NT 5.1; .NET CLR 1.1.4322)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/>
              <a:t>Host: localhost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/>
              <a:t>Connection: Keep-Alive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400"/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1F5070FE-402A-608D-94EA-96F8EE3BD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188" y="4927600"/>
            <a:ext cx="8348662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GET /Test HTTP/1.1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Accept-Language: sr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User-Agent: Mozilla/4.0 (compatible; MSIE 6.0; Windows NT 5.1; .NET CLR 1.1.4322)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Host: localhost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Connection: Keep-Alive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solidFill>
                  <a:srgbClr val="FF0000"/>
                </a:solidFill>
                <a:latin typeface="Tahoma" panose="020B0604030504040204" pitchFamily="34" charset="0"/>
              </a:rPr>
              <a:t>Cookie: ASPSESSIONIDGGQQQAEK=JKKPPFKCMNDNMEEOHAADJKPM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sr-Latn-RS" sz="1400">
              <a:latin typeface="Tahoma" panose="020B0604030504040204" pitchFamily="34" charset="0"/>
            </a:endParaRPr>
          </a:p>
        </p:txBody>
      </p:sp>
      <p:sp>
        <p:nvSpPr>
          <p:cNvPr id="25605" name="Text Box 5">
            <a:extLst>
              <a:ext uri="{FF2B5EF4-FFF2-40B4-BE49-F238E27FC236}">
                <a16:creationId xmlns:a16="http://schemas.microsoft.com/office/drawing/2014/main" id="{1A3F0ABB-1B88-F995-546F-A37DFF115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189" y="2343150"/>
            <a:ext cx="875347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HTTP/1.0 200 OK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Date: Tue, 04 May 02004 08:55:09 GMT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Status: 200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Content-Type: text/html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Content-Length: 2524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Content-Language: 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solidFill>
                  <a:srgbClr val="FF0000"/>
                </a:solidFill>
                <a:latin typeface="Tahoma" panose="020B0604030504040204" pitchFamily="34" charset="0"/>
              </a:rPr>
              <a:t>Set-Cookie: ASPSESSIONIDGGQQQAEK=JKKPPFKCMNDNMEEOHAADJKPM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sr-Latn-RS" sz="14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&lt;html&gt;&lt;head&gt;&lt;/head&gt;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&lt;body&gt;&lt;/body&gt;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&lt;/html&gt;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sr-Latn-RS" sz="1400">
              <a:latin typeface="Tahoma" panose="020B0604030504040204" pitchFamily="34" charset="0"/>
            </a:endParaRPr>
          </a:p>
        </p:txBody>
      </p:sp>
      <p:sp>
        <p:nvSpPr>
          <p:cNvPr id="25606" name="Line 6">
            <a:extLst>
              <a:ext uri="{FF2B5EF4-FFF2-40B4-BE49-F238E27FC236}">
                <a16:creationId xmlns:a16="http://schemas.microsoft.com/office/drawing/2014/main" id="{1CAFF851-2279-6994-B76E-4BF2E0DAA8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4188" y="2343150"/>
            <a:ext cx="8228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07" name="Line 7">
            <a:extLst>
              <a:ext uri="{FF2B5EF4-FFF2-40B4-BE49-F238E27FC236}">
                <a16:creationId xmlns:a16="http://schemas.microsoft.com/office/drawing/2014/main" id="{BDC67307-6E69-B5F2-E892-09A0C24FC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4188" y="4927600"/>
            <a:ext cx="8228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  <p:bldP spid="25604" grpId="0"/>
      <p:bldP spid="2560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8DA42-799E-CD43-9964-45F36303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Osnovni koncepti</a:t>
            </a:r>
          </a:p>
        </p:txBody>
      </p:sp>
      <p:sp>
        <p:nvSpPr>
          <p:cNvPr id="26627" name="Text Placeholder 2">
            <a:extLst>
              <a:ext uri="{FF2B5EF4-FFF2-40B4-BE49-F238E27FC236}">
                <a16:creationId xmlns:a16="http://schemas.microsoft.com/office/drawing/2014/main" id="{C827B439-534C-6516-E9FC-08F1B9868E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 altLang="sr-Latn-R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82138C25-6E6A-2650-0DFF-984D5E55AB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50900"/>
          </a:xfrm>
        </p:spPr>
        <p:txBody>
          <a:bodyPr/>
          <a:lstStyle/>
          <a:p>
            <a:r>
              <a:rPr lang="sr-Latn-RS" altLang="sr-Latn-RS"/>
              <a:t>Isporuka resursa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00A1F8DA-0750-C193-6F21-B1979A5927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6925" y="1447800"/>
            <a:ext cx="11157358" cy="51498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main(String[] args)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try {</a:t>
            </a:r>
            <a:r>
              <a:rPr lang="pt-BR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pt-BR" altLang="sr-Latn-RS" sz="20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clientCounter</a:t>
            </a:r>
            <a:r>
              <a:rPr lang="pt-BR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ServerSocket </a:t>
            </a: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= new ServerSocket(TCP_PORT);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System.out.println("Server running...");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while (true)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  Socket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sock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.accept();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System.out.println("Client accepted: " + (++</a:t>
            </a:r>
            <a:r>
              <a:rPr lang="sr-Latn-RS" altLang="sr-Latn-RS" sz="20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clientCounter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  new ServerThread(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sock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sr-Latn-RS" altLang="sr-Latn-RS" sz="20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clientCounter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 catch (Exception ex)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ex.printStackTrace();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6040E930-ADC3-B5A0-9FC3-5239686EB6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993775"/>
          </a:xfrm>
        </p:spPr>
        <p:txBody>
          <a:bodyPr/>
          <a:lstStyle/>
          <a:p>
            <a:r>
              <a:rPr lang="sr-Latn-RS" altLang="sr-Latn-RS"/>
              <a:t>Isporuka resursa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F9065AC3-3200-26F8-A99D-A04216BFCC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2092" y="1196976"/>
            <a:ext cx="9529821" cy="54721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ServerThread(Socket </a:t>
            </a: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sock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, int </a:t>
            </a:r>
            <a:r>
              <a:rPr lang="sr-Latn-RS" altLang="sr-Latn-RS" sz="20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this.</a:t>
            </a: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sock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sock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; this.</a:t>
            </a:r>
            <a:r>
              <a:rPr lang="sr-Latn-RS" altLang="sr-Latn-RS" sz="20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sr-Latn-RS" altLang="sr-Latn-RS" sz="20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try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= new BufferedReader(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new InputStreamReader(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sock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.getInputStream()));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r-Latn-RS" altLang="sr-Latn-RS" sz="20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= new PrintWriter(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new BufferedWriter(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  new OutputStreamWriter(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sock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.getOutputStream())), true);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 catch (Exception ex)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ex.printStackTrace();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start();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6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6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C29A7F8C-5C61-465B-AEDF-DA25DDDB1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Isporuka resursa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A1FA3E1D-B136-CD7B-5EF6-7993AF6683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12875"/>
            <a:ext cx="9383713" cy="47815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void run()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try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r-Latn-RS" alt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procitaj zahtev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String request =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.readLine();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r-Latn-RS" altLang="sr-Latn-RS" sz="20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.println(browserResponse());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r-Latn-RS" alt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zatvori konekciju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.close();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r-Latn-RS" altLang="sr-Latn-RS" sz="20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.close();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sock.close();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 catch (Exception ex)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ex.printStackTrace();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sr-Latn-RS" alt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10E568D7-5895-1023-1AD7-DC6217EE8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Dinamičko generisanje sadržaja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BA7A97BC-1BDE-773E-FEFD-5120200F48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1099334" cy="4351338"/>
          </a:xfrm>
        </p:spPr>
        <p:txBody>
          <a:bodyPr/>
          <a:lstStyle/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private String browserResponse()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= "HTTP/1.0 200 OK</a:t>
            </a:r>
            <a:r>
              <a:rPr lang="sr-Latn-RS" altLang="sr-Latn-RS" sz="20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\r\n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Content-Type: text/html</a:t>
            </a:r>
            <a:r>
              <a:rPr lang="sr-Latn-RS" altLang="sr-Latn-RS" sz="20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\r\n\r\n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+= "&lt;html&gt;&lt;head&gt;&lt;title&gt;Broj odradjenih konekcija&lt;/title&gt;&lt;/head&gt;\n";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+= "&lt;body&gt;&lt;h1&gt;Broj odradjenih konekcija:&lt;/h1&gt;\n";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odgovori na zahtev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+=("&lt;b&gt;" + value + "&lt;/b&gt;");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+= "&lt;/body&gt;&lt;/html&gt;\n";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retVal;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0724" name="TextBox 4">
            <a:extLst>
              <a:ext uri="{FF2B5EF4-FFF2-40B4-BE49-F238E27FC236}">
                <a16:creationId xmlns:a16="http://schemas.microsoft.com/office/drawing/2014/main" id="{F25956B1-2923-7FE5-19A7-71A75867F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9" y="6237289"/>
            <a:ext cx="158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RS" altLang="sr-Latn-RS" sz="1800"/>
              <a:t>primer01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0D432045-F77E-AC41-3DA7-C112B21EE3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8535" y="1430866"/>
            <a:ext cx="10813409" cy="509375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private String browserResponse() {</a:t>
            </a:r>
          </a:p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sr-Latn-RS" altLang="sr-Latn-RS" sz="14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= "HTTP/1.0 200 OK</a:t>
            </a:r>
            <a:r>
              <a:rPr lang="sr-Latn-RS" altLang="sr-Latn-RS" sz="14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\r\n</a:t>
            </a: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Content-Type: text/html;charset=UTF-8</a:t>
            </a:r>
            <a:r>
              <a:rPr lang="sr-Latn-RS" altLang="sr-Latn-RS" sz="14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\r\n\r\n</a:t>
            </a: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14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+= "&lt;html&gt;&lt;head&gt;&lt;title&gt;Spisak datoteka&lt;/title&gt;&lt;/head&gt;\n";</a:t>
            </a:r>
          </a:p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14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+= "&lt;body&gt;&lt;h1&gt;Spisak datoteka:&lt;/h1&gt;\n";</a:t>
            </a:r>
          </a:p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r-Latn-RS" altLang="sr-Latn-RS" sz="1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formiraj odgovor</a:t>
            </a:r>
          </a:p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File </a:t>
            </a:r>
            <a:r>
              <a:rPr lang="sr-Latn-RS" altLang="sr-Latn-R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= new File(".");</a:t>
            </a:r>
          </a:p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sr-Latn-RS" altLang="sr-Latn-R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.exists()) {</a:t>
            </a:r>
          </a:p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if (</a:t>
            </a:r>
            <a:r>
              <a:rPr lang="sr-Latn-RS" altLang="sr-Latn-R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.isDirectory()) {</a:t>
            </a:r>
          </a:p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  File[] </a:t>
            </a:r>
            <a:r>
              <a:rPr lang="sr-Latn-RS" altLang="sr-Latn-RS" sz="14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files</a:t>
            </a: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sr-Latn-RS" altLang="sr-Latn-R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.listFiles();</a:t>
            </a:r>
          </a:p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  for (int i = 0; i &lt; </a:t>
            </a:r>
            <a:r>
              <a:rPr lang="sr-Latn-RS" altLang="sr-Latn-RS" sz="14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files</a:t>
            </a: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.length; i++)</a:t>
            </a:r>
          </a:p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    if (</a:t>
            </a:r>
            <a:r>
              <a:rPr lang="sr-Latn-RS" altLang="sr-Latn-RS" sz="14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files</a:t>
            </a: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[i].isDirectory())</a:t>
            </a:r>
          </a:p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sr-Latn-RS" altLang="sr-Latn-RS" sz="14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+= "&lt;font color=\"red\"&gt;&lt;b&gt;&amp;lt;" + </a:t>
            </a:r>
            <a:r>
              <a:rPr lang="sr-Latn-RS" altLang="sr-Latn-RS" sz="14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files</a:t>
            </a: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[i].getName() + "&amp;gt;&lt;/b&gt;&lt;/font&gt;&lt;br&gt;\n";</a:t>
            </a:r>
          </a:p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    else</a:t>
            </a:r>
          </a:p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sr-Latn-RS" altLang="sr-Latn-RS" sz="14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sr-Latn-RS" altLang="sr-Latn-RS" sz="14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files</a:t>
            </a: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[i].getName() + "&lt;br&gt;\n";</a:t>
            </a:r>
          </a:p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14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+= "&lt;/body&gt;&lt;/html&gt;\n";</a:t>
            </a:r>
          </a:p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sr-Latn-RS" altLang="sr-Latn-RS" sz="14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sr-Latn-RS" alt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1748" name="TextBox 4">
            <a:extLst>
              <a:ext uri="{FF2B5EF4-FFF2-40B4-BE49-F238E27FC236}">
                <a16:creationId xmlns:a16="http://schemas.microsoft.com/office/drawing/2014/main" id="{63BC1C46-D8E7-B660-CFDE-99CDF230E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9" y="6237289"/>
            <a:ext cx="158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RS" altLang="sr-Latn-RS" sz="1800"/>
              <a:t>primer02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D232B9-92AF-1433-E413-EBF54B1068D4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65126"/>
            <a:ext cx="10515600" cy="7567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altLang="sr-Latn-RS"/>
              <a:t>Dinamičko generisanje sadržaja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7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7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7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7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74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74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174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C5CE752D-2073-0050-6151-007C6BA075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633412"/>
          </a:xfrm>
        </p:spPr>
        <p:txBody>
          <a:bodyPr>
            <a:normAutofit fontScale="90000"/>
          </a:bodyPr>
          <a:lstStyle/>
          <a:p>
            <a:r>
              <a:rPr lang="sr-Latn-RS" altLang="sr-Latn-RS"/>
              <a:t>Dinamičko generisanje sadržaja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4424EB2D-427C-8FA7-D312-A217A14373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0176" y="1163639"/>
            <a:ext cx="11153163" cy="5360987"/>
          </a:xfrm>
        </p:spPr>
        <p:txBody>
          <a:bodyPr/>
          <a:lstStyle/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private String browserResponse() {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String </a:t>
            </a:r>
            <a:r>
              <a:rPr lang="sr-Latn-RS" altLang="sr-Latn-RS" sz="18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= "HTTP/1.1 200 OK</a:t>
            </a:r>
            <a:r>
              <a:rPr lang="sr-Latn-RS" altLang="sr-Latn-R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\r\n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Content-Type: text/html</a:t>
            </a:r>
            <a:r>
              <a:rPr lang="sr-Latn-RS" altLang="sr-Latn-R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\r\n\r\n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r-Latn-RS" altLang="sr-Latn-RS" sz="18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+= "&lt;html&gt;&lt;head&gt;&lt;title&gt;Prijavljeni korisnici&lt;/title&gt;&lt;/head&gt;\n";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r-Latn-RS" altLang="sr-Latn-RS" sz="18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+= "&lt;body&gt;&lt;h1&gt;Prijavljeni korisnici&lt;/h1&gt;&lt;ol&gt;\n";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for (int i = 0; i &lt; </a:t>
            </a:r>
            <a:r>
              <a:rPr lang="sr-Latn-R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users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.size(); i++) {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String </a:t>
            </a:r>
            <a:r>
              <a:rPr lang="sr-Latn-RS" altLang="sr-Latn-RS" sz="18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sr-Latn-R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users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.get(i);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sr-Latn-RS" altLang="sr-Latn-RS" sz="18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+= "&lt;li&gt;" + </a:t>
            </a:r>
            <a:r>
              <a:rPr lang="sr-Latn-RS" altLang="sr-Latn-RS" sz="18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+ "&lt;/li&gt;\n";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r-Latn-RS" altLang="sr-Latn-RS" sz="18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+= "&lt;/ol&gt;&lt;/body&gt;&lt;/html&gt;\n";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return retVal;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32772" name="TextBox 4">
            <a:extLst>
              <a:ext uri="{FF2B5EF4-FFF2-40B4-BE49-F238E27FC236}">
                <a16:creationId xmlns:a16="http://schemas.microsoft.com/office/drawing/2014/main" id="{B0A7FADC-C10F-1A92-B936-0C82BE568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9" y="6237289"/>
            <a:ext cx="158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RS" altLang="sr-Latn-RS" sz="1800"/>
              <a:t>primer03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4BC5D630-7C8A-F0E0-86E4-9778E6B15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Prihvat parametara forme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2AEE27EA-6EEC-ED58-79E2-C3DC853C0C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1600201"/>
            <a:ext cx="9578976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&lt;form accept-charset="UTF-8" </a:t>
            </a:r>
            <a:r>
              <a:rPr lang="en-US" altLang="sr-Latn-RS" sz="24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="http://localhost/</a:t>
            </a:r>
            <a:r>
              <a:rPr lang="sr-Latn-RS" altLang="sr-Latn-RS" sz="24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dodaj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altLang="sr-Latn-R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="GET"&gt;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&lt;input type="</a:t>
            </a:r>
            <a:r>
              <a:rPr lang="en-US" altLang="sr-Latn-RS" sz="24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" name="</a:t>
            </a:r>
            <a:r>
              <a:rPr lang="sr-Latn-RS" altLang="sr-Latn-R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" /&gt;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&lt;input type="</a:t>
            </a:r>
            <a:r>
              <a:rPr lang="en-US" altLang="sr-Latn-RS" sz="24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submit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" value="Posalji" /&gt;</a:t>
            </a:r>
          </a:p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&lt;/form&gt;</a:t>
            </a:r>
          </a:p>
          <a:p>
            <a:pPr marL="0" indent="0">
              <a:buNone/>
            </a:pP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GET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sr-Latn-RS" altLang="sr-Latn-RS" sz="24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dodaj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sr-Latn-RS" altLang="sr-Latn-R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=pera HTTP/1.1</a:t>
            </a:r>
          </a:p>
          <a:p>
            <a:pPr marL="0" indent="0">
              <a:buNone/>
            </a:pP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796" name="TextBox 3">
            <a:extLst>
              <a:ext uri="{FF2B5EF4-FFF2-40B4-BE49-F238E27FC236}">
                <a16:creationId xmlns:a16="http://schemas.microsoft.com/office/drawing/2014/main" id="{FEAF07CA-7744-EEA7-930C-78A3C3973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1" y="6237289"/>
            <a:ext cx="2447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RS" altLang="sr-Latn-RS" sz="1800"/>
              <a:t>primer03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56EFFD26-5B0E-70D6-586D-7846C66ABD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Prihvat parametara forme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096E2103-08A5-81B6-9604-E297A35F5F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1600201"/>
            <a:ext cx="9650414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&lt;form accept-charset="UTF-8" </a:t>
            </a:r>
            <a:r>
              <a:rPr lang="en-US" altLang="sr-Latn-RS" sz="24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="http://localhost/</a:t>
            </a:r>
            <a:r>
              <a:rPr lang="sr-Latn-RS" altLang="sr-Latn-RS" sz="24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trazi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" method="GET"&gt;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&lt;input type="</a:t>
            </a:r>
            <a:r>
              <a:rPr lang="en-US" altLang="sr-Latn-RS" sz="24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" name="</a:t>
            </a:r>
            <a:r>
              <a:rPr lang="sr-Latn-RS" altLang="sr-Latn-R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" /&gt;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&lt;input type="</a:t>
            </a:r>
            <a:r>
              <a:rPr lang="en-US" altLang="sr-Latn-RS" sz="24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submit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" value="Posalji" /&gt;</a:t>
            </a:r>
          </a:p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&lt;/form&gt;</a:t>
            </a:r>
          </a:p>
          <a:p>
            <a:pPr marL="0" indent="0">
              <a:buNone/>
            </a:pP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GET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sr-Latn-RS" altLang="sr-Latn-RS" sz="24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trazi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sr-Latn-RS" altLang="sr-Latn-R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=pera HTTP/1.1</a:t>
            </a:r>
          </a:p>
          <a:p>
            <a:pPr marL="0" indent="0">
              <a:buNone/>
            </a:pP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25A45A30-45BD-B33C-7FE9-74CFBD06E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Prihvat parametara forme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FAC48DCE-B966-D87B-902F-D5DF5C63B7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1600200"/>
            <a:ext cx="10331740" cy="4997450"/>
          </a:xfrm>
        </p:spPr>
        <p:txBody>
          <a:bodyPr/>
          <a:lstStyle/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f (request.startsWith("GET ")) {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if (request.indexOf("/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dodaj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ime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=") != -1) {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dodajemo korisnika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response = addAndList(request);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 else if 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request.indexOf("/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trazi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me=") != -1) {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response = searchAndList(request);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 else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response = browserResponse();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1A5FD30D-162D-836F-594C-EFFD972DC9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Prihvat parametara forme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7E477834-EB7E-877C-0399-1D439139F3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9721850" cy="49974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private String addAndList(String request)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sr-Latn-RS" altLang="sr-Latn-RS" sz="20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= getUsername(request);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users.add(</a:t>
            </a:r>
            <a:r>
              <a:rPr lang="sr-Latn-RS" altLang="sr-Latn-RS" sz="20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= "HTTP/1.1 200 OK\r\n\r\n";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+= "&lt;html&gt;&lt;head&gt;&lt;/head&gt;\n";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+= "&lt;body&gt;&lt;h1&gt;Prijavljeni korisnici&lt;/h1&gt;&lt;ol&gt;\n";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for (int i = 0; i &lt; </a:t>
            </a: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users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.size(); i++)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String </a:t>
            </a:r>
            <a:r>
              <a:rPr lang="sr-Latn-R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users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.get(i);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+= "&lt;li&gt;" + </a:t>
            </a:r>
            <a:r>
              <a:rPr lang="sr-Latn-R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+ "&lt;/li&gt;\n";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+= "&lt;/ol&gt;&lt;/body&gt;&lt;/html&gt;\n";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;   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8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A178E6AF-6406-5AFF-78D8-3B98896DCA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329267"/>
            <a:ext cx="9372600" cy="533982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sr-Latn-R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GET </a:t>
            </a:r>
            <a:r>
              <a:rPr lang="en-U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sr-Latn-R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dodaj?ime=pera HTTP/1.1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private String getUsername(String </a:t>
            </a:r>
            <a:r>
              <a:rPr lang="sr-Latn-R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sr-Latn-RS" altLang="sr-Latn-R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int index1 = </a:t>
            </a:r>
            <a:r>
              <a:rPr lang="sr-Latn-R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.indexOf("=");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if (index1 != -1) { </a:t>
            </a:r>
            <a:r>
              <a:rPr lang="sr-Latn-R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imam znak jednako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int index2 = </a:t>
            </a:r>
            <a:r>
              <a:rPr lang="sr-Latn-R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.lastIndexOf(" ");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if (index2 != -1) { </a:t>
            </a:r>
            <a:r>
              <a:rPr lang="sr-Latn-R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razmak je granica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sr-Latn-RS" altLang="sr-Latn-R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sr-Latn-R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.substring(index1 + 1, index2);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try {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sr-Latn-RS" altLang="sr-Latn-R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= URLDecoder.decode(</a:t>
            </a:r>
            <a:r>
              <a:rPr lang="sr-Latn-RS" altLang="sr-Latn-R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, "UTF-8"); 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} catch (UnsupportedEncodingException e) {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  e.printStackTrace();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sr-Latn-RS" altLang="sr-Latn-R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E71B9B-3E99-01E4-36AE-D7DCDF2B6421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65126"/>
            <a:ext cx="10515600" cy="710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altLang="sr-Latn-RS"/>
              <a:t>Prihvat parametara forme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8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8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8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78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BA2A9A17-8A96-3249-8B9E-FD4F613707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Prihvat parametara forme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30A5D47E-9F97-085A-BE9E-BD29E00915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9721850" cy="49974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private String searchAndList(String </a:t>
            </a:r>
            <a:r>
              <a:rPr lang="sr-Latn-RS" altLang="sr-Latn-RS" sz="20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sr-Latn-RS" altLang="sr-Latn-RS" sz="20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= getUsername(</a:t>
            </a:r>
            <a:r>
              <a:rPr lang="sr-Latn-RS" altLang="sr-Latn-RS" sz="20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users.add(</a:t>
            </a:r>
            <a:r>
              <a:rPr lang="sr-Latn-RS" altLang="sr-Latn-RS" sz="20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= "HTTP/1.1 200 OK\r\n\r\n";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+= "&lt;html&gt;&lt;head&gt;&lt;/head&gt;\n";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+= "&lt;body&gt;&lt;h1&gt;Prijavljeni korisnici&lt;/h1&gt;&lt;ol&gt;\n";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for (int i = 0; i &lt; </a:t>
            </a: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users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.size(); i++)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String </a:t>
            </a:r>
            <a:r>
              <a:rPr lang="sr-Latn-R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users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.get(i);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sr-Latn-R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.contains(</a:t>
            </a:r>
            <a:r>
              <a:rPr lang="sr-Latn-RS" altLang="sr-Latn-RS" sz="20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+= "&lt;li&gt;" + </a:t>
            </a:r>
            <a:r>
              <a:rPr lang="sr-Latn-R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+ "&lt;/li&gt;\n";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+= "&lt;/ol&gt;&lt;/body&gt;&lt;/html&gt;\n";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sr-Latn-RS" altLang="sr-Latn-RS" sz="20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;   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8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9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433E-14A0-FD6E-E429-3085A159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Jednostavan web server</a:t>
            </a:r>
          </a:p>
        </p:txBody>
      </p:sp>
      <p:sp>
        <p:nvSpPr>
          <p:cNvPr id="39939" name="Text Placeholder 2">
            <a:extLst>
              <a:ext uri="{FF2B5EF4-FFF2-40B4-BE49-F238E27FC236}">
                <a16:creationId xmlns:a16="http://schemas.microsoft.com/office/drawing/2014/main" id="{29BA9EDE-317B-97E1-7832-E18D48AEF8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 altLang="sr-Latn-R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1590FE8-CC75-C66A-EEED-889FB3AD47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web server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528ED53A-1AE8-39F4-8F33-8FB886016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RS" altLang="sr-Latn-RS"/>
              <a:t>S</a:t>
            </a:r>
            <a:r>
              <a:rPr lang="en-US" altLang="sr-Latn-RS"/>
              <a:t>lu</a:t>
            </a:r>
            <a:r>
              <a:rPr lang="sr-Latn-CS" altLang="sr-Latn-RS"/>
              <a:t>ša na portu 80.</a:t>
            </a:r>
          </a:p>
          <a:p>
            <a:pPr eaLnBrk="1" hangingPunct="1"/>
            <a:r>
              <a:rPr lang="sr-Latn-CS" altLang="sr-Latn-RS"/>
              <a:t>Po uspostavi veze, prima jedan red.</a:t>
            </a:r>
          </a:p>
          <a:p>
            <a:pPr eaLnBrk="1" hangingPunct="1"/>
            <a:r>
              <a:rPr lang="sr-Latn-CS" altLang="sr-Latn-RS"/>
              <a:t>Ako je to komanda GET,</a:t>
            </a:r>
            <a:r>
              <a:rPr lang="en-US" altLang="sr-Latn-RS"/>
              <a:t> pokupi </a:t>
            </a:r>
            <a:r>
              <a:rPr lang="sr-Latn-RS" altLang="sr-Latn-RS"/>
              <a:t>putanju do </a:t>
            </a:r>
            <a:r>
              <a:rPr lang="en-US" altLang="sr-Latn-RS"/>
              <a:t>resursa</a:t>
            </a:r>
            <a:r>
              <a:rPr lang="sr-Latn-RS" altLang="sr-Latn-RS"/>
              <a:t>.</a:t>
            </a:r>
            <a:endParaRPr lang="en-US" altLang="sr-Latn-RS"/>
          </a:p>
          <a:p>
            <a:pPr eaLnBrk="1" hangingPunct="1"/>
            <a:r>
              <a:rPr lang="sr-Latn-RS" altLang="sr-Latn-RS"/>
              <a:t>P</a:t>
            </a:r>
            <a:r>
              <a:rPr lang="en-US" altLang="sr-Latn-RS"/>
              <a:t>o</a:t>
            </a:r>
            <a:r>
              <a:rPr lang="sr-Latn-CS" altLang="sr-Latn-RS"/>
              <a:t>š</a:t>
            </a:r>
            <a:r>
              <a:rPr lang="en-US" altLang="sr-Latn-RS"/>
              <a:t>alje</a:t>
            </a:r>
            <a:r>
              <a:rPr lang="sr-Latn-CS" altLang="sr-Latn-RS"/>
              <a:t> zaglavlje HTTP protokola.</a:t>
            </a:r>
          </a:p>
          <a:p>
            <a:pPr eaLnBrk="1" hangingPunct="1"/>
            <a:r>
              <a:rPr lang="sr-Latn-CS" altLang="sr-Latn-RS"/>
              <a:t>Pošalje sadržaj resursa.</a:t>
            </a:r>
          </a:p>
          <a:p>
            <a:pPr eaLnBrk="1" hangingPunct="1"/>
            <a:r>
              <a:rPr lang="sr-Latn-CS" altLang="sr-Latn-RS"/>
              <a:t>Zatvori vezu sa klijentom.</a:t>
            </a:r>
            <a:endParaRPr lang="en-US" altLang="sr-Latn-RS"/>
          </a:p>
        </p:txBody>
      </p:sp>
      <p:sp>
        <p:nvSpPr>
          <p:cNvPr id="40964" name="TextBox 4">
            <a:extLst>
              <a:ext uri="{FF2B5EF4-FFF2-40B4-BE49-F238E27FC236}">
                <a16:creationId xmlns:a16="http://schemas.microsoft.com/office/drawing/2014/main" id="{27D45AC5-A1E4-B375-E588-18F1A2B27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9" y="6237289"/>
            <a:ext cx="158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RS" altLang="sr-Latn-RS" sz="1800"/>
              <a:t>primer04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>
            <a:extLst>
              <a:ext uri="{FF2B5EF4-FFF2-40B4-BE49-F238E27FC236}">
                <a16:creationId xmlns:a16="http://schemas.microsoft.com/office/drawing/2014/main" id="{4EC343C3-4E00-84F5-ABB8-0D48B88928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73200"/>
            <a:ext cx="9144000" cy="52324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latin typeface="Courier New" panose="02070309020205020404" pitchFamily="49" charset="0"/>
              </a:rPr>
              <a:t>ServerSocket </a:t>
            </a:r>
            <a:r>
              <a:rPr lang="en-US" altLang="sr-Latn-RS" sz="1600" b="1">
                <a:solidFill>
                  <a:schemeClr val="accent5"/>
                </a:solidFill>
                <a:latin typeface="Courier New" panose="02070309020205020404" pitchFamily="49" charset="0"/>
              </a:rPr>
              <a:t>srvr</a:t>
            </a:r>
            <a:r>
              <a:rPr lang="en-US" altLang="sr-Latn-RS" sz="1600" b="1">
                <a:latin typeface="Courier New" panose="02070309020205020404" pitchFamily="49" charset="0"/>
              </a:rPr>
              <a:t> = new ServerSocket(port);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latin typeface="Courier New" panose="02070309020205020404" pitchFamily="49" charset="0"/>
              </a:rPr>
              <a:t>Socket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skt</a:t>
            </a:r>
            <a:r>
              <a:rPr lang="en-US" altLang="sr-Latn-RS" sz="1600" b="1">
                <a:latin typeface="Courier New" panose="02070309020205020404" pitchFamily="49" charset="0"/>
              </a:rPr>
              <a:t> = null;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latin typeface="Courier New" panose="02070309020205020404" pitchFamily="49" charset="0"/>
              </a:rPr>
              <a:t>while(true)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try {</a:t>
            </a:r>
            <a:endParaRPr lang="sr-Latn-C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    </a:t>
            </a:r>
            <a:r>
              <a:rPr lang="sr-Latn-C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čekamo klijenta</a:t>
            </a:r>
            <a:endParaRPr lang="en-US" altLang="sr-Latn-RS" sz="16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skt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 = </a:t>
            </a:r>
            <a:r>
              <a:rPr lang="en-US" altLang="sr-Latn-RS" sz="1600" b="1">
                <a:solidFill>
                  <a:schemeClr val="accent5"/>
                </a:solidFill>
                <a:latin typeface="Courier New" panose="02070309020205020404" pitchFamily="49" charset="0"/>
              </a:rPr>
              <a:t>srvr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.accept();</a:t>
            </a:r>
            <a:endParaRPr lang="sr-Latn-CS" altLang="sr-Latn-RS" sz="1600" b="1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    </a:t>
            </a:r>
            <a:r>
              <a:rPr lang="sr-Latn-C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pokupimo putanju do resursa</a:t>
            </a:r>
            <a:endParaRPr lang="en-US" altLang="sr-Latn-RS" sz="16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    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String </a:t>
            </a:r>
            <a:r>
              <a:rPr lang="en-US" altLang="sr-Latn-RS" sz="1600" b="1">
                <a:solidFill>
                  <a:schemeClr val="accent4"/>
                </a:solidFill>
                <a:latin typeface="Courier New" panose="02070309020205020404" pitchFamily="49" charset="0"/>
              </a:rPr>
              <a:t>resource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 = getResource(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skt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.getInputStream());</a:t>
            </a:r>
            <a:endParaRPr lang="sr-Latn-CS" altLang="sr-Latn-RS" sz="1600" b="1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    </a:t>
            </a:r>
            <a:r>
              <a:rPr lang="sr-Latn-C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obrada “default” stranice</a:t>
            </a:r>
            <a:endParaRPr lang="en-US" altLang="sr-Latn-RS" sz="16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    </a:t>
            </a:r>
            <a:r>
              <a:rPr lang="en-US" altLang="sr-Latn-RS" sz="1600" b="1">
                <a:latin typeface="Courier New" panose="02070309020205020404" pitchFamily="49" charset="0"/>
              </a:rPr>
              <a:t>if (</a:t>
            </a:r>
            <a:r>
              <a:rPr lang="en-US" altLang="sr-Latn-RS" sz="1600" b="1">
                <a:solidFill>
                  <a:schemeClr val="accent4"/>
                </a:solidFill>
                <a:latin typeface="Courier New" panose="02070309020205020404" pitchFamily="49" charset="0"/>
              </a:rPr>
              <a:t>resource</a:t>
            </a:r>
            <a:r>
              <a:rPr lang="en-US" altLang="sr-Latn-RS" sz="1600" b="1">
                <a:latin typeface="Courier New" panose="02070309020205020404" pitchFamily="49" charset="0"/>
              </a:rPr>
              <a:t>.equals(""))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  </a:t>
            </a:r>
            <a:r>
              <a:rPr lang="en-US" altLang="sr-Latn-RS" sz="1600" b="1">
                <a:solidFill>
                  <a:schemeClr val="accent4"/>
                </a:solidFill>
                <a:latin typeface="Courier New" panose="02070309020205020404" pitchFamily="49" charset="0"/>
              </a:rPr>
              <a:t>resource</a:t>
            </a:r>
            <a:r>
              <a:rPr lang="en-US" altLang="sr-Latn-RS" sz="1600" b="1">
                <a:latin typeface="Courier New" panose="02070309020205020404" pitchFamily="49" charset="0"/>
              </a:rPr>
              <a:t> = "index.html";</a:t>
            </a:r>
            <a:endParaRPr lang="sr-Latn-C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    </a:t>
            </a:r>
            <a:r>
              <a:rPr lang="sr-Latn-C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pošaljemo resurs</a:t>
            </a:r>
            <a:endParaRPr lang="en-US" altLang="sr-Latn-RS" sz="16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    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sendResponse(</a:t>
            </a:r>
            <a:r>
              <a:rPr lang="en-US" altLang="sr-Latn-RS" sz="1600" b="1">
                <a:solidFill>
                  <a:schemeClr val="accent4"/>
                </a:solidFill>
                <a:latin typeface="Courier New" panose="02070309020205020404" pitchFamily="49" charset="0"/>
              </a:rPr>
              <a:t>resource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,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skt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.getOutputStream());</a:t>
            </a:r>
            <a:endParaRPr lang="sr-Latn-CS" altLang="sr-Latn-RS" sz="1600" b="1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    </a:t>
            </a:r>
            <a:r>
              <a:rPr lang="sr-Latn-C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zatvorim</a:t>
            </a: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o</a:t>
            </a:r>
            <a:r>
              <a:rPr lang="sr-Latn-C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konekciju</a:t>
            </a:r>
            <a:endParaRPr lang="en-US" altLang="sr-Latn-RS" sz="16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skt</a:t>
            </a:r>
            <a:r>
              <a:rPr lang="en-US" altLang="sr-Latn-RS" sz="1600" b="1">
                <a:latin typeface="Courier New" panose="02070309020205020404" pitchFamily="49" charset="0"/>
              </a:rPr>
              <a:t>.close();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skt</a:t>
            </a:r>
            <a:r>
              <a:rPr lang="en-US" altLang="sr-Latn-RS" sz="1600" b="1">
                <a:latin typeface="Courier New" panose="02070309020205020404" pitchFamily="49" charset="0"/>
              </a:rPr>
              <a:t> = null;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} catch(IOException ex)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 ex.printStackTrace();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}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8F13F77-D31A-266B-B02E-55BE8850615B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65126"/>
            <a:ext cx="10515600" cy="871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altLang="sr-Latn-RS"/>
              <a:t>Glavna petlja web servera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1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9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19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19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198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98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198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198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56AB7C37-A2DE-CB6F-070B-A6308B7665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HTTP zahtev (request)</a:t>
            </a:r>
            <a:endParaRPr lang="en-US" altLang="sr-Latn-R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D8315026-4C30-CBFD-51E7-E3C7D38484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144000" cy="45529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Svaki HTTP zahtev je oblika: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solidFill>
                  <a:schemeClr val="tx2"/>
                </a:solidFill>
              </a:rPr>
              <a:t>METODA</a:t>
            </a:r>
            <a:r>
              <a:rPr lang="sr-Latn-CS" altLang="sr-Latn-RS" sz="2000" b="1"/>
              <a:t>   putanja  HTTP/</a:t>
            </a:r>
            <a:r>
              <a:rPr lang="sr-Latn-CS" altLang="sr-Latn-RS" sz="2000" b="1">
                <a:solidFill>
                  <a:schemeClr val="tx2"/>
                </a:solidFill>
              </a:rPr>
              <a:t>verzija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solidFill>
                  <a:schemeClr val="tx2"/>
                </a:solidFill>
              </a:rPr>
              <a:t>DODATNI_REDOVI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METODA može da bude: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/>
              <a:t>GET</a:t>
            </a:r>
            <a:r>
              <a:rPr lang="en-US" altLang="sr-Latn-RS" sz="2000"/>
              <a:t>,</a:t>
            </a:r>
            <a:endParaRPr lang="sr-Latn-CS" altLang="sr-Latn-RS" sz="2000"/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/>
              <a:t>POST</a:t>
            </a:r>
            <a:r>
              <a:rPr lang="en-US" altLang="sr-Latn-RS" sz="2000"/>
              <a:t> i dr.</a:t>
            </a:r>
            <a:endParaRPr lang="sr-Latn-CS" altLang="sr-Latn-RS" sz="2000"/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Putanja je putanja do datoteke koja će se preneti na klijentsku stranu, oblika: </a:t>
            </a:r>
            <a:r>
              <a:rPr lang="sr-Latn-CS" altLang="sr-Latn-RS" sz="2400" b="1"/>
              <a:t>/putanja</a:t>
            </a:r>
            <a:r>
              <a:rPr lang="sr-Latn-CS" altLang="sr-Latn-RS" sz="2400"/>
              <a:t> ili samo </a:t>
            </a:r>
            <a:r>
              <a:rPr lang="sr-Latn-CS" altLang="sr-Latn-RS" sz="2400" b="1"/>
              <a:t>/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Verzija je: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/>
              <a:t>1.0, 1.1, itd.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Dodatni redovi su oblika: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/>
              <a:t>Naziv: vrednost</a:t>
            </a:r>
            <a:endParaRPr lang="en-US" altLang="sr-Latn-R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>
            <a:extLst>
              <a:ext uri="{FF2B5EF4-FFF2-40B4-BE49-F238E27FC236}">
                <a16:creationId xmlns:a16="http://schemas.microsoft.com/office/drawing/2014/main" id="{A63EFFDA-3845-68EE-8789-4867C13719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199" y="1299632"/>
            <a:ext cx="10900833" cy="5405967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</a:t>
            </a:r>
            <a:r>
              <a:rPr lang="en-US" altLang="sr-Latn-RS" sz="1800" b="1">
                <a:latin typeface="Courier New" panose="02070309020205020404" pitchFamily="49" charset="0"/>
              </a:rPr>
              <a:t> BufferedReader </a:t>
            </a:r>
            <a:r>
              <a:rPr lang="sr-Latn-R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in</a:t>
            </a:r>
            <a:r>
              <a:rPr lang="sr-Latn-CS" altLang="sr-Latn-RS" sz="1800" b="1">
                <a:latin typeface="Courier New" panose="02070309020205020404" pitchFamily="49" charset="0"/>
              </a:rPr>
              <a:t> </a:t>
            </a:r>
            <a:r>
              <a:rPr lang="en-US" altLang="sr-Latn-RS" sz="1800" b="1">
                <a:latin typeface="Courier New" panose="02070309020205020404" pitchFamily="49" charset="0"/>
              </a:rPr>
              <a:t>= new BufferedReader(new InputStreamReader(is));</a:t>
            </a:r>
            <a:endParaRPr lang="sr-Latn-C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// pokupimo prvi red</a:t>
            </a:r>
            <a:endParaRPr lang="en-US" altLang="sr-Latn-RS" sz="18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</a:t>
            </a:r>
            <a:r>
              <a:rPr lang="en-U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String </a:t>
            </a:r>
            <a:r>
              <a:rPr lang="en-US" altLang="sr-Latn-RS" sz="1800" b="1">
                <a:solidFill>
                  <a:srgbClr val="7030A0"/>
                </a:solidFill>
                <a:latin typeface="Courier New" panose="02070309020205020404" pitchFamily="49" charset="0"/>
              </a:rPr>
              <a:t>s</a:t>
            </a:r>
            <a:r>
              <a:rPr lang="sr-Latn-RS" altLang="sr-Latn-RS" sz="1800" b="1">
                <a:solidFill>
                  <a:srgbClr val="7030A0"/>
                </a:solidFill>
                <a:latin typeface="Courier New" panose="02070309020205020404" pitchFamily="49" charset="0"/>
              </a:rPr>
              <a:t>tr</a:t>
            </a:r>
            <a:r>
              <a:rPr lang="en-U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 = </a:t>
            </a:r>
            <a:r>
              <a:rPr lang="sr-Latn-R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in</a:t>
            </a:r>
            <a:r>
              <a:rPr lang="en-U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.readLine();</a:t>
            </a:r>
            <a:endParaRPr lang="sr-Latn-CS" altLang="sr-Latn-RS" sz="1800" b="1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</a:t>
            </a:r>
            <a:r>
              <a:rPr lang="sr-Latn-C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tokenizujemo po razmacima</a:t>
            </a:r>
            <a:endParaRPr lang="en-US" altLang="sr-Latn-RS" sz="18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</a:t>
            </a:r>
            <a:r>
              <a:rPr lang="en-U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String[] 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</a:rPr>
              <a:t>tokens</a:t>
            </a:r>
            <a:r>
              <a:rPr lang="en-U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 = </a:t>
            </a:r>
            <a:r>
              <a:rPr lang="en-US" altLang="sr-Latn-RS" sz="1800" b="1">
                <a:solidFill>
                  <a:srgbClr val="7030A0"/>
                </a:solidFill>
                <a:latin typeface="Courier New" panose="02070309020205020404" pitchFamily="49" charset="0"/>
              </a:rPr>
              <a:t>s</a:t>
            </a:r>
            <a:r>
              <a:rPr lang="sr-Latn-RS" altLang="sr-Latn-RS" sz="1800" b="1">
                <a:solidFill>
                  <a:srgbClr val="7030A0"/>
                </a:solidFill>
                <a:latin typeface="Courier New" panose="02070309020205020404" pitchFamily="49" charset="0"/>
              </a:rPr>
              <a:t>tr</a:t>
            </a:r>
            <a:r>
              <a:rPr lang="en-U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.split(" ");</a:t>
            </a:r>
            <a:endParaRPr lang="sr-Latn-RS" altLang="sr-Latn-RS" sz="1800" b="1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</a:t>
            </a:r>
            <a:r>
              <a:rPr lang="sr-Latn-C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pokupimo metod (prvi token)</a:t>
            </a:r>
            <a:endParaRPr lang="en-US" altLang="sr-Latn-RS" sz="18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</a:t>
            </a:r>
            <a:r>
              <a:rPr lang="en-U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String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method</a:t>
            </a:r>
            <a:r>
              <a:rPr lang="en-U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 = 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</a:rPr>
              <a:t>tokens</a:t>
            </a:r>
            <a:r>
              <a:rPr lang="en-U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[0];</a:t>
            </a:r>
          </a:p>
          <a:p>
            <a:pPr>
              <a:lnSpc>
                <a:spcPct val="80000"/>
              </a:lnSpc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if (!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method</a:t>
            </a:r>
            <a:r>
              <a:rPr lang="en-US" altLang="sr-Latn-RS" sz="1800" b="1">
                <a:latin typeface="Courier New" panose="02070309020205020404" pitchFamily="49" charset="0"/>
              </a:rPr>
              <a:t>.equals("GET"))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 return null;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}</a:t>
            </a:r>
            <a:endParaRPr lang="sr-Latn-C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</a:t>
            </a:r>
            <a:r>
              <a:rPr lang="sr-Latn-C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pokupimo drugi token, a to je </a:t>
            </a:r>
            <a:r>
              <a:rPr lang="en-U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putanja do</a:t>
            </a:r>
            <a:r>
              <a:rPr lang="sr-Latn-C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resursa</a:t>
            </a:r>
            <a:endParaRPr lang="en-US" altLang="sr-Latn-RS" sz="18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</a:t>
            </a:r>
            <a:r>
              <a:rPr lang="en-U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String </a:t>
            </a:r>
            <a:r>
              <a:rPr lang="en-US" altLang="sr-Latn-RS" sz="1800" b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</a:rPr>
              <a:t>rsrc</a:t>
            </a:r>
            <a:r>
              <a:rPr lang="en-U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 = 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</a:rPr>
              <a:t>tokens</a:t>
            </a:r>
            <a:r>
              <a:rPr lang="en-U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[1];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//</a:t>
            </a:r>
            <a:r>
              <a:rPr lang="sr-Latn-C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sklonimo karakter ‘</a:t>
            </a:r>
            <a:r>
              <a:rPr lang="en-U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</a:t>
            </a:r>
            <a:r>
              <a:rPr lang="sr-Latn-C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’ sa početka</a:t>
            </a:r>
            <a:endParaRPr lang="en-US" altLang="sr-Latn-RS" sz="18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</a:t>
            </a:r>
            <a:r>
              <a:rPr lang="en-U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rsrc = </a:t>
            </a:r>
            <a:r>
              <a:rPr lang="en-US" altLang="sr-Latn-RS" sz="1800" b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</a:rPr>
              <a:t>rsrc</a:t>
            </a:r>
            <a:r>
              <a:rPr lang="en-U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.substring(1);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// </a:t>
            </a:r>
            <a:r>
              <a:rPr lang="sr-Latn-C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ignorišemo ostatak zahteva</a:t>
            </a:r>
            <a:endParaRPr lang="en-US" altLang="sr-Latn-RS" sz="18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String s1;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</a:t>
            </a:r>
            <a:r>
              <a:rPr lang="en-U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while (!(s1 = </a:t>
            </a:r>
            <a:r>
              <a:rPr lang="sr-Latn-R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in</a:t>
            </a:r>
            <a:r>
              <a:rPr lang="en-U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.readLine()).equals(""))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solidFill>
                  <a:schemeClr val="tx2"/>
                </a:solidFill>
                <a:latin typeface="Courier New" panose="02070309020205020404" pitchFamily="49" charset="0"/>
              </a:rPr>
              <a:t>    System.out.println(s1);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return </a:t>
            </a:r>
            <a:r>
              <a:rPr lang="en-US" altLang="sr-Latn-RS" sz="1800" b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</a:rPr>
              <a:t>rsrc</a:t>
            </a:r>
            <a:r>
              <a:rPr lang="en-US" altLang="sr-Latn-RS" sz="1800" b="1"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CDFA40-0F8F-478A-8DDE-F0FD0A898110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65125"/>
            <a:ext cx="10515600" cy="760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CS" altLang="sr-Latn-RS"/>
              <a:t>HTTP zahtev (request)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4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40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40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40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403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403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25580FB-3DEF-F6E8-3C7D-9F04E86001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HTTP odgovor (response)</a:t>
            </a:r>
            <a:endParaRPr lang="en-US" altLang="sr-Latn-R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FBD7C211-E16A-AACD-E0CE-516B74FBD1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8607425" cy="4114800"/>
          </a:xfrm>
        </p:spPr>
        <p:txBody>
          <a:bodyPr/>
          <a:lstStyle/>
          <a:p>
            <a:pPr eaLnBrk="1" hangingPunct="1"/>
            <a:r>
              <a:rPr lang="sr-Latn-CS" altLang="sr-Latn-RS"/>
              <a:t>Počinje redom:</a:t>
            </a:r>
          </a:p>
          <a:p>
            <a:pPr eaLnBrk="1" hangingPunct="1">
              <a:buFontTx/>
              <a:buNone/>
            </a:pPr>
            <a:r>
              <a:rPr lang="sr-Latn-CS" altLang="sr-Latn-RS" b="1"/>
              <a:t>	HTTP/verzija   kod   tekstualni_opis</a:t>
            </a:r>
          </a:p>
          <a:p>
            <a:pPr eaLnBrk="1" hangingPunct="1"/>
            <a:r>
              <a:rPr lang="sr-Latn-CS" altLang="sr-Latn-RS"/>
              <a:t>Dodatni redovi sadrže atribute:</a:t>
            </a:r>
          </a:p>
          <a:p>
            <a:pPr lvl="1" eaLnBrk="1" hangingPunct="1">
              <a:buFontTx/>
              <a:buNone/>
            </a:pPr>
            <a:r>
              <a:rPr lang="sr-Latn-CS" altLang="sr-Latn-RS" b="1"/>
              <a:t>Ime: vrednost</a:t>
            </a:r>
          </a:p>
          <a:p>
            <a:pPr eaLnBrk="1" hangingPunct="1"/>
            <a:r>
              <a:rPr lang="sr-Latn-CS" altLang="sr-Latn-RS"/>
              <a:t>Prazan red</a:t>
            </a:r>
          </a:p>
          <a:p>
            <a:pPr eaLnBrk="1" hangingPunct="1"/>
            <a:r>
              <a:rPr lang="sr-Latn-CS" altLang="sr-Latn-RS"/>
              <a:t>Sledi sadržaj resursa (datoteke)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>
            <a:extLst>
              <a:ext uri="{FF2B5EF4-FFF2-40B4-BE49-F238E27FC236}">
                <a16:creationId xmlns:a16="http://schemas.microsoft.com/office/drawing/2014/main" id="{A4B70EAF-D29A-A0D3-A7A3-4480C51CB1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257299"/>
            <a:ext cx="9144000" cy="5529263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latin typeface="Courier New" panose="02070309020205020404" pitchFamily="49" charset="0"/>
              </a:rPr>
              <a:t>PrintStream </a:t>
            </a:r>
            <a:r>
              <a:rPr lang="sr-Latn-RS" altLang="sr-Latn-RS" sz="1600" b="1">
                <a:solidFill>
                  <a:schemeClr val="accent4"/>
                </a:solidFill>
                <a:latin typeface="Courier New" panose="02070309020205020404" pitchFamily="49" charset="0"/>
              </a:rPr>
              <a:t>out</a:t>
            </a:r>
            <a:r>
              <a:rPr lang="en-US" altLang="sr-Latn-RS" sz="1600" b="1">
                <a:latin typeface="Courier New" panose="02070309020205020404" pitchFamily="49" charset="0"/>
              </a:rPr>
              <a:t> = new PrintStream(os);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sr-Latn-C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// zamenimo web separator (‘/’) sistemskim separatorom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resource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 =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resource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.replace('/', File.separatorChar);</a:t>
            </a:r>
            <a:endParaRPr lang="sr-Latn-CS" altLang="sr-Latn-RS" sz="1600" b="1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// pristupimo resursu</a:t>
            </a:r>
            <a:endParaRPr lang="en-US" altLang="sr-Latn-RS" sz="16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File </a:t>
            </a:r>
            <a:r>
              <a:rPr lang="en-US" altLang="sr-Latn-RS" sz="1600" b="1">
                <a:solidFill>
                  <a:schemeClr val="accent5"/>
                </a:solidFill>
                <a:latin typeface="Courier New" panose="02070309020205020404" pitchFamily="49" charset="0"/>
              </a:rPr>
              <a:t>file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 = new File(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resource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);</a:t>
            </a:r>
            <a:endParaRPr lang="sr-Latn-CS" altLang="sr-Latn-RS" sz="1600" b="1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// ako ne postoji</a:t>
            </a:r>
            <a:endParaRPr lang="en-US" altLang="sr-Latn-RS" sz="16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if 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(!</a:t>
            </a:r>
            <a:r>
              <a:rPr lang="en-US" altLang="sr-Latn-RS" sz="1600" b="1">
                <a:solidFill>
                  <a:schemeClr val="accent5"/>
                </a:solidFill>
                <a:latin typeface="Courier New" panose="02070309020205020404" pitchFamily="49" charset="0"/>
              </a:rPr>
              <a:t>file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.exists())</a:t>
            </a:r>
            <a:r>
              <a:rPr lang="en-US" altLang="sr-Latn-RS" sz="1600" b="1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  //</a:t>
            </a:r>
            <a:r>
              <a:rPr lang="sr-Latn-C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greška za nepostojeći resurs je 404</a:t>
            </a:r>
            <a:endParaRPr lang="en-US" altLang="sr-Latn-RS" sz="16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</a:t>
            </a:r>
            <a:r>
              <a:rPr lang="sr-Latn-RS" altLang="sr-Latn-RS" sz="1600" b="1">
                <a:solidFill>
                  <a:schemeClr val="accent4"/>
                </a:solidFill>
                <a:latin typeface="Courier New" panose="02070309020205020404" pitchFamily="49" charset="0"/>
              </a:rPr>
              <a:t>out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.print("HTTP/1.0 404 File not Found\r\n\r\n");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</a:t>
            </a:r>
            <a:r>
              <a:rPr lang="sr-Latn-RS" altLang="sr-Latn-RS" sz="1600" b="1">
                <a:latin typeface="Courier New" panose="02070309020205020404" pitchFamily="49" charset="0"/>
              </a:rPr>
              <a:t>   </a:t>
            </a:r>
            <a:r>
              <a:rPr lang="sr-Latn-RS" altLang="sr-Latn-RS" sz="1600" b="1">
                <a:solidFill>
                  <a:schemeClr val="accent4"/>
                </a:solidFill>
                <a:latin typeface="Courier New" panose="02070309020205020404" pitchFamily="49" charset="0"/>
              </a:rPr>
              <a:t>out</a:t>
            </a:r>
            <a:r>
              <a:rPr lang="en-US" altLang="sr-Latn-RS" sz="1600" b="1">
                <a:latin typeface="Courier New" panose="02070309020205020404" pitchFamily="49" charset="0"/>
              </a:rPr>
              <a:t>.flush();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  </a:t>
            </a:r>
            <a:r>
              <a:rPr lang="en-US" altLang="sr-Latn-RS" sz="1600" b="1">
                <a:latin typeface="Courier New" panose="02070309020205020404" pitchFamily="49" charset="0"/>
              </a:rPr>
              <a:t>return;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//</a:t>
            </a:r>
            <a:r>
              <a:rPr lang="sr-Latn-C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ispišemo zaglavlje HTTP odgovora (prvi red i prazan red)</a:t>
            </a:r>
            <a:endParaRPr lang="en-US" altLang="sr-Latn-RS" sz="16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</a:t>
            </a:r>
            <a:r>
              <a:rPr lang="sr-Latn-RS" altLang="sr-Latn-RS" sz="1600" b="1">
                <a:latin typeface="Courier New" panose="02070309020205020404" pitchFamily="49" charset="0"/>
              </a:rPr>
              <a:t> </a:t>
            </a:r>
            <a:r>
              <a:rPr lang="sr-Latn-RS" altLang="sr-Latn-RS" sz="1600" b="1">
                <a:solidFill>
                  <a:schemeClr val="accent4"/>
                </a:solidFill>
                <a:latin typeface="Courier New" panose="02070309020205020404" pitchFamily="49" charset="0"/>
              </a:rPr>
              <a:t>out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.print("HTTP/1.0 200 OK</a:t>
            </a:r>
            <a:r>
              <a:rPr lang="en-US" altLang="sr-Latn-RS" sz="1600" b="1">
                <a:solidFill>
                  <a:schemeClr val="accent6"/>
                </a:solidFill>
                <a:latin typeface="Courier New" panose="02070309020205020404" pitchFamily="49" charset="0"/>
              </a:rPr>
              <a:t>\r\n\r\n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");</a:t>
            </a:r>
            <a:endParaRPr lang="sr-Latn-CS" altLang="sr-Latn-RS" sz="1600" b="1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// pošaljemo sadržaj resursa (datoteke)</a:t>
            </a:r>
            <a:endParaRPr lang="en-US" altLang="sr-Latn-RS" sz="16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FileInputStream </a:t>
            </a:r>
            <a:r>
              <a:rPr lang="en-US" altLang="sr-Latn-RS" sz="1600" b="1">
                <a:solidFill>
                  <a:schemeClr val="accent6"/>
                </a:solidFill>
                <a:latin typeface="Courier New" panose="02070309020205020404" pitchFamily="49" charset="0"/>
              </a:rPr>
              <a:t>fis</a:t>
            </a:r>
            <a:r>
              <a:rPr lang="en-US" altLang="sr-Latn-RS" sz="1600" b="1">
                <a:latin typeface="Courier New" panose="02070309020205020404" pitchFamily="49" charset="0"/>
              </a:rPr>
              <a:t> = new FileInputStream(</a:t>
            </a:r>
            <a:r>
              <a:rPr lang="en-US" altLang="sr-Latn-RS" sz="1600" b="1">
                <a:solidFill>
                  <a:schemeClr val="accent5"/>
                </a:solidFill>
                <a:latin typeface="Courier New" panose="02070309020205020404" pitchFamily="49" charset="0"/>
              </a:rPr>
              <a:t>file</a:t>
            </a:r>
            <a:r>
              <a:rPr lang="en-US" altLang="sr-Latn-RS" sz="16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byte[] </a:t>
            </a:r>
            <a:r>
              <a:rPr lang="en-US" altLang="sr-Latn-RS" sz="1600" b="1">
                <a:solidFill>
                  <a:schemeClr val="accent2"/>
                </a:solidFill>
                <a:latin typeface="Courier New" panose="02070309020205020404" pitchFamily="49" charset="0"/>
              </a:rPr>
              <a:t>data</a:t>
            </a:r>
            <a:r>
              <a:rPr lang="en-US" altLang="sr-Latn-RS" sz="1600" b="1">
                <a:latin typeface="Courier New" panose="02070309020205020404" pitchFamily="49" charset="0"/>
              </a:rPr>
              <a:t> = new byte[</a:t>
            </a:r>
            <a:r>
              <a:rPr lang="sr-Latn-CS" altLang="sr-Latn-RS" sz="1600" b="1">
                <a:latin typeface="Courier New" panose="02070309020205020404" pitchFamily="49" charset="0"/>
              </a:rPr>
              <a:t>8192</a:t>
            </a:r>
            <a:r>
              <a:rPr lang="en-US" altLang="sr-Latn-RS" sz="1600" b="1">
                <a:latin typeface="Courier New" panose="02070309020205020404" pitchFamily="49" charset="0"/>
              </a:rPr>
              <a:t>];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int len;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while((len = </a:t>
            </a:r>
            <a:r>
              <a:rPr lang="en-US" altLang="sr-Latn-RS" sz="1600" b="1">
                <a:solidFill>
                  <a:schemeClr val="accent6"/>
                </a:solidFill>
                <a:latin typeface="Courier New" panose="02070309020205020404" pitchFamily="49" charset="0"/>
              </a:rPr>
              <a:t>fis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.read(</a:t>
            </a:r>
            <a:r>
              <a:rPr lang="en-US" altLang="sr-Latn-RS" sz="1600" b="1">
                <a:solidFill>
                  <a:schemeClr val="accent2"/>
                </a:solidFill>
                <a:latin typeface="Courier New" panose="02070309020205020404" pitchFamily="49" charset="0"/>
              </a:rPr>
              <a:t>data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)) != -1)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    </a:t>
            </a:r>
            <a:r>
              <a:rPr lang="sr-Latn-RS" altLang="sr-Latn-RS" sz="1600" b="1">
                <a:solidFill>
                  <a:schemeClr val="accent4"/>
                </a:solidFill>
                <a:latin typeface="Courier New" panose="02070309020205020404" pitchFamily="49" charset="0"/>
              </a:rPr>
              <a:t>out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.write(</a:t>
            </a:r>
            <a:r>
              <a:rPr lang="en-US" altLang="sr-Latn-RS" sz="1600" b="1">
                <a:solidFill>
                  <a:schemeClr val="accent2"/>
                </a:solidFill>
                <a:latin typeface="Courier New" panose="02070309020205020404" pitchFamily="49" charset="0"/>
              </a:rPr>
              <a:t>data</a:t>
            </a: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, 0, len);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chemeClr val="tx2"/>
                </a:solidFill>
                <a:latin typeface="Courier New" panose="02070309020205020404" pitchFamily="49" charset="0"/>
              </a:rPr>
              <a:t>  }</a:t>
            </a:r>
            <a:r>
              <a:rPr lang="en-US" altLang="sr-Latn-RS" sz="1600" b="1">
                <a:latin typeface="Courier New" panose="02070309020205020404" pitchFamily="49" charset="0"/>
              </a:rPr>
              <a:t> </a:t>
            </a:r>
            <a:endParaRPr lang="sr-Latn-R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chemeClr val="accent6"/>
                </a:solidFill>
                <a:latin typeface="Courier New" panose="02070309020205020404" pitchFamily="49" charset="0"/>
              </a:rPr>
              <a:t>fis</a:t>
            </a:r>
            <a:r>
              <a:rPr lang="en-US" altLang="sr-Latn-RS" sz="1600" b="1">
                <a:latin typeface="Courier New" panose="02070309020205020404" pitchFamily="49" charset="0"/>
              </a:rPr>
              <a:t>.close();</a:t>
            </a:r>
            <a:endParaRPr lang="en-US" altLang="sr-Latn-RS" sz="1600" b="1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</a:t>
            </a:r>
            <a:r>
              <a:rPr lang="sr-Latn-RS" altLang="sr-Latn-RS" sz="1600" b="1">
                <a:solidFill>
                  <a:schemeClr val="accent4"/>
                </a:solidFill>
                <a:latin typeface="Courier New" panose="02070309020205020404" pitchFamily="49" charset="0"/>
              </a:rPr>
              <a:t>out</a:t>
            </a:r>
            <a:r>
              <a:rPr lang="en-US" altLang="sr-Latn-RS" sz="1600" b="1">
                <a:latin typeface="Courier New" panose="02070309020205020404" pitchFamily="49" charset="0"/>
              </a:rPr>
              <a:t>.flush();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01F42E7-26BF-F870-EBD5-64D87D9D377D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04801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CS" altLang="sr-Latn-RS"/>
              <a:t>Slanje resursa (datoteke)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60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60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6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60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60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608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608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608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608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608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3352</Words>
  <Application>Microsoft Office PowerPoint</Application>
  <PresentationFormat>Widescreen</PresentationFormat>
  <Paragraphs>507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Aptos</vt:lpstr>
      <vt:lpstr>Aptos Display</vt:lpstr>
      <vt:lpstr>Arial</vt:lpstr>
      <vt:lpstr>Courier New</vt:lpstr>
      <vt:lpstr>Tahoma</vt:lpstr>
      <vt:lpstr>Office Theme</vt:lpstr>
      <vt:lpstr>Inženjerstvo Serverskog Sloja prof. dr Milan Vidaković</vt:lpstr>
      <vt:lpstr>PowerPoint Presentation</vt:lpstr>
      <vt:lpstr>HTTP komunikacija 1/2</vt:lpstr>
      <vt:lpstr>PowerPoint Presentation</vt:lpstr>
      <vt:lpstr>PowerPoint Presentation</vt:lpstr>
      <vt:lpstr>METOD</vt:lpstr>
      <vt:lpstr>Atributi u HTTP zahtevu</vt:lpstr>
      <vt:lpstr>Atributi u HTTP zahtevu</vt:lpstr>
      <vt:lpstr>Primer HTTP zahteva</vt:lpstr>
      <vt:lpstr>HTTP odgovor</vt:lpstr>
      <vt:lpstr>Atributi u HTTP odgovoru</vt:lpstr>
      <vt:lpstr>PowerPoint Presentation</vt:lpstr>
      <vt:lpstr>Primer HTTP odgovora sa redirekcijom</vt:lpstr>
      <vt:lpstr>Vrste WWW sadržaja</vt:lpstr>
      <vt:lpstr>Isporuka statičkih sadržaja</vt:lpstr>
      <vt:lpstr>Isporuka dinamičkih sadržaja</vt:lpstr>
      <vt:lpstr>Preuzimanje podataka sa formi</vt:lpstr>
      <vt:lpstr>Preuzimanje podataka sa formi</vt:lpstr>
      <vt:lpstr>GET i POST zahtevi</vt:lpstr>
      <vt:lpstr>Praćenje sesije korisnika 1/3</vt:lpstr>
      <vt:lpstr>Praćenje sesije korisnika 2/3</vt:lpstr>
      <vt:lpstr>Praćenje sesije korisnika 3/3</vt:lpstr>
      <vt:lpstr>Osnovni koncepti</vt:lpstr>
      <vt:lpstr>Isporuka resursa</vt:lpstr>
      <vt:lpstr>Isporuka resursa</vt:lpstr>
      <vt:lpstr>Isporuka resursa</vt:lpstr>
      <vt:lpstr>Dinamičko generisanje sadržaja</vt:lpstr>
      <vt:lpstr>PowerPoint Presentation</vt:lpstr>
      <vt:lpstr>Dinamičko generisanje sadržaja</vt:lpstr>
      <vt:lpstr>Prihvat parametara forme</vt:lpstr>
      <vt:lpstr>Prihvat parametara forme</vt:lpstr>
      <vt:lpstr>Prihvat parametara forme</vt:lpstr>
      <vt:lpstr>Prihvat parametara forme</vt:lpstr>
      <vt:lpstr>PowerPoint Presentation</vt:lpstr>
      <vt:lpstr>Prihvat parametara forme</vt:lpstr>
      <vt:lpstr>Jednostavan web server</vt:lpstr>
      <vt:lpstr>web server</vt:lpstr>
      <vt:lpstr>PowerPoint Presentation</vt:lpstr>
      <vt:lpstr>HTTP zahtev (request)</vt:lpstr>
      <vt:lpstr>PowerPoint Presentation</vt:lpstr>
      <vt:lpstr>HTTP odgovor (response)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Jovana Vidaković</dc:creator>
  <cp:lastModifiedBy>Jovana Vidaković</cp:lastModifiedBy>
  <cp:revision>46</cp:revision>
  <dcterms:created xsi:type="dcterms:W3CDTF">2024-06-23T14:59:21Z</dcterms:created>
  <dcterms:modified xsi:type="dcterms:W3CDTF">2024-09-23T17:46:10Z</dcterms:modified>
</cp:coreProperties>
</file>