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312" r:id="rId5"/>
    <p:sldId id="313" r:id="rId6"/>
    <p:sldId id="314" r:id="rId7"/>
    <p:sldId id="315" r:id="rId8"/>
    <p:sldId id="316" r:id="rId9"/>
    <p:sldId id="317" r:id="rId10"/>
    <p:sldId id="318" r:id="rId11"/>
    <p:sldId id="319" r:id="rId12"/>
    <p:sldId id="320" r:id="rId13"/>
    <p:sldId id="326" r:id="rId14"/>
    <p:sldId id="321" r:id="rId15"/>
    <p:sldId id="322" r:id="rId16"/>
    <p:sldId id="323" r:id="rId17"/>
    <p:sldId id="324" r:id="rId18"/>
    <p:sldId id="327" r:id="rId19"/>
    <p:sldId id="32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E7040-93A9-4675-F7FF-508C416659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A772B-A4AF-B0FA-045D-3C731EDAF7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82228-0253-A9B5-1691-3C82C3152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0D4AA-F227-24A8-ED64-A09DA2CDD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34AAD-7DDE-E3C3-416D-C09A8C5BF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8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96B4-3AF4-0DF1-5651-C10D0557C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E86D4-7B03-F5A5-6BC2-5E4911AAB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47FC6-AF0A-6FEA-972C-291CA5345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35F42-147D-984F-1359-CFC559C9F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93320F-4A9F-99BE-E1DE-0EE74FB818B7}"/>
              </a:ext>
            </a:extLst>
          </p:cNvPr>
          <p:cNvSpPr txBox="1"/>
          <p:nvPr userDrawn="1"/>
        </p:nvSpPr>
        <p:spPr>
          <a:xfrm>
            <a:off x="8531784" y="6356350"/>
            <a:ext cx="2822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A14D2B-0CBB-457A-9F05-29C63F22DBAF}" type="slidenum">
              <a:rPr lang="en-US" smtClean="0"/>
              <a:pPr algn="r"/>
              <a:t>‹#›</a:t>
            </a:fld>
            <a:r>
              <a:rPr lang="sr-Latn-RS"/>
              <a:t>/19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7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9A158-600A-7B44-F8E6-0EEE28739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D1524-A0EC-4343-1405-80E1F59C0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84C26-C1DC-110F-A852-9234C89B2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25CE8-579C-2FE6-7AE0-87827B083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B708A-6073-E947-02D3-29A25A913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6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918CD-52B1-84C9-C244-6C19987D9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354D6-36C9-DA0B-5793-91AF99B2F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06BAA-2951-D0F8-E265-8908FEF3B6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B99FA-8A27-77D0-85B7-651C60135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0FC90-137A-3AE2-4BCD-069328F93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54121C-4C6B-3B90-5CDA-7E06B81FC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70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CBE6D-0755-409D-87A3-7037D3FB0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A9466-4B5B-5912-7427-D124BB9E7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67CFB-B240-851F-0788-AE020D853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80704A-8CA9-C9BE-B430-2975CAED95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489802-AF13-DFFC-E3B5-2C42A8AF9D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0DF7AA-FD47-4B47-337F-F3DDB1DFC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E775B2-7F6A-D27D-3EE6-7DE6EB63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20D707-682E-D171-5A09-8E3A617CB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50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C542C-F193-6542-A8F5-0F48D87E8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F0C420-B93B-8386-002F-A9F6CC3BD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4686D5-C2BB-6CF3-566C-EC28D943D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85D73C-0D1A-13BE-488F-3AAFF4A71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96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B7B729-1076-5C6E-5CF0-D958D3B7C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205B74-5AC7-B0A8-791E-58405A074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59E23-0854-520F-9ED3-7193F485C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25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907AB-C89F-4C24-1FC5-2BFE37759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72849-2E96-C422-D56E-4D7BA73AF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A5117B-3719-B75E-4A8F-0350D2D8B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D08244-9FFE-D1E5-E260-44D99EF63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1BA5A-B6F7-4B01-89C6-ACBE0CD35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35471-A51A-9389-972B-536BF46D3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387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82976-7786-93A4-8A7B-B996F8775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8259C9-F4A4-D731-65EC-8D3CE4490B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CC94F-D5CA-85EA-E0AD-8AAC9FEDB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25B2C-05F2-6241-2174-126402FCD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05F83E-9529-D344-3253-163A241A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C617A-45A4-6BCA-0712-C6F750ADB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93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C49B1-189B-EB36-770E-EF00F7C0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B84DA-E3D6-03A6-52B0-3367EE0A6A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52624-182F-293A-1401-9EA45A611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89A9E-685B-C336-E5D2-3C01DED87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E1E30-E19B-513E-01CE-FA7F36638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723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11AC05-A6BA-3ED2-228C-9D14FF8A6C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233D21-662C-E5D0-805A-F229B8464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FFC67-3709-C7CD-9EC5-05F810DC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263EC-D458-FEE4-5004-B1F6D8D94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BF920-1FBA-8A8E-D54E-4EFA46CF2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19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F8D2FE-161B-52B0-AA8C-E8ECB0CE1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4B048-4B83-3B0B-95E3-6C551EF52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A448C-F85D-4492-BF34-6C79821273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8437E-F23C-3F89-595D-34947AE353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EB572-F303-313B-C97E-5EF31BA06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11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7F3C6DB-2ECE-38ED-E2DF-9B5CF4C5543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2209800" y="1674814"/>
            <a:ext cx="77724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r-Latn-CS" altLang="sr-Latn-RS" sz="4400">
                <a:solidFill>
                  <a:schemeClr val="tx2"/>
                </a:solidFill>
              </a:rPr>
              <a:t>Inženjerstvo Serverskog Sloja</a:t>
            </a:r>
            <a:br>
              <a:rPr lang="sr-Latn-CS" altLang="sr-Latn-RS" sz="4400">
                <a:solidFill>
                  <a:schemeClr val="tx2"/>
                </a:solidFill>
              </a:rPr>
            </a:br>
            <a:r>
              <a:rPr lang="sr-Latn-CS" altLang="sr-Latn-RS" sz="2800">
                <a:solidFill>
                  <a:schemeClr val="tx2"/>
                </a:solidFill>
              </a:rPr>
              <a:t>prof. dr Milan Vidaković</a:t>
            </a:r>
            <a:endParaRPr lang="en-US" altLang="sr-Latn-RS" sz="440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BAE8B7-4722-93D7-7391-36810322B759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2895600" y="343058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sr-Latn-RS" altLang="sr-Latn-RS">
                <a:solidFill>
                  <a:schemeClr val="bg1">
                    <a:lumMod val="50000"/>
                  </a:schemeClr>
                </a:solidFill>
              </a:rPr>
              <a:t>Instrumentacija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B6104AB-AA1A-80FE-49E1-4BFF81C14B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Instrumentacija</a:t>
            </a:r>
            <a:endParaRPr lang="en-US" altLang="sr-Latn-R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4098D23-07BE-8CDF-BD4A-87867A9DC1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Moguće je da se napiše spoljašnji kod, koji:</a:t>
            </a:r>
          </a:p>
          <a:p>
            <a:pPr lvl="1" eaLnBrk="1" hangingPunct="1"/>
            <a:r>
              <a:rPr lang="sr-Latn-CS" altLang="sr-Latn-RS"/>
              <a:t>će se "nakačiti" na postojeći kod i </a:t>
            </a:r>
          </a:p>
          <a:p>
            <a:pPr lvl="1" eaLnBrk="1" hangingPunct="1"/>
            <a:r>
              <a:rPr lang="sr-Latn-CS" altLang="sr-Latn-RS"/>
              <a:t>modifikovati neku metodu.</a:t>
            </a:r>
          </a:p>
          <a:p>
            <a:pPr eaLnBrk="1" hangingPunct="1"/>
            <a:r>
              <a:rPr lang="sr-Latn-CS" altLang="sr-Latn-RS"/>
              <a:t>Koncept koji to realizuje: Agent</a:t>
            </a:r>
          </a:p>
          <a:p>
            <a:pPr eaLnBrk="1" hangingPunct="1"/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B3B2E1C-4D75-A52E-3791-6871512F32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Agent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8146F95-E7C4-97BA-8957-DDD9E3E370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sr-Latn-CS" altLang="sr-Latn-RS"/>
              <a:t>Proizvoljna Java klasa (ne mora da implementira ništa, niti da nasledi išta)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mora da ima metodu: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b="1"/>
              <a:t>public static void premain(String arg, Instrumentation inst)</a:t>
            </a:r>
            <a:r>
              <a:rPr lang="sr-Latn-RS" altLang="en-US"/>
              <a:t> ili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b="1"/>
              <a:t>public static void agentmain(String arg, Instrumentation inst)</a:t>
            </a:r>
            <a:endParaRPr lang="sr-Latn-RS" altLang="en-US"/>
          </a:p>
          <a:p>
            <a:pPr eaLnBrk="1" hangingPunct="1">
              <a:lnSpc>
                <a:spcPct val="80000"/>
              </a:lnSpc>
            </a:pPr>
            <a:r>
              <a:rPr lang="sr-Latn-CS" altLang="sr-Latn-RS"/>
              <a:t>Metoda </a:t>
            </a:r>
            <a:r>
              <a:rPr lang="sr-Latn-CS" altLang="sr-Latn-RS" i="1"/>
              <a:t>premain</a:t>
            </a:r>
            <a:r>
              <a:rPr lang="sr-Latn-CS" altLang="sr-Latn-RS"/>
              <a:t> se koristi kod statičkih agenata, dok se metoda </a:t>
            </a:r>
            <a:r>
              <a:rPr lang="sr-Latn-CS" altLang="sr-Latn-RS" i="1"/>
              <a:t>agentmain</a:t>
            </a:r>
            <a:r>
              <a:rPr lang="sr-Latn-CS" altLang="sr-Latn-RS"/>
              <a:t> koristi kod dinamičkih agenata.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986F400F-0AC6-B5DB-CD0B-7A6A8B6EFC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Vrste agenata</a:t>
            </a:r>
            <a:endParaRPr lang="en-US" altLang="en-US"/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DB0EE94A-5994-E552-3CCE-AD99459249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4007" y="1484314"/>
            <a:ext cx="11262221" cy="5113337"/>
          </a:xfrm>
        </p:spPr>
        <p:txBody>
          <a:bodyPr>
            <a:normAutofit/>
          </a:bodyPr>
          <a:lstStyle/>
          <a:p>
            <a:r>
              <a:rPr lang="sr-Latn-RS" altLang="en-US" sz="3200"/>
              <a:t>Statički</a:t>
            </a:r>
          </a:p>
          <a:p>
            <a:pPr lvl="1"/>
            <a:r>
              <a:rPr lang="sr-Latn-RS" altLang="en-US" sz="2800"/>
              <a:t>agentski kod se zakači na ciljnu aplikaciju prilikom startovanje ciljne aplikacije</a:t>
            </a:r>
          </a:p>
          <a:p>
            <a:pPr lvl="2"/>
            <a:r>
              <a:rPr lang="sr-Latn-RS" altLang="en-US" sz="2400"/>
              <a:t>ne može posle startovanja ciljne aplikacije, jer se ugrađuje prilikom poziva ciljne aplikacije</a:t>
            </a:r>
          </a:p>
          <a:p>
            <a:r>
              <a:rPr lang="sr-Latn-RS" altLang="en-US" sz="3200"/>
              <a:t>Dinamički</a:t>
            </a:r>
          </a:p>
          <a:p>
            <a:pPr lvl="1"/>
            <a:r>
              <a:rPr lang="sr-Latn-RS" altLang="en-US" sz="2800"/>
              <a:t>agentski kod se zakači na virtualnu mašinu ciljne aplikacije</a:t>
            </a:r>
          </a:p>
          <a:p>
            <a:pPr lvl="2"/>
            <a:r>
              <a:rPr lang="sr-Latn-RS" altLang="en-US" sz="2400"/>
              <a:t>zgodno za naknadno kačenje na ciljne aplikacije, jer se agent ni na koji način ne spominje prilikom startovanja ciljne aplikacije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3F4E04FB-754E-FC91-E650-E19527D711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Statički agenti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7EE6F-ABDB-4475-0D84-A49002CF7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Sav agentski kôd se stavi u poseban JAR fajl i onda se taj agent ugradi prilikom startovanja ciljne aplikacije, dodatnim parametrom komandne linije:</a:t>
            </a:r>
          </a:p>
          <a:p>
            <a:pPr marL="457200" lvl="1" indent="0">
              <a:buNone/>
              <a:defRPr/>
            </a:pPr>
            <a:r>
              <a:rPr lang="sr-Latn-RS"/>
              <a:t>-javaagent:putanja_do_JAR_fajla</a:t>
            </a:r>
          </a:p>
          <a:p>
            <a:pPr>
              <a:defRPr/>
            </a:pPr>
            <a:r>
              <a:rPr lang="sr-Latn-RS"/>
              <a:t>Primer:</a:t>
            </a:r>
          </a:p>
          <a:p>
            <a:pPr marL="0" indent="0">
              <a:buNone/>
              <a:defRPr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java –javaagent:agent.jar –jar proba.jar</a:t>
            </a:r>
            <a:endParaRPr lang="en-U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F39ECE2B-9F46-A8C0-6F03-2F483BEBA1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Dinamički agenti</a:t>
            </a:r>
            <a:endParaRPr lang="en-US" altLang="en-US"/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DA32EC6A-CA24-4089-FFF3-C8AC185910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altLang="en-US" sz="3200"/>
              <a:t>Java VM poseduje mehanizam za listanje svih aktivnih VM-ova</a:t>
            </a:r>
          </a:p>
          <a:p>
            <a:pPr lvl="1"/>
            <a:r>
              <a:rPr lang="sr-Latn-RS" altLang="en-US" sz="2800"/>
              <a:t>na svaku izlistanu VM, moguće je da se dinamički nakači agentski kod</a:t>
            </a:r>
          </a:p>
          <a:p>
            <a:pPr lvl="1"/>
            <a:r>
              <a:rPr lang="sr-Latn-RS" altLang="en-US" sz="2800"/>
              <a:t>agentski kod može da promeni proizvoljnu klasu u ciljnoj aplikaciji</a:t>
            </a:r>
          </a:p>
          <a:p>
            <a:pPr lvl="2"/>
            <a:r>
              <a:rPr lang="sr-Latn-RS" altLang="en-US" sz="2400"/>
              <a:t>ne može da promeni metodu koja je u trenutku kačenja aktivna, ali može da nju i druge promeni, pa da se prilikom kasnijih poziva vidi ta promena!</a:t>
            </a:r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743A3146-5DF1-3B23-18A0-45449C64EA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900642"/>
          </a:xfrm>
        </p:spPr>
        <p:txBody>
          <a:bodyPr/>
          <a:lstStyle/>
          <a:p>
            <a:r>
              <a:rPr lang="sr-Latn-RS" altLang="en-US"/>
              <a:t>Instrumentacija</a:t>
            </a:r>
            <a:endParaRPr lang="en-US" altLang="en-US"/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0B85458C-93CD-3952-0BA7-575B16B8FF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9900" y="1651000"/>
            <a:ext cx="11315700" cy="4802189"/>
          </a:xfrm>
        </p:spPr>
        <p:txBody>
          <a:bodyPr>
            <a:normAutofit/>
          </a:bodyPr>
          <a:lstStyle/>
          <a:p>
            <a:r>
              <a:rPr lang="sr-Latn-RS" altLang="en-US" sz="3600"/>
              <a:t>Instrumentacija je reprezentovana </a:t>
            </a:r>
            <a:r>
              <a:rPr lang="sr-Latn-RS" altLang="en-US" sz="3600" b="1"/>
              <a:t>java.lang.Instrumentation </a:t>
            </a:r>
            <a:r>
              <a:rPr lang="sr-Latn-RS" altLang="en-US" sz="3600"/>
              <a:t>interfejsom.</a:t>
            </a:r>
          </a:p>
          <a:p>
            <a:r>
              <a:rPr lang="sr-Latn-RS" altLang="en-US" sz="3600"/>
              <a:t>Ovaj interfejs ima sledeće zanimljive metode:</a:t>
            </a:r>
          </a:p>
          <a:p>
            <a:pPr lvl="1"/>
            <a:r>
              <a:rPr lang="sr-Latn-RS" altLang="en-US" sz="3200" i="1"/>
              <a:t>addTransformer</a:t>
            </a:r>
            <a:r>
              <a:rPr lang="sr-Latn-RS" altLang="en-US" sz="3200"/>
              <a:t> – dodaje transformator koda na ciljnu klasu</a:t>
            </a:r>
          </a:p>
          <a:p>
            <a:pPr lvl="1"/>
            <a:r>
              <a:rPr lang="sr-Latn-RS" altLang="en-US" sz="3200" i="1"/>
              <a:t>removeTransformer</a:t>
            </a:r>
            <a:r>
              <a:rPr lang="sr-Latn-RS" altLang="en-US" sz="3200"/>
              <a:t> – uklanja transformator koda unutar ciljne klase</a:t>
            </a:r>
          </a:p>
          <a:p>
            <a:pPr lvl="1"/>
            <a:r>
              <a:rPr lang="sr-Latn-RS" altLang="en-US" sz="3200" i="1"/>
              <a:t>retransformClasses</a:t>
            </a:r>
            <a:r>
              <a:rPr lang="sr-Latn-RS" altLang="en-US" sz="3200"/>
              <a:t> – izaziva transformaciju koda ciljne klase, itd.</a:t>
            </a:r>
            <a:endParaRPr lang="en-US" altLang="en-US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83E38A4E-1C0D-34A5-A19F-8EF6BC1F13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Transformator koda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A360B-A20D-93BE-199A-9E13C38F6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367" y="1617133"/>
            <a:ext cx="10557933" cy="4781550"/>
          </a:xfrm>
        </p:spPr>
        <p:txBody>
          <a:bodyPr/>
          <a:lstStyle/>
          <a:p>
            <a:pPr>
              <a:defRPr/>
            </a:pPr>
            <a:r>
              <a:rPr lang="sr-Latn-RS"/>
              <a:t>Reprezentovan </a:t>
            </a:r>
            <a:r>
              <a:rPr lang="en-US" b="1"/>
              <a:t>ClassFileTransformer</a:t>
            </a:r>
            <a:r>
              <a:rPr lang="sr-Latn-RS"/>
              <a:t> interfejsom.</a:t>
            </a:r>
          </a:p>
          <a:p>
            <a:pPr>
              <a:defRPr/>
            </a:pPr>
            <a:r>
              <a:rPr lang="sr-Latn-RS"/>
              <a:t>Ima jednu metodu:</a:t>
            </a:r>
          </a:p>
          <a:p>
            <a:pPr marL="0" indent="0">
              <a:buNone/>
              <a:defRPr/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byte[] transform(</a:t>
            </a:r>
            <a:endParaRPr 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ClassLoader loader, </a:t>
            </a:r>
            <a:endParaRPr 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String className, </a:t>
            </a:r>
            <a:endParaRPr 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Class classBeingRedefined,</a:t>
            </a: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ProtectionDomain protectionDomain, </a:t>
            </a:r>
            <a:endParaRPr 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byte[] classfileBuffer) throws IllegalClassFormatException</a:t>
            </a:r>
            <a:endParaRPr 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sr-Latn-RS"/>
              <a:t>Ova metoda mora da vrati nov bajt-kôd, koji će zameniti postojeći.</a:t>
            </a:r>
          </a:p>
          <a:p>
            <a:pPr>
              <a:defRPr/>
            </a:pPr>
            <a:endParaRPr 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4E936809-990C-7503-64B3-095D95574D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951442"/>
          </a:xfrm>
        </p:spPr>
        <p:txBody>
          <a:bodyPr/>
          <a:lstStyle/>
          <a:p>
            <a:r>
              <a:rPr lang="sr-Latn-RS" altLang="en-US"/>
              <a:t>Transformator koda</a:t>
            </a:r>
            <a:endParaRPr lang="en-US" altLang="en-US"/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A5CC9A7B-73BE-2E2A-FDAD-776304B427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600201"/>
            <a:ext cx="9525000" cy="4708525"/>
          </a:xfrm>
        </p:spPr>
        <p:txBody>
          <a:bodyPr/>
          <a:lstStyle/>
          <a:p>
            <a:r>
              <a:rPr lang="sr-Latn-RS" altLang="en-US"/>
              <a:t>Očekuje se da metoda </a:t>
            </a:r>
            <a:r>
              <a:rPr lang="sr-Latn-RS" altLang="en-US" i="1"/>
              <a:t>transform</a:t>
            </a:r>
            <a:r>
              <a:rPr lang="sr-Latn-RS" altLang="en-US"/>
              <a:t> može da izmeni bajt-kod ciljne klase.</a:t>
            </a:r>
          </a:p>
          <a:p>
            <a:pPr lvl="1"/>
            <a:r>
              <a:rPr lang="sr-Latn-RS" altLang="en-US"/>
              <a:t>vraća niz bajtova, što predstavlja novi bajt-kôd</a:t>
            </a:r>
          </a:p>
          <a:p>
            <a:r>
              <a:rPr lang="sr-Latn-RS" altLang="en-US"/>
              <a:t>Java VM ne poseduje mehanizme za izmenu bajt-koda</a:t>
            </a:r>
          </a:p>
          <a:p>
            <a:pPr lvl="1"/>
            <a:r>
              <a:rPr lang="sr-Latn-RS" altLang="en-US"/>
              <a:t>ima samo kompajler</a:t>
            </a:r>
          </a:p>
          <a:p>
            <a:r>
              <a:rPr lang="sr-Latn-RS" altLang="en-US"/>
              <a:t>Ako hoćemo da izmenimo postojeći bajt-kod, potrebna je spoljašnja biblioteka:</a:t>
            </a:r>
          </a:p>
          <a:p>
            <a:pPr lvl="1"/>
            <a:r>
              <a:rPr lang="sr-Latn-RS" altLang="en-US"/>
              <a:t>javassist.jar 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D2ECA77A-0E2B-1B37-3FCF-AD228C93F3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883708"/>
          </a:xfrm>
        </p:spPr>
        <p:txBody>
          <a:bodyPr/>
          <a:lstStyle/>
          <a:p>
            <a:r>
              <a:rPr lang="en-US" altLang="en-US" sz="4000"/>
              <a:t>Javassist (Java Programming Assistant) 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CF08011C-5436-3574-269D-A09B03AC11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16467" y="1600200"/>
            <a:ext cx="9972147" cy="4781550"/>
          </a:xfrm>
        </p:spPr>
        <p:txBody>
          <a:bodyPr/>
          <a:lstStyle/>
          <a:p>
            <a:r>
              <a:rPr lang="sr-Latn-RS" altLang="en-US"/>
              <a:t>Biblioteka za manipulaciju bajt-kodom.</a:t>
            </a:r>
          </a:p>
          <a:p>
            <a:r>
              <a:rPr lang="sr-Latn-RS" altLang="en-US"/>
              <a:t>Za rad joj je </a:t>
            </a:r>
            <a:r>
              <a:rPr lang="sr-Latn-RS" altLang="en-US" u="sng"/>
              <a:t>neophodan</a:t>
            </a:r>
            <a:r>
              <a:rPr lang="sr-Latn-RS" altLang="en-US"/>
              <a:t> kompajler iz JDK-a.</a:t>
            </a:r>
          </a:p>
          <a:p>
            <a:r>
              <a:rPr lang="sr-Latn-RS" altLang="en-US"/>
              <a:t>Osnovna klasa je </a:t>
            </a:r>
            <a:r>
              <a:rPr lang="sr-Latn-RS" altLang="en-US" b="1"/>
              <a:t>ClassPool</a:t>
            </a:r>
          </a:p>
          <a:p>
            <a:pPr lvl="1"/>
            <a:r>
              <a:rPr lang="sr-Latn-RS" altLang="en-US"/>
              <a:t>dobija se </a:t>
            </a:r>
            <a:r>
              <a:rPr lang="en-US" altLang="en-US"/>
              <a:t>ClassPool.</a:t>
            </a:r>
            <a:r>
              <a:rPr lang="en-US" altLang="en-US" i="1"/>
              <a:t>getDefault()</a:t>
            </a:r>
            <a:r>
              <a:rPr lang="sr-Latn-RS" altLang="en-US"/>
              <a:t> metodom;</a:t>
            </a:r>
          </a:p>
          <a:p>
            <a:pPr lvl="2"/>
            <a:r>
              <a:rPr lang="sr-Latn-RS" altLang="en-US"/>
              <a:t>iz nje se dobijaju CtClass instance</a:t>
            </a:r>
          </a:p>
          <a:p>
            <a:pPr lvl="1"/>
            <a:r>
              <a:rPr lang="sr-Latn-RS" altLang="en-US"/>
              <a:t>metoda </a:t>
            </a:r>
            <a:r>
              <a:rPr lang="sr-Latn-RS" altLang="en-US" i="1"/>
              <a:t>makeClass()</a:t>
            </a:r>
            <a:r>
              <a:rPr lang="sr-Latn-RS" altLang="en-US"/>
              <a:t> pravi novu klasu</a:t>
            </a:r>
          </a:p>
          <a:p>
            <a:pPr lvl="1"/>
            <a:r>
              <a:rPr lang="sr-Latn-RS" altLang="en-US"/>
              <a:t>metoda </a:t>
            </a:r>
            <a:r>
              <a:rPr lang="sr-Latn-RS" altLang="en-US" i="1"/>
              <a:t>get()</a:t>
            </a:r>
            <a:r>
              <a:rPr lang="sr-Latn-RS" altLang="en-US"/>
              <a:t> vraća postojeću klasu iz VM,...</a:t>
            </a:r>
          </a:p>
          <a:p>
            <a:r>
              <a:rPr lang="sr-Latn-RS" altLang="en-US" b="1"/>
              <a:t>CtClass</a:t>
            </a:r>
            <a:r>
              <a:rPr lang="sr-Latn-RS" altLang="en-US"/>
              <a:t> reprezentuje klasu koju ćemo da modifikujemo/pravimo.</a:t>
            </a:r>
          </a:p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860A69C1-0828-DA22-7850-49F6C667D6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896408"/>
          </a:xfrm>
        </p:spPr>
        <p:txBody>
          <a:bodyPr/>
          <a:lstStyle/>
          <a:p>
            <a:r>
              <a:rPr lang="sr-Latn-RS" altLang="en-US"/>
              <a:t>CtClass</a:t>
            </a:r>
            <a:endParaRPr lang="en-US" altLang="en-US"/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4FEFCCAB-48A8-2D9B-C523-F76BC640E3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14867" y="1600200"/>
            <a:ext cx="9795933" cy="4781550"/>
          </a:xfrm>
        </p:spPr>
        <p:txBody>
          <a:bodyPr/>
          <a:lstStyle/>
          <a:p>
            <a:r>
              <a:rPr lang="sr-Latn-RS" altLang="en-US"/>
              <a:t>Compile-Time Class – reprezent klase iz VM, koju ćemo da menjamo/pravimo.</a:t>
            </a:r>
          </a:p>
          <a:p>
            <a:r>
              <a:rPr lang="sr-Latn-RS" altLang="en-US"/>
              <a:t>Odabrane metode:</a:t>
            </a:r>
          </a:p>
          <a:p>
            <a:pPr lvl="1"/>
            <a:r>
              <a:rPr lang="sr-Latn-RS" altLang="en-US"/>
              <a:t>Slično refleksiji: </a:t>
            </a:r>
            <a:r>
              <a:rPr lang="sr-Latn-RS" altLang="en-US" i="1"/>
              <a:t>getDeclaredConstructors()</a:t>
            </a:r>
            <a:r>
              <a:rPr lang="sr-Latn-RS" altLang="en-US"/>
              <a:t>, </a:t>
            </a:r>
            <a:r>
              <a:rPr lang="sr-Latn-RS" altLang="en-US" i="1"/>
              <a:t>getDeclaredFields()</a:t>
            </a:r>
            <a:r>
              <a:rPr lang="sr-Latn-RS" altLang="en-US"/>
              <a:t>, </a:t>
            </a:r>
            <a:r>
              <a:rPr lang="sr-Latn-RS" altLang="en-US" i="1"/>
              <a:t>getDeclaredConstructor()</a:t>
            </a:r>
            <a:r>
              <a:rPr lang="sr-Latn-RS" altLang="en-US"/>
              <a:t>, </a:t>
            </a:r>
            <a:r>
              <a:rPr lang="sr-Latn-RS" altLang="en-US" i="1"/>
              <a:t>getDeclaredMethod()</a:t>
            </a:r>
            <a:r>
              <a:rPr lang="sr-Latn-RS" altLang="en-US"/>
              <a:t>, </a:t>
            </a:r>
            <a:r>
              <a:rPr lang="sr-Latn-RS" altLang="en-US" i="1"/>
              <a:t>getDeclaredField()</a:t>
            </a:r>
            <a:r>
              <a:rPr lang="sr-Latn-RS" altLang="en-US"/>
              <a:t>,...</a:t>
            </a:r>
          </a:p>
          <a:p>
            <a:pPr lvl="1"/>
            <a:r>
              <a:rPr lang="sr-Latn-RS" altLang="en-US" b="1"/>
              <a:t>Novo</a:t>
            </a:r>
            <a:r>
              <a:rPr lang="sr-Latn-RS" altLang="en-US"/>
              <a:t>: </a:t>
            </a:r>
            <a:r>
              <a:rPr lang="sr-Latn-RS" altLang="en-US" i="1"/>
              <a:t>addField()</a:t>
            </a:r>
            <a:r>
              <a:rPr lang="sr-Latn-RS" altLang="en-US"/>
              <a:t>, </a:t>
            </a:r>
            <a:r>
              <a:rPr lang="sr-Latn-RS" altLang="en-US" i="1"/>
              <a:t>addMethod()</a:t>
            </a:r>
            <a:r>
              <a:rPr lang="sr-Latn-RS" altLang="en-US"/>
              <a:t>, </a:t>
            </a:r>
            <a:r>
              <a:rPr lang="sr-Latn-RS" altLang="en-US" i="1"/>
              <a:t>addConstructor()</a:t>
            </a:r>
            <a:r>
              <a:rPr lang="sr-Latn-RS" altLang="en-US"/>
              <a:t>,...</a:t>
            </a:r>
          </a:p>
          <a:p>
            <a:pPr lvl="1"/>
            <a:r>
              <a:rPr lang="sr-Latn-RS" altLang="en-US" b="1"/>
              <a:t>Novo</a:t>
            </a:r>
            <a:r>
              <a:rPr lang="sr-Latn-RS" altLang="en-US"/>
              <a:t>: </a:t>
            </a:r>
            <a:r>
              <a:rPr lang="sr-Latn-RS" altLang="en-US" i="1"/>
              <a:t>removeField()</a:t>
            </a:r>
            <a:r>
              <a:rPr lang="sr-Latn-RS" altLang="en-US"/>
              <a:t>, </a:t>
            </a:r>
            <a:r>
              <a:rPr lang="sr-Latn-RS" altLang="en-US" i="1"/>
              <a:t>removeMethod()</a:t>
            </a:r>
            <a:r>
              <a:rPr lang="sr-Latn-RS" altLang="en-US"/>
              <a:t>, </a:t>
            </a:r>
            <a:r>
              <a:rPr lang="sr-Latn-RS" altLang="en-US" i="1"/>
              <a:t>removeConstructor()</a:t>
            </a:r>
            <a:r>
              <a:rPr lang="sr-Latn-RS" altLang="en-US"/>
              <a:t>,...</a:t>
            </a:r>
          </a:p>
          <a:p>
            <a:pPr lvl="1"/>
            <a:r>
              <a:rPr lang="sr-Latn-RS" altLang="en-US" b="1"/>
              <a:t>Novo: </a:t>
            </a:r>
            <a:r>
              <a:rPr lang="sr-Latn-RS" altLang="en-US" i="1"/>
              <a:t>toByteCode()</a:t>
            </a:r>
            <a:r>
              <a:rPr lang="sr-Latn-RS" altLang="en-US"/>
              <a:t> – vraća niz bajtova, koji reprezentuje bajt-kod koji treba ugraditi u VM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2AE6C01D-3F8E-1960-37FD-FF99FE34AB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CtMethod</a:t>
            </a:r>
            <a:endParaRPr lang="en-US" altLang="en-US"/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70587820-8C9F-2C05-18B9-B1E89560EA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en-US"/>
              <a:t>Reprezent metode koja se pravi/modifikuje.</a:t>
            </a:r>
          </a:p>
          <a:p>
            <a:r>
              <a:rPr lang="sr-Latn-RS" altLang="en-US"/>
              <a:t>Odabrane metode:</a:t>
            </a:r>
          </a:p>
          <a:p>
            <a:pPr lvl="1"/>
            <a:r>
              <a:rPr lang="sr-Latn-RS" altLang="en-US" i="1"/>
              <a:t>addLocalVariable()</a:t>
            </a:r>
            <a:r>
              <a:rPr lang="sr-Latn-RS" altLang="en-US"/>
              <a:t>,</a:t>
            </a:r>
          </a:p>
          <a:p>
            <a:pPr lvl="1"/>
            <a:r>
              <a:rPr lang="sr-Latn-RS" altLang="en-US" i="1"/>
              <a:t>insertBefore()</a:t>
            </a:r>
            <a:r>
              <a:rPr lang="sr-Latn-RS" altLang="en-US"/>
              <a:t>,</a:t>
            </a:r>
          </a:p>
          <a:p>
            <a:pPr lvl="1"/>
            <a:r>
              <a:rPr lang="sr-Latn-RS" altLang="en-US" i="1"/>
              <a:t>insertAfter()</a:t>
            </a:r>
            <a:r>
              <a:rPr lang="sr-Latn-RS" altLang="en-US"/>
              <a:t>, ...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2F171ABE-7FC7-C1C1-BB19-E33F296B09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917575"/>
          </a:xfrm>
        </p:spPr>
        <p:txBody>
          <a:bodyPr/>
          <a:lstStyle/>
          <a:p>
            <a:r>
              <a:rPr lang="sr-Latn-RS" altLang="en-US"/>
              <a:t>Primer transformatora</a:t>
            </a:r>
            <a:endParaRPr lang="en-US" altLang="en-US"/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7DF64AF2-9AF2-8796-358C-1796FD921A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2967" y="1600201"/>
            <a:ext cx="11218333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ClassPool classPool = ClassPool.</a:t>
            </a:r>
            <a:r>
              <a:rPr lang="en-US" altLang="en-US" sz="1600" b="1" i="1">
                <a:latin typeface="Courier New" panose="02070309020205020404" pitchFamily="49" charset="0"/>
                <a:cs typeface="Courier New" panose="02070309020205020404" pitchFamily="49" charset="0"/>
              </a:rPr>
              <a:t>getDefault();</a:t>
            </a:r>
          </a:p>
          <a:p>
            <a:pPr marL="0" indent="0"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CtClass </a:t>
            </a:r>
            <a:r>
              <a:rPr lang="en-US" altLang="en-US" sz="16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ctClass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= classPool.get("app.DynamicDemoApp");</a:t>
            </a:r>
          </a:p>
          <a:p>
            <a:pPr marL="0" indent="0"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CtMethod[] </a:t>
            </a:r>
            <a:r>
              <a:rPr lang="en-US" altLang="en-US" sz="16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methods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6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ctClass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.getDeclaredMethods();</a:t>
            </a:r>
          </a:p>
          <a:p>
            <a:pPr marL="0" indent="0"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CtMethod method : </a:t>
            </a:r>
            <a:r>
              <a:rPr lang="en-US" altLang="en-US" sz="16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methods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sr-Latn-R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en-US" sz="1600" b="1" i="1">
                <a:latin typeface="Courier New" panose="02070309020205020404" pitchFamily="49" charset="0"/>
                <a:cs typeface="Courier New" panose="02070309020205020404" pitchFamily="49" charset="0"/>
              </a:rPr>
              <a:t>out.println(</a:t>
            </a:r>
            <a:r>
              <a:rPr lang="en-US" altLang="en-US" sz="1600" b="1" i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en-US" altLang="en-US" sz="1600" b="1" i="1">
                <a:latin typeface="Courier New" panose="02070309020205020404" pitchFamily="49" charset="0"/>
                <a:cs typeface="Courier New" panose="02070309020205020404" pitchFamily="49" charset="0"/>
              </a:rPr>
              <a:t>.getLongName());</a:t>
            </a:r>
          </a:p>
          <a:p>
            <a:pPr marL="0" indent="0">
              <a:buNone/>
            </a:pPr>
            <a:r>
              <a:rPr lang="sr-Latn-R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addLocalVariable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("startTime", CtClass.</a:t>
            </a:r>
            <a:r>
              <a:rPr lang="en-US" altLang="en-US" sz="1600" b="1" i="1">
                <a:latin typeface="Courier New" panose="02070309020205020404" pitchFamily="49" charset="0"/>
                <a:cs typeface="Courier New" panose="02070309020205020404" pitchFamily="49" charset="0"/>
              </a:rPr>
              <a:t>longType);</a:t>
            </a:r>
          </a:p>
          <a:p>
            <a:pPr marL="0" indent="0">
              <a:buNone/>
            </a:pPr>
            <a:r>
              <a:rPr lang="sr-Latn-R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insertBefore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("startTime = System.nanoTime();");</a:t>
            </a:r>
          </a:p>
          <a:p>
            <a:pPr marL="0" indent="0">
              <a:buNone/>
            </a:pPr>
            <a:r>
              <a:rPr lang="sr-Latn-R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insertAfter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sr-Latn-R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sr-Latn-R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"System.out.println(\"&lt;&lt;Method " + method.getLongName() +</a:t>
            </a:r>
            <a:br>
              <a:rPr lang="sr-Latn-R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sr-Latn-R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           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" Execution Duration "</a:t>
            </a:r>
            <a:r>
              <a:rPr lang="sr-Latn-R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br>
              <a:rPr lang="sr-Latn-R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sr-Latn-R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"(nano sec): \"+ (System.nanoTime() - startTime) + \"&gt;&gt;\" );");</a:t>
            </a:r>
          </a:p>
          <a:p>
            <a:pPr marL="0" indent="0"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en-US" sz="16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byteCode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6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ctClass.toBytecode()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ctClass.detach();</a:t>
            </a:r>
            <a:endParaRPr lang="sr-Latn-RS" altLang="en-U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sr-Latn-RS" altLang="en-US" sz="16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byteCode</a:t>
            </a:r>
            <a:r>
              <a:rPr lang="sr-Latn-R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en-U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7FCB2B90-1656-383A-22A8-50AA40BFDD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Upotreba statičkog agenta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4D1C3-0EDC-D482-EBF2-8B3126CCC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Napisati/nabaviti ciljnu aplikaciju.</a:t>
            </a:r>
          </a:p>
          <a:p>
            <a:pPr>
              <a:defRPr/>
            </a:pPr>
            <a:r>
              <a:rPr lang="sr-Latn-RS"/>
              <a:t>Napisati agentski kod i napraviti JAR od njega</a:t>
            </a:r>
          </a:p>
          <a:p>
            <a:pPr lvl="1">
              <a:defRPr/>
            </a:pPr>
            <a:r>
              <a:rPr lang="sr-Latn-RS"/>
              <a:t>u JAR-ov META-INF/manifest.mf fajl dodati:</a:t>
            </a:r>
          </a:p>
          <a:p>
            <a:pPr marL="457200" lvl="1" indent="0">
              <a:buNone/>
              <a:defRPr/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Premain-Class: staticagent.Agent</a:t>
            </a:r>
            <a:endParaRPr 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sr-Latn-RS"/>
              <a:t>Prilikom startovanja ciljne aplikacije, dodati još jedan parametar:</a:t>
            </a:r>
          </a:p>
          <a:p>
            <a:pPr marL="0" indent="0">
              <a:buNone/>
              <a:defRPr/>
            </a:pPr>
            <a:r>
              <a:rPr 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java –javaagent:agent.jar –jar ciljna_app.jar</a:t>
            </a:r>
            <a:endParaRPr lang="en-U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81B81F74-4E50-DD40-3020-346B0AE814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Statički agent</a:t>
            </a:r>
            <a:endParaRPr lang="en-US" altLang="en-US"/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D978DECF-2B54-FBE9-E611-27EAF9F30B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35000" y="2197100"/>
            <a:ext cx="10033000" cy="3929064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Agent {</a:t>
            </a:r>
          </a:p>
          <a:p>
            <a:pPr marL="0" indent="0">
              <a:buNone/>
            </a:pPr>
            <a:r>
              <a:rPr lang="sr-Latn-R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static void premain(String arg, </a:t>
            </a:r>
            <a:br>
              <a:rPr lang="sr-Latn-R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sr-Latn-R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Instrumentation inst) {</a:t>
            </a:r>
          </a:p>
          <a:p>
            <a:pPr marL="0" indent="0">
              <a:buNone/>
            </a:pPr>
            <a:r>
              <a:rPr lang="sr-Latn-R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en-US" sz="2000" b="1" i="1">
                <a:latin typeface="Courier New" panose="02070309020205020404" pitchFamily="49" charset="0"/>
                <a:cs typeface="Courier New" panose="02070309020205020404" pitchFamily="49" charset="0"/>
              </a:rPr>
              <a:t>out.println("&lt;&lt;Hello from Static Agent!&gt;&gt;");</a:t>
            </a:r>
          </a:p>
          <a:p>
            <a:pPr marL="0" indent="0">
              <a:buNone/>
            </a:pPr>
            <a:r>
              <a:rPr lang="sr-Latn-R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inst.addTransformer(new StaticDurationTransformer());</a:t>
            </a:r>
          </a:p>
          <a:p>
            <a:pPr marL="0" indent="0">
              <a:buNone/>
            </a:pPr>
            <a:r>
              <a:rPr lang="sr-Latn-R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BE2EE1A5-6A93-C5A7-A08B-5917F70F6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Upotreba dinamičkog agenta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3F480-0AD3-7D56-7699-528CADC05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Startovati ciljnu aplikaciju.</a:t>
            </a:r>
          </a:p>
          <a:p>
            <a:pPr>
              <a:defRPr/>
            </a:pPr>
            <a:r>
              <a:rPr lang="sr-Latn-RS"/>
              <a:t>Napisati agentski kod.</a:t>
            </a:r>
          </a:p>
          <a:p>
            <a:pPr lvl="1">
              <a:defRPr/>
            </a:pPr>
            <a:r>
              <a:rPr lang="sr-Latn-RS"/>
              <a:t>spakovati ga u JAR</a:t>
            </a:r>
          </a:p>
          <a:p>
            <a:pPr lvl="1">
              <a:defRPr/>
            </a:pPr>
            <a:r>
              <a:rPr lang="sr-Latn-RS"/>
              <a:t>u JAR-ov META-INF/manifest.mf dodati redove:</a:t>
            </a:r>
          </a:p>
          <a:p>
            <a:pPr marL="457200" lvl="1" indent="0">
              <a:buNone/>
              <a:defRPr/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Agent-Class: dynamicagent.DynamicAgent</a:t>
            </a:r>
          </a:p>
          <a:p>
            <a:pPr marL="457200" lvl="1" indent="0">
              <a:buNone/>
              <a:defRPr/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Can-Redefine-Classes: true</a:t>
            </a:r>
          </a:p>
          <a:p>
            <a:pPr marL="457200" lvl="1" indent="0">
              <a:buNone/>
              <a:defRPr/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Can-Retransform-Classes: true</a:t>
            </a:r>
            <a:endParaRPr 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sr-Latn-RS"/>
              <a:t>Napisati kôd koji zakači agenta na VM ciljne aplikacije.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D7DF2A68-62D6-3121-5ECC-D12F74B9D1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993775"/>
          </a:xfrm>
        </p:spPr>
        <p:txBody>
          <a:bodyPr/>
          <a:lstStyle/>
          <a:p>
            <a:r>
              <a:rPr lang="sr-Latn-RS" altLang="en-US"/>
              <a:t>Komunikacija sa Java VM</a:t>
            </a:r>
            <a:endParaRPr lang="en-US" altLang="en-US"/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EDC46A08-D010-DF14-608A-6A51B2E026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7999" y="1600201"/>
            <a:ext cx="11298767" cy="4708525"/>
          </a:xfrm>
        </p:spPr>
        <p:txBody>
          <a:bodyPr>
            <a:normAutofit/>
          </a:bodyPr>
          <a:lstStyle/>
          <a:p>
            <a:r>
              <a:rPr lang="sr-Latn-RS" altLang="en-US"/>
              <a:t>Za ovo je potrebna </a:t>
            </a:r>
            <a:r>
              <a:rPr lang="sr-Latn-RS" altLang="en-US" b="1"/>
              <a:t>tools.jar</a:t>
            </a:r>
            <a:r>
              <a:rPr lang="sr-Latn-RS" altLang="en-US"/>
              <a:t> datoteka iz JDK-a.</a:t>
            </a:r>
          </a:p>
          <a:p>
            <a:r>
              <a:rPr lang="sr-Latn-RS" altLang="en-US"/>
              <a:t>Statička metoda </a:t>
            </a:r>
            <a:r>
              <a:rPr lang="sr-Latn-RS" altLang="en-US" i="1"/>
              <a:t>list()</a:t>
            </a:r>
            <a:r>
              <a:rPr lang="sr-Latn-RS" altLang="en-US"/>
              <a:t> klase </a:t>
            </a:r>
            <a:r>
              <a:rPr lang="sr-Latn-RS" altLang="en-US" b="1"/>
              <a:t>VirtualMachine</a:t>
            </a:r>
            <a:r>
              <a:rPr lang="sr-Latn-RS" altLang="en-US"/>
              <a:t> vraća niz deskriptora, koji opisuju sve Java VM koje trenutno rade na računaru.</a:t>
            </a:r>
          </a:p>
          <a:p>
            <a:pPr lvl="1"/>
            <a:r>
              <a:rPr lang="sr-Latn-RS" altLang="en-US"/>
              <a:t>klasa </a:t>
            </a:r>
            <a:r>
              <a:rPr lang="sr-Latn-RS" altLang="en-US" b="1"/>
              <a:t>VirtualMachineDescriptor</a:t>
            </a:r>
            <a:r>
              <a:rPr lang="sr-Latn-RS" altLang="en-US"/>
              <a:t> sadrži informacije o starovanoj VM:</a:t>
            </a:r>
          </a:p>
          <a:p>
            <a:pPr lvl="2"/>
            <a:r>
              <a:rPr lang="sr-Latn-RS" altLang="en-US" sz="2400" i="1"/>
              <a:t>id()</a:t>
            </a:r>
            <a:r>
              <a:rPr lang="sr-Latn-RS" altLang="en-US" sz="2400"/>
              <a:t> – PID, </a:t>
            </a:r>
          </a:p>
          <a:p>
            <a:pPr lvl="2"/>
            <a:r>
              <a:rPr lang="sr-Latn-RS" altLang="en-US" sz="2400" i="1"/>
              <a:t>displayName()</a:t>
            </a:r>
            <a:r>
              <a:rPr lang="sr-Latn-RS" altLang="en-US" sz="2400"/>
              <a:t> - naziv glavne (Main) klase.</a:t>
            </a:r>
            <a:endParaRPr lang="sr-Latn-RS" altLang="en-US" sz="1800"/>
          </a:p>
          <a:p>
            <a:r>
              <a:rPr lang="sr-Latn-RS" altLang="en-US"/>
              <a:t>Statička metoda </a:t>
            </a:r>
            <a:r>
              <a:rPr lang="sr-Latn-RS" altLang="en-US" i="1"/>
              <a:t>attach(pid)</a:t>
            </a:r>
            <a:r>
              <a:rPr lang="sr-Latn-RS" altLang="en-US"/>
              <a:t> klase </a:t>
            </a:r>
            <a:r>
              <a:rPr lang="sr-Latn-RS" altLang="en-US" b="1"/>
              <a:t>VirtualMachine</a:t>
            </a:r>
            <a:r>
              <a:rPr lang="sr-Latn-RS" altLang="en-US"/>
              <a:t> vraća instancu VM za zadati PID, na koju ćemo se zakačiti.</a:t>
            </a:r>
          </a:p>
          <a:p>
            <a:r>
              <a:rPr lang="sr-Latn-RS" altLang="en-US"/>
              <a:t>Metoda </a:t>
            </a:r>
            <a:r>
              <a:rPr lang="sr-Latn-RS" altLang="en-US" i="1"/>
              <a:t>loadAgent()</a:t>
            </a:r>
            <a:r>
              <a:rPr lang="sr-Latn-RS" altLang="en-US"/>
              <a:t> klase </a:t>
            </a:r>
            <a:r>
              <a:rPr lang="sr-Latn-RS" altLang="en-US" b="1"/>
              <a:t>VirtualMachine</a:t>
            </a:r>
            <a:r>
              <a:rPr lang="sr-Latn-RS" altLang="en-US"/>
              <a:t> kači dinamički agentski kod na nju.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CB887E41-E8B6-60DA-71E0-0EB4F220F8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31950" y="130175"/>
            <a:ext cx="8928100" cy="706438"/>
          </a:xfrm>
        </p:spPr>
        <p:txBody>
          <a:bodyPr/>
          <a:lstStyle/>
          <a:p>
            <a:r>
              <a:rPr lang="sr-Latn-RS" altLang="en-US" sz="2700"/>
              <a:t>Kačenje dinamičkog agenta na željenu virtualnu mašinu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6D8452F8-3AF0-EE1F-9133-3B2A6711FF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36600" y="981075"/>
            <a:ext cx="9474200" cy="53276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sr-Latn-RS" altLang="en-US" sz="18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VirtualMachineDescriptor </a:t>
            </a:r>
            <a:r>
              <a:rPr lang="sr-Latn-RS" altLang="en-US" sz="180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jvd</a:t>
            </a:r>
            <a:r>
              <a:rPr lang="sr-Latn-RS" altLang="en-US" sz="18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sr-Latn-RS" altLang="en-US" sz="18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sr-Latn-R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sr-Latn-RS" altLang="en-US" sz="18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sr-Latn-R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(VirtualMachineDescriptor </a:t>
            </a:r>
            <a:r>
              <a:rPr lang="sr-Latn-RS" altLang="en-US" sz="18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vm</a:t>
            </a:r>
            <a:r>
              <a:rPr lang="sr-Latn-R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VirtualMachine.</a:t>
            </a:r>
            <a:r>
              <a:rPr lang="sr-Latn-RS" altLang="en-US" sz="1800" b="1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list()) {</a:t>
            </a:r>
          </a:p>
          <a:p>
            <a:pPr marL="0" indent="0">
              <a:buNone/>
            </a:pPr>
            <a:r>
              <a:rPr lang="sr-Latn-RS" altLang="en-US" sz="18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</a:t>
            </a:r>
            <a:r>
              <a:rPr lang="sr-Latn-R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sr-Latn-RS" altLang="en-US" sz="18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vm</a:t>
            </a:r>
            <a:r>
              <a:rPr lang="sr-Latn-R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.displayName().contains(</a:t>
            </a:r>
            <a:r>
              <a:rPr lang="sr-Latn-RS" altLang="en-US" sz="18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applicationName</a:t>
            </a:r>
            <a:r>
              <a:rPr lang="sr-Latn-R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 {</a:t>
            </a:r>
          </a:p>
          <a:p>
            <a:pPr marL="0" indent="0">
              <a:buNone/>
            </a:pPr>
            <a:r>
              <a:rPr lang="sr-Latn-RS" altLang="en-US" sz="180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sr-Latn-RS" altLang="en-U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jvd</a:t>
            </a:r>
            <a:r>
              <a:rPr lang="sr-Latn-RS" altLang="en-US" sz="18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sr-Latn-RS" altLang="en-US" sz="180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vm</a:t>
            </a:r>
            <a:r>
              <a:rPr lang="sr-Latn-RS" altLang="en-US" sz="18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sr-Latn-RS" altLang="en-US" sz="18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break</a:t>
            </a:r>
            <a:r>
              <a:rPr lang="sr-Latn-R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sr-Latn-RS" altLang="en-US" sz="18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sr-Latn-RS" altLang="en-US" sz="18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en-US" sz="18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 </a:t>
            </a:r>
            <a:r>
              <a:rPr lang="en-US" altLang="en-US" sz="180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agentFile</a:t>
            </a:r>
            <a:r>
              <a:rPr lang="en-US" altLang="en-US" sz="18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8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File(</a:t>
            </a:r>
            <a:r>
              <a:rPr lang="en-US" altLang="en-US" sz="18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agentFilePath</a:t>
            </a: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sr-Latn-RS" altLang="en-US" sz="18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sr-Latn-R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sr-Latn-RS" altLang="en-US" sz="18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String </a:t>
            </a:r>
            <a:r>
              <a:rPr lang="sr-Latn-RS" altLang="en-US" sz="180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jvmPid</a:t>
            </a:r>
            <a:r>
              <a:rPr lang="sr-Latn-RS" altLang="en-US" sz="18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sr-Latn-RS" altLang="en-U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jvd</a:t>
            </a:r>
            <a:r>
              <a:rPr lang="sr-Latn-RS" altLang="en-US" sz="18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.id();</a:t>
            </a:r>
          </a:p>
          <a:p>
            <a:pPr marL="0" indent="0">
              <a:buNone/>
            </a:pPr>
            <a:r>
              <a:rPr lang="sr-Latn-RS" altLang="en-US" sz="18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8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VirtualMachine </a:t>
            </a:r>
            <a:r>
              <a:rPr lang="en-US" altLang="en-US" sz="18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jvm</a:t>
            </a:r>
            <a:r>
              <a:rPr lang="en-US" altLang="en-US" sz="18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VirtualMachine.</a:t>
            </a:r>
            <a:r>
              <a:rPr lang="en-US" altLang="en-US" sz="1800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attach(</a:t>
            </a:r>
            <a:r>
              <a:rPr lang="en-US" altLang="en-US" sz="1800" i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jvmPid</a:t>
            </a:r>
            <a:r>
              <a:rPr lang="en-US" altLang="en-US" sz="1800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sr-Latn-RS" altLang="en-US" sz="180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sr-Latn-RS" altLang="en-US" sz="18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jvm</a:t>
            </a:r>
            <a:r>
              <a:rPr lang="sr-Latn-RS" altLang="en-US" sz="18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.loadAgent(</a:t>
            </a:r>
            <a:r>
              <a:rPr lang="sr-Latn-RS" altLang="en-US" sz="180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agentFile</a:t>
            </a:r>
            <a:r>
              <a:rPr lang="sr-Latn-RS" altLang="en-US" sz="18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.getAbsolutePath());</a:t>
            </a:r>
          </a:p>
          <a:p>
            <a:pPr marL="0" indent="0">
              <a:buNone/>
            </a:pPr>
            <a:r>
              <a:rPr lang="sr-Latn-RS" altLang="en-US" sz="1800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sr-Latn-RS" altLang="en-US" sz="18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jvm</a:t>
            </a:r>
            <a:r>
              <a:rPr lang="sr-Latn-RS" altLang="en-US" sz="18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.detach();</a:t>
            </a:r>
          </a:p>
          <a:p>
            <a:pPr marL="0" indent="0">
              <a:buNone/>
            </a:pPr>
            <a:r>
              <a:rPr lang="sr-Latn-RS" altLang="en-US" sz="18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sr-Latn-RS" altLang="en-US" sz="18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sr-Latn-R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(Exception </a:t>
            </a:r>
            <a:r>
              <a:rPr lang="sr-Latn-RS" altLang="en-US" sz="18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sr-Latn-R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sr-Latn-RS" altLang="en-US" sz="18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throw</a:t>
            </a:r>
            <a:r>
              <a:rPr lang="sr-Latn-R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r-Latn-RS" altLang="en-US" sz="18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sr-Latn-R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RuntimeException(</a:t>
            </a:r>
            <a:r>
              <a:rPr lang="sr-Latn-RS" altLang="en-US" sz="1800" b="1">
                <a:solidFill>
                  <a:srgbClr val="6A3E3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sr-Latn-R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sr-Latn-RS" altLang="en-US" sz="18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sr-Latn-RS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5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5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5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C8124F91-29E3-43FA-FF2C-782A440856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 sz="4000"/>
              <a:t>Modifikovanje klase iz dinamičkog agenta</a:t>
            </a:r>
            <a:endParaRPr lang="en-US" alt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E7265-3398-611B-6F7A-4BFACB16F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433" y="1994959"/>
            <a:ext cx="11231034" cy="4351338"/>
          </a:xfrm>
        </p:spPr>
        <p:txBody>
          <a:bodyPr/>
          <a:lstStyle/>
          <a:p>
            <a:pPr>
              <a:defRPr/>
            </a:pPr>
            <a:r>
              <a:rPr lang="sr-Latn-RS"/>
              <a:t>Nije dovoljno samo pozvati </a:t>
            </a:r>
            <a:r>
              <a:rPr lang="sr-Latn-RS" i="1"/>
              <a:t>addTransformer()</a:t>
            </a:r>
            <a:r>
              <a:rPr lang="sr-Latn-RS"/>
              <a:t> metodu, već je potrebno pozvati i </a:t>
            </a:r>
            <a:r>
              <a:rPr lang="sr-Latn-RS" i="1"/>
              <a:t>retransformClasses()</a:t>
            </a:r>
            <a:r>
              <a:rPr lang="sr-Latn-RS"/>
              <a:t> metodu:</a:t>
            </a:r>
          </a:p>
          <a:p>
            <a:pPr marL="0" indent="0">
              <a:buNone/>
              <a:defRPr/>
            </a:pPr>
            <a:r>
              <a:rPr 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inst.addTransformer(new DynamicDurationTransformer(), true);</a:t>
            </a:r>
            <a:endParaRPr 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/>
            </a:pPr>
            <a:endParaRPr lang="en-U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/>
            </a:pPr>
            <a:r>
              <a:rPr 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Class clazz = DynamicDemoApp.class;</a:t>
            </a:r>
          </a:p>
          <a:p>
            <a:pPr marL="0" indent="0">
              <a:buNone/>
              <a:defRPr/>
            </a:pPr>
            <a:r>
              <a:rPr 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inst.retransformClasses(clazz);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1081</Words>
  <Application>Microsoft Office PowerPoint</Application>
  <PresentationFormat>Widescreen</PresentationFormat>
  <Paragraphs>142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Courier New</vt:lpstr>
      <vt:lpstr>Office Theme</vt:lpstr>
      <vt:lpstr>PowerPoint Presentation</vt:lpstr>
      <vt:lpstr>Instrumentacija</vt:lpstr>
      <vt:lpstr>Agent</vt:lpstr>
      <vt:lpstr>Vrste agenata</vt:lpstr>
      <vt:lpstr>Statički agenti</vt:lpstr>
      <vt:lpstr>Dinamički agenti</vt:lpstr>
      <vt:lpstr>Instrumentacija</vt:lpstr>
      <vt:lpstr>Transformator koda</vt:lpstr>
      <vt:lpstr>Transformator koda</vt:lpstr>
      <vt:lpstr>Javassist (Java Programming Assistant) </vt:lpstr>
      <vt:lpstr>CtClass</vt:lpstr>
      <vt:lpstr>CtMethod</vt:lpstr>
      <vt:lpstr>Primer transformatora</vt:lpstr>
      <vt:lpstr>Upotreba statičkog agenta</vt:lpstr>
      <vt:lpstr>Statički agent</vt:lpstr>
      <vt:lpstr>Upotreba dinamičkog agenta</vt:lpstr>
      <vt:lpstr>Komunikacija sa Java VM</vt:lpstr>
      <vt:lpstr>Kačenje dinamičkog agenta na željenu virtualnu mašinu</vt:lpstr>
      <vt:lpstr>Modifikovanje klase iz dinamičkog agenta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Jovana Vidaković</dc:creator>
  <cp:lastModifiedBy>Jovana Vidaković</cp:lastModifiedBy>
  <cp:revision>71</cp:revision>
  <dcterms:created xsi:type="dcterms:W3CDTF">2024-06-23T05:47:25Z</dcterms:created>
  <dcterms:modified xsi:type="dcterms:W3CDTF">2024-07-01T19:48:28Z</dcterms:modified>
</cp:coreProperties>
</file>