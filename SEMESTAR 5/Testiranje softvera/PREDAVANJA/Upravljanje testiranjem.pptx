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4"/>
  </p:notesMasterIdLst>
  <p:sldIdLst>
    <p:sldId id="256" r:id="rId2"/>
    <p:sldId id="257" r:id="rId3"/>
    <p:sldId id="260" r:id="rId4"/>
    <p:sldId id="259" r:id="rId5"/>
    <p:sldId id="34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0" r:id="rId18"/>
    <p:sldId id="274" r:id="rId19"/>
    <p:sldId id="275" r:id="rId20"/>
    <p:sldId id="273" r:id="rId21"/>
    <p:sldId id="276" r:id="rId22"/>
    <p:sldId id="348" r:id="rId23"/>
    <p:sldId id="277" r:id="rId24"/>
    <p:sldId id="278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4" r:id="rId39"/>
    <p:sldId id="293" r:id="rId40"/>
    <p:sldId id="295" r:id="rId41"/>
    <p:sldId id="296" r:id="rId42"/>
    <p:sldId id="297" r:id="rId43"/>
    <p:sldId id="324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9" r:id="rId55"/>
    <p:sldId id="308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3" r:id="rId69"/>
    <p:sldId id="322" r:id="rId70"/>
    <p:sldId id="325" r:id="rId71"/>
    <p:sldId id="326" r:id="rId72"/>
    <p:sldId id="327" r:id="rId73"/>
    <p:sldId id="328" r:id="rId74"/>
    <p:sldId id="329" r:id="rId75"/>
    <p:sldId id="330" r:id="rId76"/>
    <p:sldId id="332" r:id="rId77"/>
    <p:sldId id="331" r:id="rId78"/>
    <p:sldId id="333" r:id="rId79"/>
    <p:sldId id="334" r:id="rId80"/>
    <p:sldId id="336" r:id="rId81"/>
    <p:sldId id="338" r:id="rId82"/>
    <p:sldId id="337" r:id="rId83"/>
    <p:sldId id="335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48" autoAdjust="0"/>
    <p:restoredTop sz="83573" autoAdjust="0"/>
  </p:normalViewPr>
  <p:slideViewPr>
    <p:cSldViewPr>
      <p:cViewPr varScale="1">
        <p:scale>
          <a:sx n="71" d="100"/>
          <a:sy n="71" d="100"/>
        </p:scale>
        <p:origin x="1901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6258"/>
    </p:cViewPr>
  </p:sorterViewPr>
  <p:notesViewPr>
    <p:cSldViewPr>
      <p:cViewPr varScale="1">
        <p:scale>
          <a:sx n="70" d="100"/>
          <a:sy n="70" d="100"/>
        </p:scale>
        <p:origin x="-3234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97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1E5E08-6FDD-4025-8531-A3BB39BAD8F4}" type="datetimeFigureOut">
              <a:rPr lang="en-GB" smtClean="0"/>
              <a:t>21/12/2023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1C20D4-52CC-4AE0-A8BD-CFB348CDB1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8932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1C20D4-52CC-4AE0-A8BD-CFB348CDB199}" type="slidenum">
              <a:rPr lang="en-GB" smtClean="0"/>
              <a:t>44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97378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63B4-66BE-45AF-B342-5BD675F621EF}" type="datetimeFigureOut">
              <a:rPr lang="en-GB" smtClean="0"/>
              <a:t>21/12/2023</a:t>
            </a:fld>
            <a:endParaRPr lang="en-GB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0B244398-0885-4C06-B673-45F76BE55CC2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E4E63B4-66BE-45AF-B342-5BD675F621EF}" type="datetimeFigureOut">
              <a:rPr lang="en-GB" smtClean="0"/>
              <a:pPr/>
              <a:t>21/12/2023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B244398-0885-4C06-B673-45F76BE55CC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E4E63B4-66BE-45AF-B342-5BD675F621EF}" type="datetimeFigureOut">
              <a:rPr lang="en-GB" smtClean="0"/>
              <a:pPr/>
              <a:t>21/12/2023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B244398-0885-4C06-B673-45F76BE55CC2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63B4-66BE-45AF-B342-5BD675F621EF}" type="datetimeFigureOut">
              <a:rPr lang="en-GB" smtClean="0"/>
              <a:t>21/12/2023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44398-0885-4C06-B673-45F76BE55CC2}" type="slidenum">
              <a:rPr lang="en-GB" smtClean="0"/>
              <a:t>‹#›</a:t>
            </a:fld>
            <a:endParaRPr lang="en-GB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63B4-66BE-45AF-B342-5BD675F621EF}" type="datetimeFigureOut">
              <a:rPr lang="en-GB" smtClean="0"/>
              <a:t>21/12/2023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44398-0885-4C06-B673-45F76BE55CC2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63B4-66BE-45AF-B342-5BD675F621EF}" type="datetimeFigureOut">
              <a:rPr lang="en-GB" smtClean="0"/>
              <a:t>21/12/2023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44398-0885-4C06-B673-45F76BE55CC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63B4-66BE-45AF-B342-5BD675F621EF}" type="datetimeFigureOut">
              <a:rPr lang="en-GB" smtClean="0"/>
              <a:t>21/12/2023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44398-0885-4C06-B673-45F76BE55CC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63B4-66BE-45AF-B342-5BD675F621EF}" type="datetimeFigureOut">
              <a:rPr lang="en-GB" smtClean="0"/>
              <a:t>21/12/2023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44398-0885-4C06-B673-45F76BE55CC2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63B4-66BE-45AF-B342-5BD675F621EF}" type="datetimeFigureOut">
              <a:rPr lang="en-GB" smtClean="0"/>
              <a:t>21/12/2023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0B244398-0885-4C06-B673-45F76BE55CC2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63B4-66BE-45AF-B342-5BD675F621EF}" type="datetimeFigureOut">
              <a:rPr lang="en-GB" smtClean="0"/>
              <a:t>21/12/2023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44398-0885-4C06-B673-45F76BE55CC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63B4-66BE-45AF-B342-5BD675F621EF}" type="datetimeFigureOut">
              <a:rPr lang="en-GB" smtClean="0"/>
              <a:t>21/12/2023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44398-0885-4C06-B673-45F76BE55CC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4E4E63B4-66BE-45AF-B342-5BD675F621EF}" type="datetimeFigureOut">
              <a:rPr lang="en-GB" smtClean="0"/>
              <a:t>21/12/2023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0B244398-0885-4C06-B673-45F76BE55CC2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62200" y="5943600"/>
            <a:ext cx="6400800" cy="533400"/>
          </a:xfrm>
        </p:spPr>
        <p:txBody>
          <a:bodyPr/>
          <a:lstStyle/>
          <a:p>
            <a:pPr algn="r"/>
            <a:r>
              <a:rPr lang="sr-Latn-RS" dirty="0"/>
              <a:t>Autor: Goran Savić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r-Latn-RS" dirty="0"/>
              <a:t>Upravljanje testiranjem</a:t>
            </a:r>
            <a:endParaRPr lang="en-GB" dirty="0"/>
          </a:p>
        </p:txBody>
      </p:sp>
      <p:pic>
        <p:nvPicPr>
          <p:cNvPr id="1028" name="Picture 4" descr="Image result for hrt emisija maestr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3124200"/>
            <a:ext cx="5029200" cy="2836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84163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Upravljanje testiranjem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Odnosi se na upravljanje procesom testiranja</a:t>
            </a:r>
          </a:p>
          <a:p>
            <a:r>
              <a:rPr lang="sr-Latn-RS" dirty="0"/>
              <a:t>Uključuje planiranje, implementaciju i nadzor testiranja softvera</a:t>
            </a:r>
          </a:p>
          <a:p>
            <a:r>
              <a:rPr lang="sr-Latn-RS" dirty="0"/>
              <a:t>Osim što vodi računa o tehničkoj realizaciji, upravlja i organizacijom ljudskih resursa koji učestvuju u testiranju </a:t>
            </a:r>
          </a:p>
          <a:p>
            <a:pPr lvl="1"/>
            <a:r>
              <a:rPr lang="sr-Latn-RS" dirty="0"/>
              <a:t>test tim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006094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1505930"/>
            <a:ext cx="8229600" cy="1470025"/>
          </a:xfrm>
        </p:spPr>
        <p:txBody>
          <a:bodyPr/>
          <a:lstStyle/>
          <a:p>
            <a:r>
              <a:rPr lang="sr-Latn-RS" dirty="0"/>
              <a:t>Organizacija test tima</a:t>
            </a:r>
            <a:endParaRPr lang="en-GB" dirty="0"/>
          </a:p>
        </p:txBody>
      </p:sp>
      <p:sp>
        <p:nvSpPr>
          <p:cNvPr id="3" name="AutoShape 2" descr="Image result for teamwor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4" name="AutoShape 4" descr="Image result for teamwork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3080" name="Picture 8" descr="Image result for teamwor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3200400"/>
            <a:ext cx="5593372" cy="335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74398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Izbor test tima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U toku celog procesa razvoja softvera potrebne su i aktivnosti koji se odnose na testiranje</a:t>
            </a:r>
          </a:p>
          <a:p>
            <a:r>
              <a:rPr lang="sr-Latn-RS" dirty="0"/>
              <a:t>Neophodno je izabrati koji učesnici projekta će vršiti testiranje</a:t>
            </a:r>
          </a:p>
          <a:p>
            <a:r>
              <a:rPr lang="sr-Latn-RS" dirty="0"/>
              <a:t>Dve mogućnosti</a:t>
            </a:r>
          </a:p>
          <a:p>
            <a:pPr lvl="1"/>
            <a:r>
              <a:rPr lang="sr-Latn-RS" dirty="0"/>
              <a:t>programeri koji razvijaju softver vrše i testiranje</a:t>
            </a:r>
          </a:p>
          <a:p>
            <a:pPr lvl="2"/>
            <a:r>
              <a:rPr lang="sr-Latn-RS" dirty="0"/>
              <a:t>ljudi teže identifikuju sopstvene greške</a:t>
            </a:r>
          </a:p>
          <a:p>
            <a:pPr lvl="1"/>
            <a:r>
              <a:rPr lang="sr-Latn-RS" dirty="0"/>
              <a:t>posebni članovi tima vrše testiranje</a:t>
            </a:r>
          </a:p>
          <a:p>
            <a:pPr lvl="2"/>
            <a:r>
              <a:rPr lang="sr-Latn-RS" dirty="0"/>
              <a:t>nezavisno testiranje od razvoja softvera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523168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Nezavisno testiranje</a:t>
            </a:r>
            <a:endParaRPr lang="en-US" dirty="0"/>
          </a:p>
        </p:txBody>
      </p:sp>
      <p:pic>
        <p:nvPicPr>
          <p:cNvPr id="4" name="Picture 2" descr="Onlar sÄ±radan besinler deÄil! Ä°Åte Kuran'da adÄ± geÃ§en ÅifalÄ± yiyecekler ve faydalarÄ±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67"/>
          <a:stretch/>
        </p:blipFill>
        <p:spPr bwMode="auto">
          <a:xfrm>
            <a:off x="2133600" y="1453287"/>
            <a:ext cx="4876800" cy="3194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057400" y="4724400"/>
            <a:ext cx="6019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i="1" dirty="0">
                <a:latin typeface="Calibri" panose="020F0502020204030204" pitchFamily="34" charset="0"/>
                <a:cs typeface="Calibri" panose="020F0502020204030204" pitchFamily="34" charset="0"/>
              </a:rPr>
              <a:t>A Allah nije ni o kome ovisan i blag je.</a:t>
            </a:r>
            <a:endParaRPr lang="sr-Latn-RS" sz="2400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it-IT" sz="2400" i="1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sr-Latn-RS" sz="2400" i="1" dirty="0">
                <a:latin typeface="Calibri" panose="020F0502020204030204" pitchFamily="34" charset="0"/>
                <a:cs typeface="Calibri" panose="020F0502020204030204" pitchFamily="34" charset="0"/>
              </a:rPr>
              <a:t>Kuran</a:t>
            </a:r>
            <a:r>
              <a:rPr lang="sr-Latn-RS" sz="2400" i="1">
                <a:latin typeface="Calibri" panose="020F0502020204030204" pitchFamily="34" charset="0"/>
                <a:cs typeface="Calibri" panose="020F0502020204030204" pitchFamily="34" charset="0"/>
              </a:rPr>
              <a:t>, 43, 2</a:t>
            </a:r>
            <a:r>
              <a:rPr lang="it-IT" sz="2400" i="1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US" sz="2400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9546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Nezavisno testiranje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Prednosti</a:t>
            </a:r>
          </a:p>
          <a:p>
            <a:pPr lvl="1"/>
            <a:r>
              <a:rPr lang="sr-Latn-RS" dirty="0"/>
              <a:t>nezavisni testeri su nepristrasni</a:t>
            </a:r>
          </a:p>
          <a:p>
            <a:pPr lvl="2"/>
            <a:r>
              <a:rPr lang="sr-Latn-RS" dirty="0"/>
              <a:t>nalaze više nedostataka nego programeri</a:t>
            </a:r>
          </a:p>
          <a:p>
            <a:pPr lvl="2"/>
            <a:r>
              <a:rPr lang="sr-Latn-RS" dirty="0"/>
              <a:t>nalaze drugačije nedostatke nego programeri</a:t>
            </a:r>
          </a:p>
          <a:p>
            <a:pPr lvl="1"/>
            <a:r>
              <a:rPr lang="sr-Latn-RS" dirty="0"/>
              <a:t>programer implicitno podrazumeva određeno ponašanje programa</a:t>
            </a:r>
          </a:p>
          <a:p>
            <a:pPr lvl="2"/>
            <a:r>
              <a:rPr lang="sr-Latn-RS" dirty="0"/>
              <a:t>tester ne polazi od istih pretpostavki</a:t>
            </a:r>
          </a:p>
          <a:p>
            <a:pPr lvl="2"/>
            <a:r>
              <a:rPr lang="sr-Latn-RS" dirty="0"/>
              <a:t>što ne znači da nema svoje pretpostavke i ponašanje koje  on implicitno podrazumeva</a:t>
            </a:r>
          </a:p>
          <a:p>
            <a:pPr lvl="2"/>
            <a:r>
              <a:rPr lang="sr-Latn-RS" dirty="0"/>
              <a:t>često je implicitno razumevanje testera bliže razumevanju krajnjeg korisnika 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44700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Nezavisno testiranje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Mane</a:t>
            </a:r>
          </a:p>
          <a:p>
            <a:pPr lvl="1"/>
            <a:r>
              <a:rPr lang="sr-Latn-RS" dirty="0"/>
              <a:t>manje komunikacije između članova koji razvijaju i onih koji testiraju sistem</a:t>
            </a:r>
          </a:p>
          <a:p>
            <a:pPr lvl="1"/>
            <a:r>
              <a:rPr lang="sr-Latn-RS" dirty="0"/>
              <a:t>zahteva dodatne resurse koji mogu da postanu „usko grlo“ razvoja sistema ako ih je premalo</a:t>
            </a:r>
          </a:p>
          <a:p>
            <a:pPr lvl="1"/>
            <a:r>
              <a:rPr lang="sr-Latn-RS" dirty="0"/>
              <a:t>programeri mogu izgubiti osećaj odgovornosti za kvalitet softvera koji razvijaju</a:t>
            </a:r>
          </a:p>
          <a:p>
            <a:pPr lvl="2"/>
            <a:r>
              <a:rPr lang="sr-Latn-RS" dirty="0"/>
              <a:t>računaju da je svakako tu tester koji će pronaći nedostatke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063085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Modeli nezavisnog testiranja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181600"/>
          </a:xfrm>
        </p:spPr>
        <p:txBody>
          <a:bodyPr>
            <a:normAutofit fontScale="92500"/>
          </a:bodyPr>
          <a:lstStyle/>
          <a:p>
            <a:pPr marL="514350" indent="-514350">
              <a:buFont typeface="+mj-lt"/>
              <a:buAutoNum type="arabicPeriod"/>
            </a:pPr>
            <a:r>
              <a:rPr lang="sr-Latn-RS" dirty="0"/>
              <a:t>Testiranje vrši programerski tim, ali niko ne testira svoj kod</a:t>
            </a:r>
          </a:p>
          <a:p>
            <a:pPr marL="514350" indent="-514350">
              <a:buFont typeface="+mj-lt"/>
              <a:buAutoNum type="arabicPeriod"/>
            </a:pPr>
            <a:r>
              <a:rPr lang="sr-Latn-RS" dirty="0"/>
              <a:t>U okviru razvojnog tima postoji određen broj testera</a:t>
            </a:r>
          </a:p>
          <a:p>
            <a:pPr marL="788670" lvl="1" indent="-514350"/>
            <a:r>
              <a:rPr lang="sr-Latn-RS" dirty="0"/>
              <a:t>oni vrše sav posao testiranja</a:t>
            </a:r>
          </a:p>
          <a:p>
            <a:pPr marL="514350" indent="-514350">
              <a:buFont typeface="+mj-lt"/>
              <a:buAutoNum type="arabicPeriod"/>
            </a:pPr>
            <a:r>
              <a:rPr lang="sr-Latn-RS" dirty="0"/>
              <a:t>Postoje nezavisni test timovi zaduženi za testiranje svih projekata</a:t>
            </a:r>
          </a:p>
          <a:p>
            <a:pPr marL="514350" indent="-514350">
              <a:buFont typeface="+mj-lt"/>
              <a:buAutoNum type="arabicPeriod"/>
            </a:pPr>
            <a:r>
              <a:rPr lang="sr-Latn-RS" dirty="0"/>
              <a:t>Za svaki tip testiranja postoje specijalizovani testeri</a:t>
            </a:r>
          </a:p>
          <a:p>
            <a:pPr marL="788670" lvl="1" indent="-514350"/>
            <a:r>
              <a:rPr lang="sr-Latn-RS" dirty="0"/>
              <a:t>npr. neko testira samo performanse, neko samo bezbednost, ...</a:t>
            </a:r>
          </a:p>
          <a:p>
            <a:pPr marL="514350" indent="-514350">
              <a:buFont typeface="+mj-lt"/>
              <a:buAutoNum type="arabicPeriod"/>
            </a:pPr>
            <a:r>
              <a:rPr lang="sr-Latn-RS" dirty="0"/>
              <a:t>Eksterni tim (organizacija) vrši testiranje</a:t>
            </a:r>
          </a:p>
          <a:p>
            <a:pPr marL="514350" indent="-514350">
              <a:buFont typeface="+mj-lt"/>
              <a:buAutoNum type="arabicPeriod"/>
            </a:pPr>
            <a:endParaRPr lang="sr-Latn-RS" dirty="0"/>
          </a:p>
          <a:p>
            <a:r>
              <a:rPr lang="sr-Latn-RS" dirty="0"/>
              <a:t>Izbor modela zavisi i od nivoa testiranja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007607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Modeli jediničnog testiranja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U praksi često jedinične testove vrše sami programeri nad sopstvenim kodom</a:t>
            </a:r>
          </a:p>
          <a:p>
            <a:pPr lvl="1"/>
            <a:r>
              <a:rPr lang="sr-Latn-RS" dirty="0"/>
              <a:t>najefikasnije jer poznaju svoj kod</a:t>
            </a:r>
          </a:p>
          <a:p>
            <a:pPr lvl="2"/>
            <a:r>
              <a:rPr lang="sr-Latn-RS" dirty="0"/>
              <a:t>posebno važi za </a:t>
            </a:r>
            <a:r>
              <a:rPr lang="sr-Latn-RS" i="1" dirty="0"/>
              <a:t>white box</a:t>
            </a:r>
            <a:r>
              <a:rPr lang="sr-Latn-RS" dirty="0"/>
              <a:t> testiranje</a:t>
            </a:r>
          </a:p>
          <a:p>
            <a:pPr lvl="1"/>
            <a:r>
              <a:rPr lang="sr-Latn-RS" dirty="0"/>
              <a:t>uz sve mane odsustva nezavisnog testiranja</a:t>
            </a:r>
          </a:p>
          <a:p>
            <a:r>
              <a:rPr lang="sr-Latn-RS" dirty="0"/>
              <a:t>Ako se uvodi nezavisno testiranje</a:t>
            </a:r>
          </a:p>
          <a:p>
            <a:pPr lvl="1"/>
            <a:r>
              <a:rPr lang="sr-Latn-RS" dirty="0"/>
              <a:t>model 1 u kojem programeri testiraju tuđi kod je prihvatljiv</a:t>
            </a:r>
          </a:p>
          <a:p>
            <a:pPr lvl="1"/>
            <a:r>
              <a:rPr lang="sr-Latn-RS" dirty="0"/>
              <a:t>takođe i model 2 sa posebnim testerima u okviru tima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196519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Modeli integracionog testiranja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Ako se testira integracija komponenti razvijanih u okviru istog tima mogu se koristiti modeli 1 i 2 u kojima u testiranju učestvuju članovi razvojnog tima</a:t>
            </a:r>
          </a:p>
          <a:p>
            <a:r>
              <a:rPr lang="sr-Latn-RS" dirty="0"/>
              <a:t>Ako se integrišu komponente različitih timova, potrebni su testeri izvan razvojnih timova</a:t>
            </a:r>
          </a:p>
          <a:p>
            <a:pPr lvl="1"/>
            <a:r>
              <a:rPr lang="sr-Latn-RS" dirty="0"/>
              <a:t>modeli 3 i 4, eventualno 5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874636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Modeli sistemskog testiranja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Kod sistemskog testiranja finalni proizvod mora biti sagledan iz ugla krajnjeg korisnika</a:t>
            </a:r>
          </a:p>
          <a:p>
            <a:r>
              <a:rPr lang="sr-Latn-RS" dirty="0"/>
              <a:t>Neophodno je odvojiti testiranje od razvojnog tima</a:t>
            </a:r>
          </a:p>
          <a:p>
            <a:r>
              <a:rPr lang="sr-Latn-RS" dirty="0"/>
              <a:t>Modeli 3, 4 i 5 su primereni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879464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Uloge u test timu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105400"/>
          </a:xfrm>
        </p:spPr>
        <p:txBody>
          <a:bodyPr>
            <a:normAutofit fontScale="92500" lnSpcReduction="20000"/>
          </a:bodyPr>
          <a:lstStyle/>
          <a:p>
            <a:r>
              <a:rPr lang="sr-Latn-RS" dirty="0"/>
              <a:t>Test menadžer</a:t>
            </a:r>
          </a:p>
          <a:p>
            <a:pPr lvl="1"/>
            <a:r>
              <a:rPr lang="sr-Latn-RS" dirty="0"/>
              <a:t>vodi proces testiranja</a:t>
            </a:r>
          </a:p>
          <a:p>
            <a:pPr lvl="1"/>
            <a:r>
              <a:rPr lang="sr-Latn-RS" dirty="0"/>
              <a:t>stručan za poslove planiranja i upravljanje testiranjem</a:t>
            </a:r>
          </a:p>
          <a:p>
            <a:pPr lvl="1"/>
            <a:r>
              <a:rPr lang="sr-Latn-RS" dirty="0"/>
              <a:t>određuje test strategiju i kreira test plan</a:t>
            </a:r>
          </a:p>
          <a:p>
            <a:pPr lvl="1"/>
            <a:r>
              <a:rPr lang="sr-Latn-RS" dirty="0"/>
              <a:t>obezbeđuje resurse za testiranje</a:t>
            </a:r>
          </a:p>
          <a:p>
            <a:pPr lvl="2"/>
            <a:r>
              <a:rPr lang="sr-Latn-RS" dirty="0"/>
              <a:t>ljudske i materijalne</a:t>
            </a:r>
          </a:p>
          <a:p>
            <a:pPr lvl="1"/>
            <a:r>
              <a:rPr lang="sr-Latn-RS" dirty="0"/>
              <a:t>bira alate i okruženje za testiranje</a:t>
            </a:r>
          </a:p>
          <a:p>
            <a:pPr lvl="2"/>
            <a:r>
              <a:rPr lang="sr-Latn-RS" dirty="0"/>
              <a:t>i softversko i hardversko</a:t>
            </a:r>
          </a:p>
          <a:p>
            <a:pPr lvl="1"/>
            <a:r>
              <a:rPr lang="sr-Latn-RS" dirty="0"/>
              <a:t>organizuje obuku učesnika za alate i tehnologije potrebne za testiranje</a:t>
            </a:r>
          </a:p>
          <a:p>
            <a:pPr lvl="1"/>
            <a:r>
              <a:rPr lang="sr-Latn-RS" dirty="0"/>
              <a:t>obezbeđuje podršku za testiranje</a:t>
            </a:r>
          </a:p>
          <a:p>
            <a:pPr lvl="2"/>
            <a:r>
              <a:rPr lang="sr-Latn-RS" i="1" dirty="0"/>
              <a:t>bug-tracking</a:t>
            </a:r>
            <a:r>
              <a:rPr lang="sr-Latn-RS" dirty="0"/>
              <a:t> alati, dokumentacija, ...</a:t>
            </a:r>
          </a:p>
          <a:p>
            <a:pPr lvl="1"/>
            <a:r>
              <a:rPr lang="sr-Latn-RS" dirty="0"/>
              <a:t>uvodi i ocenjuje metriku za procenu intenziteta testiranja</a:t>
            </a:r>
          </a:p>
          <a:p>
            <a:pPr lvl="1"/>
            <a:r>
              <a:rPr lang="sr-Latn-RS" dirty="0"/>
              <a:t>prilagođava test plan dinamici razvoja i testiranja sistema</a:t>
            </a:r>
          </a:p>
          <a:p>
            <a:pPr lvl="1"/>
            <a:r>
              <a:rPr lang="sr-Latn-RS" dirty="0"/>
              <a:t>upravlja test izveštajima i podnosi ih rukovodiocima</a:t>
            </a:r>
          </a:p>
          <a:p>
            <a:pPr lvl="1"/>
            <a:endParaRPr lang="sr-Latn-RS" dirty="0"/>
          </a:p>
          <a:p>
            <a:pPr lvl="1"/>
            <a:endParaRPr lang="en-GB" dirty="0"/>
          </a:p>
        </p:txBody>
      </p:sp>
      <p:pic>
        <p:nvPicPr>
          <p:cNvPr id="4100" name="Picture 4" descr="Image result for manager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52" r="23636"/>
          <a:stretch/>
        </p:blipFill>
        <p:spPr bwMode="auto">
          <a:xfrm>
            <a:off x="6477000" y="304800"/>
            <a:ext cx="2182091" cy="1599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53094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Uloge u test timu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Test analitičar (dizajner)</a:t>
            </a:r>
          </a:p>
          <a:p>
            <a:pPr lvl="1"/>
            <a:r>
              <a:rPr lang="sr-Latn-RS" dirty="0"/>
              <a:t>zadužen za kreiranje testova</a:t>
            </a:r>
          </a:p>
          <a:p>
            <a:pPr lvl="1"/>
            <a:r>
              <a:rPr lang="sr-Latn-RS" dirty="0"/>
              <a:t>poznaje softversko inženjerstvo, tehnike testiranja i kreiranje formalnih specifikacija</a:t>
            </a:r>
          </a:p>
          <a:p>
            <a:pPr lvl="1"/>
            <a:r>
              <a:rPr lang="sr-Latn-RS" dirty="0"/>
              <a:t>analizira zahteve i specifikaciju projekta</a:t>
            </a:r>
          </a:p>
          <a:p>
            <a:pPr lvl="1"/>
            <a:r>
              <a:rPr lang="sr-Latn-RS" dirty="0"/>
              <a:t>na osnovu toga dizajnira test slučajeve</a:t>
            </a:r>
          </a:p>
          <a:p>
            <a:pPr lvl="1"/>
            <a:r>
              <a:rPr lang="sr-Latn-RS" dirty="0"/>
              <a:t>obezbeđuje test podatke</a:t>
            </a:r>
          </a:p>
          <a:p>
            <a:pPr marL="0" indent="0">
              <a:buNone/>
            </a:pPr>
            <a:r>
              <a:rPr lang="sr-Latn-RS" dirty="0"/>
              <a:t> </a:t>
            </a:r>
            <a:endParaRPr lang="en-GB" dirty="0"/>
          </a:p>
        </p:txBody>
      </p:sp>
      <p:pic>
        <p:nvPicPr>
          <p:cNvPr id="5122" name="Picture 2" descr="Image result for analys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685800"/>
            <a:ext cx="2288222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72256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Uloge u test timu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Test automator</a:t>
            </a:r>
          </a:p>
          <a:p>
            <a:pPr lvl="1"/>
            <a:r>
              <a:rPr lang="sr-Latn-RS" dirty="0"/>
              <a:t>automatizuje izvršavanje test slučajeva</a:t>
            </a:r>
          </a:p>
          <a:p>
            <a:pPr lvl="1"/>
            <a:r>
              <a:rPr lang="sr-Latn-RS" dirty="0"/>
              <a:t>poznaje </a:t>
            </a:r>
          </a:p>
          <a:p>
            <a:pPr lvl="2"/>
            <a:r>
              <a:rPr lang="sr-Latn-RS" dirty="0"/>
              <a:t>programiranje, </a:t>
            </a:r>
          </a:p>
          <a:p>
            <a:pPr lvl="2"/>
            <a:r>
              <a:rPr lang="sr-Latn-RS" dirty="0"/>
              <a:t>testiranje, </a:t>
            </a:r>
          </a:p>
          <a:p>
            <a:pPr lvl="2"/>
            <a:r>
              <a:rPr lang="sr-Latn-RS" dirty="0"/>
              <a:t>test alate, </a:t>
            </a:r>
          </a:p>
          <a:p>
            <a:pPr lvl="2"/>
            <a:r>
              <a:rPr lang="sr-Latn-RS" dirty="0"/>
              <a:t>sistemske alate</a:t>
            </a:r>
          </a:p>
          <a:p>
            <a:pPr lvl="1"/>
            <a:endParaRPr lang="en-GB" dirty="0"/>
          </a:p>
        </p:txBody>
      </p:sp>
      <p:pic>
        <p:nvPicPr>
          <p:cNvPr id="6146" name="Picture 2" descr="Image result for computer programm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152400"/>
            <a:ext cx="2590800" cy="1722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08969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Uloge u test timu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Test administrator</a:t>
            </a:r>
          </a:p>
          <a:p>
            <a:pPr lvl="1"/>
            <a:r>
              <a:rPr lang="sr-Latn-RS" dirty="0"/>
              <a:t>zadužen za softversku i hardversku infrastrukturu za testiranje</a:t>
            </a:r>
          </a:p>
          <a:p>
            <a:pPr lvl="1"/>
            <a:r>
              <a:rPr lang="sr-Latn-RS" dirty="0"/>
              <a:t>ima znanje sistemskog administratora</a:t>
            </a:r>
          </a:p>
          <a:p>
            <a:pPr lvl="1"/>
            <a:r>
              <a:rPr lang="sr-Latn-RS" dirty="0"/>
              <a:t>administrira server i test alate</a:t>
            </a:r>
          </a:p>
          <a:p>
            <a:pPr lvl="1"/>
            <a:r>
              <a:rPr lang="sr-Latn-RS" dirty="0"/>
              <a:t>podešava okruženje za testiranje</a:t>
            </a:r>
          </a:p>
          <a:p>
            <a:pPr lvl="1"/>
            <a:r>
              <a:rPr lang="sr-Latn-RS" dirty="0"/>
              <a:t>obezbeđuje dostupnost okruženja</a:t>
            </a:r>
          </a:p>
          <a:p>
            <a:pPr lvl="1"/>
            <a:r>
              <a:rPr lang="sr-Latn-RS" dirty="0"/>
              <a:t>automatizuje izvršavanje testova</a:t>
            </a:r>
          </a:p>
          <a:p>
            <a:pPr lvl="1"/>
            <a:r>
              <a:rPr lang="sr-Latn-RS" dirty="0"/>
              <a:t>obezbeđuje skladištenje podataka koji se koriste u testiranju ili su rezultat testiranja</a:t>
            </a:r>
            <a:endParaRPr lang="en-GB" dirty="0"/>
          </a:p>
        </p:txBody>
      </p:sp>
      <p:pic>
        <p:nvPicPr>
          <p:cNvPr id="7170" name="Picture 2" descr="Image result for system administrato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152401"/>
            <a:ext cx="2346959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22908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Uloge u test timu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Tester</a:t>
            </a:r>
          </a:p>
          <a:p>
            <a:pPr lvl="1"/>
            <a:r>
              <a:rPr lang="sr-Latn-RS" dirty="0"/>
              <a:t>zadužen za izvršavanje testova i prijavu nedostataka</a:t>
            </a:r>
          </a:p>
          <a:p>
            <a:pPr lvl="1"/>
            <a:r>
              <a:rPr lang="sr-Latn-RS" dirty="0"/>
              <a:t>ima generalna znanja iz oblasti IT, znanje testiranja, zna da koristi test alate i poznaje test objekat</a:t>
            </a:r>
          </a:p>
          <a:p>
            <a:pPr lvl="1"/>
            <a:r>
              <a:rPr lang="sr-Latn-RS" dirty="0"/>
              <a:t>analizira test plan i test slučajeve</a:t>
            </a:r>
          </a:p>
          <a:p>
            <a:pPr lvl="1"/>
            <a:r>
              <a:rPr lang="sr-Latn-RS" dirty="0"/>
              <a:t>dokumentuje rezultate testova</a:t>
            </a:r>
          </a:p>
          <a:p>
            <a:pPr lvl="1"/>
            <a:r>
              <a:rPr lang="sr-Latn-RS" dirty="0"/>
              <a:t>koristi test alate za izvršavanje testova i nadzor nad testiranjem</a:t>
            </a:r>
          </a:p>
          <a:p>
            <a:pPr lvl="1"/>
            <a:endParaRPr lang="sr-Latn-RS" dirty="0"/>
          </a:p>
          <a:p>
            <a:pPr lvl="1"/>
            <a:endParaRPr lang="en-GB" dirty="0"/>
          </a:p>
        </p:txBody>
      </p:sp>
      <p:pic>
        <p:nvPicPr>
          <p:cNvPr id="9220" name="Picture 4" descr="Image result for push green button peopl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208561"/>
            <a:ext cx="3047999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49845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Uloge u test timu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5257800" cy="4572000"/>
          </a:xfrm>
        </p:spPr>
        <p:txBody>
          <a:bodyPr>
            <a:normAutofit/>
          </a:bodyPr>
          <a:lstStyle/>
          <a:p>
            <a:endParaRPr lang="sr-Latn-RS" dirty="0"/>
          </a:p>
          <a:p>
            <a:r>
              <a:rPr lang="sr-Latn-RS" dirty="0"/>
              <a:t>U praksi često ista osoba preuzima više uloga</a:t>
            </a:r>
          </a:p>
          <a:p>
            <a:r>
              <a:rPr lang="sr-Latn-RS" dirty="0"/>
              <a:t>Npr. ista osoba dizajnira i automatizuje test slučajeve</a:t>
            </a:r>
          </a:p>
          <a:p>
            <a:r>
              <a:rPr lang="sr-Latn-RS" dirty="0"/>
              <a:t>U manjim timovima, osoba koja upravlja testiranjem učestvuje i u kreiranju test slučajeva, njihovoj automatizaciji, izvršavanju i izveštavanju</a:t>
            </a:r>
            <a:endParaRPr lang="en-GB" dirty="0"/>
          </a:p>
        </p:txBody>
      </p:sp>
      <p:pic>
        <p:nvPicPr>
          <p:cNvPr id="8194" name="Picture 2" descr="Image result for multi musicia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304800"/>
            <a:ext cx="2743200" cy="3325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57338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1505930"/>
            <a:ext cx="8229600" cy="1470025"/>
          </a:xfrm>
        </p:spPr>
        <p:txBody>
          <a:bodyPr/>
          <a:lstStyle/>
          <a:p>
            <a:r>
              <a:rPr lang="sr-Latn-RS" dirty="0"/>
              <a:t>Planiranje testiranja</a:t>
            </a:r>
            <a:endParaRPr lang="en-GB" dirty="0"/>
          </a:p>
        </p:txBody>
      </p:sp>
      <p:sp>
        <p:nvSpPr>
          <p:cNvPr id="3" name="AutoShape 2" descr="Image result for teamwor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4" name="AutoShape 4" descr="Image result for teamwork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10242" name="Picture 2" descr="Image result for plann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3352800"/>
            <a:ext cx="5349240" cy="297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36043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Planiranje</a:t>
            </a:r>
            <a:endParaRPr lang="en-GB" dirty="0"/>
          </a:p>
        </p:txBody>
      </p:sp>
      <p:pic>
        <p:nvPicPr>
          <p:cNvPr id="5" name="Picture 2" descr="C:\Users\Goran\AppData\Local\Microsoft\Windows\INetCache\IE\UQXT3MQS\Quote-icon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955800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600200" y="1981200"/>
            <a:ext cx="7162800" cy="138499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r-Latn-RS" sz="2800" i="1" dirty="0">
                <a:latin typeface="Adobe Caslon Pro Bold" pitchFamily="18" charset="0"/>
                <a:cs typeface="Adobe Arabic" pitchFamily="18" charset="-78"/>
              </a:rPr>
              <a:t>Ako bih imao devet sati da isečem drvo, prvih šest sati bih proveo oštreći sekiru.</a:t>
            </a:r>
          </a:p>
          <a:p>
            <a:pPr algn="r"/>
            <a:r>
              <a:rPr lang="sr-Latn-RS" sz="2800" dirty="0">
                <a:latin typeface="Adobe Arabic" pitchFamily="18" charset="-78"/>
                <a:cs typeface="Adobe Arabic" pitchFamily="18" charset="-78"/>
              </a:rPr>
              <a:t>Abraham Lincoln</a:t>
            </a:r>
            <a:endParaRPr lang="en-GB" sz="2800" dirty="0">
              <a:latin typeface="Adobe Arabic" pitchFamily="18" charset="-78"/>
              <a:cs typeface="Adobe Arabic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9931487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Planiranje testiranja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Podrazumeva kreiranje različitih planova kao pripremu za proces testiranja</a:t>
            </a:r>
          </a:p>
          <a:p>
            <a:r>
              <a:rPr lang="sr-Latn-RS" dirty="0"/>
              <a:t>Planovi predviđaju </a:t>
            </a:r>
          </a:p>
          <a:p>
            <a:pPr lvl="1"/>
            <a:r>
              <a:rPr lang="sr-Latn-RS" dirty="0"/>
              <a:t>šta se testira</a:t>
            </a:r>
          </a:p>
          <a:p>
            <a:pPr lvl="1"/>
            <a:r>
              <a:rPr lang="sr-Latn-RS" dirty="0"/>
              <a:t>kako se vrši testiranje, </a:t>
            </a:r>
          </a:p>
          <a:p>
            <a:pPr lvl="1"/>
            <a:r>
              <a:rPr lang="sr-Latn-RS" dirty="0"/>
              <a:t>kada se vrši testiranje,  </a:t>
            </a:r>
          </a:p>
          <a:p>
            <a:pPr lvl="1"/>
            <a:r>
              <a:rPr lang="sr-Latn-RS" dirty="0"/>
              <a:t>ko vrši testiranje</a:t>
            </a:r>
          </a:p>
          <a:p>
            <a:pPr lvl="1"/>
            <a:r>
              <a:rPr lang="sr-Latn-RS" dirty="0"/>
              <a:t>koje su sve dodatne aktivnosti potrebne da bi testiranje bilo izvršeno i kako se obezbeđuju </a:t>
            </a:r>
          </a:p>
        </p:txBody>
      </p:sp>
    </p:spTree>
    <p:extLst>
      <p:ext uri="{BB962C8B-B14F-4D97-AF65-F5344CB8AC3E}">
        <p14:creationId xmlns:p14="http://schemas.microsoft.com/office/powerpoint/2010/main" val="4891967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Plan obezbeđenja kvaliteta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r>
              <a:rPr lang="sr-Latn-RS" dirty="0"/>
              <a:t>Planira resurse i procedure koji treba da obezbede kvalitet finalnog proizvoda</a:t>
            </a:r>
          </a:p>
          <a:p>
            <a:r>
              <a:rPr lang="sr-Latn-RS" dirty="0"/>
              <a:t>Testiranje je jedan način obezbeđenja kvaliteta</a:t>
            </a:r>
          </a:p>
          <a:p>
            <a:r>
              <a:rPr lang="sr-Latn-RS" dirty="0"/>
              <a:t>Stoga testiranje mora biti uključeno u generalni plan obezbeđenja kvaliteta</a:t>
            </a:r>
          </a:p>
          <a:p>
            <a:r>
              <a:rPr lang="sr-Latn-RS" dirty="0"/>
              <a:t>Osim toga uključuje</a:t>
            </a:r>
            <a:endParaRPr lang="en-US" dirty="0"/>
          </a:p>
          <a:p>
            <a:pPr lvl="1"/>
            <a:r>
              <a:rPr lang="en-US" dirty="0" err="1"/>
              <a:t>primenu</a:t>
            </a:r>
            <a:r>
              <a:rPr lang="en-US" dirty="0"/>
              <a:t> </a:t>
            </a:r>
            <a:r>
              <a:rPr lang="en-US" dirty="0" err="1"/>
              <a:t>standarda</a:t>
            </a:r>
            <a:r>
              <a:rPr lang="en-US" dirty="0"/>
              <a:t> i </a:t>
            </a:r>
            <a:r>
              <a:rPr lang="en-US" dirty="0" err="1"/>
              <a:t>konvencija</a:t>
            </a:r>
            <a:endParaRPr lang="en-US" dirty="0"/>
          </a:p>
          <a:p>
            <a:pPr lvl="1"/>
            <a:r>
              <a:rPr lang="en-US" dirty="0" err="1"/>
              <a:t>kori</a:t>
            </a:r>
            <a:r>
              <a:rPr lang="sr-Latn-RS" dirty="0"/>
              <a:t>šćenje odgovarajućih metrika za evaluaciju kvaliteta</a:t>
            </a:r>
          </a:p>
          <a:p>
            <a:pPr lvl="1"/>
            <a:r>
              <a:rPr lang="en-US" dirty="0" err="1"/>
              <a:t>obuku</a:t>
            </a:r>
            <a:r>
              <a:rPr lang="en-US" dirty="0"/>
              <a:t> </a:t>
            </a:r>
            <a:r>
              <a:rPr lang="en-US" dirty="0" err="1"/>
              <a:t>korisnika</a:t>
            </a:r>
            <a:endParaRPr lang="sr-Latn-RS" dirty="0"/>
          </a:p>
          <a:p>
            <a:pPr lvl="1"/>
            <a:r>
              <a:rPr lang="en-US" dirty="0" err="1"/>
              <a:t>upravljanje</a:t>
            </a:r>
            <a:r>
              <a:rPr lang="en-US" dirty="0"/>
              <a:t> </a:t>
            </a:r>
            <a:r>
              <a:rPr lang="en-US" dirty="0" err="1"/>
              <a:t>rizikom</a:t>
            </a:r>
            <a:endParaRPr lang="sr-Latn-RS" dirty="0"/>
          </a:p>
          <a:p>
            <a:pPr lvl="1"/>
            <a:r>
              <a:rPr lang="sr-Latn-RS" dirty="0"/>
              <a:t>...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563629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Obezbeđenje kvaliteta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8001000" cy="5029200"/>
          </a:xfrm>
        </p:spPr>
        <p:txBody>
          <a:bodyPr>
            <a:normAutofit fontScale="85000" lnSpcReduction="20000"/>
          </a:bodyPr>
          <a:lstStyle/>
          <a:p>
            <a:r>
              <a:rPr lang="sr-Latn-RS" dirty="0"/>
              <a:t>Obezbeđenje kvaliteta se vrši primenom standarda, pravila, zakonskih obaveza</a:t>
            </a:r>
          </a:p>
          <a:p>
            <a:pPr lvl="1"/>
            <a:r>
              <a:rPr lang="sr-Latn-RS" dirty="0"/>
              <a:t>Kompanijski standardi</a:t>
            </a:r>
          </a:p>
          <a:p>
            <a:pPr lvl="2"/>
            <a:r>
              <a:rPr lang="sr-Latn-RS" dirty="0"/>
              <a:t>interne odredbe, procedure i smernice</a:t>
            </a:r>
          </a:p>
          <a:p>
            <a:pPr lvl="2"/>
            <a:r>
              <a:rPr lang="sr-Latn-RS" dirty="0"/>
              <a:t>npr. dokument o upravljanju kvalitetom, šabloni za test dokumentaciju, konvencije programskog koda</a:t>
            </a:r>
          </a:p>
          <a:p>
            <a:pPr lvl="1"/>
            <a:r>
              <a:rPr lang="sr-Latn-RS" dirty="0"/>
              <a:t>Dobre prakse</a:t>
            </a:r>
          </a:p>
          <a:p>
            <a:pPr lvl="2"/>
            <a:r>
              <a:rPr lang="sr-Latn-RS" dirty="0"/>
              <a:t>široko prihvaćene metode rada u određenoj oblasti</a:t>
            </a:r>
          </a:p>
          <a:p>
            <a:pPr lvl="1"/>
            <a:r>
              <a:rPr lang="sr-Latn-RS" dirty="0"/>
              <a:t>Standardi upravljanja kvalitetom</a:t>
            </a:r>
          </a:p>
          <a:p>
            <a:pPr lvl="2"/>
            <a:r>
              <a:rPr lang="sr-Latn-RS" dirty="0"/>
              <a:t>generalni standardi koji se odnose na različite industrijske grane</a:t>
            </a:r>
          </a:p>
          <a:p>
            <a:pPr lvl="2"/>
            <a:r>
              <a:rPr lang="sr-Latn-RS" dirty="0"/>
              <a:t>specificiraju minimalne zahteve kvaliteta</a:t>
            </a:r>
          </a:p>
          <a:p>
            <a:pPr lvl="2"/>
            <a:r>
              <a:rPr lang="sr-Latn-RS" dirty="0"/>
              <a:t>ne bave se metodama implementacije kojima se kvalitet dostiže</a:t>
            </a:r>
          </a:p>
          <a:p>
            <a:pPr lvl="1"/>
            <a:r>
              <a:rPr lang="sr-Latn-RS" dirty="0"/>
              <a:t>Standardi za specifičnu industrijsku granu</a:t>
            </a:r>
          </a:p>
          <a:p>
            <a:pPr lvl="2"/>
            <a:r>
              <a:rPr lang="sr-Latn-RS" dirty="0"/>
              <a:t>svaka industrija ima svoje standarde kvaliteta</a:t>
            </a:r>
          </a:p>
          <a:p>
            <a:pPr lvl="1"/>
            <a:r>
              <a:rPr lang="sr-Latn-RS" dirty="0"/>
              <a:t>Standardi za testiranje softvera</a:t>
            </a:r>
          </a:p>
          <a:p>
            <a:pPr lvl="2"/>
            <a:r>
              <a:rPr lang="sr-Latn-RS" dirty="0"/>
              <a:t>odnose se na bilo koji tip softvera</a:t>
            </a:r>
          </a:p>
          <a:p>
            <a:pPr lvl="2"/>
            <a:r>
              <a:rPr lang="sr-Latn-RS" dirty="0"/>
              <a:t>bave se dokumentacijom i procesom testiranja</a:t>
            </a:r>
          </a:p>
          <a:p>
            <a:pPr lvl="2"/>
            <a:r>
              <a:rPr lang="sr-Latn-RS" dirty="0"/>
              <a:t>npr. IEEE 829, IEEE 1028, ISO 29119</a:t>
            </a:r>
          </a:p>
          <a:p>
            <a:pPr lvl="1"/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40260476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Test plan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Dokument koji sadrži podatke koji se tiču planiranja testiranja aplikacije</a:t>
            </a:r>
          </a:p>
          <a:p>
            <a:r>
              <a:rPr lang="sr-Latn-RS" dirty="0"/>
              <a:t>Podaci se tiču sledećih aktivnosti planiranja</a:t>
            </a:r>
          </a:p>
          <a:p>
            <a:pPr lvl="1"/>
            <a:r>
              <a:rPr lang="sr-Latn-RS" dirty="0"/>
              <a:t>izbor generalnog pristupa i strategije testiranja</a:t>
            </a:r>
          </a:p>
          <a:p>
            <a:pPr lvl="1"/>
            <a:r>
              <a:rPr lang="sr-Latn-RS" dirty="0"/>
              <a:t>izbor test okruženja i načina automatizacije testova</a:t>
            </a:r>
          </a:p>
          <a:p>
            <a:pPr lvl="1"/>
            <a:r>
              <a:rPr lang="sr-Latn-RS" dirty="0"/>
              <a:t>izbor nivoa testiranja i veza između njih</a:t>
            </a:r>
          </a:p>
          <a:p>
            <a:pPr lvl="1"/>
            <a:r>
              <a:rPr lang="sr-Latn-RS" dirty="0"/>
              <a:t>integracija testiranja sa drugim aktivnostima u okviru projekta</a:t>
            </a:r>
          </a:p>
          <a:p>
            <a:pPr lvl="1"/>
            <a:r>
              <a:rPr lang="sr-Latn-RS" dirty="0"/>
              <a:t>izbor načina evaluacije rezultata testiranja</a:t>
            </a:r>
          </a:p>
          <a:p>
            <a:pPr lvl="1"/>
            <a:r>
              <a:rPr lang="sr-Latn-RS" dirty="0"/>
              <a:t>izbor metrike za kriterijum završetka testiranja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502072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Test plan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8001000" cy="4572000"/>
          </a:xfrm>
        </p:spPr>
        <p:txBody>
          <a:bodyPr/>
          <a:lstStyle/>
          <a:p>
            <a:r>
              <a:rPr lang="sr-Latn-RS" dirty="0"/>
              <a:t>Aktivnosti planiranja (nastavak sa prethodnog slajda)</a:t>
            </a:r>
          </a:p>
          <a:p>
            <a:pPr lvl="1"/>
            <a:r>
              <a:rPr lang="sr-Latn-RS" dirty="0"/>
              <a:t>izbor načina dokumentovanja testiranja i izbor šablona dokumenata</a:t>
            </a:r>
          </a:p>
          <a:p>
            <a:pPr lvl="1"/>
            <a:r>
              <a:rPr lang="sr-Latn-RS" dirty="0"/>
              <a:t>izbor šta se testira </a:t>
            </a:r>
          </a:p>
          <a:p>
            <a:pPr lvl="1"/>
            <a:r>
              <a:rPr lang="sr-Latn-RS" dirty="0"/>
              <a:t>ko i kada vrši testiranje</a:t>
            </a:r>
          </a:p>
          <a:p>
            <a:pPr lvl="1"/>
            <a:r>
              <a:rPr lang="sr-Latn-RS" dirty="0"/>
              <a:t>odluka o intenzitetu testiranja</a:t>
            </a:r>
          </a:p>
          <a:p>
            <a:pPr lvl="1"/>
            <a:r>
              <a:rPr lang="sr-Latn-RS" dirty="0"/>
              <a:t>izračunavanje napora i troškova potrebnih/utrošenih za testiranje</a:t>
            </a:r>
          </a:p>
          <a:p>
            <a:pPr lvl="1"/>
            <a:endParaRPr lang="sr-Latn-RS" dirty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10565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Test plan prema IEEE 829-2008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sr-Latn-RS" dirty="0"/>
              <a:t>Predviđa </a:t>
            </a:r>
          </a:p>
          <a:p>
            <a:pPr lvl="1"/>
            <a:r>
              <a:rPr lang="sr-Latn-RS" dirty="0"/>
              <a:t>master test plan</a:t>
            </a:r>
          </a:p>
          <a:p>
            <a:pPr lvl="2"/>
            <a:r>
              <a:rPr lang="sr-Latn-RS" dirty="0"/>
              <a:t>sadrži generalni plan testiranja za ceo projekat</a:t>
            </a:r>
          </a:p>
          <a:p>
            <a:pPr lvl="2"/>
            <a:r>
              <a:rPr lang="sr-Latn-RS" dirty="0"/>
              <a:t>za svaku fazu životnog ciklusa testiranja predviđa konkretne aktivnosti, resurse i učesnike</a:t>
            </a:r>
          </a:p>
          <a:p>
            <a:pPr lvl="1"/>
            <a:r>
              <a:rPr lang="sr-Latn-RS" dirty="0"/>
              <a:t>level test plan</a:t>
            </a:r>
          </a:p>
          <a:p>
            <a:pPr lvl="2"/>
            <a:r>
              <a:rPr lang="sr-Latn-RS" dirty="0"/>
              <a:t>plan testiranja za određeni nivo testiranja</a:t>
            </a:r>
          </a:p>
          <a:p>
            <a:pPr lvl="2"/>
            <a:r>
              <a:rPr lang="sr-Latn-RS" dirty="0"/>
              <a:t>tako imamo </a:t>
            </a:r>
            <a:r>
              <a:rPr lang="sr-Latn-RS" i="1" dirty="0"/>
              <a:t>component test plan, integration test plan, system test plan</a:t>
            </a:r>
            <a:r>
              <a:rPr lang="sr-Latn-RS" dirty="0"/>
              <a:t>, ...</a:t>
            </a:r>
          </a:p>
          <a:p>
            <a:pPr lvl="2"/>
            <a:r>
              <a:rPr lang="sr-Latn-RS" dirty="0"/>
              <a:t>za svaki nivo testiranja se definiše </a:t>
            </a:r>
          </a:p>
          <a:p>
            <a:pPr lvl="3"/>
            <a:r>
              <a:rPr lang="sr-Latn-RS" dirty="0"/>
              <a:t>pristup, resursi i raspored aktivnosti</a:t>
            </a:r>
          </a:p>
          <a:p>
            <a:pPr lvl="3"/>
            <a:r>
              <a:rPr lang="sr-Latn-RS" dirty="0"/>
              <a:t>šta će biti testirano</a:t>
            </a:r>
          </a:p>
          <a:p>
            <a:pPr lvl="3"/>
            <a:r>
              <a:rPr lang="sr-Latn-RS" dirty="0"/>
              <a:t>konkretne aktivnosti kojima će se vršiti testiranje</a:t>
            </a:r>
          </a:p>
          <a:p>
            <a:pPr lvl="3"/>
            <a:r>
              <a:rPr lang="sr-Latn-RS" dirty="0"/>
              <a:t>odgovorne osobe za svaku aktivnosti</a:t>
            </a:r>
          </a:p>
          <a:p>
            <a:pPr lvl="2"/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5976437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sz="3200" dirty="0"/>
              <a:t>Master test plan prema IEEE 829-2008</a:t>
            </a:r>
            <a:endParaRPr lang="en-GB" sz="32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295400"/>
            <a:ext cx="5089182" cy="54041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104236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sz="3200" dirty="0"/>
              <a:t>Master test plan prema IEEE 829-2008</a:t>
            </a:r>
            <a:endParaRPr lang="en-GB" sz="32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600200"/>
            <a:ext cx="6838950" cy="4352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329046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sz="3200" dirty="0"/>
              <a:t>Level test plan prema IEEE 829-2008</a:t>
            </a:r>
            <a:endParaRPr lang="en-GB" sz="32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676400"/>
            <a:ext cx="5953125" cy="438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518233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sz="3200" dirty="0"/>
              <a:t>Level test plan prema IEEE 829-2008</a:t>
            </a:r>
            <a:endParaRPr lang="en-GB" sz="32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8325" y="1828800"/>
            <a:ext cx="546735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550827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Prioriteti testova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r>
              <a:rPr lang="sr-Latn-RS" dirty="0"/>
              <a:t>Nekada vreme i budžet ne dozvoljavaju kreiranje ili izvršavanje svih planiranih testova ili nivoa testiranja</a:t>
            </a:r>
          </a:p>
          <a:p>
            <a:r>
              <a:rPr lang="sr-Latn-RS" dirty="0"/>
              <a:t>Tada se mora napraviti izbor testova koji se realizuju</a:t>
            </a:r>
          </a:p>
          <a:p>
            <a:pPr lvl="1"/>
            <a:r>
              <a:rPr lang="sr-Latn-RS" dirty="0"/>
              <a:t>moraju se uspostaviti prioriteti testova</a:t>
            </a:r>
          </a:p>
          <a:p>
            <a:r>
              <a:rPr lang="sr-Latn-RS" dirty="0"/>
              <a:t>Pravilo uspostavljanja prioriteta</a:t>
            </a:r>
          </a:p>
          <a:p>
            <a:pPr lvl="1"/>
            <a:r>
              <a:rPr lang="sr-Latn-RS" dirty="0"/>
              <a:t>ako se testiranje prevremeno zaustavi, moramo biti sigurni da su postignuti najbolji mogući rezultati testiranja obzirom na dužinu trajanja testiranja</a:t>
            </a:r>
          </a:p>
          <a:p>
            <a:r>
              <a:rPr lang="sr-Latn-RS" dirty="0"/>
              <a:t>To znači da prvo </a:t>
            </a:r>
            <a:r>
              <a:rPr lang="sr-Latn-RS"/>
              <a:t>treba realizovati </a:t>
            </a:r>
            <a:r>
              <a:rPr lang="sr-Latn-RS" dirty="0"/>
              <a:t>važnije testove</a:t>
            </a:r>
          </a:p>
          <a:p>
            <a:pPr lvl="1"/>
            <a:r>
              <a:rPr lang="sr-Latn-RS" dirty="0"/>
              <a:t>kako odrediti koji je test važniji?</a:t>
            </a:r>
          </a:p>
        </p:txBody>
      </p:sp>
    </p:spTree>
    <p:extLst>
      <p:ext uri="{BB962C8B-B14F-4D97-AF65-F5344CB8AC3E}">
        <p14:creationId xmlns:p14="http://schemas.microsoft.com/office/powerpoint/2010/main" val="6463256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Kriterijumi izbora prioriteta testa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371600"/>
            <a:ext cx="7772400" cy="4800600"/>
          </a:xfrm>
        </p:spPr>
        <p:txBody>
          <a:bodyPr>
            <a:normAutofit/>
          </a:bodyPr>
          <a:lstStyle/>
          <a:p>
            <a:r>
              <a:rPr lang="sr-Latn-RS" dirty="0"/>
              <a:t>Određuje se na osnovu funkcionalnosti koju test testira </a:t>
            </a:r>
          </a:p>
          <a:p>
            <a:r>
              <a:rPr lang="sr-Latn-RS" dirty="0"/>
              <a:t>Sledeće osobine testa se uzimaju u obzir</a:t>
            </a:r>
          </a:p>
          <a:p>
            <a:pPr lvl="1"/>
            <a:r>
              <a:rPr lang="sr-Latn-RS" dirty="0"/>
              <a:t>učestalost korišćenja i verovatnoća otkaza funkcionalnosti</a:t>
            </a:r>
          </a:p>
          <a:p>
            <a:pPr lvl="2"/>
            <a:r>
              <a:rPr lang="sr-Latn-RS" dirty="0"/>
              <a:t>ako često korišćena funkcionalnost sadrži nedostatak, verovatno će taj nedostatak izazvati otkaz sistema</a:t>
            </a:r>
          </a:p>
          <a:p>
            <a:pPr lvl="1"/>
            <a:r>
              <a:rPr lang="sr-Latn-RS" dirty="0"/>
              <a:t>Rizik otkaza funkcionalnosti</a:t>
            </a:r>
          </a:p>
          <a:p>
            <a:pPr lvl="2"/>
            <a:r>
              <a:rPr lang="sr-Latn-RS" dirty="0"/>
              <a:t>rizik se izračunava kao proizvod štete koju otkaz izaziva i verovatnoće da se otkaz desi</a:t>
            </a:r>
          </a:p>
        </p:txBody>
      </p:sp>
    </p:spTree>
    <p:extLst>
      <p:ext uri="{BB962C8B-B14F-4D97-AF65-F5344CB8AC3E}">
        <p14:creationId xmlns:p14="http://schemas.microsoft.com/office/powerpoint/2010/main" val="13614927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Kriterijumi izbora prioriteta testa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334000"/>
          </a:xfrm>
        </p:spPr>
        <p:txBody>
          <a:bodyPr/>
          <a:lstStyle/>
          <a:p>
            <a:r>
              <a:rPr lang="sr-Latn-RS" dirty="0"/>
              <a:t>Karakteristike testa za određivanje prioriteta (nastavak sa prethodnog slajda)</a:t>
            </a:r>
          </a:p>
          <a:p>
            <a:pPr lvl="1"/>
            <a:r>
              <a:rPr lang="sr-Latn-RS" dirty="0"/>
              <a:t>Vidljivost otkaza za krajnjeg korisnika</a:t>
            </a:r>
          </a:p>
          <a:p>
            <a:pPr lvl="2"/>
            <a:r>
              <a:rPr lang="sr-Latn-RS" dirty="0"/>
              <a:t>nedostaci koji se tiču grafičkog interfejsa ili onemogućuju korišćenje sistema imaju veći prioritet u otklanjanju</a:t>
            </a:r>
          </a:p>
          <a:p>
            <a:pPr lvl="2"/>
            <a:endParaRPr lang="sr-Latn-RS" dirty="0"/>
          </a:p>
          <a:p>
            <a:pPr lvl="2"/>
            <a:endParaRPr lang="sr-Latn-RS" dirty="0"/>
          </a:p>
          <a:p>
            <a:pPr lvl="1"/>
            <a:r>
              <a:rPr lang="sr-Latn-RS" dirty="0"/>
              <a:t>Važnost zahteva</a:t>
            </a:r>
          </a:p>
          <a:p>
            <a:pPr lvl="2"/>
            <a:r>
              <a:rPr lang="sr-Latn-RS" dirty="0"/>
              <a:t>naručilac pridaje različit značaj pojedinačnim zahtevima</a:t>
            </a:r>
          </a:p>
          <a:p>
            <a:pPr lvl="2"/>
            <a:r>
              <a:rPr lang="sr-Latn-RS" dirty="0"/>
              <a:t>prioritet ima testiranje funkcionalnosti koje naručilac vidi kao najznačajnije</a:t>
            </a:r>
          </a:p>
          <a:p>
            <a:pPr lvl="3"/>
            <a:r>
              <a:rPr lang="sr-Latn-RS" dirty="0"/>
              <a:t>to ne moraju uvek biti i objektivno najznačajnije funkcije</a:t>
            </a:r>
          </a:p>
        </p:txBody>
      </p:sp>
      <p:pic>
        <p:nvPicPr>
          <p:cNvPr id="4" name="Picture 2" descr="C:\Users\Goran\AppData\Local\Microsoft\Windows\INetCache\IE\UQXT3MQS\Quote-icon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8550" y="3403682"/>
            <a:ext cx="871210" cy="871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4528810" y="3441782"/>
            <a:ext cx="4438650" cy="64633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r-Latn-RS" sz="2000" i="1" dirty="0">
                <a:latin typeface="Adobe Caslon Pro Bold" pitchFamily="18" charset="0"/>
                <a:cs typeface="Adobe Arabic" pitchFamily="18" charset="-78"/>
              </a:rPr>
              <a:t>Ma neće to niko ni primetiti.</a:t>
            </a:r>
          </a:p>
          <a:p>
            <a:pPr algn="r"/>
            <a:r>
              <a:rPr lang="sr-Latn-RS" sz="1600" dirty="0">
                <a:latin typeface="Century" pitchFamily="18" charset="0"/>
                <a:cs typeface="Adobe Arabic" pitchFamily="18" charset="-78"/>
              </a:rPr>
              <a:t>Neimenovani programer</a:t>
            </a:r>
            <a:endParaRPr lang="en-GB" sz="1600" dirty="0">
              <a:latin typeface="Century" pitchFamily="18" charset="0"/>
              <a:cs typeface="Adobe Arabic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2494433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Kriterijumi izbora prioriteta testa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Karakteristike testa za određivanje prioriteta (nastavak sa prethodnog slajda)</a:t>
            </a:r>
          </a:p>
          <a:p>
            <a:pPr lvl="1"/>
            <a:r>
              <a:rPr lang="sr-Latn-RS" dirty="0"/>
              <a:t>važnost nefunkcionalnog zahteva</a:t>
            </a:r>
          </a:p>
          <a:p>
            <a:pPr lvl="2"/>
            <a:r>
              <a:rPr lang="sr-Latn-RS" dirty="0"/>
              <a:t>ako test testira nefunkcionalni zahtev</a:t>
            </a:r>
          </a:p>
          <a:p>
            <a:pPr lvl="2"/>
            <a:r>
              <a:rPr lang="sr-Latn-RS" dirty="0"/>
              <a:t>nemaju svi nefunkcionalni zahtevi za naručioca istu važnost</a:t>
            </a:r>
          </a:p>
          <a:p>
            <a:pPr lvl="2"/>
            <a:r>
              <a:rPr lang="sr-Latn-RS" dirty="0"/>
              <a:t>npr. za neku aplikaciju koju koristi ograničeni broj korisnika zahtevi za dobrim performansama mogu biti važniji od bezbednosti aplikacije</a:t>
            </a:r>
          </a:p>
          <a:p>
            <a:pPr lvl="1"/>
            <a:r>
              <a:rPr lang="sr-Latn-RS" dirty="0"/>
              <a:t>važnost testa iz perspektive razvoja aplikacije</a:t>
            </a:r>
          </a:p>
          <a:p>
            <a:pPr lvl="2"/>
            <a:r>
              <a:rPr lang="sr-Latn-RS" dirty="0"/>
              <a:t>programer analizira kakve posledice nedostatak u testiranoj komponenti ima na kompletan razvoj aplikacije</a:t>
            </a:r>
          </a:p>
          <a:p>
            <a:pPr lvl="1"/>
            <a:endParaRPr lang="sr-Latn-RS" dirty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894025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Kriterijumi izbora prioriteta testa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029200"/>
          </a:xfrm>
        </p:spPr>
        <p:txBody>
          <a:bodyPr>
            <a:normAutofit lnSpcReduction="10000"/>
          </a:bodyPr>
          <a:lstStyle/>
          <a:p>
            <a:r>
              <a:rPr lang="sr-Latn-RS" dirty="0"/>
              <a:t>Karakteristike testa za određivanje prioriteta (nastavak sa prethodnog slajda)</a:t>
            </a:r>
          </a:p>
          <a:p>
            <a:pPr lvl="1"/>
            <a:r>
              <a:rPr lang="sr-Latn-RS" dirty="0"/>
              <a:t>Kompleksnost testirane komponente</a:t>
            </a:r>
          </a:p>
          <a:p>
            <a:pPr lvl="2"/>
            <a:r>
              <a:rPr lang="sr-Latn-RS" dirty="0"/>
              <a:t>kompleksni delovi programa trebaju biti intenzivnije testirani</a:t>
            </a:r>
          </a:p>
          <a:p>
            <a:pPr lvl="3"/>
            <a:r>
              <a:rPr lang="sr-Latn-RS" dirty="0"/>
              <a:t>potencijalno kriju više nedostataka</a:t>
            </a:r>
          </a:p>
          <a:p>
            <a:pPr lvl="2"/>
            <a:r>
              <a:rPr lang="sr-Latn-RS" dirty="0"/>
              <a:t>voditi računa i da naizgled jednostavni delovi programa mogu imati nedostatke zbog manje pažnje s kojima su razvijani</a:t>
            </a:r>
          </a:p>
          <a:p>
            <a:pPr lvl="2"/>
            <a:r>
              <a:rPr lang="sr-Latn-RS" dirty="0"/>
              <a:t>iskustveno proceniti broj potencijalnih nedostataka</a:t>
            </a:r>
          </a:p>
          <a:p>
            <a:pPr lvl="1"/>
            <a:r>
              <a:rPr lang="sr-Latn-RS" dirty="0"/>
              <a:t>Količina otkaza u komponenti</a:t>
            </a:r>
          </a:p>
          <a:p>
            <a:pPr lvl="2"/>
            <a:r>
              <a:rPr lang="sr-Latn-RS" dirty="0"/>
              <a:t>obično se u komponenti u kojoj se pronađe puno nedostataka nalazi još dosta neotkrivenih</a:t>
            </a:r>
          </a:p>
          <a:p>
            <a:pPr lvl="2"/>
            <a:r>
              <a:rPr lang="sr-Latn-RS" dirty="0"/>
              <a:t>ovakve komponente trebaju biti među prioritetima u testiranju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84201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sz="3200" dirty="0"/>
              <a:t>Kriterijum početka testiranja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Određeni preduslovi moraju biti ispunjeni da bi se izvršilo testiranje</a:t>
            </a:r>
          </a:p>
          <a:p>
            <a:pPr lvl="1"/>
            <a:r>
              <a:rPr lang="sr-Latn-RS" dirty="0"/>
              <a:t>neracionalno je trošiti resurse na testiranje nespremnog proizvoda</a:t>
            </a:r>
          </a:p>
          <a:p>
            <a:r>
              <a:rPr lang="sr-Latn-RS" dirty="0"/>
              <a:t>Kriterijumi početka testiranja</a:t>
            </a:r>
          </a:p>
          <a:p>
            <a:pPr lvl="1"/>
            <a:r>
              <a:rPr lang="sr-Latn-RS" dirty="0"/>
              <a:t>Test okruženje mora biti spremno</a:t>
            </a:r>
          </a:p>
          <a:p>
            <a:pPr lvl="1"/>
            <a:r>
              <a:rPr lang="sr-Latn-RS" dirty="0"/>
              <a:t>Test alati su spremni za korišćenje</a:t>
            </a:r>
          </a:p>
          <a:p>
            <a:pPr lvl="1"/>
            <a:r>
              <a:rPr lang="sr-Latn-RS" dirty="0"/>
              <a:t>Test objekti postoje i nalaze se u dovoljno zrelom stanju razvoja da ih ima smisla testirati</a:t>
            </a:r>
          </a:p>
          <a:p>
            <a:pPr lvl="1"/>
            <a:r>
              <a:rPr lang="sr-Latn-RS" dirty="0"/>
              <a:t>Ulazni test podaci su dostupni</a:t>
            </a:r>
          </a:p>
          <a:p>
            <a:endParaRPr lang="sr-Latn-RS" dirty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029702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Kriterijum završetka testiranja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Kriterijum završetka je neophodan da se testiranje ne bi završilo prerano</a:t>
            </a:r>
          </a:p>
          <a:p>
            <a:pPr lvl="1"/>
            <a:r>
              <a:rPr lang="sr-Latn-RS" dirty="0"/>
              <a:t>ne sme finalni proizvod da bude „nedovoljno“ testiran</a:t>
            </a:r>
          </a:p>
          <a:p>
            <a:pPr lvl="2"/>
            <a:r>
              <a:rPr lang="sr-Latn-RS" dirty="0"/>
              <a:t>uvek postoji ova opasnost zbog ograničenog vremena i resursa </a:t>
            </a:r>
          </a:p>
          <a:p>
            <a:pPr lvl="1"/>
            <a:r>
              <a:rPr lang="sr-Latn-RS" dirty="0"/>
              <a:t>koliko je „dovoljno“ određuje ovaj kriterijum</a:t>
            </a:r>
          </a:p>
          <a:p>
            <a:endParaRPr lang="sr-Latn-RS" dirty="0"/>
          </a:p>
          <a:p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32948313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Kriterijum završetka testiranja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Mogući kriterijumi završetka</a:t>
            </a:r>
          </a:p>
          <a:p>
            <a:pPr lvl="1"/>
            <a:r>
              <a:rPr lang="sr-Latn-RS" dirty="0"/>
              <a:t>dostignuta tražena pokrivenost</a:t>
            </a:r>
          </a:p>
          <a:p>
            <a:pPr lvl="2"/>
            <a:r>
              <a:rPr lang="sr-Latn-RS" dirty="0"/>
              <a:t>pokrivenost koda, pokrivenost zahteva ili količina izvršenih testova</a:t>
            </a:r>
          </a:p>
          <a:p>
            <a:pPr lvl="1"/>
            <a:r>
              <a:rPr lang="sr-Latn-RS" dirty="0"/>
              <a:t>kvalitet proizvoda</a:t>
            </a:r>
          </a:p>
          <a:p>
            <a:pPr lvl="2"/>
            <a:r>
              <a:rPr lang="sr-Latn-RS" dirty="0"/>
              <a:t>učestalost otkaza ili ozbiljnost nedostataka</a:t>
            </a:r>
          </a:p>
          <a:p>
            <a:pPr lvl="1"/>
            <a:r>
              <a:rPr lang="sr-Latn-RS" dirty="0"/>
              <a:t>preostali rizik</a:t>
            </a:r>
          </a:p>
          <a:p>
            <a:pPr lvl="2"/>
            <a:r>
              <a:rPr lang="sr-Latn-RS" dirty="0"/>
              <a:t>količina neizvršenih testova, neispravljenih nedostataka, nepokrivenih nedostataka ili koda</a:t>
            </a:r>
          </a:p>
          <a:p>
            <a:pPr lvl="1"/>
            <a:r>
              <a:rPr lang="sr-Latn-RS" dirty="0"/>
              <a:t>ekonomska ograničenja</a:t>
            </a:r>
          </a:p>
          <a:p>
            <a:pPr lvl="2"/>
            <a:r>
              <a:rPr lang="sr-Latn-RS" dirty="0"/>
              <a:t>dozvoljeni troškovi, rokovi isporuke, kriterijumi tržišta</a:t>
            </a:r>
          </a:p>
          <a:p>
            <a:pPr lvl="2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1951270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1505930"/>
            <a:ext cx="8229600" cy="1470025"/>
          </a:xfrm>
        </p:spPr>
        <p:txBody>
          <a:bodyPr/>
          <a:lstStyle/>
          <a:p>
            <a:r>
              <a:rPr lang="sr-Latn-RS" dirty="0"/>
              <a:t>Ekonomski aspekti</a:t>
            </a:r>
            <a:endParaRPr lang="en-GB" dirty="0"/>
          </a:p>
        </p:txBody>
      </p:sp>
      <p:sp>
        <p:nvSpPr>
          <p:cNvPr id="3" name="AutoShape 2" descr="Image result for teamwor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4" name="AutoShape 4" descr="Image result for teamwork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6148" name="Picture 4" descr="Image result for dinar najveca novcanic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3124200"/>
            <a:ext cx="5905500" cy="3543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257669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Ekonomski aspekti testiranja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Testiranje podrazumeva određene troškove</a:t>
            </a:r>
          </a:p>
          <a:p>
            <a:r>
              <a:rPr lang="sr-Latn-RS" dirty="0"/>
              <a:t>Neophodno je pratiti troškove u odnosu na budžet projekta i koristi koje testiranje donosi</a:t>
            </a:r>
          </a:p>
          <a:p>
            <a:r>
              <a:rPr lang="sr-Latn-RS" dirty="0"/>
              <a:t>Pri analizi troškova testiranja mora se uzeti u obzir i koliki bi bio trošak otkaza izazvan netestiranim nedostatkom</a:t>
            </a:r>
          </a:p>
          <a:p>
            <a:pPr lvl="1"/>
            <a:r>
              <a:rPr lang="sr-Latn-RS"/>
              <a:t>porede </a:t>
            </a:r>
            <a:r>
              <a:rPr lang="sr-Latn-RS" dirty="0"/>
              <a:t>se troškovi nedostataka sa troškovima testiranja</a:t>
            </a:r>
          </a:p>
        </p:txBody>
      </p:sp>
    </p:spTree>
    <p:extLst>
      <p:ext uri="{BB962C8B-B14F-4D97-AF65-F5344CB8AC3E}">
        <p14:creationId xmlns:p14="http://schemas.microsoft.com/office/powerpoint/2010/main" val="195972026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Troškovi nedostataka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105400"/>
          </a:xfrm>
        </p:spPr>
        <p:txBody>
          <a:bodyPr>
            <a:normAutofit lnSpcReduction="10000"/>
          </a:bodyPr>
          <a:lstStyle/>
          <a:p>
            <a:r>
              <a:rPr lang="sr-Latn-RS" dirty="0"/>
              <a:t>Izbacivanje testiranja bi moglo izazvati sledeće troškove</a:t>
            </a:r>
          </a:p>
          <a:p>
            <a:pPr lvl="1"/>
            <a:r>
              <a:rPr lang="sr-Latn-RS" dirty="0"/>
              <a:t>Direktni troškovi nedostatka</a:t>
            </a:r>
          </a:p>
          <a:p>
            <a:pPr lvl="2"/>
            <a:r>
              <a:rPr lang="sr-Latn-RS" dirty="0"/>
              <a:t>troškovi koje korisnik trpi zbog greške u funkcionisanju sistema</a:t>
            </a:r>
          </a:p>
          <a:p>
            <a:pPr lvl="3"/>
            <a:r>
              <a:rPr lang="sr-Latn-RS" dirty="0"/>
              <a:t>npr. izgubljena dobit zbog pogrešnog izračunavanja,  gubitak podataka zbog neispravnog skladištenja, oštećenje opreme, ...</a:t>
            </a:r>
          </a:p>
          <a:p>
            <a:pPr lvl="1"/>
            <a:r>
              <a:rPr lang="sr-Latn-RS" dirty="0"/>
              <a:t>Indirektni troškovi nedostatka</a:t>
            </a:r>
          </a:p>
          <a:p>
            <a:pPr lvl="2"/>
            <a:r>
              <a:rPr lang="sr-Latn-RS" dirty="0"/>
              <a:t>troškovi koje klijent trpi zbog nezadovoljstva korisnika</a:t>
            </a:r>
          </a:p>
          <a:p>
            <a:pPr lvl="3"/>
            <a:r>
              <a:rPr lang="sr-Latn-RS" dirty="0"/>
              <a:t>pad prodaje proizvoda</a:t>
            </a:r>
          </a:p>
          <a:p>
            <a:pPr lvl="2"/>
            <a:r>
              <a:rPr lang="sr-Latn-RS" dirty="0"/>
              <a:t>povećani troškovi korisničke podrške</a:t>
            </a:r>
          </a:p>
          <a:p>
            <a:pPr lvl="2"/>
            <a:r>
              <a:rPr lang="sr-Latn-RS" dirty="0"/>
              <a:t>pravni troškovi</a:t>
            </a:r>
          </a:p>
          <a:p>
            <a:pPr lvl="3"/>
            <a:r>
              <a:rPr lang="sr-Latn-RS" dirty="0"/>
              <a:t>gubitak licence zbog neusklađenosti sa standardima</a:t>
            </a:r>
          </a:p>
          <a:p>
            <a:pPr lvl="3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5206591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Troškovi nedostataka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Troškovi nedovoljnog testiranja (nastavak sa prethodnog slajda)</a:t>
            </a:r>
          </a:p>
          <a:p>
            <a:pPr lvl="1"/>
            <a:r>
              <a:rPr lang="sr-Latn-RS" dirty="0"/>
              <a:t>troškovi ispravke nedostatka</a:t>
            </a:r>
          </a:p>
          <a:p>
            <a:pPr lvl="2"/>
            <a:r>
              <a:rPr lang="sr-Latn-RS" dirty="0"/>
              <a:t>resursi potrebni za analizu otkaza, ispravku, ponovno testiranje, reinstalaciju, ponovnu obuku</a:t>
            </a:r>
          </a:p>
          <a:p>
            <a:pPr lvl="2"/>
            <a:r>
              <a:rPr lang="sr-Latn-RS" dirty="0"/>
              <a:t>trpe i drugi projekti jer se resursi moraju angažovati na ispravku neispravnog proizvoda</a:t>
            </a:r>
          </a:p>
          <a:p>
            <a:pPr lvl="2"/>
            <a:endParaRPr lang="sr-Latn-RS" dirty="0"/>
          </a:p>
          <a:p>
            <a:pPr lvl="2"/>
            <a:endParaRPr lang="sr-Latn-R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6402256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Troškovi nedostataka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257800"/>
          </a:xfrm>
        </p:spPr>
        <p:txBody>
          <a:bodyPr>
            <a:normAutofit fontScale="92500" lnSpcReduction="10000"/>
          </a:bodyPr>
          <a:lstStyle/>
          <a:p>
            <a:r>
              <a:rPr lang="sr-Latn-RS" dirty="0"/>
              <a:t>Kakav i koliki trošak nedostatak izaziva zavisi od mnogo faktora</a:t>
            </a:r>
          </a:p>
          <a:p>
            <a:pPr lvl="1"/>
            <a:r>
              <a:rPr lang="sr-Latn-RS" dirty="0"/>
              <a:t>tipa nedostatka, tipa aplikacije, trenutka u kojem je nedostatak otkriven</a:t>
            </a:r>
          </a:p>
          <a:p>
            <a:r>
              <a:rPr lang="sr-Latn-RS" dirty="0"/>
              <a:t>Što je nedostatak kasnije otkriven, troškovi su veći </a:t>
            </a:r>
          </a:p>
          <a:p>
            <a:pPr lvl="1"/>
            <a:r>
              <a:rPr lang="sr-Latn-RS" dirty="0"/>
              <a:t>nedostatak napravljen u ranoj fazi razvoja (npr. u specifikaciji zahteva) povlači nove nedostatke u daljim fazama razvoja</a:t>
            </a:r>
          </a:p>
          <a:p>
            <a:pPr lvl="1"/>
            <a:r>
              <a:rPr lang="sr-Latn-RS" dirty="0"/>
              <a:t>kasno otkriven nedostatak zahteva modifikaciju mnogih delova aplikacije i ponavljanje različitih faza razvoja</a:t>
            </a:r>
          </a:p>
          <a:p>
            <a:pPr lvl="2"/>
            <a:r>
              <a:rPr lang="sr-Latn-RS" dirty="0"/>
              <a:t>čak i trivijalan nedostatak proizvodi velike troškove ukoliko se nedostatak otkrije tek kad je aplikacija u produkciji</a:t>
            </a:r>
          </a:p>
          <a:p>
            <a:pPr lvl="1"/>
            <a:r>
              <a:rPr lang="sr-Latn-RS" dirty="0"/>
              <a:t>okvirno, sa svakim nivoom testiranja se udvostručuje trošak u odnosu na trošak pronalaženja nedostatka u prethodnom nivou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9881113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sz="quarter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304799"/>
            <a:ext cx="4800600" cy="6402581"/>
          </a:xfrm>
        </p:spPr>
      </p:pic>
    </p:spTree>
    <p:extLst>
      <p:ext uri="{BB962C8B-B14F-4D97-AF65-F5344CB8AC3E}">
        <p14:creationId xmlns:p14="http://schemas.microsoft.com/office/powerpoint/2010/main" val="312770427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Troškovi testiranja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Podrazumeva sve troškove koje aktivnosti testiranja zahtevaju</a:t>
            </a:r>
          </a:p>
          <a:p>
            <a:pPr lvl="1"/>
            <a:r>
              <a:rPr lang="sr-Latn-RS" dirty="0"/>
              <a:t>priprema, dizajniranje, implementacija, izveštavanje, ...</a:t>
            </a:r>
          </a:p>
          <a:p>
            <a:r>
              <a:rPr lang="sr-Latn-RS" dirty="0"/>
              <a:t>Troškove unosi korišćenje različitih resursa</a:t>
            </a:r>
          </a:p>
          <a:p>
            <a:pPr lvl="1"/>
            <a:r>
              <a:rPr lang="sr-Latn-RS" dirty="0"/>
              <a:t>vreme, ljudi, oprema</a:t>
            </a:r>
          </a:p>
          <a:p>
            <a:pPr lvl="1"/>
            <a:r>
              <a:rPr lang="sr-Latn-RS" dirty="0"/>
              <a:t>dobro planiranje aktivnosti testiranja bi trebalo da smanji troškove koje testiranje unosi</a:t>
            </a:r>
          </a:p>
          <a:p>
            <a:endParaRPr lang="sr-Latn-R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2139004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Troškovi testiranja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029200"/>
          </a:xfrm>
        </p:spPr>
        <p:txBody>
          <a:bodyPr>
            <a:normAutofit/>
          </a:bodyPr>
          <a:lstStyle/>
          <a:p>
            <a:r>
              <a:rPr lang="sr-Latn-RS" dirty="0"/>
              <a:t>Faktori koji utiču na troškove testiranja</a:t>
            </a:r>
          </a:p>
          <a:p>
            <a:pPr lvl="1"/>
            <a:r>
              <a:rPr lang="sr-Latn-RS" dirty="0"/>
              <a:t>zrelost procesa razvoja softvera</a:t>
            </a:r>
          </a:p>
          <a:p>
            <a:pPr lvl="2"/>
            <a:r>
              <a:rPr lang="sr-Latn-RS" dirty="0"/>
              <a:t>stabilnost organizacije u kojoj se sistem razvija</a:t>
            </a:r>
          </a:p>
          <a:p>
            <a:pPr lvl="2"/>
            <a:r>
              <a:rPr lang="sr-Latn-RS" dirty="0"/>
              <a:t>razvijenost poslovnih procesa u organizaciji</a:t>
            </a:r>
          </a:p>
          <a:p>
            <a:pPr lvl="2"/>
            <a:r>
              <a:rPr lang="sr-Latn-RS" dirty="0"/>
              <a:t>kvalitet programera (broj grešaka koje produkuju)</a:t>
            </a:r>
          </a:p>
          <a:p>
            <a:pPr lvl="2"/>
            <a:r>
              <a:rPr lang="sr-Latn-RS" dirty="0"/>
              <a:t>vremenski okvir projekta </a:t>
            </a:r>
          </a:p>
          <a:p>
            <a:pPr lvl="2"/>
            <a:r>
              <a:rPr lang="sr-Latn-RS" dirty="0"/>
              <a:t>kvalitet planova testiranja</a:t>
            </a:r>
          </a:p>
          <a:p>
            <a:pPr lvl="2"/>
            <a:r>
              <a:rPr lang="sr-Latn-RS" dirty="0"/>
              <a:t>stepen razvijenosti procesa testiranja (organizovanost upravljanja testiranjem)</a:t>
            </a:r>
          </a:p>
          <a:p>
            <a:pPr lvl="1"/>
            <a:endParaRPr lang="sr-Latn-RS" dirty="0"/>
          </a:p>
          <a:p>
            <a:pPr lvl="3"/>
            <a:endParaRPr lang="sr-Latn-RS" dirty="0"/>
          </a:p>
          <a:p>
            <a:pPr lvl="1"/>
            <a:endParaRPr lang="sr-Latn-RS" dirty="0"/>
          </a:p>
          <a:p>
            <a:pPr lvl="2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9734683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Troškovi testiranja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Faktori koji utiču na troškove testiranja (nastavak sa prethodnog slajda)</a:t>
            </a:r>
          </a:p>
          <a:p>
            <a:pPr lvl="1"/>
            <a:r>
              <a:rPr lang="sr-Latn-RS" dirty="0"/>
              <a:t>kvalitet i mogućnost testiranja softvera</a:t>
            </a:r>
          </a:p>
          <a:p>
            <a:pPr lvl="2"/>
            <a:r>
              <a:rPr lang="sr-Latn-RS" dirty="0"/>
              <a:t>broj i raspoređenost nedostataka u programu</a:t>
            </a:r>
          </a:p>
          <a:p>
            <a:pPr lvl="2"/>
            <a:r>
              <a:rPr lang="sr-Latn-RS" dirty="0"/>
              <a:t>količina i kvalitet dokumentacije koja se koristi kao osnova testiranja</a:t>
            </a:r>
          </a:p>
          <a:p>
            <a:pPr lvl="2"/>
            <a:r>
              <a:rPr lang="sr-Latn-RS" dirty="0"/>
              <a:t>veličina, tip i način implementacije softvera</a:t>
            </a:r>
          </a:p>
          <a:p>
            <a:pPr lvl="3"/>
            <a:r>
              <a:rPr lang="sr-Latn-RS" dirty="0"/>
              <a:t>neke tehnologije podstiču pisanje koda koji se može lakše testirati</a:t>
            </a:r>
          </a:p>
          <a:p>
            <a:pPr lvl="2"/>
            <a:r>
              <a:rPr lang="sr-Latn-RS" dirty="0"/>
              <a:t>kompleksnost implementacije softvera</a:t>
            </a:r>
          </a:p>
          <a:p>
            <a:pPr lvl="2"/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294164501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Troškovi testiranja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105400"/>
          </a:xfrm>
        </p:spPr>
        <p:txBody>
          <a:bodyPr/>
          <a:lstStyle/>
          <a:p>
            <a:r>
              <a:rPr lang="sr-Latn-RS" dirty="0"/>
              <a:t>Faktori koji utiču na troškove testiranja (nastavak sa prethodnog slajda)</a:t>
            </a:r>
          </a:p>
          <a:p>
            <a:pPr lvl="1"/>
            <a:r>
              <a:rPr lang="sr-Latn-RS" dirty="0"/>
              <a:t>infrastruktura za testiranje</a:t>
            </a:r>
          </a:p>
          <a:p>
            <a:pPr lvl="2"/>
            <a:r>
              <a:rPr lang="sr-Latn-RS" dirty="0"/>
              <a:t>dostupnost alata za testiranje</a:t>
            </a:r>
          </a:p>
          <a:p>
            <a:pPr lvl="2"/>
            <a:r>
              <a:rPr lang="sr-Latn-RS" dirty="0"/>
              <a:t>kvalitet test okruženja</a:t>
            </a:r>
          </a:p>
          <a:p>
            <a:pPr lvl="2"/>
            <a:r>
              <a:rPr lang="sr-Latn-RS" dirty="0"/>
              <a:t>tehnologija koja se koristi za testiranje</a:t>
            </a:r>
          </a:p>
          <a:p>
            <a:pPr lvl="2"/>
            <a:r>
              <a:rPr lang="sr-Latn-RS" dirty="0"/>
              <a:t>postojanje i dostupnost standarda i procedura za testiranje</a:t>
            </a:r>
          </a:p>
          <a:p>
            <a:pPr lvl="1"/>
            <a:r>
              <a:rPr lang="sr-Latn-RS" dirty="0"/>
              <a:t>kvalifikovanost kadrova</a:t>
            </a:r>
          </a:p>
          <a:p>
            <a:pPr lvl="2"/>
            <a:r>
              <a:rPr lang="sr-Latn-RS" dirty="0"/>
              <a:t>iskustvo koje testeri imaju u testiranju</a:t>
            </a:r>
          </a:p>
          <a:p>
            <a:pPr lvl="2"/>
            <a:r>
              <a:rPr lang="sr-Latn-RS" dirty="0"/>
              <a:t>iskustvo koje testeri imaju sa test alatima, okruženjem i tehnologijom koja se koristi u testiranju</a:t>
            </a:r>
          </a:p>
          <a:p>
            <a:pPr lvl="2"/>
            <a:r>
              <a:rPr lang="sr-Latn-RS" dirty="0"/>
              <a:t>poznavanje test objekata koje testiraju</a:t>
            </a:r>
          </a:p>
          <a:p>
            <a:pPr lvl="2"/>
            <a:r>
              <a:rPr lang="sr-Latn-RS" dirty="0"/>
              <a:t>saradnja između testera, programera, menadžera i klijenta</a:t>
            </a:r>
          </a:p>
          <a:p>
            <a:pPr lvl="2"/>
            <a:endParaRPr lang="sr-Latn-RS" dirty="0"/>
          </a:p>
          <a:p>
            <a:pPr lvl="2"/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350525992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Troškovi testiranja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sr-Latn-RS" dirty="0"/>
              <a:t>Faktori koji utiču na troškove testiranja (nastavak sa prethodnog slajda)</a:t>
            </a:r>
          </a:p>
          <a:p>
            <a:pPr lvl="1"/>
            <a:r>
              <a:rPr lang="sr-Latn-RS" dirty="0"/>
              <a:t>zahtevani kvalitet</a:t>
            </a:r>
          </a:p>
          <a:p>
            <a:pPr lvl="2"/>
            <a:r>
              <a:rPr lang="sr-Latn-RS" dirty="0"/>
              <a:t>zahtevana pokrivenost</a:t>
            </a:r>
          </a:p>
          <a:p>
            <a:pPr lvl="2"/>
            <a:r>
              <a:rPr lang="sr-Latn-RS" dirty="0"/>
              <a:t>zahtevana pouzdanost</a:t>
            </a:r>
          </a:p>
          <a:p>
            <a:pPr lvl="3"/>
            <a:r>
              <a:rPr lang="sr-Latn-RS" dirty="0"/>
              <a:t>koja količina nedostataka preostalih nakon testiranja se toleriše</a:t>
            </a:r>
          </a:p>
          <a:p>
            <a:pPr lvl="2"/>
            <a:r>
              <a:rPr lang="sr-Latn-RS" dirty="0"/>
              <a:t>zahtevani nivo nefunkcionalnih zahteva</a:t>
            </a:r>
          </a:p>
          <a:p>
            <a:pPr lvl="3"/>
            <a:r>
              <a:rPr lang="sr-Latn-RS" dirty="0"/>
              <a:t>bezbednost, performanse, ...</a:t>
            </a:r>
          </a:p>
          <a:p>
            <a:pPr lvl="3"/>
            <a:r>
              <a:rPr lang="sr-Latn-RS" dirty="0"/>
              <a:t>od toga zavisi da li je određeni tip testiranja uopšte potrebno uvoditi </a:t>
            </a:r>
          </a:p>
          <a:p>
            <a:pPr lvl="3"/>
            <a:r>
              <a:rPr lang="sr-Latn-RS" dirty="0"/>
              <a:t>svaki tip testiranja zahteva nove troškove, uvođenje novih specijalista u projekat, ...</a:t>
            </a:r>
          </a:p>
          <a:p>
            <a:pPr lvl="2"/>
            <a:r>
              <a:rPr lang="sr-Latn-RS" dirty="0"/>
              <a:t>zahtevana količina dokumentacije</a:t>
            </a:r>
          </a:p>
          <a:p>
            <a:pPr lvl="2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6997163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Troškovi testiranja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Faktori koji utiču na troškove testiranja (nastavak sa prethodnog slajda)</a:t>
            </a:r>
          </a:p>
          <a:p>
            <a:pPr lvl="1"/>
            <a:r>
              <a:rPr lang="sr-Latn-RS" dirty="0"/>
              <a:t>pristup testiranju</a:t>
            </a:r>
          </a:p>
          <a:p>
            <a:pPr lvl="2"/>
            <a:r>
              <a:rPr lang="sr-Latn-RS" dirty="0"/>
              <a:t>ciljevi testiranja</a:t>
            </a:r>
          </a:p>
          <a:p>
            <a:pPr lvl="3"/>
            <a:r>
              <a:rPr lang="sr-Latn-RS" dirty="0"/>
              <a:t>zavise od zahtevanog kvaliteta softvera</a:t>
            </a:r>
          </a:p>
          <a:p>
            <a:pPr lvl="2"/>
            <a:r>
              <a:rPr lang="sr-Latn-RS" dirty="0"/>
              <a:t>način testiranja</a:t>
            </a:r>
          </a:p>
          <a:p>
            <a:pPr lvl="3"/>
            <a:r>
              <a:rPr lang="sr-Latn-RS" dirty="0"/>
              <a:t>nivoi i tipovi testiranja</a:t>
            </a:r>
          </a:p>
          <a:p>
            <a:pPr lvl="2"/>
            <a:r>
              <a:rPr lang="sr-Latn-RS" dirty="0"/>
              <a:t>raspored testiranja</a:t>
            </a:r>
          </a:p>
          <a:p>
            <a:pPr lvl="3"/>
            <a:r>
              <a:rPr lang="sr-Latn-RS" dirty="0"/>
              <a:t>organizacija aktivnosti testiranja u okviru kompletnog životnog ciklusa softvera</a:t>
            </a:r>
          </a:p>
          <a:p>
            <a:pPr lvl="1"/>
            <a:endParaRPr lang="sr-Latn-RS" i="1" dirty="0"/>
          </a:p>
          <a:p>
            <a:pPr lvl="2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7013737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Uticaj na troškove testiranja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181600"/>
          </a:xfrm>
        </p:spPr>
        <p:txBody>
          <a:bodyPr>
            <a:normAutofit fontScale="92500" lnSpcReduction="10000"/>
          </a:bodyPr>
          <a:lstStyle/>
          <a:p>
            <a:r>
              <a:rPr lang="sr-Latn-RS" dirty="0"/>
              <a:t>Samo na neke od pomenutih troškova se može uticati dobrim upravljanjem</a:t>
            </a:r>
          </a:p>
          <a:p>
            <a:pPr lvl="1"/>
            <a:r>
              <a:rPr lang="sr-Latn-RS" dirty="0"/>
              <a:t>neki kao što je npr. tip projekta su određeni projektnim zadatkom</a:t>
            </a:r>
          </a:p>
          <a:p>
            <a:r>
              <a:rPr lang="sr-Latn-RS" dirty="0"/>
              <a:t>Troškovi na koje se može uticati</a:t>
            </a:r>
          </a:p>
          <a:p>
            <a:pPr lvl="1"/>
            <a:r>
              <a:rPr lang="sr-Latn-RS" dirty="0"/>
              <a:t>zrelost procesa razvoja softvera</a:t>
            </a:r>
          </a:p>
          <a:p>
            <a:pPr lvl="2"/>
            <a:r>
              <a:rPr lang="sr-Latn-RS" dirty="0"/>
              <a:t>može se samo dugoročno rešavati</a:t>
            </a:r>
          </a:p>
          <a:p>
            <a:pPr lvl="2"/>
            <a:r>
              <a:rPr lang="sr-Latn-RS" dirty="0"/>
              <a:t>u datom trenutku se uvek mora prihvatiti trenutna zrelost organizacije u kojoj se projekat razvija</a:t>
            </a:r>
          </a:p>
          <a:p>
            <a:pPr lvl="1"/>
            <a:r>
              <a:rPr lang="sr-Latn-RS" dirty="0"/>
              <a:t>mogućnost testiranja softvera</a:t>
            </a:r>
          </a:p>
          <a:p>
            <a:pPr lvl="2"/>
            <a:r>
              <a:rPr lang="sr-Latn-RS" dirty="0"/>
              <a:t>zavisi od načina implementacije i procesa razvoja</a:t>
            </a:r>
          </a:p>
          <a:p>
            <a:pPr lvl="2"/>
            <a:r>
              <a:rPr lang="sr-Latn-RS" dirty="0"/>
              <a:t>podsticanjem dobrih praksi razvoja softvera, test menadžer može delimično da utiče na to da dobije softver koji je prilagođeniji za testiranje</a:t>
            </a:r>
          </a:p>
          <a:p>
            <a:pPr lvl="2"/>
            <a:r>
              <a:rPr lang="sr-Latn-RS" dirty="0"/>
              <a:t>neophodno je od samog početka razvoja razmišljati i o testiranju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8991496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Uticaj na troškove testiranja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Troškovi na koje se može uticati (nastavak sa prethodnog slajda)</a:t>
            </a:r>
          </a:p>
          <a:p>
            <a:pPr lvl="1"/>
            <a:r>
              <a:rPr lang="sr-Latn-RS" dirty="0"/>
              <a:t>infrastruktura za testiranje</a:t>
            </a:r>
          </a:p>
          <a:p>
            <a:pPr lvl="2"/>
            <a:r>
              <a:rPr lang="sr-Latn-RS" dirty="0"/>
              <a:t>određena je okolnostima u kojima se proces razvija, ali se jednim delom može uticati na to da bude odgovarajuća za efikasan proces testiranja</a:t>
            </a:r>
          </a:p>
          <a:p>
            <a:pPr lvl="2"/>
            <a:r>
              <a:rPr lang="sr-Latn-RS" dirty="0"/>
              <a:t>u toku razvoja potrebno je infrastrukturu </a:t>
            </a:r>
            <a:r>
              <a:rPr lang="sr-Latn-RS"/>
              <a:t>dalje unapređivati </a:t>
            </a:r>
            <a:r>
              <a:rPr lang="sr-Latn-RS" dirty="0"/>
              <a:t>da bi se uštedelo vreme i novac za testiranje</a:t>
            </a:r>
          </a:p>
          <a:p>
            <a:pPr lvl="1"/>
            <a:r>
              <a:rPr lang="sr-Latn-RS" dirty="0"/>
              <a:t>kvalifikovanost kadrova</a:t>
            </a:r>
          </a:p>
          <a:p>
            <a:pPr lvl="2"/>
            <a:r>
              <a:rPr lang="sr-Latn-RS" dirty="0"/>
              <a:t>određeno okolnostima, ali se može menjati promenom kadrova ili obukom postojećih</a:t>
            </a:r>
          </a:p>
          <a:p>
            <a:pPr lvl="2"/>
            <a:endParaRPr lang="sr-Latn-RS" dirty="0"/>
          </a:p>
          <a:p>
            <a:pPr lvl="2"/>
            <a:endParaRPr lang="sr-Latn-R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2801275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Uticaj na troškove testiranja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Troškovi na koje se može uticati (nastavak sa prethodnog slajda)</a:t>
            </a:r>
          </a:p>
          <a:p>
            <a:pPr lvl="1"/>
            <a:r>
              <a:rPr lang="sr-Latn-RS" dirty="0"/>
              <a:t>zahtevani kvalitet</a:t>
            </a:r>
          </a:p>
          <a:p>
            <a:pPr lvl="2"/>
            <a:r>
              <a:rPr lang="sr-Latn-RS" dirty="0"/>
              <a:t>zadat je od strane naručioca </a:t>
            </a:r>
          </a:p>
          <a:p>
            <a:pPr lvl="2"/>
            <a:r>
              <a:rPr lang="sr-Latn-RS" dirty="0"/>
              <a:t>kod sopstvenih projekata određen namenom aplikacije i odlukama višeg menadžmenta na koje test menadžment obično nema uticaj</a:t>
            </a:r>
          </a:p>
          <a:p>
            <a:pPr lvl="2"/>
            <a:r>
              <a:rPr lang="sr-Latn-RS" dirty="0"/>
              <a:t>moguće je uticati na prioritete ispunjavanja zahteva</a:t>
            </a:r>
          </a:p>
          <a:p>
            <a:pPr lvl="1"/>
            <a:r>
              <a:rPr lang="sr-Latn-RS" dirty="0"/>
              <a:t>pristup testiranju</a:t>
            </a:r>
          </a:p>
          <a:p>
            <a:pPr lvl="2"/>
            <a:r>
              <a:rPr lang="sr-Latn-RS" dirty="0"/>
              <a:t>ovo je jedina stavka na koju se uglavnom može potpuno uticati</a:t>
            </a:r>
          </a:p>
          <a:p>
            <a:pPr lvl="2"/>
            <a:r>
              <a:rPr lang="sr-Latn-RS" dirty="0"/>
              <a:t>potrebno je izabrati efikasan pristup koji će smanjiti troškove</a:t>
            </a:r>
          </a:p>
          <a:p>
            <a:pPr lvl="2"/>
            <a:endParaRPr lang="sr-Latn-R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6287972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sz="2800" dirty="0"/>
              <a:t>Izračunavanje napora utrošenog u testiranje</a:t>
            </a:r>
            <a:endParaRPr lang="en-GB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8001000" cy="4953000"/>
          </a:xfrm>
        </p:spPr>
        <p:txBody>
          <a:bodyPr>
            <a:normAutofit lnSpcReduction="10000"/>
          </a:bodyPr>
          <a:lstStyle/>
          <a:p>
            <a:r>
              <a:rPr lang="sr-Latn-RS" dirty="0"/>
              <a:t>Pre izbora i alokacije resursa potrebno je napraviti procenu o potrebnom naporu koji će biti utrošen u testiranje</a:t>
            </a:r>
          </a:p>
          <a:p>
            <a:r>
              <a:rPr lang="sr-Latn-RS" dirty="0"/>
              <a:t>Dva pristupa proceni</a:t>
            </a:r>
          </a:p>
          <a:p>
            <a:pPr marL="777240" lvl="1" indent="-457200">
              <a:buFont typeface="+mj-lt"/>
              <a:buAutoNum type="arabicPeriod"/>
            </a:pPr>
            <a:r>
              <a:rPr lang="sr-Latn-RS" dirty="0"/>
              <a:t>napraviti spisak svih zadataka vezanih za testiranje i zahtevati od izvršioca ili stručnjaka da procene obim zadatka</a:t>
            </a:r>
          </a:p>
          <a:p>
            <a:pPr marL="777240" lvl="1" indent="-457200">
              <a:buFont typeface="+mj-lt"/>
              <a:buAutoNum type="arabicPeriod"/>
            </a:pPr>
            <a:r>
              <a:rPr lang="sr-Latn-RS" dirty="0"/>
              <a:t>proceniti napor na osnovu prethodnih sličnih projekata</a:t>
            </a:r>
          </a:p>
          <a:p>
            <a:pPr marL="502920" indent="-457200"/>
            <a:r>
              <a:rPr lang="sr-Latn-RS" dirty="0"/>
              <a:t>Nepisano pravilo koje može da pomogne</a:t>
            </a:r>
          </a:p>
          <a:p>
            <a:pPr marL="777240" lvl="1" indent="-457200"/>
            <a:r>
              <a:rPr lang="sr-Latn-RS" dirty="0"/>
              <a:t>zadaci vezani za testiranje u tipičnoj poslovnoj aplikaciji troše oko 50% ukupnih resursa alociranih za projekat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4660030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1505930"/>
            <a:ext cx="8229600" cy="1470025"/>
          </a:xfrm>
        </p:spPr>
        <p:txBody>
          <a:bodyPr/>
          <a:lstStyle/>
          <a:p>
            <a:r>
              <a:rPr lang="sr-Latn-RS" dirty="0"/>
              <a:t>Izbor strategije testiranja</a:t>
            </a:r>
            <a:endParaRPr lang="en-GB" dirty="0"/>
          </a:p>
        </p:txBody>
      </p:sp>
      <p:sp>
        <p:nvSpPr>
          <p:cNvPr id="3" name="AutoShape 2" descr="Image result for teamwor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4" name="AutoShape 4" descr="Image result for teamwork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6" name="Picture 2" descr="Image result for srpske vojvod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3124200"/>
            <a:ext cx="5105400" cy="3592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376197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Test strategija ili pristup testiranju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sr-Latn-RS" dirty="0"/>
              <a:t>Definiše ciljeve testiranja i načine kako da budu ostvaren</a:t>
            </a:r>
          </a:p>
          <a:p>
            <a:pPr lvl="1"/>
            <a:r>
              <a:rPr lang="sr-Latn-RS" dirty="0"/>
              <a:t>time su definisani i napor i troškovi testiranja</a:t>
            </a:r>
          </a:p>
          <a:p>
            <a:r>
              <a:rPr lang="sr-Latn-RS" dirty="0"/>
              <a:t>Cilj je izabrati strategiju koja optimizuje odnos troškova testiranja i mogućih troškova otkaza, kao i da minimizuje rizike</a:t>
            </a:r>
          </a:p>
          <a:p>
            <a:r>
              <a:rPr lang="sr-Latn-RS" dirty="0"/>
              <a:t>Podrazumeva se da trošak testiranja treba da bude manji od troška mogućeg otkaza</a:t>
            </a:r>
          </a:p>
          <a:p>
            <a:pPr lvl="1"/>
            <a:r>
              <a:rPr lang="sr-Latn-RS" dirty="0"/>
              <a:t>retko se raspolaže svim podacima koji utiču na trošak otkaza</a:t>
            </a:r>
          </a:p>
          <a:p>
            <a:pPr lvl="1"/>
            <a:r>
              <a:rPr lang="sr-Latn-RS" dirty="0"/>
              <a:t>teško je egzaktno izračunati koliki bi trošak otkaza bio</a:t>
            </a:r>
          </a:p>
          <a:p>
            <a:pPr lvl="1"/>
            <a:r>
              <a:rPr lang="sr-Latn-RS" dirty="0"/>
              <a:t>zato se često procena vrši intuitivno umesto racionalnog izračunavanja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8583097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Preventivni vs reaktivni pristup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Ova dva pristupa razlikuju se po trenutku kada se testeri uvode u projekat</a:t>
            </a:r>
          </a:p>
          <a:p>
            <a:r>
              <a:rPr lang="sr-Latn-RS" dirty="0"/>
              <a:t>Preventivni pristup podrazumeva uključivanje testera od samog početka</a:t>
            </a:r>
          </a:p>
          <a:p>
            <a:pPr lvl="1"/>
            <a:r>
              <a:rPr lang="sr-Latn-RS" dirty="0"/>
              <a:t>testiranje je uklopljeno u proces razvoja</a:t>
            </a:r>
          </a:p>
          <a:p>
            <a:pPr lvl="1"/>
            <a:r>
              <a:rPr lang="sr-Latn-RS" dirty="0"/>
              <a:t>moguće je optimizovati testiranje i smanjiti troškove</a:t>
            </a:r>
          </a:p>
          <a:p>
            <a:pPr lvl="1"/>
            <a:r>
              <a:rPr lang="sr-Latn-RS" dirty="0"/>
              <a:t>praćenje nekog od standardnih modela razvoja softvera bi trebalo da ovo obezbedi </a:t>
            </a:r>
          </a:p>
          <a:p>
            <a:pPr lvl="1"/>
            <a:r>
              <a:rPr lang="sr-Latn-RS" dirty="0"/>
              <a:t>važno je definisati test specifikaciju i posvetiti se planiranju testiranja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1453934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Preventivni vs reaktivni pristup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876800"/>
          </a:xfrm>
        </p:spPr>
        <p:txBody>
          <a:bodyPr>
            <a:normAutofit lnSpcReduction="10000"/>
          </a:bodyPr>
          <a:lstStyle/>
          <a:p>
            <a:r>
              <a:rPr lang="sr-Latn-RS" dirty="0"/>
              <a:t>Reaktivni pristup testiranju se primenjuje kada  razvoj projekta nije od početka uzeo u obzir testiranje</a:t>
            </a:r>
          </a:p>
          <a:p>
            <a:pPr lvl="1"/>
            <a:r>
              <a:rPr lang="sr-Latn-RS" dirty="0"/>
              <a:t>testeri su kasno uvedeni</a:t>
            </a:r>
          </a:p>
          <a:p>
            <a:pPr lvl="1"/>
            <a:r>
              <a:rPr lang="sr-Latn-RS" dirty="0"/>
              <a:t>testiranje počinje tek nakon što je sistem završen ili razvijen značajan deo</a:t>
            </a:r>
          </a:p>
          <a:p>
            <a:pPr lvl="1"/>
            <a:r>
              <a:rPr lang="sr-Latn-RS" dirty="0"/>
              <a:t>aktivnosti testiranja nisu bile uklopljene u životni ciklus razvoja softvera</a:t>
            </a:r>
          </a:p>
          <a:p>
            <a:pPr lvl="1"/>
            <a:r>
              <a:rPr lang="sr-Latn-RS" dirty="0"/>
              <a:t>nije obavljeno pravovremeno planiranje testiranja</a:t>
            </a:r>
          </a:p>
          <a:p>
            <a:pPr lvl="1"/>
            <a:r>
              <a:rPr lang="sr-Latn-RS" dirty="0"/>
              <a:t>test menadžer mora naći način da naknadno integriše testiranje u takav projekat</a:t>
            </a:r>
          </a:p>
          <a:p>
            <a:pPr lvl="2"/>
            <a:r>
              <a:rPr lang="sr-Latn-RS" dirty="0"/>
              <a:t>npr. </a:t>
            </a:r>
            <a:r>
              <a:rPr lang="sr-Latn-RS" i="1" dirty="0"/>
              <a:t>exploratory</a:t>
            </a:r>
            <a:r>
              <a:rPr lang="sr-Latn-RS" dirty="0"/>
              <a:t> </a:t>
            </a:r>
            <a:r>
              <a:rPr lang="sr-Latn-RS" i="1" dirty="0"/>
              <a:t>testing </a:t>
            </a:r>
            <a:r>
              <a:rPr lang="sr-Latn-RS" dirty="0"/>
              <a:t>kao način naknadnog izučavanja i testiranja test objekta</a:t>
            </a:r>
          </a:p>
          <a:p>
            <a:pPr lvl="1"/>
            <a:endParaRPr lang="sr-Latn-RS" dirty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5159338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Preventivni vs reaktivni pristup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Treba birati preventivni pristup kad god je moguće</a:t>
            </a:r>
          </a:p>
          <a:p>
            <a:pPr lvl="1"/>
            <a:r>
              <a:rPr lang="sr-Latn-RS" dirty="0"/>
              <a:t>testiranje mora da počne što ranije</a:t>
            </a:r>
          </a:p>
          <a:p>
            <a:pPr lvl="1"/>
            <a:r>
              <a:rPr lang="sr-Latn-RS" dirty="0"/>
              <a:t>testirati treba kontinuirano kroz sve faze razvoja</a:t>
            </a:r>
          </a:p>
          <a:p>
            <a:pPr lvl="1"/>
            <a:r>
              <a:rPr lang="sr-Latn-RS" dirty="0"/>
              <a:t>kod kritičnih aplikacija je takav pristup oduvek bio obavezan</a:t>
            </a:r>
          </a:p>
          <a:p>
            <a:pPr lvl="1"/>
            <a:r>
              <a:rPr lang="sr-Latn-RS" dirty="0"/>
              <a:t>ovakav pristup postaje standard kod sve većeg broja aplikacija</a:t>
            </a:r>
          </a:p>
          <a:p>
            <a:pPr lvl="2"/>
            <a:r>
              <a:rPr lang="sr-Latn-RS" dirty="0"/>
              <a:t>kod poslovnih informacionih sistema je danas testiranje uključeno od početka razvoja</a:t>
            </a:r>
          </a:p>
          <a:p>
            <a:pPr lvl="1"/>
            <a:endParaRPr lang="sr-Latn-RS" dirty="0"/>
          </a:p>
          <a:p>
            <a:pPr lvl="2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9883887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Analitički vs iskustveni pristup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105400"/>
          </a:xfrm>
        </p:spPr>
        <p:txBody>
          <a:bodyPr>
            <a:normAutofit lnSpcReduction="10000"/>
          </a:bodyPr>
          <a:lstStyle/>
          <a:p>
            <a:r>
              <a:rPr lang="sr-Latn-RS" dirty="0"/>
              <a:t>Analitički pristup </a:t>
            </a:r>
          </a:p>
          <a:p>
            <a:pPr lvl="1"/>
            <a:r>
              <a:rPr lang="sr-Latn-RS" dirty="0"/>
              <a:t>planiranje je zasnovano na podacima i analizi primenom neke egzaktne metode</a:t>
            </a:r>
          </a:p>
          <a:p>
            <a:pPr lvl="1"/>
            <a:r>
              <a:rPr lang="sr-Latn-RS" dirty="0"/>
              <a:t>parametri od kojih testiranje zavisi se kvantifikuju</a:t>
            </a:r>
          </a:p>
          <a:p>
            <a:pPr lvl="1"/>
            <a:r>
              <a:rPr lang="sr-Latn-RS" dirty="0"/>
              <a:t>pristup testiranju se bira tako da se optimizuju različiti parametri</a:t>
            </a:r>
          </a:p>
          <a:p>
            <a:r>
              <a:rPr lang="sr-Latn-RS" dirty="0"/>
              <a:t>Iskustveni pristup</a:t>
            </a:r>
          </a:p>
          <a:p>
            <a:pPr lvl="1"/>
            <a:r>
              <a:rPr lang="sr-Latn-RS" dirty="0"/>
              <a:t>planiranje je zasnovano na iskustvu stručnjaka</a:t>
            </a:r>
          </a:p>
          <a:p>
            <a:pPr lvl="2"/>
            <a:r>
              <a:rPr lang="sr-Latn-RS" dirty="0"/>
              <a:t>internih ili eksternih</a:t>
            </a:r>
          </a:p>
          <a:p>
            <a:pPr lvl="1"/>
            <a:r>
              <a:rPr lang="sr-Latn-RS" dirty="0"/>
              <a:t>takođe, koriste se nepisana pravila, opšteprihvaćene procene i slično</a:t>
            </a:r>
          </a:p>
          <a:p>
            <a:pPr lvl="1"/>
            <a:r>
              <a:rPr lang="sr-Latn-RS" dirty="0"/>
              <a:t>razlog ovakvog pristupa je što je teško tako komplikovan proces egzaktno opisati i evaluirati</a:t>
            </a:r>
          </a:p>
          <a:p>
            <a:pPr lvl="1"/>
            <a:endParaRPr lang="sr-Latn-RS" dirty="0"/>
          </a:p>
          <a:p>
            <a:pPr lvl="2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7006153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Pristupi koji se koriste u praksi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Testiranje zasnovano na modelu</a:t>
            </a:r>
          </a:p>
          <a:p>
            <a:pPr lvl="1"/>
            <a:r>
              <a:rPr lang="sr-Latn-RS" dirty="0"/>
              <a:t>kreira se apstraktni model sistema za dizajn test slučajeva, definisanje kriterijum završetka i merenje pokrivenosti sistema testovima</a:t>
            </a:r>
          </a:p>
          <a:p>
            <a:pPr lvl="1"/>
            <a:r>
              <a:rPr lang="sr-Latn-RS" dirty="0"/>
              <a:t>jedan primer je testiranje prelaza stanja gde su dijagrami stanja model</a:t>
            </a:r>
          </a:p>
          <a:p>
            <a:r>
              <a:rPr lang="sr-Latn-RS" dirty="0"/>
              <a:t>Statističko testiranje</a:t>
            </a:r>
          </a:p>
          <a:p>
            <a:pPr lvl="1"/>
            <a:r>
              <a:rPr lang="sr-Latn-RS" dirty="0"/>
              <a:t>test pristup se određuje na osnovu statističke analize distribucije nedostataka, učestalosti otkaza  itd.</a:t>
            </a:r>
          </a:p>
          <a:p>
            <a:pPr lvl="1"/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346583646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Pristupi koji se koriste u praksi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Testiranje zasnovano na riziku</a:t>
            </a:r>
          </a:p>
          <a:p>
            <a:pPr lvl="1"/>
            <a:r>
              <a:rPr lang="sr-Latn-RS" dirty="0"/>
              <a:t>koristi analizu rizika za izbor tehnike testiranja</a:t>
            </a:r>
          </a:p>
          <a:p>
            <a:r>
              <a:rPr lang="sr-Latn-RS" dirty="0"/>
              <a:t>Pristupi usklađeni sa procesom ili standardom</a:t>
            </a:r>
          </a:p>
          <a:p>
            <a:pPr lvl="1"/>
            <a:r>
              <a:rPr lang="sr-Latn-RS" dirty="0"/>
              <a:t>koristi pravila, preporuke i standarde iz oblasti razvoja softvera, kao i dobre prakse u konkretnoj tehnologiji u kojoj se softver razvija</a:t>
            </a:r>
          </a:p>
          <a:p>
            <a:r>
              <a:rPr lang="sr-Latn-RS" dirty="0"/>
              <a:t>Pristupi usmereni na ponovno iskorišćenje</a:t>
            </a:r>
          </a:p>
          <a:p>
            <a:pPr lvl="1"/>
            <a:r>
              <a:rPr lang="sr-Latn-RS" dirty="0"/>
              <a:t>bira se pristup koji će omogućiti ponovno korišćenje postojećeg test okruženja</a:t>
            </a:r>
          </a:p>
          <a:p>
            <a:pPr lvl="1"/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368547692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Pristupi koji se koriste u praksi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sr-Latn-RS" dirty="0"/>
              <a:t>Pristupi zasnovani na listama</a:t>
            </a:r>
          </a:p>
          <a:p>
            <a:pPr lvl="1"/>
            <a:r>
              <a:rPr lang="sr-Latn-RS" dirty="0"/>
              <a:t>koristi se lista otkaza i nedostataka iz prethodnih faza razvoja</a:t>
            </a:r>
          </a:p>
          <a:p>
            <a:r>
              <a:rPr lang="sr-Latn-RS" dirty="0"/>
              <a:t>Pristupi zasnovani na stručnjacima</a:t>
            </a:r>
          </a:p>
          <a:p>
            <a:pPr lvl="1"/>
            <a:r>
              <a:rPr lang="sr-Latn-RS" dirty="0"/>
              <a:t>koristi se iskustvo stručnjaka uključenih u projekat</a:t>
            </a:r>
          </a:p>
          <a:p>
            <a:pPr lvl="1"/>
            <a:r>
              <a:rPr lang="sr-Latn-RS" dirty="0"/>
              <a:t>prepušta se njihovoj proceni izbor tehnike testiranja</a:t>
            </a:r>
          </a:p>
          <a:p>
            <a:pPr lvl="1"/>
            <a:r>
              <a:rPr lang="sr-Latn-RS" dirty="0"/>
              <a:t>pri izboru oni implicitno ili eksplicitno uzimaju u obzir različite faktore</a:t>
            </a:r>
          </a:p>
          <a:p>
            <a:endParaRPr lang="sr-Latn-RS" dirty="0"/>
          </a:p>
          <a:p>
            <a:r>
              <a:rPr lang="sr-Latn-RS" dirty="0"/>
              <a:t>Uglavnom je pristup kombinacija različitih tipova pristupa</a:t>
            </a:r>
          </a:p>
          <a:p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117773189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Testiranje i rizik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sr-Latn-RS" dirty="0"/>
                  <a:t>Potencijalni rizik je jedan od najboljih kriterijuma za izbor načina testiranja</a:t>
                </a:r>
              </a:p>
              <a:p>
                <a14:m>
                  <m:oMath xmlns:m="http://schemas.openxmlformats.org/officeDocument/2006/math">
                    <m:r>
                      <a:rPr lang="sr-Latn-RS" i="1" dirty="0" smtClean="0">
                        <a:latin typeface="Cambria Math"/>
                      </a:rPr>
                      <m:t>𝑟𝑖𝑧𝑖𝑘</m:t>
                    </m:r>
                    <m:r>
                      <a:rPr lang="sr-Latn-RS" i="1" dirty="0" smtClean="0">
                        <a:latin typeface="Cambria Math"/>
                      </a:rPr>
                      <m:t> = š</m:t>
                    </m:r>
                    <m:r>
                      <a:rPr lang="sr-Latn-RS" i="1" dirty="0" smtClean="0">
                        <a:latin typeface="Cambria Math"/>
                      </a:rPr>
                      <m:t>𝑡𝑒𝑡𝑎</m:t>
                    </m:r>
                    <m:r>
                      <a:rPr lang="sr-Latn-RS" i="1" dirty="0" smtClean="0">
                        <a:latin typeface="Cambria Math"/>
                      </a:rPr>
                      <m:t> </m:t>
                    </m:r>
                    <m:r>
                      <a:rPr lang="sr-Latn-RS" i="1" dirty="0" smtClean="0">
                        <a:latin typeface="Cambria Math"/>
                      </a:rPr>
                      <m:t>𝑥</m:t>
                    </m:r>
                    <m:r>
                      <a:rPr lang="sr-Latn-RS" i="1" dirty="0" smtClean="0">
                        <a:latin typeface="Cambria Math"/>
                      </a:rPr>
                      <m:t> </m:t>
                    </m:r>
                    <m:r>
                      <a:rPr lang="sr-Latn-RS" i="1" dirty="0" smtClean="0">
                        <a:latin typeface="Cambria Math"/>
                      </a:rPr>
                      <m:t>𝑣𝑒𝑟𝑜𝑣𝑎𝑡𝑛𝑜</m:t>
                    </m:r>
                    <m:r>
                      <a:rPr lang="sr-Latn-RS" i="1" dirty="0" smtClean="0">
                        <a:latin typeface="Cambria Math"/>
                      </a:rPr>
                      <m:t>ć</m:t>
                    </m:r>
                    <m:r>
                      <a:rPr lang="sr-Latn-RS" i="1" dirty="0" smtClean="0">
                        <a:latin typeface="Cambria Math"/>
                      </a:rPr>
                      <m:t>𝑎</m:t>
                    </m:r>
                  </m:oMath>
                </a14:m>
                <a:endParaRPr lang="sr-Latn-RS" dirty="0"/>
              </a:p>
              <a:p>
                <a:r>
                  <a:rPr lang="sr-Latn-RS" dirty="0"/>
                  <a:t>Razlikujemo</a:t>
                </a:r>
              </a:p>
              <a:p>
                <a:pPr lvl="1"/>
                <a:r>
                  <a:rPr lang="sr-Latn-RS" dirty="0"/>
                  <a:t>rizike projekta</a:t>
                </a:r>
              </a:p>
              <a:p>
                <a:pPr lvl="2"/>
                <a:r>
                  <a:rPr lang="sr-Latn-RS" dirty="0"/>
                  <a:t>rizici koji ugrožavaju završetak projekta</a:t>
                </a:r>
              </a:p>
              <a:p>
                <a:pPr lvl="1"/>
                <a:r>
                  <a:rPr lang="sr-Latn-RS" dirty="0"/>
                  <a:t>rizike finalnog proizvoda</a:t>
                </a:r>
              </a:p>
              <a:p>
                <a:pPr lvl="2"/>
                <a:r>
                  <a:rPr lang="sr-Latn-RS" dirty="0"/>
                  <a:t>rizici koji su posledica problema sa isporučenim proizvodom</a:t>
                </a:r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706" t="-1067" r="-62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793209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Rizici projekta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Mogući rizici</a:t>
            </a:r>
          </a:p>
          <a:p>
            <a:pPr lvl="1"/>
            <a:r>
              <a:rPr lang="sr-Latn-RS" dirty="0"/>
              <a:t>neodgovarajuća podrška za projekat</a:t>
            </a:r>
          </a:p>
          <a:p>
            <a:pPr lvl="2"/>
            <a:r>
              <a:rPr lang="sr-Latn-RS" dirty="0"/>
              <a:t>npr. partnerska firma koja ne ispunjava ugovor</a:t>
            </a:r>
          </a:p>
          <a:p>
            <a:pPr lvl="1"/>
            <a:r>
              <a:rPr lang="sr-Latn-RS" dirty="0"/>
              <a:t>organizacijski rizici</a:t>
            </a:r>
          </a:p>
          <a:p>
            <a:pPr lvl="2"/>
            <a:r>
              <a:rPr lang="sr-Latn-RS" dirty="0"/>
              <a:t>nedostatak internih resursa</a:t>
            </a:r>
          </a:p>
          <a:p>
            <a:pPr lvl="3"/>
            <a:r>
              <a:rPr lang="sr-Latn-RS" dirty="0"/>
              <a:t>nedovoljan broj ili kvalitet kadrova</a:t>
            </a:r>
          </a:p>
          <a:p>
            <a:pPr lvl="2"/>
            <a:r>
              <a:rPr lang="sr-Latn-RS" dirty="0"/>
              <a:t>ljudski faktor</a:t>
            </a:r>
          </a:p>
          <a:p>
            <a:pPr lvl="3"/>
            <a:r>
              <a:rPr lang="sr-Latn-RS" dirty="0"/>
              <a:t>loši međusobni odnosi ili neodgovarajući psihološki profil zaposlenih</a:t>
            </a:r>
          </a:p>
          <a:p>
            <a:pPr lvl="2"/>
            <a:r>
              <a:rPr lang="sr-Latn-RS" dirty="0"/>
              <a:t>organizacijski problemi</a:t>
            </a:r>
          </a:p>
          <a:p>
            <a:pPr lvl="3"/>
            <a:r>
              <a:rPr lang="sr-Latn-RS" dirty="0"/>
              <a:t>loša struktura i poslovni procesi organizacije u kojoj se softver razvija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8605744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Rizici projekta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Rizici projekta (nastavak sa prethodnog slajda)</a:t>
            </a:r>
          </a:p>
          <a:p>
            <a:pPr lvl="1"/>
            <a:r>
              <a:rPr lang="sr-Latn-RS" dirty="0"/>
              <a:t>tehnički problemi</a:t>
            </a:r>
          </a:p>
          <a:p>
            <a:pPr lvl="2"/>
            <a:r>
              <a:rPr lang="sr-Latn-RS" dirty="0"/>
              <a:t>pogrešni, nekompletni, nedovršeni, kontradiktorni zahtevi</a:t>
            </a:r>
          </a:p>
          <a:p>
            <a:pPr lvl="2"/>
            <a:r>
              <a:rPr lang="sr-Latn-RS" dirty="0"/>
              <a:t>nedostaci tehnologije </a:t>
            </a:r>
          </a:p>
          <a:p>
            <a:pPr lvl="3"/>
            <a:r>
              <a:rPr lang="sr-Latn-RS" dirty="0"/>
              <a:t>obično se otkriju u odmakloj fazi projekta</a:t>
            </a:r>
          </a:p>
          <a:p>
            <a:pPr lvl="3"/>
            <a:r>
              <a:rPr lang="sr-Latn-RS" dirty="0"/>
              <a:t>često kada je tehnologija nova za projektni tim</a:t>
            </a:r>
          </a:p>
          <a:p>
            <a:pPr lvl="2"/>
            <a:r>
              <a:rPr lang="sr-Latn-RS" dirty="0"/>
              <a:t>problemi sa hardverskom i softverskom infrastrukturom</a:t>
            </a:r>
          </a:p>
          <a:p>
            <a:pPr lvl="1"/>
            <a:endParaRPr lang="sr-Latn-RS" dirty="0"/>
          </a:p>
          <a:p>
            <a:pPr lvl="2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7031692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Rizici finalnog proizvoda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Mogući rizici</a:t>
            </a:r>
          </a:p>
          <a:p>
            <a:pPr lvl="1"/>
            <a:r>
              <a:rPr lang="sr-Latn-RS" dirty="0"/>
              <a:t>neodgovarajući kvalitet</a:t>
            </a:r>
          </a:p>
          <a:p>
            <a:pPr lvl="2"/>
            <a:r>
              <a:rPr lang="sr-Latn-RS" dirty="0"/>
              <a:t>funkcionalni ili nefunkcionalni zahtevi nisu zadovoljeni</a:t>
            </a:r>
          </a:p>
          <a:p>
            <a:pPr lvl="2"/>
            <a:r>
              <a:rPr lang="sr-Latn-RS" dirty="0"/>
              <a:t>proizvod ne ispunjava namenu</a:t>
            </a:r>
          </a:p>
          <a:p>
            <a:pPr lvl="2"/>
            <a:r>
              <a:rPr lang="sr-Latn-RS" dirty="0"/>
              <a:t>kvalitet podataka je neodgovarajući </a:t>
            </a:r>
          </a:p>
          <a:p>
            <a:pPr lvl="2"/>
            <a:r>
              <a:rPr lang="sr-Latn-RS" dirty="0"/>
              <a:t>proizvod ugrožava sigurnost opreme i ljudi koji ga koriste</a:t>
            </a:r>
          </a:p>
          <a:p>
            <a:pPr lvl="1"/>
            <a:r>
              <a:rPr lang="sr-Latn-RS" dirty="0"/>
              <a:t>organizacioni i psihološki faktori kod naručioca</a:t>
            </a:r>
          </a:p>
          <a:p>
            <a:pPr lvl="2"/>
            <a:r>
              <a:rPr lang="sr-Latn-RS" dirty="0"/>
              <a:t>neodgovarajuća podrška za uvođenje aplikacije može da ugrozi korišćenje finalnog proizvoda</a:t>
            </a:r>
          </a:p>
          <a:p>
            <a:pPr lvl="2"/>
            <a:r>
              <a:rPr lang="sr-Latn-RS" dirty="0"/>
              <a:t>zaposleni često imaju otpor da koriste nov proizvod</a:t>
            </a:r>
          </a:p>
          <a:p>
            <a:pPr lvl="2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342687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Upravljanje rizikom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876800"/>
          </a:xfrm>
        </p:spPr>
        <p:txBody>
          <a:bodyPr>
            <a:normAutofit/>
          </a:bodyPr>
          <a:lstStyle/>
          <a:p>
            <a:r>
              <a:rPr lang="sr-Latn-RS" dirty="0"/>
              <a:t>Standardi obezbeđenja kvaliteta predviđaju sledeće akcije</a:t>
            </a:r>
          </a:p>
          <a:p>
            <a:pPr lvl="1"/>
            <a:r>
              <a:rPr lang="sr-Latn-RS" dirty="0"/>
              <a:t>redovno identifikovanje mogućih rizika</a:t>
            </a:r>
          </a:p>
          <a:p>
            <a:pPr lvl="1"/>
            <a:r>
              <a:rPr lang="sr-Latn-RS" dirty="0"/>
              <a:t>uspostavljanje prioriteta među rizicima</a:t>
            </a:r>
          </a:p>
          <a:p>
            <a:pPr lvl="1"/>
            <a:r>
              <a:rPr lang="sr-Latn-RS" dirty="0"/>
              <a:t>izvođenje akcija koje smanjuju ili otklanjaju rizike</a:t>
            </a:r>
          </a:p>
          <a:p>
            <a:pPr lvl="2"/>
            <a:r>
              <a:rPr lang="sr-Latn-RS" dirty="0"/>
              <a:t>testiranje je aktivnost koja </a:t>
            </a:r>
            <a:r>
              <a:rPr lang="sr-Latn-RS" b="1" dirty="0"/>
              <a:t>smanjuje</a:t>
            </a:r>
            <a:r>
              <a:rPr lang="sr-Latn-RS" dirty="0"/>
              <a:t> rizik</a:t>
            </a:r>
          </a:p>
          <a:p>
            <a:r>
              <a:rPr lang="sr-Latn-RS" dirty="0"/>
              <a:t>Testiranje zasnovano na riziku na osnovu procenjenog rizika bira </a:t>
            </a:r>
          </a:p>
          <a:p>
            <a:pPr lvl="1"/>
            <a:r>
              <a:rPr lang="sr-Latn-RS" dirty="0"/>
              <a:t>tehniku testiranja, </a:t>
            </a:r>
          </a:p>
          <a:p>
            <a:pPr lvl="1"/>
            <a:r>
              <a:rPr lang="sr-Latn-RS" dirty="0"/>
              <a:t>obim i intenzitet testiranja, </a:t>
            </a:r>
          </a:p>
          <a:p>
            <a:pPr lvl="1"/>
            <a:r>
              <a:rPr lang="sr-Latn-RS" dirty="0"/>
              <a:t>prioritet test slučajeva</a:t>
            </a:r>
          </a:p>
          <a:p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369549807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1505930"/>
            <a:ext cx="8229600" cy="1470025"/>
          </a:xfrm>
        </p:spPr>
        <p:txBody>
          <a:bodyPr/>
          <a:lstStyle/>
          <a:p>
            <a:r>
              <a:rPr lang="sr-Latn-RS" dirty="0"/>
              <a:t>Upravljanje ciklusom testiranja</a:t>
            </a:r>
            <a:endParaRPr lang="en-GB" dirty="0"/>
          </a:p>
        </p:txBody>
      </p:sp>
      <p:sp>
        <p:nvSpPr>
          <p:cNvPr id="3" name="AutoShape 2" descr="Image result for teamwor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4" name="AutoShape 4" descr="Image result for teamwork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9220" name="Picture 4" descr="Image result for cycle arrow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3200400"/>
            <a:ext cx="3657600" cy="3523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987802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Ciklus testiranja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4648200" cy="5257800"/>
          </a:xfrm>
        </p:spPr>
        <p:txBody>
          <a:bodyPr>
            <a:normAutofit/>
          </a:bodyPr>
          <a:lstStyle/>
          <a:p>
            <a:r>
              <a:rPr lang="sr-Latn-RS" dirty="0"/>
              <a:t>Za svaki nivo testiranja prolazi se kroz kompletan ciklus testiranja</a:t>
            </a:r>
          </a:p>
          <a:p>
            <a:r>
              <a:rPr lang="sr-Latn-RS" dirty="0"/>
              <a:t>Nakon svakog ciklusa potrebna je izmena u kodu</a:t>
            </a:r>
          </a:p>
          <a:p>
            <a:r>
              <a:rPr lang="sr-Latn-RS" dirty="0"/>
              <a:t>Nakon izmena potrebno je ponoviti testove</a:t>
            </a:r>
          </a:p>
          <a:p>
            <a:r>
              <a:rPr lang="sr-Latn-RS" dirty="0"/>
              <a:t>Upravljanje testiranjem vodi računa o inicijaciji, nadzoru i upravljanju ovim ciklusom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1409177"/>
            <a:ext cx="3725103" cy="32255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9370102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Planiranje ciklusa testiranja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029200"/>
          </a:xfrm>
        </p:spPr>
        <p:txBody>
          <a:bodyPr>
            <a:normAutofit/>
          </a:bodyPr>
          <a:lstStyle/>
          <a:p>
            <a:r>
              <a:rPr lang="sr-Latn-RS" dirty="0"/>
              <a:t>Nakon generalnog plana za kompletno testiranje, pravi se plan za konkretan ciklus testiranja</a:t>
            </a:r>
          </a:p>
          <a:p>
            <a:r>
              <a:rPr lang="sr-Latn-RS" dirty="0"/>
              <a:t>Stavke koje treba uzeti u obzir pri pravljenju plana</a:t>
            </a:r>
          </a:p>
          <a:p>
            <a:pPr lvl="1"/>
            <a:r>
              <a:rPr lang="sr-Latn-RS" dirty="0"/>
              <a:t>Stanje projekta</a:t>
            </a:r>
          </a:p>
          <a:p>
            <a:pPr lvl="2"/>
            <a:r>
              <a:rPr lang="sr-Latn-RS" dirty="0"/>
              <a:t>treba proveriti kako se trenutno stanje projekta odnosi prema stanju koje je predviđeno kada je pravljen generalni plan</a:t>
            </a:r>
          </a:p>
          <a:p>
            <a:pPr lvl="2"/>
            <a:r>
              <a:rPr lang="sr-Latn-RS" dirty="0"/>
              <a:t>aktivnosti testiranja se moraju prilagoditi trenutnom stanju </a:t>
            </a:r>
          </a:p>
          <a:p>
            <a:pPr lvl="1"/>
            <a:r>
              <a:rPr lang="sr-Latn-RS" dirty="0"/>
              <a:t> Rezultati testova</a:t>
            </a:r>
          </a:p>
          <a:p>
            <a:pPr lvl="2"/>
            <a:r>
              <a:rPr lang="sr-Latn-RS" dirty="0"/>
              <a:t>ako je reč o novoj iteraciji određenog ciklusa testiranja treba uzeti u obzir rezultate iz prethodne iteracije</a:t>
            </a:r>
          </a:p>
          <a:p>
            <a:pPr lvl="2"/>
            <a:r>
              <a:rPr lang="sr-Latn-RS" dirty="0"/>
              <a:t>možda je potrebno dodatno testirati funkcionalnost koja je ispravljena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0048211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Planiranje ciklusa testiranja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sr-Latn-RS" dirty="0"/>
              <a:t>Stavke koje treba uzeti u obzir pri pravljenju plana (nastavak sa prethodnog slajda)</a:t>
            </a:r>
          </a:p>
          <a:p>
            <a:pPr lvl="1"/>
            <a:r>
              <a:rPr lang="sr-Latn-RS" dirty="0"/>
              <a:t>Resursi</a:t>
            </a:r>
          </a:p>
          <a:p>
            <a:pPr lvl="2"/>
            <a:r>
              <a:rPr lang="sr-Latn-RS" dirty="0"/>
              <a:t>plan se mora uklopiti u plan celog projekta</a:t>
            </a:r>
          </a:p>
          <a:p>
            <a:pPr lvl="2"/>
            <a:r>
              <a:rPr lang="sr-Latn-RS" dirty="0"/>
              <a:t>voditi računa da testiranje može da zahteva iste resurse kao i neke druge aktivnosti u projektu</a:t>
            </a:r>
          </a:p>
          <a:p>
            <a:pPr lvl="2"/>
            <a:r>
              <a:rPr lang="sr-Latn-RS" dirty="0"/>
              <a:t>takođe, potrebno se uklopiti u raspored resursa koji nema veze sa testiranjem</a:t>
            </a:r>
          </a:p>
          <a:p>
            <a:pPr lvl="3"/>
            <a:r>
              <a:rPr lang="sr-Latn-RS" dirty="0"/>
              <a:t>npr. godišnji odmori radnika</a:t>
            </a:r>
          </a:p>
          <a:p>
            <a:r>
              <a:rPr lang="sr-Latn-RS" dirty="0"/>
              <a:t>Na osnovu pomenutih parametara određuje se konkretan raspored testiranja koji uključuje konkretne test slučajeve, kao i ko će ih i kada izvršavati</a:t>
            </a:r>
          </a:p>
        </p:txBody>
      </p:sp>
    </p:spTree>
    <p:extLst>
      <p:ext uri="{BB962C8B-B14F-4D97-AF65-F5344CB8AC3E}">
        <p14:creationId xmlns:p14="http://schemas.microsoft.com/office/powerpoint/2010/main" val="88256953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Nadzor ciklusa testiranja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Neophodno je nadgledati i meriti rezultate testa</a:t>
            </a:r>
          </a:p>
          <a:p>
            <a:pPr lvl="1"/>
            <a:r>
              <a:rPr lang="sr-Latn-RS" dirty="0"/>
              <a:t>potrebna je pouzdana i jednostavna metrika</a:t>
            </a:r>
          </a:p>
          <a:p>
            <a:r>
              <a:rPr lang="sr-Latn-RS" dirty="0"/>
              <a:t>Mogući pristupi	</a:t>
            </a:r>
          </a:p>
          <a:p>
            <a:pPr lvl="1"/>
            <a:r>
              <a:rPr lang="sr-Latn-RS" dirty="0"/>
              <a:t>metrike zasnovane na otkazima</a:t>
            </a:r>
          </a:p>
          <a:p>
            <a:pPr lvl="2"/>
            <a:r>
              <a:rPr lang="sr-Latn-RS" dirty="0"/>
              <a:t>broj otkaza po test objektu</a:t>
            </a:r>
          </a:p>
          <a:p>
            <a:pPr lvl="2"/>
            <a:r>
              <a:rPr lang="sr-Latn-RS" dirty="0"/>
              <a:t>otkazi se klasifikuju prema tipu i statusu</a:t>
            </a:r>
          </a:p>
          <a:p>
            <a:pPr lvl="2"/>
            <a:r>
              <a:rPr lang="sr-Latn-RS" dirty="0"/>
              <a:t>svaki otkaz ukazuje i na liniju koda u kojoj se desio</a:t>
            </a:r>
          </a:p>
          <a:p>
            <a:pPr lvl="1"/>
            <a:r>
              <a:rPr lang="sr-Latn-RS" dirty="0"/>
              <a:t>metrike zasnovane na test slučajevima</a:t>
            </a:r>
          </a:p>
          <a:p>
            <a:pPr lvl="2"/>
            <a:r>
              <a:rPr lang="sr-Latn-RS" dirty="0"/>
              <a:t>broj test slučajeva u određenom stanju</a:t>
            </a:r>
          </a:p>
          <a:p>
            <a:pPr lvl="3"/>
            <a:r>
              <a:rPr lang="sr-Latn-RS" dirty="0"/>
              <a:t>izvršen, otkazan, uspešan, neuspešan</a:t>
            </a:r>
          </a:p>
          <a:p>
            <a:pPr lvl="3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7753663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Nadzor ciklusa testiranja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Mogući pristupi</a:t>
            </a:r>
          </a:p>
          <a:p>
            <a:pPr lvl="1"/>
            <a:r>
              <a:rPr lang="sr-Latn-RS" dirty="0"/>
              <a:t>metrike zasnovane na test objektu</a:t>
            </a:r>
          </a:p>
          <a:p>
            <a:pPr lvl="2"/>
            <a:r>
              <a:rPr lang="sr-Latn-RS" dirty="0"/>
              <a:t>pokrivenost koda</a:t>
            </a:r>
          </a:p>
          <a:p>
            <a:pPr lvl="2"/>
            <a:r>
              <a:rPr lang="sr-Latn-RS" dirty="0"/>
              <a:t>varijante test objekta</a:t>
            </a:r>
          </a:p>
          <a:p>
            <a:pPr lvl="3"/>
            <a:r>
              <a:rPr lang="sr-Latn-RS" dirty="0"/>
              <a:t>npr. rezultati za različite platforme</a:t>
            </a:r>
          </a:p>
          <a:p>
            <a:pPr lvl="1"/>
            <a:r>
              <a:rPr lang="sr-Latn-RS" dirty="0"/>
              <a:t>metrike zasnovane na troškovima</a:t>
            </a:r>
          </a:p>
          <a:p>
            <a:pPr lvl="2"/>
            <a:r>
              <a:rPr lang="sr-Latn-RS" dirty="0"/>
              <a:t>dosadašnji troškovi testiranja</a:t>
            </a:r>
          </a:p>
          <a:p>
            <a:pPr lvl="2"/>
            <a:r>
              <a:rPr lang="sr-Latn-RS" dirty="0"/>
              <a:t>trošak sledećeg ciklusa u poređenju sa očekivanom koristi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3759306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Nadzor ciklusa testiranja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105400"/>
          </a:xfrm>
        </p:spPr>
        <p:txBody>
          <a:bodyPr>
            <a:normAutofit fontScale="92500" lnSpcReduction="10000"/>
          </a:bodyPr>
          <a:lstStyle/>
          <a:p>
            <a:r>
              <a:rPr lang="sr-Latn-RS" dirty="0"/>
              <a:t>Izmereni rezultati testiranja se navode u test izveštaju</a:t>
            </a:r>
          </a:p>
          <a:p>
            <a:r>
              <a:rPr lang="sr-Latn-RS" dirty="0"/>
              <a:t>Izveštaj sadrži informacije o statusu testova:</a:t>
            </a:r>
          </a:p>
          <a:p>
            <a:pPr lvl="1"/>
            <a:r>
              <a:rPr lang="sr-Latn-RS" dirty="0"/>
              <a:t>generalni podaci</a:t>
            </a:r>
          </a:p>
          <a:p>
            <a:pPr lvl="2"/>
            <a:r>
              <a:rPr lang="sr-Latn-RS" dirty="0"/>
              <a:t>koji test objekti su testirani na kom nivou i u kojem test ciklusu</a:t>
            </a:r>
          </a:p>
          <a:p>
            <a:pPr lvl="1"/>
            <a:r>
              <a:rPr lang="sr-Latn-RS" dirty="0"/>
              <a:t>napredak</a:t>
            </a:r>
          </a:p>
          <a:p>
            <a:pPr lvl="2"/>
            <a:r>
              <a:rPr lang="sr-Latn-RS" dirty="0"/>
              <a:t>planirani, izvršeni i otkazani testovi</a:t>
            </a:r>
          </a:p>
          <a:p>
            <a:pPr lvl="1"/>
            <a:r>
              <a:rPr lang="sr-Latn-RS" dirty="0"/>
              <a:t>status grešaka</a:t>
            </a:r>
          </a:p>
          <a:p>
            <a:pPr lvl="2"/>
            <a:r>
              <a:rPr lang="sr-Latn-RS" dirty="0"/>
              <a:t>nova, u toku ispravljanja, ispravljena</a:t>
            </a:r>
          </a:p>
          <a:p>
            <a:pPr lvl="1"/>
            <a:r>
              <a:rPr lang="sr-Latn-RS" dirty="0"/>
              <a:t>rizici</a:t>
            </a:r>
          </a:p>
          <a:p>
            <a:pPr lvl="2"/>
            <a:r>
              <a:rPr lang="sr-Latn-RS" dirty="0"/>
              <a:t>novi, izmenjeni, poznati</a:t>
            </a:r>
          </a:p>
          <a:p>
            <a:pPr lvl="1"/>
            <a:r>
              <a:rPr lang="sr-Latn-RS" dirty="0"/>
              <a:t>plan narednog ciklusa testiranja</a:t>
            </a:r>
          </a:p>
          <a:p>
            <a:pPr lvl="1"/>
            <a:r>
              <a:rPr lang="sr-Latn-RS" dirty="0"/>
              <a:t>ocena</a:t>
            </a:r>
          </a:p>
          <a:p>
            <a:pPr lvl="2"/>
            <a:r>
              <a:rPr lang="sr-Latn-RS" dirty="0"/>
              <a:t>ocena zrelosti test objekta i procena mogućnosti za stavljanje u produkciju</a:t>
            </a:r>
          </a:p>
          <a:p>
            <a:pPr lvl="2"/>
            <a:r>
              <a:rPr lang="sr-Latn-RS" dirty="0"/>
              <a:t>ovo je i kriterijum završetka testiranja</a:t>
            </a:r>
          </a:p>
          <a:p>
            <a:pPr lvl="2"/>
            <a:endParaRPr lang="sr-Latn-RS" dirty="0"/>
          </a:p>
          <a:p>
            <a:pPr lvl="1"/>
            <a:endParaRPr lang="sr-Latn-RS" dirty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1241199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Upravljanje ciklusom testiranja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Odnosi se na prilagođavanje aktivnosti u ciklusu trenutnim okolnostima projekta</a:t>
            </a:r>
          </a:p>
          <a:p>
            <a:pPr lvl="1"/>
            <a:r>
              <a:rPr lang="sr-Latn-RS" dirty="0"/>
              <a:t>vremenski raspored faza može zahtevati prilagođavanje</a:t>
            </a:r>
          </a:p>
          <a:p>
            <a:pPr lvl="1"/>
            <a:r>
              <a:rPr lang="sr-Latn-RS" dirty="0"/>
              <a:t>može biti potrebno uvesti dodatne resurse</a:t>
            </a:r>
          </a:p>
          <a:p>
            <a:pPr lvl="1"/>
            <a:r>
              <a:rPr lang="sr-Latn-RS" dirty="0"/>
              <a:t>nekad se izvršavaju samo prioritetni testovi zbog nedostatka vremena</a:t>
            </a:r>
          </a:p>
          <a:p>
            <a:pPr lvl="1"/>
            <a:r>
              <a:rPr lang="sr-Latn-RS" dirty="0"/>
              <a:t>s druge strane, nekad se planirano vreme produžava zbog detaljnije provere</a:t>
            </a:r>
          </a:p>
        </p:txBody>
      </p:sp>
    </p:spTree>
    <p:extLst>
      <p:ext uri="{BB962C8B-B14F-4D97-AF65-F5344CB8AC3E}">
        <p14:creationId xmlns:p14="http://schemas.microsoft.com/office/powerpoint/2010/main" val="105098598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1505930"/>
            <a:ext cx="8229600" cy="1470025"/>
          </a:xfrm>
        </p:spPr>
        <p:txBody>
          <a:bodyPr/>
          <a:lstStyle/>
          <a:p>
            <a:r>
              <a:rPr lang="sr-Latn-RS" dirty="0"/>
              <a:t>Upravljanje greškama</a:t>
            </a:r>
            <a:endParaRPr lang="en-GB" dirty="0"/>
          </a:p>
        </p:txBody>
      </p:sp>
      <p:sp>
        <p:nvSpPr>
          <p:cNvPr id="3" name="AutoShape 2" descr="Image result for teamwor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4" name="AutoShape 4" descr="Image result for teamwork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10244" name="Picture 4" descr="Image result for homer simpson intr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3200400"/>
            <a:ext cx="6096000" cy="3429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53100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Upravljanje greškama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Mora da postoji definisana procedura opisa i prijave grešaka</a:t>
            </a:r>
          </a:p>
          <a:p>
            <a:pPr lvl="1"/>
            <a:r>
              <a:rPr lang="sr-Latn-RS" dirty="0"/>
              <a:t>ovakva procedura obezbeđuje efikasno pronalaženje i otklanjanje grešaka na osnovu otkaza</a:t>
            </a:r>
          </a:p>
          <a:p>
            <a:r>
              <a:rPr lang="sr-Latn-RS" dirty="0"/>
              <a:t>Test log treba da sadrži sve informacije o rezultatima testiranja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9160813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Test log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Nakon izvršavanja testova, analizira se test log</a:t>
            </a:r>
          </a:p>
          <a:p>
            <a:pPr lvl="1"/>
            <a:r>
              <a:rPr lang="sr-Latn-RS" dirty="0"/>
              <a:t>porede se očekivani sa stvarnim rezultatima</a:t>
            </a:r>
          </a:p>
          <a:p>
            <a:pPr lvl="1"/>
            <a:r>
              <a:rPr lang="sr-Latn-RS" dirty="0"/>
              <a:t>kod automatizovanih testova ovo uradi alat</a:t>
            </a:r>
          </a:p>
          <a:p>
            <a:pPr lvl="1"/>
            <a:endParaRPr lang="sr-Latn-RS" dirty="0"/>
          </a:p>
          <a:p>
            <a:r>
              <a:rPr lang="sr-Latn-RS" dirty="0"/>
              <a:t>Nakon toga se greška prijavljuje</a:t>
            </a:r>
          </a:p>
          <a:p>
            <a:pPr lvl="1"/>
            <a:r>
              <a:rPr lang="sr-Latn-RS" dirty="0"/>
              <a:t>za stavke test loga kod kojih očekivano ponašanje odstupa od stvarnog</a:t>
            </a:r>
          </a:p>
          <a:p>
            <a:pPr lvl="1"/>
            <a:r>
              <a:rPr lang="sr-Latn-RS" dirty="0"/>
              <a:t>mora se proveriti da je uzrok test objekat, a ne greška u testu</a:t>
            </a:r>
          </a:p>
          <a:p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212140248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Prijavljivanje grešaka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Uspostavlja se centralizovana baza grešaka za projekat</a:t>
            </a:r>
          </a:p>
          <a:p>
            <a:pPr lvl="1"/>
            <a:r>
              <a:rPr lang="sr-Latn-RS" dirty="0"/>
              <a:t>kroz specijalizovane softverske alate</a:t>
            </a:r>
          </a:p>
          <a:p>
            <a:pPr lvl="1"/>
            <a:r>
              <a:rPr lang="sr-Latn-RS" dirty="0"/>
              <a:t>često integrisano sa upravljanjem drugim projektnim aktivnostima</a:t>
            </a:r>
          </a:p>
          <a:p>
            <a:pPr lvl="2"/>
            <a:r>
              <a:rPr lang="sr-Latn-RS" dirty="0"/>
              <a:t>GitLab, Redmine, ...</a:t>
            </a:r>
          </a:p>
          <a:p>
            <a:r>
              <a:rPr lang="sr-Latn-RS" dirty="0"/>
              <a:t>Registruju se korisnici koji mogu da prijave greške</a:t>
            </a:r>
          </a:p>
          <a:p>
            <a:pPr lvl="1"/>
            <a:r>
              <a:rPr lang="sr-Latn-RS" dirty="0"/>
              <a:t>članovi razvojnog tima i korisnici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984654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Prijavljivanje grešaka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r>
              <a:rPr lang="sr-Latn-RS" dirty="0"/>
              <a:t>Svaka greška se prijavljuje u dogovorenom formatu</a:t>
            </a:r>
          </a:p>
          <a:p>
            <a:pPr lvl="1"/>
            <a:r>
              <a:rPr lang="sr-Latn-RS" dirty="0"/>
              <a:t>opis greške</a:t>
            </a:r>
          </a:p>
          <a:p>
            <a:pPr lvl="2"/>
            <a:r>
              <a:rPr lang="sr-Latn-RS" dirty="0"/>
              <a:t>sadrži i opis kako greška može biti reprodukovana</a:t>
            </a:r>
          </a:p>
          <a:p>
            <a:pPr lvl="1"/>
            <a:r>
              <a:rPr lang="sr-Latn-RS" dirty="0"/>
              <a:t>test okruženje u kojem se greška desila</a:t>
            </a:r>
          </a:p>
          <a:p>
            <a:pPr lvl="1"/>
            <a:r>
              <a:rPr lang="sr-Latn-RS" dirty="0"/>
              <a:t>prioritet</a:t>
            </a:r>
          </a:p>
          <a:p>
            <a:pPr lvl="1"/>
            <a:r>
              <a:rPr lang="sr-Latn-RS" dirty="0"/>
              <a:t>tip greške</a:t>
            </a:r>
          </a:p>
          <a:p>
            <a:pPr lvl="1"/>
            <a:r>
              <a:rPr lang="sr-Latn-RS" dirty="0"/>
              <a:t>status</a:t>
            </a:r>
          </a:p>
          <a:p>
            <a:pPr lvl="1"/>
            <a:r>
              <a:rPr lang="sr-Latn-RS" dirty="0"/>
              <a:t>podaci o testeru</a:t>
            </a:r>
          </a:p>
          <a:p>
            <a:pPr lvl="1"/>
            <a:r>
              <a:rPr lang="sr-Latn-RS" dirty="0"/>
              <a:t>komentar</a:t>
            </a:r>
          </a:p>
          <a:p>
            <a:pPr marL="274320" lvl="2" indent="-274320">
              <a:spcBef>
                <a:spcPts val="580"/>
              </a:spcBef>
              <a:buClr>
                <a:schemeClr val="accent1"/>
              </a:buClr>
            </a:pPr>
            <a:r>
              <a:rPr lang="sr-Latn-RS" sz="2600" dirty="0"/>
              <a:t>Korisnike je teže obučiti da prijavljuju greške po dogovorenoj proceduri</a:t>
            </a:r>
          </a:p>
          <a:p>
            <a:endParaRPr lang="sr-Latn-R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462472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52400"/>
            <a:ext cx="5488217" cy="6587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5993288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381000"/>
            <a:ext cx="6726925" cy="6181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0211894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Prijavljivanje grešaka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Prijava greške povlači dalje akcije</a:t>
            </a:r>
          </a:p>
          <a:p>
            <a:pPr lvl="1"/>
            <a:r>
              <a:rPr lang="sr-Latn-RS" dirty="0"/>
              <a:t>komunikaciju programera i testera</a:t>
            </a:r>
          </a:p>
          <a:p>
            <a:pPr lvl="1"/>
            <a:r>
              <a:rPr lang="sr-Latn-RS" dirty="0"/>
              <a:t>moguće razjašnjenje ili proveru prijavljene greške</a:t>
            </a:r>
          </a:p>
          <a:p>
            <a:pPr lvl="1"/>
            <a:r>
              <a:rPr lang="sr-Latn-RS" dirty="0"/>
              <a:t>ispravku</a:t>
            </a:r>
          </a:p>
          <a:p>
            <a:pPr lvl="1"/>
            <a:r>
              <a:rPr lang="sr-Latn-RS" dirty="0"/>
              <a:t>prijavu i objašnjenje ispravke</a:t>
            </a:r>
          </a:p>
          <a:p>
            <a:pPr lvl="1"/>
            <a:r>
              <a:rPr lang="sr-Latn-RS" dirty="0"/>
              <a:t>nakon ovoga tester može da proveri da li je ispravka otklonila grešku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1314666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Klasifikacija grešaka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Važna stvar u odluci kako će greška biti tretirana je ozbiljnost greške</a:t>
            </a:r>
          </a:p>
          <a:p>
            <a:pPr lvl="1"/>
            <a:r>
              <a:rPr lang="sr-Latn-RS" dirty="0"/>
              <a:t>odnosi se na to u kojoj meri greška ugrožava rad programa</a:t>
            </a:r>
          </a:p>
          <a:p>
            <a:pPr lvl="1"/>
            <a:r>
              <a:rPr lang="sr-Latn-RS" dirty="0"/>
              <a:t>npr. greška koja prekida rad sistema je ozbiljnija od neke vizuelne greške u grafičkom interfejsu</a:t>
            </a:r>
          </a:p>
          <a:p>
            <a:pPr lvl="1"/>
            <a:endParaRPr lang="sr-Latn-RS" dirty="0"/>
          </a:p>
          <a:p>
            <a:pPr lvl="1"/>
            <a:endParaRPr lang="sr-Latn-RS" dirty="0"/>
          </a:p>
          <a:p>
            <a:pPr lvl="1"/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338588260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Klasifikacija grešaka</a:t>
            </a:r>
            <a:endParaRPr lang="en-GB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1584065358"/>
              </p:ext>
            </p:extLst>
          </p:nvPr>
        </p:nvGraphicFramePr>
        <p:xfrm>
          <a:off x="914400" y="1447800"/>
          <a:ext cx="7772400" cy="47294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13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sr-Latn-RS" sz="1600" dirty="0"/>
                        <a:t>Klasa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r-Latn-RS" sz="1600" dirty="0"/>
                        <a:t>Opis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r-Latn-RS" sz="1600" dirty="0"/>
                        <a:t>1 – Fatalna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sr-Latn-RS" sz="1600" dirty="0"/>
                        <a:t>Rad sistema se prekida, moguće</a:t>
                      </a:r>
                      <a:r>
                        <a:rPr lang="sr-Latn-RS" sz="1600" baseline="0" dirty="0"/>
                        <a:t> sa gubitkom podataka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sr-Latn-RS" sz="1600" baseline="0" dirty="0"/>
                        <a:t>Test objekat ne može biti pušten u produkciju sa ovakvom greškom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r-Latn-RS" sz="1600" dirty="0"/>
                        <a:t>2 – Veoma ozbiljna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sr-Latn-RS" sz="1600" dirty="0"/>
                        <a:t>Važna funkcionalnost ne radi ispravno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sr-Latn-RS" sz="1600" dirty="0"/>
                        <a:t>Zahtev nije zadovoljen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sr-Latn-RS" sz="1600" dirty="0"/>
                        <a:t>Neprihvatljivo</a:t>
                      </a:r>
                      <a:r>
                        <a:rPr lang="sr-Latn-RS" sz="1600" baseline="0" dirty="0"/>
                        <a:t> za većinu uključenih u projekat </a:t>
                      </a:r>
                    </a:p>
                    <a:p>
                      <a:pPr marL="0" indent="0">
                        <a:buFont typeface="Arial" pitchFamily="34" charset="0"/>
                        <a:buNone/>
                      </a:pPr>
                      <a:r>
                        <a:rPr lang="sr-Latn-RS" sz="1600" baseline="0" dirty="0"/>
                        <a:t>     ( menadžment, naručilac, korisnici)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sr-Latn-RS" sz="1600" baseline="0" dirty="0"/>
                        <a:t>Test objekat može biti korišćen samo uz značajna ograničenja (komplikovano i skupo zaobilaženje greške)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r-Latn-RS" sz="1600" dirty="0"/>
                        <a:t>3 – Ozbiljna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sr-Latn-RS" sz="1600" dirty="0"/>
                        <a:t>Odstupanje od ispravne funkcionalnosti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sr-Latn-RS" sz="1600" dirty="0"/>
                        <a:t>Zahtev nepotpuno ili netačno implementiran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sr-Latn-RS" sz="1600" dirty="0"/>
                        <a:t>Neprihvatljivo</a:t>
                      </a:r>
                      <a:r>
                        <a:rPr lang="sr-Latn-RS" sz="1600" baseline="0" dirty="0"/>
                        <a:t> za neke od uključenih u projekat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r-Latn-RS" sz="1600" dirty="0"/>
                        <a:t>4 – Umerena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sr-Latn-RS" sz="1600" dirty="0"/>
                        <a:t>Manje</a:t>
                      </a:r>
                      <a:r>
                        <a:rPr lang="sr-Latn-RS" sz="1600" baseline="0" dirty="0"/>
                        <a:t> odstupanje od zahtevanog ponašanja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sr-Latn-RS" sz="1600" baseline="0" dirty="0"/>
                        <a:t>Sistem se može koristiti bez ograničenja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r-Latn-RS" sz="1600" dirty="0"/>
                        <a:t>5 – Neznatna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sr-Latn-RS" sz="1600" dirty="0"/>
                        <a:t>Neznatna greška u realizaciji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sr-Latn-RS" sz="1600" dirty="0"/>
                        <a:t>npr. slovna greška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569572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Prioritet greške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Pored klasifikacije greške, potrebno je odrediti koliko brzo je grešku neophodno otkloniti</a:t>
            </a:r>
          </a:p>
          <a:p>
            <a:r>
              <a:rPr lang="sr-Latn-RS" dirty="0"/>
              <a:t>Zavisi od klase greške, ali i drugih faktora</a:t>
            </a:r>
          </a:p>
          <a:p>
            <a:pPr lvl="1"/>
            <a:r>
              <a:rPr lang="sr-Latn-RS" dirty="0"/>
              <a:t>težina otklanjanja</a:t>
            </a:r>
          </a:p>
          <a:p>
            <a:pPr lvl="1"/>
            <a:r>
              <a:rPr lang="sr-Latn-RS" dirty="0"/>
              <a:t>uticaj greške na druge delove projekta</a:t>
            </a:r>
          </a:p>
          <a:p>
            <a:pPr lvl="1"/>
            <a:r>
              <a:rPr lang="sr-Latn-RS" dirty="0"/>
              <a:t>raspoloživost odgovornih programera</a:t>
            </a:r>
          </a:p>
        </p:txBody>
      </p:sp>
    </p:spTree>
    <p:extLst>
      <p:ext uri="{BB962C8B-B14F-4D97-AF65-F5344CB8AC3E}">
        <p14:creationId xmlns:p14="http://schemas.microsoft.com/office/powerpoint/2010/main" val="642256224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Proritet greške</a:t>
            </a:r>
            <a:endParaRPr lang="en-GB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039051473"/>
              </p:ext>
            </p:extLst>
          </p:nvPr>
        </p:nvGraphicFramePr>
        <p:xfrm>
          <a:off x="685800" y="1905000"/>
          <a:ext cx="7772400" cy="32054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20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6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sr-Latn-RS" sz="1800" dirty="0"/>
                        <a:t>Prioritet</a:t>
                      </a:r>
                      <a:endParaRPr lang="en-GB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r-Latn-RS" sz="1800" dirty="0"/>
                        <a:t>Opis</a:t>
                      </a:r>
                      <a:endParaRPr lang="en-GB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r-Latn-RS" sz="1800" dirty="0"/>
                        <a:t>1 – Odmah</a:t>
                      </a:r>
                      <a:endParaRPr lang="en-GB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sr-Latn-RS" sz="1800" baseline="0" dirty="0"/>
                        <a:t>Korišćenje sistema ili dalji razvoj projekta je blokiran zbog ove greške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sr-Latn-RS" sz="1800" baseline="0" dirty="0"/>
                        <a:t>Greška se mora ispraviti bez odlaganja</a:t>
                      </a:r>
                      <a:endParaRPr lang="en-GB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r-Latn-RS" sz="1800" dirty="0"/>
                        <a:t>2 – Za</a:t>
                      </a:r>
                      <a:r>
                        <a:rPr lang="sr-Latn-RS" sz="1800" baseline="0" dirty="0"/>
                        <a:t> </a:t>
                      </a:r>
                      <a:r>
                        <a:rPr lang="sr-Latn-RS" sz="1800" dirty="0"/>
                        <a:t>sledeću verziju</a:t>
                      </a:r>
                      <a:endParaRPr lang="en-GB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sr-Latn-RS" sz="1800" dirty="0"/>
                        <a:t>Ispravka će biti ugrađena u sledeću</a:t>
                      </a:r>
                      <a:r>
                        <a:rPr lang="sr-Latn-RS" sz="1800" baseline="0" dirty="0"/>
                        <a:t> redovnu verziju proizvoda koja se postavi kod korisnika</a:t>
                      </a:r>
                      <a:endParaRPr lang="sr-Latn-R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r-Latn-RS" sz="1800" dirty="0"/>
                        <a:t>3 – Po</a:t>
                      </a:r>
                      <a:r>
                        <a:rPr lang="sr-Latn-RS" sz="1800" baseline="0" dirty="0"/>
                        <a:t> prilici</a:t>
                      </a:r>
                      <a:endParaRPr lang="en-GB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sr-Latn-RS" sz="1800" dirty="0"/>
                        <a:t>Ispravka će biti urađena kada je taj deo sistema</a:t>
                      </a:r>
                      <a:r>
                        <a:rPr lang="sr-Latn-RS" sz="1800" baseline="0" dirty="0"/>
                        <a:t> inače predviđen za izmenu</a:t>
                      </a:r>
                      <a:endParaRPr lang="en-GB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r-Latn-RS" sz="1800" dirty="0"/>
                        <a:t>4 – Otvoren</a:t>
                      </a:r>
                      <a:endParaRPr lang="en-GB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sr-Latn-RS" sz="1800" dirty="0"/>
                        <a:t>Još uvek nije određeno</a:t>
                      </a:r>
                      <a:r>
                        <a:rPr lang="sr-Latn-RS" sz="1800" baseline="0" dirty="0"/>
                        <a:t> kada će ispravka biti urađena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7697421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Trend prijave grešaka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sr-Latn-RS" dirty="0"/>
              <a:t>Trend prijave grešaka ukazuje na trenutno stanje projekta</a:t>
            </a:r>
          </a:p>
          <a:p>
            <a:r>
              <a:rPr lang="sr-Latn-RS" dirty="0"/>
              <a:t>Koliko je projekat blizu finalnog proizvoda se može zaključiti iz broja i tipa grešaka</a:t>
            </a:r>
          </a:p>
          <a:p>
            <a:r>
              <a:rPr lang="sr-Latn-RS" dirty="0"/>
              <a:t>Potrebno je proceniti koliko se očekuje grešaka u narednom periodu</a:t>
            </a:r>
          </a:p>
          <a:p>
            <a:r>
              <a:rPr lang="sr-Latn-RS" dirty="0"/>
              <a:t>Treba analizirati i raspoređenost grešaka po test objektu</a:t>
            </a:r>
          </a:p>
          <a:p>
            <a:pPr lvl="1"/>
            <a:r>
              <a:rPr lang="sr-Latn-RS" dirty="0"/>
              <a:t>za test objekat sa puno grešaka se mogu očekivati i buduće greške</a:t>
            </a:r>
          </a:p>
          <a:p>
            <a:pPr lvl="1"/>
            <a:r>
              <a:rPr lang="sr-Latn-RS" dirty="0"/>
              <a:t>za test objekat sa malo grešaka treba proveriti da li su testovi odgovarajući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409896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Status greške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Iako testeri ne vrše ispravku greške, upravljanje testiranjem treba da obezbedi praćenje njenog statusa</a:t>
            </a:r>
          </a:p>
          <a:p>
            <a:r>
              <a:rPr lang="sr-Latn-RS" dirty="0"/>
              <a:t>Svaka greška prolazi kroz niz predefinisanih statusa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0006967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Statusi greške</a:t>
            </a:r>
            <a:endParaRPr lang="en-GB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847039453"/>
              </p:ext>
            </p:extLst>
          </p:nvPr>
        </p:nvGraphicFramePr>
        <p:xfrm>
          <a:off x="914400" y="1372584"/>
          <a:ext cx="7772400" cy="525780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1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1567">
                <a:tc>
                  <a:txBody>
                    <a:bodyPr/>
                    <a:lstStyle/>
                    <a:p>
                      <a:pPr algn="ctr"/>
                      <a:r>
                        <a:rPr lang="sr-Latn-RS" sz="1800" dirty="0"/>
                        <a:t>Status</a:t>
                      </a:r>
                    </a:p>
                    <a:p>
                      <a:pPr algn="ctr"/>
                      <a:r>
                        <a:rPr lang="sr-Latn-RS" sz="1800" dirty="0"/>
                        <a:t>(ko postavlja)</a:t>
                      </a:r>
                      <a:endParaRPr lang="en-GB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r-Latn-RS" sz="1800" dirty="0"/>
                        <a:t>Opis</a:t>
                      </a:r>
                      <a:endParaRPr lang="en-GB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1567">
                <a:tc>
                  <a:txBody>
                    <a:bodyPr/>
                    <a:lstStyle/>
                    <a:p>
                      <a:r>
                        <a:rPr lang="sr-Latn-RS" sz="1800" dirty="0"/>
                        <a:t>Novi</a:t>
                      </a:r>
                    </a:p>
                    <a:p>
                      <a:r>
                        <a:rPr lang="sr-Latn-RS" sz="1800" dirty="0"/>
                        <a:t>(tester)</a:t>
                      </a:r>
                      <a:endParaRPr lang="en-GB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sr-Latn-RS" sz="1800" baseline="0" dirty="0"/>
                        <a:t>Greška je tek evidentirana</a:t>
                      </a:r>
                      <a:endParaRPr lang="en-GB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7867">
                <a:tc>
                  <a:txBody>
                    <a:bodyPr/>
                    <a:lstStyle/>
                    <a:p>
                      <a:r>
                        <a:rPr lang="sr-Latn-RS" sz="1800" dirty="0"/>
                        <a:t>Otvoren</a:t>
                      </a:r>
                    </a:p>
                    <a:p>
                      <a:r>
                        <a:rPr lang="sr-Latn-RS" sz="1800" dirty="0"/>
                        <a:t>(test</a:t>
                      </a:r>
                      <a:r>
                        <a:rPr lang="sr-Latn-RS" sz="1800" baseline="0" dirty="0"/>
                        <a:t> menadžer)</a:t>
                      </a:r>
                      <a:endParaRPr lang="en-GB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sr-Latn-RS" sz="1800" dirty="0"/>
                        <a:t>Test</a:t>
                      </a:r>
                      <a:r>
                        <a:rPr lang="sr-Latn-RS" sz="1800" baseline="0" dirty="0"/>
                        <a:t> menadžer analizira evidentirane greške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sr-Latn-RS" sz="1800" baseline="0" dirty="0"/>
                        <a:t>Na osnovu opisa određuje da li je prijava smislena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sr-Latn-RS" sz="1800" baseline="0" dirty="0"/>
                        <a:t>Ako jeste, zahteva se ispravka greške od određenog programera i postavlja u ovaj status</a:t>
                      </a:r>
                      <a:endParaRPr lang="sr-Latn-R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1567">
                <a:tc>
                  <a:txBody>
                    <a:bodyPr/>
                    <a:lstStyle/>
                    <a:p>
                      <a:r>
                        <a:rPr lang="sr-Latn-RS" sz="1800" dirty="0"/>
                        <a:t>Odbijen</a:t>
                      </a:r>
                    </a:p>
                    <a:p>
                      <a:r>
                        <a:rPr lang="sr-Latn-RS" sz="1800" dirty="0"/>
                        <a:t>(test</a:t>
                      </a:r>
                      <a:r>
                        <a:rPr lang="sr-Latn-RS" sz="1800" baseline="0" dirty="0"/>
                        <a:t> menadžer)</a:t>
                      </a:r>
                      <a:endParaRPr lang="en-GB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sr-Latn-RS" sz="1800" dirty="0"/>
                        <a:t>Već prijavljena</a:t>
                      </a:r>
                      <a:r>
                        <a:rPr lang="sr-Latn-RS" sz="1800" baseline="0" dirty="0"/>
                        <a:t> ili neodgovarajuća prijava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sr-Latn-RS" sz="1800" baseline="0" dirty="0"/>
                        <a:t>Ispravka se ne zahteva, prijava se odbija</a:t>
                      </a:r>
                      <a:endParaRPr lang="en-GB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3667">
                <a:tc>
                  <a:txBody>
                    <a:bodyPr/>
                    <a:lstStyle/>
                    <a:p>
                      <a:r>
                        <a:rPr lang="sr-Latn-RS" sz="1800" dirty="0"/>
                        <a:t>Analiza</a:t>
                      </a:r>
                    </a:p>
                    <a:p>
                      <a:r>
                        <a:rPr lang="sr-Latn-RS" sz="1800" dirty="0"/>
                        <a:t>(programer)</a:t>
                      </a:r>
                      <a:endParaRPr lang="en-GB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sr-Latn-RS" sz="1800" dirty="0"/>
                        <a:t>Programer analizira grešku</a:t>
                      </a:r>
                      <a:r>
                        <a:rPr lang="sr-Latn-RS" sz="1800" baseline="0" dirty="0"/>
                        <a:t> čija je ispravka zatražena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sr-Latn-RS" sz="1800" baseline="0" dirty="0"/>
                        <a:t>Određuje uzrok, način rešavanja, obim posla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1567">
                <a:tc>
                  <a:txBody>
                    <a:bodyPr/>
                    <a:lstStyle/>
                    <a:p>
                      <a:r>
                        <a:rPr lang="sr-Latn-RS" sz="1800" dirty="0"/>
                        <a:t>Posmatranje </a:t>
                      </a:r>
                    </a:p>
                    <a:p>
                      <a:r>
                        <a:rPr lang="sr-Latn-RS" sz="1800" dirty="0"/>
                        <a:t>(programer)</a:t>
                      </a:r>
                      <a:endParaRPr lang="en-GB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sr-Latn-RS" sz="1800" baseline="0" dirty="0"/>
                        <a:t>Prijavljena greška ne može biti reprodukovana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sr-Latn-RS" sz="1800" baseline="0" dirty="0"/>
                        <a:t>Potrebna dodatna pojašnjenja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7150949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Statusi greške (nastavak)</a:t>
            </a:r>
            <a:endParaRPr lang="en-GB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2433521837"/>
              </p:ext>
            </p:extLst>
          </p:nvPr>
        </p:nvGraphicFramePr>
        <p:xfrm>
          <a:off x="838200" y="1371600"/>
          <a:ext cx="7772400" cy="51206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1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sr-Latn-RS" sz="1800" dirty="0"/>
                        <a:t>Status</a:t>
                      </a:r>
                    </a:p>
                    <a:p>
                      <a:pPr algn="ctr"/>
                      <a:r>
                        <a:rPr lang="sr-Latn-RS" sz="1800" dirty="0"/>
                        <a:t>(ko postavlja)</a:t>
                      </a:r>
                      <a:endParaRPr lang="en-GB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r-Latn-RS" sz="1800" dirty="0"/>
                        <a:t>Opis</a:t>
                      </a:r>
                      <a:endParaRPr lang="en-GB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r-Latn-RS" sz="1800" dirty="0"/>
                        <a:t>Ispravka</a:t>
                      </a:r>
                    </a:p>
                    <a:p>
                      <a:r>
                        <a:rPr lang="sr-Latn-RS" sz="1800" dirty="0"/>
                        <a:t>(menadžer projekta)</a:t>
                      </a:r>
                      <a:endParaRPr lang="en-GB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sr-Latn-RS" sz="1800" baseline="0" dirty="0"/>
                        <a:t>Na osnovu analize menadžer projekta određuje da li, kada i ko treba raditi ispravku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sr-Latn-RS" sz="1800" baseline="0" dirty="0"/>
                        <a:t>Programer vrši ispravku i postavlja komentar o izvršenim izmenama</a:t>
                      </a:r>
                      <a:endParaRPr lang="en-GB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r-Latn-RS" sz="1800" dirty="0"/>
                        <a:t>Test</a:t>
                      </a:r>
                    </a:p>
                    <a:p>
                      <a:r>
                        <a:rPr lang="sr-Latn-RS" sz="1800" dirty="0"/>
                        <a:t>(programer</a:t>
                      </a:r>
                      <a:r>
                        <a:rPr lang="sr-Latn-RS" sz="1800" baseline="0" dirty="0"/>
                        <a:t>)</a:t>
                      </a:r>
                      <a:endParaRPr lang="en-GB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sr-Latn-RS" sz="1800" dirty="0"/>
                        <a:t>Označava da je programer izvršio ispravku</a:t>
                      </a:r>
                      <a:r>
                        <a:rPr lang="sr-Latn-RS" sz="1800" baseline="0" dirty="0"/>
                        <a:t> i da izmena treba da bude testirana</a:t>
                      </a:r>
                      <a:endParaRPr lang="sr-Latn-R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r-Latn-RS" sz="1800" dirty="0"/>
                        <a:t>Zatvoren</a:t>
                      </a:r>
                    </a:p>
                    <a:p>
                      <a:r>
                        <a:rPr lang="sr-Latn-RS" sz="1800" dirty="0"/>
                        <a:t>(tester</a:t>
                      </a:r>
                      <a:r>
                        <a:rPr lang="sr-Latn-RS" sz="1800" baseline="0" dirty="0"/>
                        <a:t>)</a:t>
                      </a:r>
                      <a:endParaRPr lang="en-GB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sr-Latn-RS" sz="1800" dirty="0"/>
                        <a:t>U narednom</a:t>
                      </a:r>
                      <a:r>
                        <a:rPr lang="sr-Latn-RS" sz="1800" baseline="0" dirty="0"/>
                        <a:t> ciklusu testiranja testiraju se ispravke koje su u statusu </a:t>
                      </a:r>
                      <a:r>
                        <a:rPr lang="sr-Latn-RS" sz="1800" i="1" baseline="0" dirty="0"/>
                        <a:t>test</a:t>
                      </a:r>
                      <a:endParaRPr lang="sr-Latn-RS" sz="1800" baseline="0" dirty="0"/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sr-Latn-RS" sz="1800" baseline="0" dirty="0"/>
                        <a:t>Ponavlja se test slučaj kojim je greška otkrivena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sr-Latn-RS" sz="1800" dirty="0"/>
                        <a:t>Ako</a:t>
                      </a:r>
                      <a:r>
                        <a:rPr lang="sr-Latn-RS" sz="1800" baseline="0" dirty="0"/>
                        <a:t> tester utvrdi da je ispravka otklonila grešku, postavlja status u </a:t>
                      </a:r>
                      <a:r>
                        <a:rPr lang="sr-Latn-RS" sz="1800" i="1" baseline="0" dirty="0"/>
                        <a:t>zatvoren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sr-Latn-RS" sz="1800" i="0" baseline="0" dirty="0"/>
                        <a:t>samo tester (a ne programer) može da zatvori prijavu</a:t>
                      </a:r>
                      <a:endParaRPr lang="en-GB" sz="1800" i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r-Latn-RS" sz="1800" dirty="0"/>
                        <a:t>Neuspešan</a:t>
                      </a:r>
                    </a:p>
                    <a:p>
                      <a:r>
                        <a:rPr lang="sr-Latn-RS" sz="1800" dirty="0"/>
                        <a:t>(tester)</a:t>
                      </a:r>
                      <a:endParaRPr lang="en-GB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sr-Latn-RS" sz="1800" dirty="0"/>
                        <a:t>Ako verifikacija</a:t>
                      </a:r>
                      <a:r>
                        <a:rPr lang="sr-Latn-RS" sz="1800" baseline="0" dirty="0"/>
                        <a:t> ispravke pokaže da ispravka nije otklonila grešku, status je </a:t>
                      </a:r>
                      <a:r>
                        <a:rPr lang="sr-Latn-RS" sz="1800" i="1" baseline="0" dirty="0"/>
                        <a:t>neuspešan</a:t>
                      </a:r>
                      <a:endParaRPr lang="sr-Latn-RS" sz="18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903089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Dijagram prelaza statusa greške</a:t>
            </a:r>
            <a:endParaRPr lang="en-GB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1371600"/>
            <a:ext cx="4191000" cy="53644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9720762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57634</TotalTime>
  <Words>4473</Words>
  <Application>Microsoft Office PowerPoint</Application>
  <PresentationFormat>On-screen Show (4:3)</PresentationFormat>
  <Paragraphs>689</Paragraphs>
  <Slides>92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102" baseType="lpstr">
      <vt:lpstr>Adobe Arabic</vt:lpstr>
      <vt:lpstr>Adobe Caslon Pro Bold</vt:lpstr>
      <vt:lpstr>Arial</vt:lpstr>
      <vt:lpstr>Calibri</vt:lpstr>
      <vt:lpstr>Cambria Math</vt:lpstr>
      <vt:lpstr>Century</vt:lpstr>
      <vt:lpstr>Franklin Gothic Book</vt:lpstr>
      <vt:lpstr>Perpetua</vt:lpstr>
      <vt:lpstr>Wingdings 2</vt:lpstr>
      <vt:lpstr>Equity</vt:lpstr>
      <vt:lpstr>Upravljanje testiranjem</vt:lpstr>
      <vt:lpstr>Upravljanje testiranjem</vt:lpstr>
      <vt:lpstr>Organizacija test tima</vt:lpstr>
      <vt:lpstr>Izbor test tima</vt:lpstr>
      <vt:lpstr>Nezavisno testiranje</vt:lpstr>
      <vt:lpstr>Nezavisno testiranje</vt:lpstr>
      <vt:lpstr>Nezavisno testiranje</vt:lpstr>
      <vt:lpstr>Modeli nezavisnog testiranja</vt:lpstr>
      <vt:lpstr>Modeli jediničnog testiranja</vt:lpstr>
      <vt:lpstr>Modeli integracionog testiranja</vt:lpstr>
      <vt:lpstr>Modeli sistemskog testiranja</vt:lpstr>
      <vt:lpstr>Uloge u test timu</vt:lpstr>
      <vt:lpstr>Uloge u test timu</vt:lpstr>
      <vt:lpstr>Uloge u test timu</vt:lpstr>
      <vt:lpstr>Uloge u test timu</vt:lpstr>
      <vt:lpstr>Uloge u test timu</vt:lpstr>
      <vt:lpstr>Uloge u test timu</vt:lpstr>
      <vt:lpstr>Planiranje testiranja</vt:lpstr>
      <vt:lpstr>Planiranje</vt:lpstr>
      <vt:lpstr>Planiranje testiranja</vt:lpstr>
      <vt:lpstr>Plan obezbeđenja kvaliteta</vt:lpstr>
      <vt:lpstr>Obezbeđenje kvaliteta</vt:lpstr>
      <vt:lpstr>Test plan</vt:lpstr>
      <vt:lpstr>Test plan</vt:lpstr>
      <vt:lpstr>Test plan prema IEEE 829-2008</vt:lpstr>
      <vt:lpstr>Master test plan prema IEEE 829-2008</vt:lpstr>
      <vt:lpstr>Master test plan prema IEEE 829-2008</vt:lpstr>
      <vt:lpstr>Level test plan prema IEEE 829-2008</vt:lpstr>
      <vt:lpstr>Level test plan prema IEEE 829-2008</vt:lpstr>
      <vt:lpstr>Prioriteti testova</vt:lpstr>
      <vt:lpstr>Kriterijumi izbora prioriteta testa</vt:lpstr>
      <vt:lpstr>Kriterijumi izbora prioriteta testa</vt:lpstr>
      <vt:lpstr>Kriterijumi izbora prioriteta testa</vt:lpstr>
      <vt:lpstr>Kriterijumi izbora prioriteta testa</vt:lpstr>
      <vt:lpstr>Kriterijum početka testiranja</vt:lpstr>
      <vt:lpstr>Kriterijum završetka testiranja</vt:lpstr>
      <vt:lpstr>Kriterijum završetka testiranja</vt:lpstr>
      <vt:lpstr>Ekonomski aspekti</vt:lpstr>
      <vt:lpstr>Ekonomski aspekti testiranja</vt:lpstr>
      <vt:lpstr>Troškovi nedostataka</vt:lpstr>
      <vt:lpstr>Troškovi nedostataka</vt:lpstr>
      <vt:lpstr>Troškovi nedostataka</vt:lpstr>
      <vt:lpstr>PowerPoint Presentation</vt:lpstr>
      <vt:lpstr>Troškovi testiranja</vt:lpstr>
      <vt:lpstr>Troškovi testiranja</vt:lpstr>
      <vt:lpstr>Troškovi testiranja</vt:lpstr>
      <vt:lpstr>Troškovi testiranja</vt:lpstr>
      <vt:lpstr>Troškovi testiranja</vt:lpstr>
      <vt:lpstr>Troškovi testiranja</vt:lpstr>
      <vt:lpstr>Uticaj na troškove testiranja</vt:lpstr>
      <vt:lpstr>Uticaj na troškove testiranja</vt:lpstr>
      <vt:lpstr>Uticaj na troškove testiranja</vt:lpstr>
      <vt:lpstr>Izračunavanje napora utrošenog u testiranje</vt:lpstr>
      <vt:lpstr>Izbor strategije testiranja</vt:lpstr>
      <vt:lpstr>Test strategija ili pristup testiranju</vt:lpstr>
      <vt:lpstr>Preventivni vs reaktivni pristup</vt:lpstr>
      <vt:lpstr>Preventivni vs reaktivni pristup</vt:lpstr>
      <vt:lpstr>Preventivni vs reaktivni pristup</vt:lpstr>
      <vt:lpstr>Analitički vs iskustveni pristup</vt:lpstr>
      <vt:lpstr>Pristupi koji se koriste u praksi</vt:lpstr>
      <vt:lpstr>Pristupi koji se koriste u praksi</vt:lpstr>
      <vt:lpstr>Pristupi koji se koriste u praksi</vt:lpstr>
      <vt:lpstr>Testiranje i rizik</vt:lpstr>
      <vt:lpstr>Rizici projekta</vt:lpstr>
      <vt:lpstr>Rizici projekta</vt:lpstr>
      <vt:lpstr>Rizici finalnog proizvoda</vt:lpstr>
      <vt:lpstr>Upravljanje rizikom</vt:lpstr>
      <vt:lpstr>Upravljanje ciklusom testiranja</vt:lpstr>
      <vt:lpstr>Ciklus testiranja</vt:lpstr>
      <vt:lpstr>Planiranje ciklusa testiranja</vt:lpstr>
      <vt:lpstr>Planiranje ciklusa testiranja</vt:lpstr>
      <vt:lpstr>Nadzor ciklusa testiranja</vt:lpstr>
      <vt:lpstr>Nadzor ciklusa testiranja</vt:lpstr>
      <vt:lpstr>Nadzor ciklusa testiranja</vt:lpstr>
      <vt:lpstr>Upravljanje ciklusom testiranja</vt:lpstr>
      <vt:lpstr>Upravljanje greškama</vt:lpstr>
      <vt:lpstr>Upravljanje greškama</vt:lpstr>
      <vt:lpstr>Test log</vt:lpstr>
      <vt:lpstr>Prijavljivanje grešaka</vt:lpstr>
      <vt:lpstr>Prijavljivanje grešaka</vt:lpstr>
      <vt:lpstr>PowerPoint Presentation</vt:lpstr>
      <vt:lpstr>PowerPoint Presentation</vt:lpstr>
      <vt:lpstr>Prijavljivanje grešaka</vt:lpstr>
      <vt:lpstr>Klasifikacija grešaka</vt:lpstr>
      <vt:lpstr>Klasifikacija grešaka</vt:lpstr>
      <vt:lpstr>Prioritet greške</vt:lpstr>
      <vt:lpstr>Proritet greške</vt:lpstr>
      <vt:lpstr>Trend prijave grešaka</vt:lpstr>
      <vt:lpstr>Status greške</vt:lpstr>
      <vt:lpstr>Statusi greške</vt:lpstr>
      <vt:lpstr>Statusi greške (nastavak)</vt:lpstr>
      <vt:lpstr>Dijagram prelaza statusa greške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radni okvir</dc:title>
  <dc:creator>Goran</dc:creator>
  <cp:lastModifiedBy>Goran</cp:lastModifiedBy>
  <cp:revision>1323</cp:revision>
  <dcterms:created xsi:type="dcterms:W3CDTF">2016-06-17T10:29:53Z</dcterms:created>
  <dcterms:modified xsi:type="dcterms:W3CDTF">2023-12-21T12:58:22Z</dcterms:modified>
</cp:coreProperties>
</file>