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"/>
  </p:notesMasterIdLst>
  <p:sldIdLst>
    <p:sldId id="256" r:id="rId2"/>
    <p:sldId id="257" r:id="rId3"/>
    <p:sldId id="258" r:id="rId4"/>
    <p:sldId id="272" r:id="rId5"/>
    <p:sldId id="264" r:id="rId6"/>
    <p:sldId id="265" r:id="rId7"/>
    <p:sldId id="266" r:id="rId8"/>
    <p:sldId id="270" r:id="rId9"/>
    <p:sldId id="271" r:id="rId10"/>
    <p:sldId id="267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8040" autoAdjust="0"/>
  </p:normalViewPr>
  <p:slideViewPr>
    <p:cSldViewPr>
      <p:cViewPr varScale="1">
        <p:scale>
          <a:sx n="75" d="100"/>
          <a:sy n="75" d="100"/>
        </p:scale>
        <p:origin x="1666" y="5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6258"/>
    </p:cViewPr>
  </p:sorterViewPr>
  <p:notesViewPr>
    <p:cSldViewPr>
      <p:cViewPr varScale="1">
        <p:scale>
          <a:sx n="70" d="100"/>
          <a:sy n="70" d="100"/>
        </p:scale>
        <p:origin x="-3234" y="-9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1E5E08-6FDD-4025-8531-A3BB39BAD8F4}" type="datetimeFigureOut">
              <a:rPr lang="en-GB" smtClean="0"/>
              <a:t>07/11/2023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1C20D4-52CC-4AE0-A8BD-CFB348CDB19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89325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F1C20D4-52CC-4AE0-A8BD-CFB348CDB199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132485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Rounded Rectangle 12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E63B4-66BE-45AF-B342-5BD675F621EF}" type="datetimeFigureOut">
              <a:rPr lang="en-GB" smtClean="0"/>
              <a:t>07/11/2023</a:t>
            </a:fld>
            <a:endParaRPr lang="en-GB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0B244398-0885-4C06-B673-45F76BE55CC2}" type="slidenum">
              <a:rPr lang="en-GB" smtClean="0"/>
              <a:t>‹#›</a:t>
            </a:fld>
            <a:endParaRPr lang="en-GB"/>
          </a:p>
        </p:txBody>
      </p:sp>
      <p:sp>
        <p:nvSpPr>
          <p:cNvPr id="7" name="Rectangle 6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E4E63B4-66BE-45AF-B342-5BD675F621EF}" type="datetimeFigureOut">
              <a:rPr lang="en-GB" smtClean="0"/>
              <a:pPr/>
              <a:t>07/11/2023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0B244398-0885-4C06-B673-45F76BE55CC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 useBgFill="1">
        <p:nvSpPr>
          <p:cNvPr id="10" name="Rounded Rectangle 9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E4E63B4-66BE-45AF-B342-5BD675F621EF}" type="datetimeFigureOut">
              <a:rPr lang="en-GB" smtClean="0"/>
              <a:pPr/>
              <a:t>07/11/2023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GB"/>
          </a:p>
        </p:txBody>
      </p:sp>
      <p:sp>
        <p:nvSpPr>
          <p:cNvPr id="7" name="Rectangle 6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0B244398-0885-4C06-B673-45F76BE55CC2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E4E63B4-66BE-45AF-B342-5BD675F621EF}" type="datetimeFigureOut">
              <a:rPr lang="en-GB" smtClean="0"/>
              <a:pPr/>
              <a:t>07/11/2023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0B244398-0885-4C06-B673-45F76BE55CC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E4E63B4-66BE-45AF-B342-5BD675F621EF}" type="datetimeFigureOut">
              <a:rPr lang="en-GB" smtClean="0"/>
              <a:pPr/>
              <a:t>07/11/2023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0B244398-0885-4C06-B673-45F76BE55CC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E4E63B4-66BE-45AF-B342-5BD675F621EF}" type="datetimeFigureOut">
              <a:rPr lang="en-GB" smtClean="0"/>
              <a:pPr/>
              <a:t>07/11/2023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0B244398-0885-4C06-B673-45F76BE55CC2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E4E63B4-66BE-45AF-B342-5BD675F621EF}" type="datetimeFigureOut">
              <a:rPr lang="en-GB" smtClean="0"/>
              <a:pPr/>
              <a:t>07/11/2023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0B244398-0885-4C06-B673-45F76BE55CC2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 useBgFill="1">
        <p:nvSpPr>
          <p:cNvPr id="9" name="Rounded Rectangle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E4E63B4-66BE-45AF-B342-5BD675F621EF}" type="datetimeFigureOut">
              <a:rPr lang="en-GB" smtClean="0"/>
              <a:pPr/>
              <a:t>07/11/2023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0B244398-0885-4C06-B673-45F76BE55CC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E63B4-66BE-45AF-B342-5BD675F621EF}" type="datetimeFigureOut">
              <a:rPr lang="en-GB" smtClean="0"/>
              <a:t>07/11/2023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0B244398-0885-4C06-B673-45F76BE55CC2}" type="slidenum">
              <a:rPr lang="en-GB" smtClean="0"/>
              <a:t>‹#›</a:t>
            </a:fld>
            <a:endParaRPr lang="en-GB"/>
          </a:p>
        </p:txBody>
      </p:sp>
      <p:sp>
        <p:nvSpPr>
          <p:cNvPr id="11" name="Rectangle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E63B4-66BE-45AF-B342-5BD675F621EF}" type="datetimeFigureOut">
              <a:rPr lang="en-GB" smtClean="0"/>
              <a:t>07/11/2023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44398-0885-4C06-B673-45F76BE55CC2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E63B4-66BE-45AF-B342-5BD675F621EF}" type="datetimeFigureOut">
              <a:rPr lang="en-GB" smtClean="0"/>
              <a:t>07/11/2023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244398-0885-4C06-B673-45F76BE55CC2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4E4E63B4-66BE-45AF-B342-5BD675F621EF}" type="datetimeFigureOut">
              <a:rPr lang="en-GB" smtClean="0"/>
              <a:t>07/11/2023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GB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0B244398-0885-4C06-B673-45F76BE55CC2}" type="slidenum">
              <a:rPr lang="en-GB" smtClean="0"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62200" y="5943600"/>
            <a:ext cx="6400800" cy="533400"/>
          </a:xfrm>
        </p:spPr>
        <p:txBody>
          <a:bodyPr/>
          <a:lstStyle/>
          <a:p>
            <a:pPr algn="r"/>
            <a:r>
              <a:rPr lang="sr-Latn-RS" dirty="0"/>
              <a:t>Autor: Goran Savić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sr-Latn-RS" dirty="0"/>
              <a:t>Testiranje JavaScript koda korišćenjem Jasmine radnog okvira</a:t>
            </a:r>
            <a:endParaRPr lang="en-GB" dirty="0"/>
          </a:p>
        </p:txBody>
      </p:sp>
      <p:sp>
        <p:nvSpPr>
          <p:cNvPr id="5" name="AutoShape 2" descr="Image result for jasmine testi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/>
          </a:p>
        </p:txBody>
      </p:sp>
      <p:sp>
        <p:nvSpPr>
          <p:cNvPr id="6" name="AutoShape 4" descr="Image result for jasmine testi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/>
          </a:p>
        </p:txBody>
      </p:sp>
      <p:sp>
        <p:nvSpPr>
          <p:cNvPr id="7" name="AutoShape 6" descr="Image result for jasmine testi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/>
          </a:p>
        </p:txBody>
      </p:sp>
      <p:pic>
        <p:nvPicPr>
          <p:cNvPr id="8" name="Picture 8" descr="Image result for jasmine testi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4200" y="3200400"/>
            <a:ext cx="2667000" cy="26670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984163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Jasmine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Jasmine je </a:t>
            </a:r>
            <a:r>
              <a:rPr lang="en-US" dirty="0" err="1"/>
              <a:t>radni</a:t>
            </a:r>
            <a:r>
              <a:rPr lang="en-US" dirty="0"/>
              <a:t> </a:t>
            </a:r>
            <a:r>
              <a:rPr lang="en-US" dirty="0" err="1"/>
              <a:t>okvir</a:t>
            </a:r>
            <a:r>
              <a:rPr lang="en-US" dirty="0"/>
              <a:t> </a:t>
            </a:r>
            <a:r>
              <a:rPr lang="en-US" dirty="0" err="1"/>
              <a:t>za</a:t>
            </a:r>
            <a:r>
              <a:rPr lang="en-US" dirty="0"/>
              <a:t> </a:t>
            </a:r>
            <a:r>
              <a:rPr lang="en-US" dirty="0" err="1"/>
              <a:t>testiranje</a:t>
            </a:r>
            <a:r>
              <a:rPr lang="en-US" dirty="0"/>
              <a:t> JavaScript </a:t>
            </a:r>
            <a:r>
              <a:rPr lang="en-US" dirty="0" err="1"/>
              <a:t>koda</a:t>
            </a:r>
            <a:endParaRPr lang="en-US" dirty="0"/>
          </a:p>
          <a:p>
            <a:r>
              <a:rPr lang="sr-Latn-RS" dirty="0"/>
              <a:t>Omogućuje različite funkcije za evaluiranje vrednosti izraza, kao i rad sa test dvojnicima</a:t>
            </a:r>
          </a:p>
          <a:p>
            <a:r>
              <a:rPr lang="sr-Latn-RS" dirty="0"/>
              <a:t>Može se koristiti u kombinaciji sa drugim radnim okvirima</a:t>
            </a:r>
            <a:endParaRPr lang="en-US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763531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Primer Jasmine testa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sz="1800" dirty="0">
                <a:latin typeface="Courier New" pitchFamily="49" charset="0"/>
                <a:cs typeface="Courier New" pitchFamily="49" charset="0"/>
              </a:rPr>
              <a:t>describe("A suite is just a function", function() { </a:t>
            </a:r>
          </a:p>
          <a:p>
            <a:pPr marL="0" indent="0">
              <a:buNone/>
            </a:pPr>
            <a:r>
              <a:rPr lang="en-GB" sz="1800" dirty="0">
                <a:latin typeface="Courier New" pitchFamily="49" charset="0"/>
                <a:cs typeface="Courier New" pitchFamily="49" charset="0"/>
              </a:rPr>
              <a:t>  </a:t>
            </a:r>
            <a:r>
              <a:rPr lang="en-GB" sz="1800" dirty="0" err="1">
                <a:latin typeface="Courier New" pitchFamily="49" charset="0"/>
                <a:cs typeface="Courier New" pitchFamily="49" charset="0"/>
              </a:rPr>
              <a:t>var</a:t>
            </a:r>
            <a:r>
              <a:rPr lang="en-GB" sz="1800" dirty="0">
                <a:latin typeface="Courier New" pitchFamily="49" charset="0"/>
                <a:cs typeface="Courier New" pitchFamily="49" charset="0"/>
              </a:rPr>
              <a:t> a;</a:t>
            </a:r>
          </a:p>
          <a:p>
            <a:pPr marL="0" indent="0">
              <a:buNone/>
            </a:pPr>
            <a:r>
              <a:rPr lang="en-GB" sz="1800" dirty="0">
                <a:latin typeface="Courier New" pitchFamily="49" charset="0"/>
                <a:cs typeface="Courier New" pitchFamily="49" charset="0"/>
              </a:rPr>
              <a:t>  it("and so is a spec", function() { </a:t>
            </a:r>
          </a:p>
          <a:p>
            <a:pPr marL="0" indent="0">
              <a:buNone/>
            </a:pPr>
            <a:r>
              <a:rPr lang="en-GB" sz="1800" dirty="0">
                <a:latin typeface="Courier New" pitchFamily="49" charset="0"/>
                <a:cs typeface="Courier New" pitchFamily="49" charset="0"/>
              </a:rPr>
              <a:t>    a = 1;</a:t>
            </a:r>
          </a:p>
          <a:p>
            <a:pPr marL="0" indent="0">
              <a:buNone/>
            </a:pPr>
            <a:r>
              <a:rPr lang="en-GB" sz="1800" dirty="0">
                <a:latin typeface="Courier New" pitchFamily="49" charset="0"/>
                <a:cs typeface="Courier New" pitchFamily="49" charset="0"/>
              </a:rPr>
              <a:t>    </a:t>
            </a:r>
            <a:r>
              <a:rPr lang="en-GB" sz="1800" b="1" dirty="0">
                <a:latin typeface="Courier New" pitchFamily="49" charset="0"/>
                <a:cs typeface="Courier New" pitchFamily="49" charset="0"/>
              </a:rPr>
              <a:t>expect(</a:t>
            </a:r>
            <a:r>
              <a:rPr lang="en-GB" sz="1800" b="1" dirty="0" err="1">
                <a:latin typeface="Courier New" pitchFamily="49" charset="0"/>
                <a:cs typeface="Courier New" pitchFamily="49" charset="0"/>
              </a:rPr>
              <a:t>a+a</a:t>
            </a:r>
            <a:r>
              <a:rPr lang="en-GB" sz="1800" b="1" dirty="0">
                <a:latin typeface="Courier New" pitchFamily="49" charset="0"/>
                <a:cs typeface="Courier New" pitchFamily="49" charset="0"/>
              </a:rPr>
              <a:t>).</a:t>
            </a:r>
            <a:r>
              <a:rPr lang="en-GB" sz="1800" b="1" dirty="0" err="1">
                <a:latin typeface="Courier New" pitchFamily="49" charset="0"/>
                <a:cs typeface="Courier New" pitchFamily="49" charset="0"/>
              </a:rPr>
              <a:t>toBe</a:t>
            </a:r>
            <a:r>
              <a:rPr lang="en-GB" sz="1800" b="1" dirty="0">
                <a:latin typeface="Courier New" pitchFamily="49" charset="0"/>
                <a:cs typeface="Courier New" pitchFamily="49" charset="0"/>
              </a:rPr>
              <a:t>(2);</a:t>
            </a:r>
          </a:p>
          <a:p>
            <a:pPr marL="0" indent="0">
              <a:buNone/>
            </a:pPr>
            <a:r>
              <a:rPr lang="en-GB" sz="1800" dirty="0">
                <a:latin typeface="Courier New" pitchFamily="49" charset="0"/>
                <a:cs typeface="Courier New" pitchFamily="49" charset="0"/>
              </a:rPr>
              <a:t>  });</a:t>
            </a:r>
          </a:p>
          <a:p>
            <a:pPr marL="0" indent="0">
              <a:buNone/>
            </a:pPr>
            <a:r>
              <a:rPr lang="en-GB" sz="1800" dirty="0">
                <a:latin typeface="Courier New" pitchFamily="49" charset="0"/>
                <a:cs typeface="Courier New" pitchFamily="49" charset="0"/>
              </a:rPr>
              <a:t>});</a:t>
            </a:r>
            <a:endParaRPr lang="sr-Latn-RS" sz="1800" dirty="0">
              <a:latin typeface="Courier New" pitchFamily="49" charset="0"/>
              <a:cs typeface="Courier New" pitchFamily="49" charset="0"/>
            </a:endParaRPr>
          </a:p>
          <a:p>
            <a:pPr marL="0" indent="0">
              <a:buNone/>
            </a:pPr>
            <a:endParaRPr lang="sr-Latn-RS" sz="1800" dirty="0">
              <a:latin typeface="Courier New" pitchFamily="49" charset="0"/>
              <a:cs typeface="Courier New" pitchFamily="49" charset="0"/>
            </a:endParaRPr>
          </a:p>
          <a:p>
            <a:r>
              <a:rPr lang="sr-Latn-RS" dirty="0"/>
              <a:t>Primeri</a:t>
            </a:r>
          </a:p>
          <a:p>
            <a:pPr lvl="1"/>
            <a:r>
              <a:rPr lang="sr-Latn-RS" sz="1800" dirty="0">
                <a:latin typeface="Courier New" pitchFamily="49" charset="0"/>
                <a:cs typeface="Courier New" pitchFamily="49" charset="0"/>
              </a:rPr>
              <a:t>client-jasmine</a:t>
            </a:r>
          </a:p>
          <a:p>
            <a:pPr lvl="2"/>
            <a:r>
              <a:rPr lang="sr-Latn-RS" sz="1600" dirty="0">
                <a:latin typeface="Courier New" pitchFamily="49" charset="0"/>
                <a:cs typeface="Courier New" pitchFamily="49" charset="0"/>
              </a:rPr>
              <a:t>jasmine-example-test.js</a:t>
            </a:r>
            <a:endParaRPr lang="en-GB" sz="1800" dirty="0">
              <a:latin typeface="Courier New" pitchFamily="49" charset="0"/>
              <a:cs typeface="Courier New" pitchFamily="49" charset="0"/>
            </a:endParaRPr>
          </a:p>
        </p:txBody>
      </p:sp>
      <p:pic>
        <p:nvPicPr>
          <p:cNvPr id="4" name="Picture 8" descr="http://www.toolkit2collaborate.ca/wp/wp-content/uploads/2014/02/ICON_Example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132" y="4191000"/>
            <a:ext cx="609600" cy="609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903216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Jasmine konfiguracija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924800" cy="4572000"/>
          </a:xfrm>
        </p:spPr>
        <p:txBody>
          <a:bodyPr/>
          <a:lstStyle/>
          <a:p>
            <a:r>
              <a:rPr lang="en-US" dirty="0" err="1"/>
              <a:t>npm</a:t>
            </a:r>
            <a:r>
              <a:rPr lang="en-US" dirty="0"/>
              <a:t> install --save-</a:t>
            </a:r>
            <a:r>
              <a:rPr lang="en-US" dirty="0" err="1"/>
              <a:t>dev</a:t>
            </a:r>
            <a:r>
              <a:rPr lang="en-US" dirty="0"/>
              <a:t> jasmine</a:t>
            </a:r>
            <a:endParaRPr lang="sr-Latn-RS" dirty="0"/>
          </a:p>
          <a:p>
            <a:r>
              <a:rPr lang="en-US" dirty="0" err="1"/>
              <a:t>npx</a:t>
            </a:r>
            <a:r>
              <a:rPr lang="en-US" dirty="0"/>
              <a:t> jasmine </a:t>
            </a:r>
            <a:r>
              <a:rPr lang="en-US" dirty="0" err="1"/>
              <a:t>init</a:t>
            </a:r>
            <a:endParaRPr lang="sr-Latn-RS" dirty="0"/>
          </a:p>
          <a:p>
            <a:r>
              <a:rPr lang="sr-Latn-RS" dirty="0"/>
              <a:t>U package.json dodati:</a:t>
            </a:r>
          </a:p>
          <a:p>
            <a:pPr lvl="1"/>
            <a:r>
              <a:rPr lang="en-US" dirty="0"/>
              <a:t>"scripts": {"test": "jasmine-browser-runner </a:t>
            </a:r>
            <a:r>
              <a:rPr lang="en-US" dirty="0" err="1"/>
              <a:t>runSpecs</a:t>
            </a:r>
            <a:r>
              <a:rPr lang="en-US" dirty="0"/>
              <a:t>"}</a:t>
            </a:r>
          </a:p>
          <a:p>
            <a:r>
              <a:rPr lang="sr-Latn-RS" dirty="0"/>
              <a:t>Startovanje testova</a:t>
            </a:r>
          </a:p>
          <a:p>
            <a:pPr lvl="1"/>
            <a:r>
              <a:rPr lang="sr-Latn-RS" dirty="0"/>
              <a:t>npm test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22144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Jasmine suite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sr-Latn-RS" dirty="0"/>
              <a:t>Osnovna jedinica grupisanja testova je </a:t>
            </a:r>
            <a:r>
              <a:rPr lang="sr-Latn-RS" i="1" dirty="0"/>
              <a:t>suite</a:t>
            </a:r>
            <a:endParaRPr lang="sr-Latn-RS" dirty="0"/>
          </a:p>
          <a:p>
            <a:r>
              <a:rPr lang="sr-Latn-RS" dirty="0"/>
              <a:t>Definiše se pozivom funkcije </a:t>
            </a:r>
            <a:r>
              <a:rPr lang="sr-Latn-RS" dirty="0">
                <a:latin typeface="Courier New" pitchFamily="49" charset="0"/>
                <a:cs typeface="Courier New" pitchFamily="49" charset="0"/>
              </a:rPr>
              <a:t>describe</a:t>
            </a:r>
          </a:p>
          <a:p>
            <a:r>
              <a:rPr lang="sr-Latn-RS" dirty="0"/>
              <a:t>Funkcija prima naziv </a:t>
            </a:r>
            <a:r>
              <a:rPr lang="sr-Latn-RS" i="1" dirty="0"/>
              <a:t>suite-a</a:t>
            </a:r>
            <a:r>
              <a:rPr lang="sr-Latn-RS" dirty="0"/>
              <a:t> i funkciju u kojoj se pišu testovi koji pripadaju tom </a:t>
            </a:r>
            <a:r>
              <a:rPr lang="sr-Latn-RS" i="1" dirty="0"/>
              <a:t>suite</a:t>
            </a:r>
          </a:p>
          <a:p>
            <a:pPr marL="0" indent="0">
              <a:buNone/>
            </a:pPr>
            <a:r>
              <a:rPr lang="sr-Latn-RS" sz="2000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GB" sz="2000" dirty="0">
                <a:latin typeface="Courier New" pitchFamily="49" charset="0"/>
                <a:cs typeface="Courier New" pitchFamily="49" charset="0"/>
              </a:rPr>
              <a:t>describe("</a:t>
            </a:r>
            <a:r>
              <a:rPr lang="sr-Latn-RS" sz="2000" dirty="0">
                <a:latin typeface="Courier New" pitchFamily="49" charset="0"/>
                <a:cs typeface="Courier New" pitchFamily="49" charset="0"/>
              </a:rPr>
              <a:t>Suite name</a:t>
            </a:r>
            <a:r>
              <a:rPr lang="en-GB" sz="2000" dirty="0">
                <a:latin typeface="Courier New" pitchFamily="49" charset="0"/>
                <a:cs typeface="Courier New" pitchFamily="49" charset="0"/>
              </a:rPr>
              <a:t>", function() { </a:t>
            </a:r>
            <a:r>
              <a:rPr lang="sr-Latn-RS" sz="2000" dirty="0">
                <a:latin typeface="Courier New" pitchFamily="49" charset="0"/>
                <a:cs typeface="Courier New" pitchFamily="49" charset="0"/>
              </a:rPr>
              <a:t>...</a:t>
            </a:r>
            <a:endParaRPr lang="en-GB" sz="2000" dirty="0">
              <a:latin typeface="Courier New" pitchFamily="49" charset="0"/>
              <a:cs typeface="Courier New" pitchFamily="49" charset="0"/>
            </a:endParaRPr>
          </a:p>
          <a:p>
            <a:r>
              <a:rPr lang="sr-Latn-RS" dirty="0"/>
              <a:t>Obzirom da se testovi pišu u običnoj JavaScript funkciji, ona može da sadrži proizvoljne promenljive koje su dostupne i testovima</a:t>
            </a:r>
          </a:p>
          <a:p>
            <a:pPr lvl="1"/>
            <a:endParaRPr lang="sr-Latn-RS" i="1" dirty="0"/>
          </a:p>
        </p:txBody>
      </p:sp>
    </p:spTree>
    <p:extLst>
      <p:ext uri="{BB962C8B-B14F-4D97-AF65-F5344CB8AC3E}">
        <p14:creationId xmlns:p14="http://schemas.microsoft.com/office/powerpoint/2010/main" val="8178299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Jasmine testovi 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sr-Latn-RS" dirty="0"/>
              <a:t>Koristi se termin </a:t>
            </a:r>
            <a:r>
              <a:rPr lang="sr-Latn-RS" i="1" dirty="0"/>
              <a:t>spec</a:t>
            </a:r>
          </a:p>
          <a:p>
            <a:pPr lvl="1"/>
            <a:r>
              <a:rPr lang="sr-Latn-RS" dirty="0"/>
              <a:t>Jasmine je napravljen kao </a:t>
            </a:r>
            <a:r>
              <a:rPr lang="sr-Latn-RS" i="1" dirty="0"/>
              <a:t>behaviour-driven development </a:t>
            </a:r>
            <a:r>
              <a:rPr lang="sr-Latn-RS" dirty="0"/>
              <a:t>radni okvir</a:t>
            </a:r>
          </a:p>
          <a:p>
            <a:pPr lvl="1"/>
            <a:r>
              <a:rPr lang="sr-Latn-RS" dirty="0"/>
              <a:t>spec treba da specificira očekivano ponašanje</a:t>
            </a:r>
          </a:p>
          <a:p>
            <a:r>
              <a:rPr lang="sr-Latn-RS" dirty="0"/>
              <a:t>Definiše se funkcijom </a:t>
            </a:r>
            <a:r>
              <a:rPr lang="sr-Latn-RS" dirty="0">
                <a:latin typeface="Courier New" pitchFamily="49" charset="0"/>
                <a:cs typeface="Courier New" pitchFamily="49" charset="0"/>
              </a:rPr>
              <a:t>it</a:t>
            </a:r>
          </a:p>
          <a:p>
            <a:pPr lvl="1"/>
            <a:r>
              <a:rPr lang="sr-Latn-RS" dirty="0"/>
              <a:t>prima naziv spec-a i funkciju koja sadrži kod kojim se utvrđuje da li je specificirano ponašanje realizovano</a:t>
            </a:r>
          </a:p>
          <a:p>
            <a:pPr marL="320040" lvl="1" indent="0">
              <a:buNone/>
            </a:pPr>
            <a:r>
              <a:rPr lang="en-GB" dirty="0">
                <a:latin typeface="Courier New" pitchFamily="49" charset="0"/>
                <a:cs typeface="Courier New" pitchFamily="49" charset="0"/>
              </a:rPr>
              <a:t>it("</a:t>
            </a:r>
            <a:r>
              <a:rPr lang="sr-Latn-RS" dirty="0">
                <a:latin typeface="Courier New" pitchFamily="49" charset="0"/>
                <a:cs typeface="Courier New" pitchFamily="49" charset="0"/>
              </a:rPr>
              <a:t>should do something</a:t>
            </a:r>
            <a:r>
              <a:rPr lang="en-GB" dirty="0">
                <a:latin typeface="Courier New" pitchFamily="49" charset="0"/>
                <a:cs typeface="Courier New" pitchFamily="49" charset="0"/>
              </a:rPr>
              <a:t>", function() { </a:t>
            </a:r>
            <a:endParaRPr lang="sr-Latn-RS" dirty="0">
              <a:latin typeface="Courier New" pitchFamily="49" charset="0"/>
              <a:cs typeface="Courier New" pitchFamily="49" charset="0"/>
            </a:endParaRPr>
          </a:p>
          <a:p>
            <a:pPr lvl="1"/>
            <a:r>
              <a:rPr lang="sr-Latn-RS" dirty="0"/>
              <a:t>naziv suite-a zajedno sa nazivom spec-a trebali bi da formiraju rečenicu prirodnog jezika kojom se objašnjava traženo ponašanje</a:t>
            </a:r>
          </a:p>
          <a:p>
            <a:endParaRPr lang="sr-Latn-RS" dirty="0"/>
          </a:p>
        </p:txBody>
      </p:sp>
    </p:spTree>
    <p:extLst>
      <p:ext uri="{BB962C8B-B14F-4D97-AF65-F5344CB8AC3E}">
        <p14:creationId xmlns:p14="http://schemas.microsoft.com/office/powerpoint/2010/main" val="31966354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Jasmine matchers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800600"/>
          </a:xfrm>
        </p:spPr>
        <p:txBody>
          <a:bodyPr>
            <a:normAutofit lnSpcReduction="10000"/>
          </a:bodyPr>
          <a:lstStyle/>
          <a:p>
            <a:r>
              <a:rPr lang="sr-Latn-RS" dirty="0"/>
              <a:t>Omogućuju poređenje stvarnog i očekivanog ponašanja</a:t>
            </a:r>
          </a:p>
          <a:p>
            <a:r>
              <a:rPr lang="sr-Latn-RS" dirty="0"/>
              <a:t>Vraćaju izraz koji je tačan ili netačan </a:t>
            </a:r>
          </a:p>
          <a:p>
            <a:r>
              <a:rPr lang="sr-Latn-RS" dirty="0"/>
              <a:t>Ako </a:t>
            </a:r>
            <a:r>
              <a:rPr lang="sr-Latn-RS" i="1" dirty="0"/>
              <a:t>matcher </a:t>
            </a:r>
            <a:r>
              <a:rPr lang="sr-Latn-RS" dirty="0"/>
              <a:t>daje netačnu vrednost, test nije uspešno prošao</a:t>
            </a:r>
          </a:p>
          <a:p>
            <a:pPr marL="0" indent="0">
              <a:buNone/>
            </a:pPr>
            <a:r>
              <a:rPr lang="sr-Latn-RS" sz="2400" dirty="0">
                <a:latin typeface="Courier New" pitchFamily="49" charset="0"/>
                <a:cs typeface="Courier New" pitchFamily="49" charset="0"/>
              </a:rPr>
              <a:t>	</a:t>
            </a:r>
            <a:r>
              <a:rPr lang="en-GB" sz="2400" dirty="0">
                <a:latin typeface="Courier New" pitchFamily="49" charset="0"/>
                <a:cs typeface="Courier New" pitchFamily="49" charset="0"/>
              </a:rPr>
              <a:t>expect(</a:t>
            </a:r>
            <a:r>
              <a:rPr lang="sr-Latn-RS" sz="2400" dirty="0">
                <a:latin typeface="Courier New" pitchFamily="49" charset="0"/>
                <a:cs typeface="Courier New" pitchFamily="49" charset="0"/>
              </a:rPr>
              <a:t>counter</a:t>
            </a:r>
            <a:r>
              <a:rPr lang="en-GB" sz="2400" dirty="0">
                <a:latin typeface="Courier New" pitchFamily="49" charset="0"/>
                <a:cs typeface="Courier New" pitchFamily="49" charset="0"/>
              </a:rPr>
              <a:t>).</a:t>
            </a:r>
            <a:r>
              <a:rPr lang="en-GB" sz="2400" dirty="0" err="1">
                <a:latin typeface="Courier New" pitchFamily="49" charset="0"/>
                <a:cs typeface="Courier New" pitchFamily="49" charset="0"/>
              </a:rPr>
              <a:t>toBe</a:t>
            </a:r>
            <a:r>
              <a:rPr lang="en-GB" sz="2400" dirty="0">
                <a:latin typeface="Courier New" pitchFamily="49" charset="0"/>
                <a:cs typeface="Courier New" pitchFamily="49" charset="0"/>
              </a:rPr>
              <a:t>(2);</a:t>
            </a:r>
            <a:endParaRPr lang="sr-Latn-RS" sz="2400" dirty="0">
              <a:latin typeface="Courier New" pitchFamily="49" charset="0"/>
              <a:cs typeface="Courier New" pitchFamily="49" charset="0"/>
            </a:endParaRPr>
          </a:p>
          <a:p>
            <a:r>
              <a:rPr lang="sr-Latn-RS" dirty="0"/>
              <a:t>Podržane različite matcher funkcije</a:t>
            </a:r>
          </a:p>
          <a:p>
            <a:pPr lvl="1"/>
            <a:r>
              <a:rPr lang="sr-Latn-RS" dirty="0"/>
              <a:t>poređenje vrednosti</a:t>
            </a:r>
          </a:p>
          <a:p>
            <a:pPr lvl="1"/>
            <a:r>
              <a:rPr lang="sr-Latn-RS" dirty="0"/>
              <a:t>pronalaženje vrednosti</a:t>
            </a:r>
          </a:p>
          <a:p>
            <a:pPr lvl="1"/>
            <a:r>
              <a:rPr lang="sr-Latn-RS" dirty="0"/>
              <a:t>očekivanje izuzetka</a:t>
            </a:r>
          </a:p>
          <a:p>
            <a:pPr lvl="1"/>
            <a:r>
              <a:rPr lang="sr-Latn-RS" dirty="0"/>
              <a:t>...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388206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Inicijalizacija</a:t>
            </a:r>
            <a:r>
              <a:rPr lang="en-US" dirty="0"/>
              <a:t> i </a:t>
            </a:r>
            <a:r>
              <a:rPr lang="en-US" dirty="0" err="1"/>
              <a:t>zavr</a:t>
            </a:r>
            <a:r>
              <a:rPr lang="sr-Latn-RS" dirty="0"/>
              <a:t>šetak testova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sr-Latn-RS" dirty="0"/>
              <a:t>Jasmine omogućuje pisanje funkcija koje će se izvršavati pre ili posle svakog spec-a</a:t>
            </a:r>
          </a:p>
          <a:p>
            <a:r>
              <a:rPr lang="sr-Latn-RS" dirty="0"/>
              <a:t>Definišu se kao parametar Jasmine funkcija </a:t>
            </a:r>
            <a:r>
              <a:rPr lang="sr-Latn-RS" dirty="0">
                <a:latin typeface="Courier New" pitchFamily="49" charset="0"/>
                <a:cs typeface="Courier New" pitchFamily="49" charset="0"/>
              </a:rPr>
              <a:t>beforeEach</a:t>
            </a:r>
            <a:r>
              <a:rPr lang="sr-Latn-RS" dirty="0"/>
              <a:t> i </a:t>
            </a:r>
            <a:r>
              <a:rPr lang="sr-Latn-RS" dirty="0">
                <a:latin typeface="Courier New" pitchFamily="49" charset="0"/>
                <a:cs typeface="Courier New" pitchFamily="49" charset="0"/>
              </a:rPr>
              <a:t>afterEach</a:t>
            </a:r>
            <a:endParaRPr lang="en-GB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39577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Ugnje</a:t>
            </a:r>
            <a:r>
              <a:rPr lang="sr-Latn-RS" dirty="0"/>
              <a:t>ž</a:t>
            </a:r>
            <a:r>
              <a:rPr lang="en-US" dirty="0" err="1"/>
              <a:t>davanje</a:t>
            </a:r>
            <a:r>
              <a:rPr lang="en-US" dirty="0"/>
              <a:t> </a:t>
            </a:r>
            <a:r>
              <a:rPr lang="en-US" dirty="0" err="1"/>
              <a:t>testova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GB" dirty="0" err="1"/>
              <a:t>Moguće</a:t>
            </a:r>
            <a:r>
              <a:rPr lang="en-GB" dirty="0"/>
              <a:t> je </a:t>
            </a:r>
            <a:r>
              <a:rPr lang="en-GB" dirty="0" err="1"/>
              <a:t>ugnježdavati</a:t>
            </a:r>
            <a:r>
              <a:rPr lang="en-GB" dirty="0"/>
              <a:t> </a:t>
            </a:r>
            <a:r>
              <a:rPr lang="en-GB" i="1" dirty="0"/>
              <a:t>describe</a:t>
            </a:r>
            <a:r>
              <a:rPr lang="en-GB" dirty="0"/>
              <a:t> </a:t>
            </a:r>
            <a:r>
              <a:rPr lang="en-GB" dirty="0" err="1"/>
              <a:t>blokove</a:t>
            </a:r>
            <a:r>
              <a:rPr lang="en-GB" dirty="0"/>
              <a:t> </a:t>
            </a:r>
            <a:r>
              <a:rPr lang="en-GB" dirty="0" err="1"/>
              <a:t>tako</a:t>
            </a:r>
            <a:r>
              <a:rPr lang="en-GB" dirty="0"/>
              <a:t> da se </a:t>
            </a:r>
            <a:r>
              <a:rPr lang="en-GB" dirty="0" err="1"/>
              <a:t>dobija</a:t>
            </a:r>
            <a:r>
              <a:rPr lang="en-GB" dirty="0"/>
              <a:t> </a:t>
            </a:r>
            <a:r>
              <a:rPr lang="en-GB" dirty="0" err="1"/>
              <a:t>struktura</a:t>
            </a:r>
            <a:r>
              <a:rPr lang="en-GB" dirty="0"/>
              <a:t> </a:t>
            </a:r>
            <a:r>
              <a:rPr lang="en-GB" dirty="0" err="1"/>
              <a:t>tipa</a:t>
            </a:r>
            <a:r>
              <a:rPr lang="en-GB" dirty="0"/>
              <a:t> </a:t>
            </a:r>
            <a:r>
              <a:rPr lang="en-GB" dirty="0" err="1"/>
              <a:t>stabla</a:t>
            </a:r>
            <a:endParaRPr lang="en-GB" dirty="0"/>
          </a:p>
          <a:p>
            <a:pPr lvl="1"/>
            <a:r>
              <a:rPr lang="en-GB" dirty="0" err="1"/>
              <a:t>prvi</a:t>
            </a:r>
            <a:r>
              <a:rPr lang="en-GB" dirty="0"/>
              <a:t> </a:t>
            </a:r>
            <a:r>
              <a:rPr lang="en-GB" i="1" dirty="0"/>
              <a:t>describe</a:t>
            </a:r>
            <a:r>
              <a:rPr lang="en-GB" dirty="0"/>
              <a:t> </a:t>
            </a:r>
            <a:r>
              <a:rPr lang="en-GB" dirty="0" err="1"/>
              <a:t>blok</a:t>
            </a:r>
            <a:r>
              <a:rPr lang="en-GB" dirty="0"/>
              <a:t> je </a:t>
            </a:r>
            <a:r>
              <a:rPr lang="en-GB" dirty="0" err="1"/>
              <a:t>koren</a:t>
            </a:r>
            <a:r>
              <a:rPr lang="en-GB" dirty="0"/>
              <a:t>, </a:t>
            </a:r>
            <a:r>
              <a:rPr lang="en-GB" dirty="0" err="1"/>
              <a:t>dok</a:t>
            </a:r>
            <a:r>
              <a:rPr lang="en-GB" dirty="0"/>
              <a:t> </a:t>
            </a:r>
            <a:r>
              <a:rPr lang="en-GB" dirty="0" err="1"/>
              <a:t>su</a:t>
            </a:r>
            <a:r>
              <a:rPr lang="en-GB" dirty="0"/>
              <a:t> </a:t>
            </a:r>
            <a:r>
              <a:rPr lang="en-GB" i="1" dirty="0"/>
              <a:t>it</a:t>
            </a:r>
            <a:r>
              <a:rPr lang="en-GB" dirty="0"/>
              <a:t> </a:t>
            </a:r>
            <a:r>
              <a:rPr lang="en-GB" dirty="0" err="1"/>
              <a:t>blokovi</a:t>
            </a:r>
            <a:r>
              <a:rPr lang="en-GB" dirty="0"/>
              <a:t> </a:t>
            </a:r>
            <a:r>
              <a:rPr lang="en-GB" dirty="0" err="1"/>
              <a:t>listovi</a:t>
            </a:r>
            <a:endParaRPr lang="sr-Latn-RS" dirty="0"/>
          </a:p>
          <a:p>
            <a:r>
              <a:rPr lang="en-GB" dirty="0"/>
              <a:t>Na </a:t>
            </a:r>
            <a:r>
              <a:rPr lang="en-GB" dirty="0" err="1"/>
              <a:t>ovaj</a:t>
            </a:r>
            <a:r>
              <a:rPr lang="en-GB" dirty="0"/>
              <a:t> </a:t>
            </a:r>
            <a:r>
              <a:rPr lang="en-GB" dirty="0" err="1"/>
              <a:t>način</a:t>
            </a:r>
            <a:r>
              <a:rPr lang="en-GB" dirty="0"/>
              <a:t> se </a:t>
            </a:r>
            <a:r>
              <a:rPr lang="en-GB" dirty="0" err="1"/>
              <a:t>hijerarhijski</a:t>
            </a:r>
            <a:r>
              <a:rPr lang="en-GB" dirty="0"/>
              <a:t> </a:t>
            </a:r>
            <a:r>
              <a:rPr lang="en-GB" dirty="0" err="1"/>
              <a:t>pozivaju</a:t>
            </a:r>
            <a:r>
              <a:rPr lang="en-GB" dirty="0"/>
              <a:t> </a:t>
            </a:r>
            <a:r>
              <a:rPr lang="en-GB" i="1" dirty="0" err="1"/>
              <a:t>beforeEach</a:t>
            </a:r>
            <a:r>
              <a:rPr lang="en-GB" dirty="0"/>
              <a:t> i </a:t>
            </a:r>
            <a:r>
              <a:rPr lang="en-GB" i="1" dirty="0" err="1"/>
              <a:t>afterEach</a:t>
            </a:r>
            <a:r>
              <a:rPr lang="en-GB" dirty="0"/>
              <a:t> </a:t>
            </a:r>
            <a:r>
              <a:rPr lang="en-GB" dirty="0" err="1"/>
              <a:t>funkcije</a:t>
            </a:r>
            <a:r>
              <a:rPr lang="en-GB" dirty="0"/>
              <a:t> </a:t>
            </a:r>
            <a:r>
              <a:rPr lang="en-GB" dirty="0" err="1"/>
              <a:t>ukoliko</a:t>
            </a:r>
            <a:r>
              <a:rPr lang="sr-Latn-RS" dirty="0"/>
              <a:t> p</a:t>
            </a:r>
            <a:r>
              <a:rPr lang="en-GB" dirty="0" err="1"/>
              <a:t>ostoje</a:t>
            </a:r>
            <a:endParaRPr lang="en-GB" dirty="0"/>
          </a:p>
          <a:p>
            <a:pPr lvl="1"/>
            <a:r>
              <a:rPr lang="en-GB" dirty="0" err="1"/>
              <a:t>kreće</a:t>
            </a:r>
            <a:r>
              <a:rPr lang="en-GB" dirty="0"/>
              <a:t> se </a:t>
            </a:r>
            <a:r>
              <a:rPr lang="en-GB" dirty="0" err="1"/>
              <a:t>niz</a:t>
            </a:r>
            <a:r>
              <a:rPr lang="en-GB" dirty="0"/>
              <a:t> </a:t>
            </a:r>
            <a:r>
              <a:rPr lang="en-GB" dirty="0" err="1"/>
              <a:t>stablo</a:t>
            </a:r>
            <a:r>
              <a:rPr lang="en-GB" dirty="0"/>
              <a:t> od </a:t>
            </a:r>
            <a:r>
              <a:rPr lang="en-GB" dirty="0" err="1"/>
              <a:t>korena</a:t>
            </a:r>
            <a:r>
              <a:rPr lang="en-GB" dirty="0"/>
              <a:t> do </a:t>
            </a:r>
            <a:r>
              <a:rPr lang="en-GB" dirty="0" err="1"/>
              <a:t>lista</a:t>
            </a:r>
            <a:r>
              <a:rPr lang="en-GB" dirty="0"/>
              <a:t> i </a:t>
            </a:r>
            <a:r>
              <a:rPr lang="en-GB" dirty="0" err="1"/>
              <a:t>izvršavaju</a:t>
            </a:r>
            <a:r>
              <a:rPr lang="en-GB" dirty="0"/>
              <a:t> se </a:t>
            </a:r>
            <a:r>
              <a:rPr lang="en-GB" dirty="0" err="1"/>
              <a:t>svi</a:t>
            </a:r>
            <a:r>
              <a:rPr lang="en-GB" dirty="0"/>
              <a:t> </a:t>
            </a:r>
            <a:r>
              <a:rPr lang="en-GB" i="1" dirty="0" err="1"/>
              <a:t>beforeEach</a:t>
            </a:r>
            <a:r>
              <a:rPr lang="sr-Latn-RS" i="1" dirty="0"/>
              <a:t> </a:t>
            </a:r>
            <a:r>
              <a:rPr lang="en-GB" dirty="0" err="1"/>
              <a:t>blokovi</a:t>
            </a:r>
            <a:r>
              <a:rPr lang="en-GB" dirty="0"/>
              <a:t>, </a:t>
            </a:r>
            <a:r>
              <a:rPr lang="en-GB" dirty="0" err="1"/>
              <a:t>zatim</a:t>
            </a:r>
            <a:r>
              <a:rPr lang="en-GB" dirty="0"/>
              <a:t> it </a:t>
            </a:r>
            <a:r>
              <a:rPr lang="en-GB" dirty="0" err="1"/>
              <a:t>blok</a:t>
            </a:r>
            <a:r>
              <a:rPr lang="en-GB" dirty="0"/>
              <a:t>, pa </a:t>
            </a:r>
            <a:r>
              <a:rPr lang="en-GB" dirty="0" err="1"/>
              <a:t>onda</a:t>
            </a:r>
            <a:r>
              <a:rPr lang="en-GB" dirty="0"/>
              <a:t> u </a:t>
            </a:r>
            <a:r>
              <a:rPr lang="en-GB" dirty="0" err="1"/>
              <a:t>obrnutom</a:t>
            </a:r>
            <a:r>
              <a:rPr lang="en-GB" dirty="0"/>
              <a:t> </a:t>
            </a:r>
            <a:r>
              <a:rPr lang="en-GB" dirty="0" err="1"/>
              <a:t>redosledu</a:t>
            </a:r>
            <a:r>
              <a:rPr lang="en-GB" dirty="0"/>
              <a:t> </a:t>
            </a:r>
            <a:r>
              <a:rPr lang="en-GB" i="1" dirty="0" err="1"/>
              <a:t>afterEach</a:t>
            </a:r>
            <a:r>
              <a:rPr lang="en-GB" dirty="0"/>
              <a:t> </a:t>
            </a:r>
            <a:r>
              <a:rPr lang="en-GB" dirty="0" err="1"/>
              <a:t>blokovi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519810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Test dvojnici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sr-Latn-RS" dirty="0"/>
              <a:t>Jasmine omogućuje kreiranje </a:t>
            </a:r>
            <a:r>
              <a:rPr lang="sr-Latn-RS" i="1" dirty="0"/>
              <a:t>spy</a:t>
            </a:r>
            <a:r>
              <a:rPr lang="sr-Latn-RS" dirty="0"/>
              <a:t> objekta koji predstavlja test dvojnika</a:t>
            </a:r>
          </a:p>
          <a:p>
            <a:r>
              <a:rPr lang="sr-Latn-RS" dirty="0"/>
              <a:t>Ovaj objekat ima dvostruku ulogu</a:t>
            </a:r>
          </a:p>
          <a:p>
            <a:pPr lvl="1"/>
            <a:r>
              <a:rPr lang="sr-Latn-RS" dirty="0"/>
              <a:t>može da simulira ponašanje objekta</a:t>
            </a:r>
          </a:p>
          <a:p>
            <a:pPr lvl="1"/>
            <a:r>
              <a:rPr lang="sr-Latn-RS" dirty="0"/>
              <a:t>omogućuje praćenje operacija izvršenih nad objektom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344026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quity">
  <a:themeElements>
    <a:clrScheme name="Equity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Urban</Template>
  <TotalTime>43339</TotalTime>
  <Words>421</Words>
  <Application>Microsoft Office PowerPoint</Application>
  <PresentationFormat>On-screen Show (4:3)</PresentationFormat>
  <Paragraphs>63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Calibri</vt:lpstr>
      <vt:lpstr>Courier New</vt:lpstr>
      <vt:lpstr>Franklin Gothic Book</vt:lpstr>
      <vt:lpstr>Perpetua</vt:lpstr>
      <vt:lpstr>Wingdings 2</vt:lpstr>
      <vt:lpstr>Equity</vt:lpstr>
      <vt:lpstr>Testiranje JavaScript koda korišćenjem Jasmine radnog okvira</vt:lpstr>
      <vt:lpstr>Jasmine</vt:lpstr>
      <vt:lpstr>Primer Jasmine testa</vt:lpstr>
      <vt:lpstr>Jasmine konfiguracija</vt:lpstr>
      <vt:lpstr>Jasmine suite</vt:lpstr>
      <vt:lpstr>Jasmine testovi </vt:lpstr>
      <vt:lpstr>Jasmine matchers</vt:lpstr>
      <vt:lpstr>Inicijalizacija i završetak testova</vt:lpstr>
      <vt:lpstr>Ugnježdavanje testova</vt:lpstr>
      <vt:lpstr>Test dvojnici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Spring radni okvir</dc:title>
  <dc:creator>Goran</dc:creator>
  <cp:lastModifiedBy>Goran</cp:lastModifiedBy>
  <cp:revision>1212</cp:revision>
  <dcterms:created xsi:type="dcterms:W3CDTF">2016-06-17T10:29:53Z</dcterms:created>
  <dcterms:modified xsi:type="dcterms:W3CDTF">2023-11-07T13:42:49Z</dcterms:modified>
</cp:coreProperties>
</file>