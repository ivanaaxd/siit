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60" r:id="rId11"/>
    <p:sldId id="261" r:id="rId12"/>
    <p:sldId id="262" r:id="rId13"/>
    <p:sldId id="276" r:id="rId14"/>
    <p:sldId id="272" r:id="rId15"/>
    <p:sldId id="263" r:id="rId16"/>
    <p:sldId id="265" r:id="rId17"/>
    <p:sldId id="274" r:id="rId18"/>
    <p:sldId id="266" r:id="rId19"/>
    <p:sldId id="275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40" autoAdjust="0"/>
  </p:normalViewPr>
  <p:slideViewPr>
    <p:cSldViewPr>
      <p:cViewPr varScale="1">
        <p:scale>
          <a:sx n="75" d="100"/>
          <a:sy n="75" d="100"/>
        </p:scale>
        <p:origin x="166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258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E5E08-6FDD-4025-8531-A3BB39BAD8F4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C20D4-52CC-4AE0-A8BD-CFB348CDB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93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15/12/2023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15/12/2023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15/12/2023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E4E63B4-66BE-45AF-B342-5BD675F621EF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5943600"/>
            <a:ext cx="6400800" cy="533400"/>
          </a:xfrm>
        </p:spPr>
        <p:txBody>
          <a:bodyPr/>
          <a:lstStyle/>
          <a:p>
            <a:pPr algn="r"/>
            <a:r>
              <a:rPr lang="sr-Latn-RS" dirty="0"/>
              <a:t>Autor: Goran Savić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Testiranje Angular aplikacije</a:t>
            </a:r>
            <a:endParaRPr lang="en-GB" dirty="0"/>
          </a:p>
        </p:txBody>
      </p:sp>
      <p:sp>
        <p:nvSpPr>
          <p:cNvPr id="5" name="AutoShape 2" descr="Image result for jasmine tes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6" name="AutoShape 4" descr="Image result for jasmine test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AutoShape 6" descr="Image result for jasmine test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pic>
        <p:nvPicPr>
          <p:cNvPr id="1026" name="Picture 2" descr="Image result for angular te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124200"/>
            <a:ext cx="4724400" cy="281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41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Angular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/>
          </a:bodyPr>
          <a:lstStyle/>
          <a:p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izvr</a:t>
            </a:r>
            <a:r>
              <a:rPr lang="sr-Latn-RS" dirty="0"/>
              <a:t>šiti jedinično testiranje Angular klijentske aplikacije</a:t>
            </a:r>
          </a:p>
          <a:p>
            <a:r>
              <a:rPr lang="sr-Latn-RS" dirty="0"/>
              <a:t>To podrazumeva testiranje svih komponenata u klijentskoj aplikaciji</a:t>
            </a:r>
          </a:p>
          <a:p>
            <a:r>
              <a:rPr lang="sr-Latn-RS"/>
              <a:t>Testovi </a:t>
            </a:r>
            <a:r>
              <a:rPr lang="sr-Latn-RS" dirty="0"/>
              <a:t>treba </a:t>
            </a:r>
            <a:r>
              <a:rPr lang="en-US" dirty="0"/>
              <a:t>da </a:t>
            </a:r>
            <a:r>
              <a:rPr lang="sr-Latn-RS" dirty="0"/>
              <a:t>izolovano testiraju</a:t>
            </a:r>
            <a:r>
              <a:rPr lang="en-US" dirty="0"/>
              <a:t>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komponentu</a:t>
            </a:r>
            <a:endParaRPr lang="sr-Latn-RS" dirty="0"/>
          </a:p>
          <a:p>
            <a:r>
              <a:rPr lang="sr-Latn-RS" dirty="0"/>
              <a:t>Primer</a:t>
            </a:r>
            <a:r>
              <a:rPr lang="en-US" dirty="0" err="1"/>
              <a:t>i</a:t>
            </a:r>
            <a:endParaRPr lang="sr-Latn-RS" dirty="0"/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angular-students/*.*.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spec.ts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32" y="51816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35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</a:t>
            </a:r>
            <a:r>
              <a:rPr lang="en-US" dirty="0" err="1"/>
              <a:t>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Angular </a:t>
            </a:r>
            <a:r>
              <a:rPr lang="en-US" dirty="0" err="1"/>
              <a:t>sadr</a:t>
            </a:r>
            <a:r>
              <a:rPr lang="sr-Latn-RS" dirty="0"/>
              <a:t>ži </a:t>
            </a:r>
            <a:r>
              <a:rPr lang="sr-Latn-RS" i="1" dirty="0"/>
              <a:t>Testing utilities</a:t>
            </a:r>
          </a:p>
          <a:p>
            <a:pPr lvl="1"/>
            <a:r>
              <a:rPr lang="sr-Latn-RS" dirty="0"/>
              <a:t>Skup klasa i funkcija koje olakšavaju testiranje</a:t>
            </a:r>
          </a:p>
          <a:p>
            <a:pPr lvl="1"/>
            <a:r>
              <a:rPr lang="sr-Latn-RS" dirty="0"/>
              <a:t>Omogućuju da testirana komponenta komunicira sa Angular radnim okvirom</a:t>
            </a:r>
          </a:p>
          <a:p>
            <a:pPr lvl="1"/>
            <a:r>
              <a:rPr lang="sr-Latn-RS" dirty="0"/>
              <a:t>Test objekti se testiraju u Angular okruženju</a:t>
            </a:r>
          </a:p>
          <a:p>
            <a:r>
              <a:rPr lang="sr-Latn-RS" dirty="0"/>
              <a:t>Neke testove je moguće realizovati i kao potpuno izolovane testove nezavisno od Angulara</a:t>
            </a:r>
          </a:p>
          <a:p>
            <a:pPr lvl="1"/>
            <a:r>
              <a:rPr lang="sr-Latn-RS" dirty="0"/>
              <a:t>ručno se instanciraju objekti, umesto da se injektuju od Angulara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787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TestBed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/>
          </a:bodyPr>
          <a:lstStyle/>
          <a:p>
            <a:r>
              <a:rPr lang="sr-Latn-RS" dirty="0"/>
              <a:t>Klasa koja omogućuje da se test izvrši u Angular okruženju</a:t>
            </a:r>
          </a:p>
          <a:p>
            <a:pPr lvl="1"/>
            <a:r>
              <a:rPr lang="sr-Latn-RS" dirty="0"/>
              <a:t>čini dostupnim objekte čijim životnim ciklusom upravlja Angular</a:t>
            </a:r>
          </a:p>
          <a:p>
            <a:r>
              <a:rPr lang="sr-Latn-RS" i="1" dirty="0"/>
              <a:t>configureTestingModule </a:t>
            </a:r>
            <a:r>
              <a:rPr lang="sr-Latn-RS" dirty="0"/>
              <a:t>metoda</a:t>
            </a:r>
          </a:p>
          <a:p>
            <a:pPr lvl="1"/>
            <a:r>
              <a:rPr lang="sr-Latn-RS" dirty="0"/>
              <a:t>uspostavlja inicijalno test okruženje</a:t>
            </a:r>
          </a:p>
          <a:p>
            <a:pPr lvl="1"/>
            <a:r>
              <a:rPr lang="sr-Latn-RS" dirty="0"/>
              <a:t>pri inicijalizaciji se šalje TestModuleMetadata objekat koji predstavlja modul koji će test okruženje sadržati</a:t>
            </a:r>
          </a:p>
        </p:txBody>
      </p:sp>
    </p:spTree>
    <p:extLst>
      <p:ext uri="{BB962C8B-B14F-4D97-AF65-F5344CB8AC3E}">
        <p14:creationId xmlns:p14="http://schemas.microsoft.com/office/powerpoint/2010/main" val="3456039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TestBed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inject </a:t>
            </a:r>
            <a:r>
              <a:rPr lang="sr-Latn-RS" dirty="0"/>
              <a:t>metoda</a:t>
            </a:r>
          </a:p>
          <a:p>
            <a:pPr lvl="1"/>
            <a:r>
              <a:rPr lang="sr-Latn-RS" dirty="0"/>
              <a:t>preuzima objekat iz okruženja</a:t>
            </a:r>
          </a:p>
          <a:p>
            <a:pPr lvl="1"/>
            <a:r>
              <a:rPr lang="sr-Latn-RS" dirty="0"/>
              <a:t>uvek treba preuzimati objekat iz okruženja </a:t>
            </a:r>
          </a:p>
          <a:p>
            <a:pPr lvl="2"/>
            <a:r>
              <a:rPr lang="sr-Latn-RS" dirty="0"/>
              <a:t>umesto ručnog instanciranja</a:t>
            </a:r>
          </a:p>
          <a:p>
            <a:pPr lvl="2"/>
            <a:r>
              <a:rPr lang="sr-Latn-RS" dirty="0"/>
              <a:t>jer druge komponente u okruženju koriste objekat iz okruženja, pa je samo korišćenjem tog objekta moguće imati ispravan test</a:t>
            </a:r>
          </a:p>
          <a:p>
            <a:r>
              <a:rPr lang="sr-Latn-RS" i="1" dirty="0"/>
              <a:t>createComponent</a:t>
            </a:r>
            <a:r>
              <a:rPr lang="sr-Latn-RS" dirty="0"/>
              <a:t> metoda</a:t>
            </a:r>
          </a:p>
          <a:p>
            <a:pPr lvl="1"/>
            <a:r>
              <a:rPr lang="sr-Latn-RS" dirty="0"/>
              <a:t>kreira Angular komponentu unutar okruženja </a:t>
            </a:r>
          </a:p>
          <a:p>
            <a:pPr lvl="2"/>
            <a:r>
              <a:rPr lang="sr-Latn-RS" dirty="0"/>
              <a:t>u skladu sa konfiguracijom okruženja</a:t>
            </a:r>
          </a:p>
          <a:p>
            <a:pPr lvl="1"/>
            <a:r>
              <a:rPr lang="sr-Latn-RS" dirty="0"/>
              <a:t>vraća objekat klase ComponentFixture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3947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ComponentFixture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/>
              <a:t>omogućuje pristup </a:t>
            </a:r>
            <a:r>
              <a:rPr lang="sr-Latn-RS" dirty="0"/>
              <a:t>Angular komponenti i njenoj DOM reprezentaciji</a:t>
            </a:r>
          </a:p>
          <a:p>
            <a:r>
              <a:rPr lang="sr-Latn-RS" i="1" dirty="0"/>
              <a:t>componentInstance </a:t>
            </a:r>
            <a:r>
              <a:rPr lang="sr-Latn-RS" dirty="0"/>
              <a:t>atribut</a:t>
            </a:r>
          </a:p>
          <a:p>
            <a:pPr lvl="1"/>
            <a:r>
              <a:rPr lang="sr-Latn-RS" dirty="0"/>
              <a:t>instanca same komponente na koju se objekat odnosi</a:t>
            </a:r>
          </a:p>
          <a:p>
            <a:r>
              <a:rPr lang="sr-Latn-RS" i="1" dirty="0"/>
              <a:t>debugElement </a:t>
            </a:r>
            <a:r>
              <a:rPr lang="sr-Latn-RS" dirty="0"/>
              <a:t>atribut</a:t>
            </a:r>
          </a:p>
          <a:p>
            <a:pPr lvl="1"/>
            <a:r>
              <a:rPr lang="sr-Latn-RS" dirty="0"/>
              <a:t>objekat klase DebugElement koja predstavlja reprezentaciju elementa DOM stabla za potrebe testiranja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368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ComponentFixture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detectChanges</a:t>
            </a:r>
            <a:r>
              <a:rPr lang="sr-Latn-RS" dirty="0"/>
              <a:t> metoda</a:t>
            </a:r>
          </a:p>
          <a:p>
            <a:pPr lvl="1"/>
            <a:r>
              <a:rPr lang="sr-Latn-RS" dirty="0"/>
              <a:t>inicira poziv Angular ciklusa koji detektuje promene u objektima i sinhronizuje ih sa HTML komponentama</a:t>
            </a:r>
          </a:p>
          <a:p>
            <a:pPr lvl="1"/>
            <a:r>
              <a:rPr lang="sr-Latn-RS" dirty="0"/>
              <a:t>ako test postavi vrednost u objekat, pre provere da li se ta vrednost nalazi u HTML komponenti, potrebno je pozvati </a:t>
            </a:r>
            <a:r>
              <a:rPr lang="sr-Latn-RS" i="1" dirty="0"/>
              <a:t>detectChanges</a:t>
            </a:r>
            <a:endParaRPr lang="sr-Latn-RS" dirty="0"/>
          </a:p>
          <a:p>
            <a:pPr lvl="1"/>
            <a:r>
              <a:rPr lang="sr-Latn-RS" dirty="0"/>
              <a:t>koristi se i za inicijalizaciju komponente jer automatski poziva </a:t>
            </a:r>
            <a:r>
              <a:rPr lang="sr-Latn-RS" i="1" dirty="0"/>
              <a:t>ngOnInit</a:t>
            </a:r>
          </a:p>
          <a:p>
            <a:pPr lvl="1"/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92340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ComponentFixture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whenStable</a:t>
            </a:r>
            <a:r>
              <a:rPr lang="sr-Latn-RS" dirty="0"/>
              <a:t> metoda</a:t>
            </a:r>
          </a:p>
          <a:p>
            <a:pPr lvl="1"/>
            <a:r>
              <a:rPr lang="sr-Latn-RS" dirty="0"/>
              <a:t>vraća </a:t>
            </a:r>
            <a:r>
              <a:rPr lang="sr-Latn-RS" i="1" dirty="0"/>
              <a:t>Promise</a:t>
            </a:r>
            <a:r>
              <a:rPr lang="sr-Latn-RS" dirty="0"/>
              <a:t> objekat koji se razrešava kada je </a:t>
            </a:r>
            <a:r>
              <a:rPr lang="sr-Latn-RS" i="1" dirty="0"/>
              <a:t>ComponentFixture </a:t>
            </a:r>
            <a:r>
              <a:rPr lang="sr-Latn-RS" dirty="0"/>
              <a:t>stabilan</a:t>
            </a:r>
          </a:p>
          <a:p>
            <a:pPr lvl="2"/>
            <a:r>
              <a:rPr lang="sr-Latn-RS" dirty="0"/>
              <a:t>tj. kada je Angular ciklus detekcije promena završen uključujući završetak svih asinhronih aktivnosti u ciklusu</a:t>
            </a:r>
          </a:p>
          <a:p>
            <a:pPr lvl="1"/>
            <a:r>
              <a:rPr lang="sr-Latn-RS" dirty="0"/>
              <a:t>koristi se da test sačeka da se promene detektuju i postave u komponente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2123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DebugElement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Omogućuje testu pristup elementima HTML DOM stabla</a:t>
            </a:r>
          </a:p>
          <a:p>
            <a:r>
              <a:rPr lang="sr-Latn-RS" i="1" dirty="0"/>
              <a:t>query</a:t>
            </a:r>
            <a:r>
              <a:rPr lang="sr-Latn-RS" dirty="0"/>
              <a:t> metoda</a:t>
            </a:r>
          </a:p>
          <a:p>
            <a:pPr lvl="1"/>
            <a:r>
              <a:rPr lang="sr-Latn-RS" dirty="0"/>
              <a:t>omogućuje preuzimanje jednog HTML elementa po nekom selektoru</a:t>
            </a:r>
          </a:p>
          <a:p>
            <a:pPr lvl="1"/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debugElement.query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(By.css('#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fieldX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'))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sr-Latn-RS" i="1" dirty="0"/>
              <a:t>queryAll</a:t>
            </a:r>
            <a:r>
              <a:rPr lang="sr-Cyrl-RS" i="1" dirty="0"/>
              <a:t> </a:t>
            </a:r>
            <a:r>
              <a:rPr lang="sr-Latn-RS" dirty="0"/>
              <a:t>metoda</a:t>
            </a:r>
            <a:endParaRPr lang="sr-Latn-RS" i="1" dirty="0"/>
          </a:p>
          <a:p>
            <a:pPr lvl="1"/>
            <a:r>
              <a:rPr lang="sr-Latn-RS" dirty="0"/>
              <a:t>slično kao </a:t>
            </a:r>
            <a:r>
              <a:rPr lang="sr-Latn-RS" i="1" dirty="0"/>
              <a:t>query</a:t>
            </a:r>
            <a:r>
              <a:rPr lang="sr-Latn-RS" dirty="0"/>
              <a:t>, samo što vraća sve elemente koji odgovaraju selektoru</a:t>
            </a:r>
            <a:endParaRPr lang="sr-Cyrl-RS" dirty="0"/>
          </a:p>
          <a:p>
            <a:r>
              <a:rPr lang="sr-Latn-RS" i="1" dirty="0"/>
              <a:t>nativeElement</a:t>
            </a:r>
            <a:r>
              <a:rPr lang="sr-Latn-RS" dirty="0"/>
              <a:t> atribut</a:t>
            </a:r>
          </a:p>
          <a:p>
            <a:pPr lvl="1"/>
            <a:r>
              <a:rPr lang="sr-Latn-RS" dirty="0"/>
              <a:t>predstavlja sam HTML element u </a:t>
            </a:r>
            <a:r>
              <a:rPr lang="sr-Latn-RS" i="1" dirty="0"/>
              <a:t>browseru</a:t>
            </a: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0528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Asinhroni pozivi - </a:t>
            </a:r>
            <a:r>
              <a:rPr lang="en-US" dirty="0" err="1"/>
              <a:t>waitForA</a:t>
            </a:r>
            <a:r>
              <a:rPr lang="sr-Latn-RS" dirty="0"/>
              <a:t>sync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waitForA</a:t>
            </a:r>
            <a:r>
              <a:rPr lang="sr-Latn-RS" dirty="0"/>
              <a:t>sync funkcija omogućuje jednostavnije testiranje funkcionalnosti koje se izvršavaju asinhrono</a:t>
            </a:r>
          </a:p>
          <a:p>
            <a:r>
              <a:rPr lang="sr-Latn-RS" dirty="0"/>
              <a:t>kod unutar </a:t>
            </a:r>
            <a:r>
              <a:rPr lang="en-US" dirty="0" err="1"/>
              <a:t>waitForA</a:t>
            </a:r>
            <a:r>
              <a:rPr lang="sr-Latn-RS" dirty="0"/>
              <a:t>sync funkcije se izvršava unutar specijalne asinhrone test zone</a:t>
            </a:r>
          </a:p>
          <a:p>
            <a:r>
              <a:rPr lang="sr-Latn-RS" dirty="0"/>
              <a:t>ova funkcija presreće i evidentira sve </a:t>
            </a:r>
            <a:r>
              <a:rPr lang="en-US" i="1" dirty="0"/>
              <a:t>Observable </a:t>
            </a:r>
            <a:r>
              <a:rPr lang="sr-Latn-RS" dirty="0"/>
              <a:t>objekte kreirane unutar nje</a:t>
            </a:r>
          </a:p>
          <a:p>
            <a:pPr lvl="1"/>
            <a:r>
              <a:rPr lang="sr-Latn-RS" dirty="0"/>
              <a:t>koristi se za detekciju kada je </a:t>
            </a:r>
            <a:r>
              <a:rPr lang="sr-Latn-RS" i="1" dirty="0"/>
              <a:t>ComponentFixture </a:t>
            </a:r>
            <a:r>
              <a:rPr lang="sr-Latn-RS" dirty="0"/>
              <a:t>stabilan pozivom </a:t>
            </a:r>
            <a:r>
              <a:rPr lang="sr-Latn-RS" i="1" dirty="0"/>
              <a:t>whenStable</a:t>
            </a:r>
            <a:r>
              <a:rPr lang="sr-Latn-RS" dirty="0"/>
              <a:t> metode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605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Asinhroni pozivi - fakeAsync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Dodatno pojednostavljenje u odnosu na </a:t>
            </a:r>
            <a:r>
              <a:rPr lang="sr-Latn-RS" i="1" dirty="0"/>
              <a:t>async </a:t>
            </a:r>
            <a:r>
              <a:rPr lang="sr-Latn-RS" dirty="0"/>
              <a:t>funkciju za testiranje asinhronog koda</a:t>
            </a:r>
          </a:p>
          <a:p>
            <a:r>
              <a:rPr lang="sr-Latn-RS" dirty="0"/>
              <a:t>omogućuje linearno pisanje koda, bez reakcije na razrešavanje </a:t>
            </a:r>
            <a:r>
              <a:rPr lang="en-US" i="1" dirty="0"/>
              <a:t>Observable </a:t>
            </a:r>
            <a:r>
              <a:rPr lang="sr-Latn-RS" dirty="0"/>
              <a:t>objekta </a:t>
            </a:r>
            <a:r>
              <a:rPr lang="sr-Latn-RS"/>
              <a:t>putem </a:t>
            </a:r>
            <a:r>
              <a:rPr lang="sr-Latn-RS" i="1"/>
              <a:t>subscribe </a:t>
            </a:r>
            <a:r>
              <a:rPr lang="sr-Latn-RS" dirty="0"/>
              <a:t>metode</a:t>
            </a:r>
          </a:p>
          <a:p>
            <a:r>
              <a:rPr lang="sr-Latn-RS" i="1" dirty="0"/>
              <a:t>tick </a:t>
            </a:r>
            <a:r>
              <a:rPr lang="sr-Latn-RS" dirty="0"/>
              <a:t>funkcija</a:t>
            </a:r>
          </a:p>
          <a:p>
            <a:pPr lvl="1"/>
            <a:r>
              <a:rPr lang="sr-Latn-RS" dirty="0"/>
              <a:t>unutar </a:t>
            </a:r>
            <a:r>
              <a:rPr lang="sr-Latn-RS" i="1" dirty="0"/>
              <a:t>fakeAsync</a:t>
            </a:r>
            <a:r>
              <a:rPr lang="sr-Latn-RS" dirty="0"/>
              <a:t> funkcije možemo simulirati protok vremena dok god se sve trenutno nerešene asinhrone aktivnosti ne završe</a:t>
            </a:r>
          </a:p>
          <a:p>
            <a:r>
              <a:rPr lang="sr-Latn-RS" dirty="0"/>
              <a:t>nakon poziva funkcije, asinhrone aktivnosti su završene, pa ne mora kod da bude u funkciji </a:t>
            </a:r>
            <a:r>
              <a:rPr lang="en-US" i="1" dirty="0"/>
              <a:t>subscribe</a:t>
            </a:r>
            <a:r>
              <a:rPr lang="sr-Latn-RS" i="1" dirty="0"/>
              <a:t> </a:t>
            </a:r>
            <a:r>
              <a:rPr lang="sr-Latn-RS" dirty="0"/>
              <a:t>na </a:t>
            </a:r>
            <a:r>
              <a:rPr lang="en-US" i="1" dirty="0"/>
              <a:t>Observable</a:t>
            </a:r>
            <a:r>
              <a:rPr lang="sr-Latn-RS" i="1" dirty="0"/>
              <a:t> </a:t>
            </a:r>
            <a:r>
              <a:rPr lang="sr-Latn-RS" dirty="0"/>
              <a:t>objektu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5890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HTTP komunikacije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Standardno se vrši postavljanjem test dvojnika na mesto komponente koja komunicira sa backendom</a:t>
            </a:r>
          </a:p>
          <a:p>
            <a:r>
              <a:rPr lang="en-US" dirty="0" err="1"/>
              <a:t>HttpTestingController</a:t>
            </a:r>
            <a:r>
              <a:rPr lang="en-US" dirty="0"/>
              <a:t> </a:t>
            </a:r>
            <a:r>
              <a:rPr lang="sr-Latn-RS" dirty="0"/>
              <a:t>se koristi kao dvojnik</a:t>
            </a:r>
          </a:p>
          <a:p>
            <a:pPr lvl="1"/>
            <a:r>
              <a:rPr lang="sr-Latn-RS" dirty="0"/>
              <a:t>ne vrši stvarne mrežne pozive</a:t>
            </a:r>
          </a:p>
          <a:p>
            <a:pPr lvl="1"/>
            <a:r>
              <a:rPr lang="sr-Latn-RS" dirty="0"/>
              <a:t>možemo pratiti i simulirati mrežne pozive</a:t>
            </a:r>
            <a:endParaRPr lang="sr-Latn-R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21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</a:t>
            </a:r>
            <a:r>
              <a:rPr lang="sr-Latn-RS" dirty="0"/>
              <a:t>ćenje HTTP poziva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Proveravamo da li je poziv ka tom URL upućen i dobijamo mock objekat za simuliranje odgovora</a:t>
            </a:r>
            <a:endParaRPr lang="en-US" dirty="0"/>
          </a:p>
          <a:p>
            <a:pPr marL="0" indent="0">
              <a:buNone/>
            </a:pPr>
            <a:endParaRPr lang="sr-Latn-R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mock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  </a:t>
            </a:r>
          </a:p>
          <a:p>
            <a:pPr marL="0" indent="0">
              <a:buNone/>
            </a:pP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TestingController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expectOne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/students');</a:t>
            </a:r>
          </a:p>
          <a:p>
            <a:pPr marL="0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mockHttp.request.method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('GET');</a:t>
            </a:r>
          </a:p>
          <a:p>
            <a:pPr marL="0" indent="0">
              <a:buNone/>
            </a:pPr>
            <a:endParaRPr lang="sr-Latn-R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325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Simuliranje</a:t>
            </a:r>
            <a:r>
              <a:rPr lang="en-US" dirty="0"/>
              <a:t> HTTP </a:t>
            </a:r>
            <a:r>
              <a:rPr lang="en-US" dirty="0" err="1"/>
              <a:t>odgovora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77200" cy="5257800"/>
          </a:xfrm>
        </p:spPr>
        <p:txBody>
          <a:bodyPr>
            <a:normAutofit/>
          </a:bodyPr>
          <a:lstStyle/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Vrši se metodom flush i specificiranjem lažnog odgovora</a:t>
            </a:r>
          </a:p>
          <a:p>
            <a:pPr marL="0" lvl="1" indent="0"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mockResponse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lvl="1" indent="0"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id: 1,</a:t>
            </a:r>
          </a:p>
          <a:p>
            <a:pPr marL="0" lvl="1" indent="0"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cardNumber: 'a123',</a:t>
            </a:r>
          </a:p>
          <a:p>
            <a:pPr marL="0" lvl="1" indent="0"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firstName: 'Petar',</a:t>
            </a:r>
          </a:p>
          <a:p>
            <a:pPr marL="0" lvl="1" indent="0"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lastName: 'Petrovic'            </a:t>
            </a:r>
          </a:p>
          <a:p>
            <a:pPr marL="0" lvl="1" indent="0"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};</a:t>
            </a:r>
          </a:p>
          <a:p>
            <a:pPr marL="0" lvl="1" indent="0">
              <a:spcBef>
                <a:spcPts val="580"/>
              </a:spcBef>
              <a:buClr>
                <a:schemeClr val="accent1"/>
              </a:buClr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mockHttp.flush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mockResponse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sr-Latn-R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9289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testiranja servisa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angular-students</a:t>
            </a:r>
          </a:p>
          <a:p>
            <a:pPr lvl="1"/>
            <a:r>
              <a:rPr lang="sr-Latn-RS" dirty="0"/>
              <a:t>student.service.spec.ts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564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sr-Latn-RS" dirty="0"/>
              <a:t>est dvojnici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izolovano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postaviti</a:t>
            </a:r>
            <a:r>
              <a:rPr lang="en-US" dirty="0"/>
              <a:t> test </a:t>
            </a:r>
            <a:r>
              <a:rPr lang="en-US" dirty="0" err="1"/>
              <a:t>dvojnike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mesto</a:t>
            </a:r>
            <a:r>
              <a:rPr lang="en-US" dirty="0"/>
              <a:t> </a:t>
            </a:r>
            <a:r>
              <a:rPr lang="en-US" dirty="0" err="1"/>
              <a:t>objekata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komponenta</a:t>
            </a:r>
            <a:r>
              <a:rPr lang="en-US" dirty="0"/>
              <a:t> </a:t>
            </a:r>
            <a:r>
              <a:rPr lang="en-US" dirty="0" err="1"/>
              <a:t>koristi</a:t>
            </a:r>
            <a:endParaRPr lang="en-US" dirty="0"/>
          </a:p>
          <a:p>
            <a:r>
              <a:rPr lang="en-US" dirty="0"/>
              <a:t>Mo</a:t>
            </a:r>
            <a:r>
              <a:rPr lang="sr-Latn-RS" dirty="0"/>
              <a:t>ž</a:t>
            </a:r>
            <a:r>
              <a:rPr lang="en-US" dirty="0"/>
              <a:t>emo </a:t>
            </a:r>
            <a:r>
              <a:rPr lang="en-US" dirty="0" err="1"/>
              <a:t>koristiti</a:t>
            </a:r>
            <a:r>
              <a:rPr lang="en-US" dirty="0"/>
              <a:t> </a:t>
            </a:r>
            <a:r>
              <a:rPr lang="sr-Latn-RS" dirty="0"/>
              <a:t>Jasmine podršku za spy objekte</a:t>
            </a:r>
          </a:p>
          <a:p>
            <a:pPr lvl="1"/>
            <a:r>
              <a:rPr lang="sr-Latn-RS" dirty="0"/>
              <a:t>omogućuju vraćanje predefinisanih izlaza na predefinisan</a:t>
            </a:r>
            <a:r>
              <a:rPr lang="en-US"/>
              <a:t>e</a:t>
            </a:r>
            <a:r>
              <a:rPr lang="sr-Latn-RS"/>
              <a:t> </a:t>
            </a:r>
            <a:r>
              <a:rPr lang="sr-Latn-RS" dirty="0"/>
              <a:t>ulaze</a:t>
            </a:r>
          </a:p>
          <a:p>
            <a:pPr lvl="1"/>
            <a:r>
              <a:rPr lang="sr-Latn-RS" dirty="0"/>
              <a:t>omogućuju „špijuniranje“ da li su i kako objekti korišćeni</a:t>
            </a:r>
          </a:p>
          <a:p>
            <a:r>
              <a:rPr lang="sr-Latn-RS" dirty="0"/>
              <a:t>Za komplikovanije test dvojnike, možemo napraviti poseban objekat koji simulira stvarno ponašanje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180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dvojnici - 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>
            <a:noAutofit/>
          </a:bodyPr>
          <a:lstStyle/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let stud</a:t>
            </a:r>
            <a:r>
              <a:rPr lang="sr-Latn-R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erviceMock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getStudents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jasmine.createSpy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getStudents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and.returnValue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sr-Latn-R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sr-Latn-R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body: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[{}, {}, {}]}))</a:t>
            </a:r>
            <a:endParaRPr lang="sr-Latn-R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sr-Latn-R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TestBed.configureTestingModule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declarations: [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StudentsComponent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],</a:t>
            </a:r>
            <a:r>
              <a:rPr lang="sr-Latn-R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providers: [ </a:t>
            </a:r>
            <a:endParaRPr lang="sr-Latn-R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{provide: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StudentService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useValue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studServiceMock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},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provide: Router,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useValue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routerMock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} ]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endParaRPr lang="sr-Latn-R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expect(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studentService.getStudents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toHaveBeenCalled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141714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Komunikacija sa HTML komponentama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Da bi se inicirao </a:t>
            </a:r>
            <a:r>
              <a:rPr lang="sr-Latn-RS" i="1" dirty="0"/>
              <a:t>binding</a:t>
            </a:r>
            <a:r>
              <a:rPr lang="sr-Latn-RS" dirty="0"/>
              <a:t> podataka od objekta ka komponenti</a:t>
            </a:r>
          </a:p>
          <a:p>
            <a:pPr lvl="1"/>
            <a:r>
              <a:rPr lang="sr-Latn-RS" dirty="0"/>
              <a:t>detectChanges metoda iz klase ComponentFixture</a:t>
            </a:r>
          </a:p>
          <a:p>
            <a:r>
              <a:rPr lang="sr-Latn-RS" dirty="0"/>
              <a:t>Da bi se inicirao </a:t>
            </a:r>
            <a:r>
              <a:rPr lang="sr-Latn-RS" i="1" dirty="0"/>
              <a:t>binding </a:t>
            </a:r>
            <a:r>
              <a:rPr lang="sr-Latn-RS" dirty="0"/>
              <a:t>od komponente ka povezanom objektu </a:t>
            </a:r>
          </a:p>
          <a:p>
            <a:pPr lvl="1"/>
            <a:r>
              <a:rPr lang="sr-Latn-RS" i="1" dirty="0"/>
              <a:t>dispatchEvent metoda </a:t>
            </a:r>
            <a:r>
              <a:rPr lang="sr-Latn-RS" dirty="0"/>
              <a:t>nad</a:t>
            </a:r>
            <a:r>
              <a:rPr lang="sr-Latn-RS" i="1" dirty="0"/>
              <a:t> nativeElement </a:t>
            </a:r>
            <a:r>
              <a:rPr lang="sr-Latn-RS" dirty="0"/>
              <a:t>objektom u testu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929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DispatchEvent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5105400"/>
          </a:xfrm>
        </p:spPr>
        <p:txBody>
          <a:bodyPr>
            <a:normAutofit/>
          </a:bodyPr>
          <a:lstStyle/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newEvent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eventName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string, </a:t>
            </a:r>
            <a:endParaRPr lang="sr-Latn-R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bubbles = false,</a:t>
            </a: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cancelable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false) {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ocument.createEvent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CustomEvent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');  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evt.initCustomEvent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eventName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bubbles, </a:t>
            </a: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cancelable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null);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cardNumberInput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fixture.debugElement.query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sr-Latn-R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By.css('#field1c')).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nativeElement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sr-Latn-R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580"/>
              </a:spcBef>
              <a:buClr>
                <a:schemeClr val="accent1"/>
              </a:buClr>
              <a:buNone/>
            </a:pP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cardNumberInput.dispatchEvent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newEvent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('input')); </a:t>
            </a:r>
          </a:p>
        </p:txBody>
      </p:sp>
    </p:spTree>
    <p:extLst>
      <p:ext uri="{BB962C8B-B14F-4D97-AF65-F5344CB8AC3E}">
        <p14:creationId xmlns:p14="http://schemas.microsoft.com/office/powerpoint/2010/main" val="182824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Primer testiranja komponente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angular-students</a:t>
            </a:r>
          </a:p>
          <a:p>
            <a:pPr lvl="1"/>
            <a:r>
              <a:rPr lang="sr-Latn-RS" dirty="0"/>
              <a:t>students.component.spec.ts</a:t>
            </a:r>
          </a:p>
          <a:p>
            <a:pPr lvl="1"/>
            <a:r>
              <a:rPr lang="sr-Latn-RS"/>
              <a:t>student-detail.component.spec.ts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98309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49544</TotalTime>
  <Words>886</Words>
  <Application>Microsoft Office PowerPoint</Application>
  <PresentationFormat>On-screen Show (4:3)</PresentationFormat>
  <Paragraphs>138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Courier New</vt:lpstr>
      <vt:lpstr>Franklin Gothic Book</vt:lpstr>
      <vt:lpstr>Perpetua</vt:lpstr>
      <vt:lpstr>Wingdings 2</vt:lpstr>
      <vt:lpstr>Equity</vt:lpstr>
      <vt:lpstr>Testiranje Angular aplikacije</vt:lpstr>
      <vt:lpstr>Angular testiranje</vt:lpstr>
      <vt:lpstr>Angular testiranje</vt:lpstr>
      <vt:lpstr>TestBed</vt:lpstr>
      <vt:lpstr>TestBed</vt:lpstr>
      <vt:lpstr>ComponentFixture</vt:lpstr>
      <vt:lpstr>ComponentFixture</vt:lpstr>
      <vt:lpstr>ComponentFixture</vt:lpstr>
      <vt:lpstr>DebugElement</vt:lpstr>
      <vt:lpstr>Asinhroni pozivi - waitForAsync</vt:lpstr>
      <vt:lpstr>Asinhroni pozivi - fakeAsync</vt:lpstr>
      <vt:lpstr>Testiranje HTTP komunikacije</vt:lpstr>
      <vt:lpstr>Praćenje HTTP poziva</vt:lpstr>
      <vt:lpstr>Simuliranje HTTP odgovora</vt:lpstr>
      <vt:lpstr>Primer testiranja servisa</vt:lpstr>
      <vt:lpstr>Test dvojnici</vt:lpstr>
      <vt:lpstr>Test dvojnici - primer</vt:lpstr>
      <vt:lpstr>Komunikacija sa HTML komponentama</vt:lpstr>
      <vt:lpstr>DispatchEvent</vt:lpstr>
      <vt:lpstr>Primer testiranja komponente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radni okvir</dc:title>
  <dc:creator>Goran</dc:creator>
  <cp:lastModifiedBy>Goran</cp:lastModifiedBy>
  <cp:revision>1320</cp:revision>
  <dcterms:created xsi:type="dcterms:W3CDTF">2016-06-17T10:29:53Z</dcterms:created>
  <dcterms:modified xsi:type="dcterms:W3CDTF">2023-12-15T10:45:16Z</dcterms:modified>
</cp:coreProperties>
</file>