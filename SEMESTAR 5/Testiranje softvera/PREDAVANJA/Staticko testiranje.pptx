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6"/>
  </p:notesMasterIdLst>
  <p:sldIdLst>
    <p:sldId id="256" r:id="rId2"/>
    <p:sldId id="257" r:id="rId3"/>
    <p:sldId id="259" r:id="rId4"/>
    <p:sldId id="260" r:id="rId5"/>
    <p:sldId id="258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2" r:id="rId19"/>
    <p:sldId id="274" r:id="rId20"/>
    <p:sldId id="275" r:id="rId21"/>
    <p:sldId id="276" r:id="rId22"/>
    <p:sldId id="277" r:id="rId23"/>
    <p:sldId id="278" r:id="rId24"/>
    <p:sldId id="279" r:id="rId25"/>
    <p:sldId id="286" r:id="rId26"/>
    <p:sldId id="287" r:id="rId27"/>
    <p:sldId id="289" r:id="rId28"/>
    <p:sldId id="290" r:id="rId29"/>
    <p:sldId id="292" r:id="rId30"/>
    <p:sldId id="293" r:id="rId31"/>
    <p:sldId id="281" r:id="rId32"/>
    <p:sldId id="283" r:id="rId33"/>
    <p:sldId id="284" r:id="rId34"/>
    <p:sldId id="285" r:id="rId3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040" autoAdjust="0"/>
  </p:normalViewPr>
  <p:slideViewPr>
    <p:cSldViewPr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6258"/>
    </p:cViewPr>
  </p:sorterViewPr>
  <p:notesViewPr>
    <p:cSldViewPr>
      <p:cViewPr varScale="1">
        <p:scale>
          <a:sx n="70" d="100"/>
          <a:sy n="70" d="100"/>
        </p:scale>
        <p:origin x="-3234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1E5E08-6FDD-4025-8531-A3BB39BAD8F4}" type="datetimeFigureOut">
              <a:rPr lang="en-GB" smtClean="0"/>
              <a:t>29/11/2024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1C20D4-52CC-4AE0-A8BD-CFB348CDB1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8932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C20D4-52CC-4AE0-A8BD-CFB348CDB199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63242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63B4-66BE-45AF-B342-5BD675F621EF}" type="datetimeFigureOut">
              <a:rPr lang="en-GB" smtClean="0"/>
              <a:t>29/11/2024</a:t>
            </a:fld>
            <a:endParaRPr lang="en-GB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0B244398-0885-4C06-B673-45F76BE55CC2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E4E63B4-66BE-45AF-B342-5BD675F621EF}" type="datetimeFigureOut">
              <a:rPr lang="en-GB" smtClean="0"/>
              <a:pPr/>
              <a:t>29/11/2024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B244398-0885-4C06-B673-45F76BE55CC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E4E63B4-66BE-45AF-B342-5BD675F621EF}" type="datetimeFigureOut">
              <a:rPr lang="en-GB" smtClean="0"/>
              <a:pPr/>
              <a:t>29/11/2024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B244398-0885-4C06-B673-45F76BE55CC2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E4E63B4-66BE-45AF-B342-5BD675F621EF}" type="datetimeFigureOut">
              <a:rPr lang="en-GB" smtClean="0"/>
              <a:pPr/>
              <a:t>29/11/2024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B244398-0885-4C06-B673-45F76BE55CC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E4E63B4-66BE-45AF-B342-5BD675F621EF}" type="datetimeFigureOut">
              <a:rPr lang="en-GB" smtClean="0"/>
              <a:pPr/>
              <a:t>29/11/2024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B244398-0885-4C06-B673-45F76BE55CC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E4E63B4-66BE-45AF-B342-5BD675F621EF}" type="datetimeFigureOut">
              <a:rPr lang="en-GB" smtClean="0"/>
              <a:pPr/>
              <a:t>29/11/2024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B244398-0885-4C06-B673-45F76BE55CC2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E4E63B4-66BE-45AF-B342-5BD675F621EF}" type="datetimeFigureOut">
              <a:rPr lang="en-GB" smtClean="0"/>
              <a:pPr/>
              <a:t>29/11/2024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B244398-0885-4C06-B673-45F76BE55CC2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E4E63B4-66BE-45AF-B342-5BD675F621EF}" type="datetimeFigureOut">
              <a:rPr lang="en-GB" smtClean="0"/>
              <a:pPr/>
              <a:t>29/11/2024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B244398-0885-4C06-B673-45F76BE55CC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63B4-66BE-45AF-B342-5BD675F621EF}" type="datetimeFigureOut">
              <a:rPr lang="en-GB" smtClean="0"/>
              <a:t>29/11/2024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0B244398-0885-4C06-B673-45F76BE55CC2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E4E63B4-66BE-45AF-B342-5BD675F621EF}" type="datetimeFigureOut">
              <a:rPr lang="en-GB" smtClean="0"/>
              <a:pPr/>
              <a:t>29/11/2024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B244398-0885-4C06-B673-45F76BE55CC2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63B4-66BE-45AF-B342-5BD675F621EF}" type="datetimeFigureOut">
              <a:rPr lang="en-GB" smtClean="0"/>
              <a:t>29/11/2024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44398-0885-4C06-B673-45F76BE55CC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4E4E63B4-66BE-45AF-B342-5BD675F621EF}" type="datetimeFigureOut">
              <a:rPr lang="en-GB" smtClean="0"/>
              <a:t>29/11/2024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0B244398-0885-4C06-B673-45F76BE55CC2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://localhost:9000/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62200" y="5943600"/>
            <a:ext cx="6400800" cy="533400"/>
          </a:xfrm>
        </p:spPr>
        <p:txBody>
          <a:bodyPr/>
          <a:lstStyle/>
          <a:p>
            <a:pPr algn="r"/>
            <a:r>
              <a:rPr lang="sr-Latn-RS" dirty="0">
                <a:latin typeface="Arial" panose="020B0604020202020204" pitchFamily="34" charset="0"/>
                <a:cs typeface="Arial" panose="020B0604020202020204" pitchFamily="34" charset="0"/>
              </a:rPr>
              <a:t>Autor: Goran Savić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r-Latn-RS" dirty="0"/>
              <a:t>Statičko testiranje</a:t>
            </a:r>
            <a:endParaRPr lang="en-GB" dirty="0"/>
          </a:p>
        </p:txBody>
      </p:sp>
      <p:pic>
        <p:nvPicPr>
          <p:cNvPr id="4" name="Picture 2" descr="http://images.complex.com/complex/image/upload/c_limit,fl_progressive,q_80,w_680/wchob8onnmv5cr71sfd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3200400"/>
            <a:ext cx="423949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09600" y="6324600"/>
            <a:ext cx="6781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1200" dirty="0"/>
              <a:t>* slajdovi su kreirani na osnovu knjige </a:t>
            </a:r>
            <a:r>
              <a:rPr lang="en-GB" sz="1200" i="1" dirty="0" err="1"/>
              <a:t>Spillner</a:t>
            </a:r>
            <a:r>
              <a:rPr lang="en-GB" sz="1200" i="1" dirty="0"/>
              <a:t>, A., Linz, T., Schaefer, H., </a:t>
            </a:r>
            <a:r>
              <a:rPr lang="en-GB" sz="1200" b="1" i="1" dirty="0"/>
              <a:t>Software Testing </a:t>
            </a:r>
            <a:r>
              <a:rPr lang="sr-Latn-RS" sz="1200" b="1" i="1" dirty="0"/>
              <a:t> </a:t>
            </a:r>
          </a:p>
          <a:p>
            <a:r>
              <a:rPr lang="sr-Latn-RS" sz="1200" b="1" i="1" dirty="0"/>
              <a:t>   </a:t>
            </a:r>
            <a:r>
              <a:rPr lang="en-GB" sz="1200" b="1" i="1" dirty="0"/>
              <a:t>Foundations</a:t>
            </a:r>
            <a:r>
              <a:rPr lang="en-GB" sz="1200" i="1" dirty="0"/>
              <a:t>, 4th Edition, Rocky Nook, 2014</a:t>
            </a:r>
          </a:p>
        </p:txBody>
      </p:sp>
    </p:spTree>
    <p:extLst>
      <p:ext uri="{BB962C8B-B14F-4D97-AF65-F5344CB8AC3E}">
        <p14:creationId xmlns:p14="http://schemas.microsoft.com/office/powerpoint/2010/main" val="1898416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Statičko testiranje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181600"/>
          </a:xfrm>
        </p:spPr>
        <p:txBody>
          <a:bodyPr>
            <a:normAutofit/>
          </a:bodyPr>
          <a:lstStyle/>
          <a:p>
            <a:r>
              <a:rPr lang="sr-Latn-RS" dirty="0"/>
              <a:t>Statičko testiranje podrazumeva verifikaciju test objekta analizom njegovog sadržaja</a:t>
            </a:r>
          </a:p>
          <a:p>
            <a:pPr lvl="1"/>
            <a:r>
              <a:rPr lang="sr-Latn-RS" dirty="0"/>
              <a:t>za razliku od dinamičkog testiranja koje verifikaciju vrši izvršavanjem test objekta korišćenjem određenih test podataka</a:t>
            </a:r>
          </a:p>
          <a:p>
            <a:r>
              <a:rPr lang="sr-Latn-RS" dirty="0"/>
              <a:t>Može biti </a:t>
            </a:r>
          </a:p>
          <a:p>
            <a:pPr lvl="1"/>
            <a:r>
              <a:rPr lang="sr-Latn-RS" dirty="0"/>
              <a:t>manuelno</a:t>
            </a:r>
          </a:p>
          <a:p>
            <a:pPr lvl="2"/>
            <a:r>
              <a:rPr lang="sr-Latn-RS" dirty="0"/>
              <a:t>učesnici u projektu vrše analizu programa</a:t>
            </a:r>
          </a:p>
          <a:p>
            <a:pPr lvl="1"/>
            <a:r>
              <a:rPr lang="sr-Latn-RS" dirty="0"/>
              <a:t>automatsko</a:t>
            </a:r>
          </a:p>
          <a:p>
            <a:pPr lvl="2"/>
            <a:r>
              <a:rPr lang="sr-Latn-RS" dirty="0"/>
              <a:t>softverski alati vrše analizu programa</a:t>
            </a:r>
          </a:p>
          <a:p>
            <a:pPr lvl="2"/>
            <a:r>
              <a:rPr lang="sr-Latn-RS" dirty="0"/>
              <a:t>moguće samo za mašinski čitljive test objekte sa formalnom strukturom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66482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Statičko testiranje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105400"/>
          </a:xfrm>
        </p:spPr>
        <p:txBody>
          <a:bodyPr>
            <a:normAutofit lnSpcReduction="10000"/>
          </a:bodyPr>
          <a:lstStyle/>
          <a:p>
            <a:r>
              <a:rPr lang="sr-Latn-RS" dirty="0"/>
              <a:t>Cilj statičkog testiranja</a:t>
            </a:r>
          </a:p>
          <a:p>
            <a:pPr lvl="1"/>
            <a:r>
              <a:rPr lang="sr-Latn-RS" dirty="0"/>
              <a:t>pronalaženje nedostataka u funkcionalnostima, ali i dizajnu aplikacije</a:t>
            </a:r>
          </a:p>
          <a:p>
            <a:pPr lvl="1"/>
            <a:r>
              <a:rPr lang="sr-Latn-RS" dirty="0"/>
              <a:t>rano otkrivanje ovih nedostataka smanjuje troškove kasnijih aktivnosti u životnom ciklusu aplikacije</a:t>
            </a:r>
          </a:p>
          <a:p>
            <a:r>
              <a:rPr lang="sr-Latn-RS" dirty="0"/>
              <a:t>Statičkim testiranjem se može utvrditi da</a:t>
            </a:r>
          </a:p>
          <a:p>
            <a:pPr lvl="1"/>
            <a:r>
              <a:rPr lang="sr-Latn-RS" dirty="0"/>
              <a:t>arhitektura nije proširiva,</a:t>
            </a:r>
          </a:p>
          <a:p>
            <a:pPr lvl="1"/>
            <a:r>
              <a:rPr lang="sr-Latn-RS" dirty="0"/>
              <a:t>specifikacija zahteva nije ispoštovana </a:t>
            </a:r>
          </a:p>
          <a:p>
            <a:pPr lvl="1"/>
            <a:r>
              <a:rPr lang="sr-Latn-RS" dirty="0"/>
              <a:t>da implementacija nije usklađena sa standardima ...</a:t>
            </a:r>
          </a:p>
          <a:p>
            <a:r>
              <a:rPr lang="sr-Latn-RS" dirty="0"/>
              <a:t>Dodatno, neki nedostaci u programu se teško otkrivaju dinamičkim testiranjem</a:t>
            </a:r>
          </a:p>
          <a:p>
            <a:pPr lvl="1"/>
            <a:r>
              <a:rPr lang="sr-Latn-RS" dirty="0"/>
              <a:t>npr. nedeterministička ponašanja, konkurentni problemi, </a:t>
            </a:r>
            <a:r>
              <a:rPr lang="sr-Latn-RS" i="1" dirty="0"/>
              <a:t>data race</a:t>
            </a:r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31652551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1505930"/>
            <a:ext cx="8229600" cy="1470025"/>
          </a:xfrm>
        </p:spPr>
        <p:txBody>
          <a:bodyPr/>
          <a:lstStyle/>
          <a:p>
            <a:r>
              <a:rPr lang="sr-Latn-RS" dirty="0"/>
              <a:t>Manuelna evaluacija</a:t>
            </a:r>
            <a:endParaRPr lang="en-GB" dirty="0"/>
          </a:p>
        </p:txBody>
      </p:sp>
      <p:pic>
        <p:nvPicPr>
          <p:cNvPr id="2050" name="Picture 2" descr="https://media.licdn.com/mpr/mpr/shrinknp_800_800/AAEAAQAAAAAAAAU2AAAAJDc4MjYxOTdiLWVhNjEtNDk4NC05YTAzLThjMmJlMmFhODM1Zg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3200400"/>
            <a:ext cx="2508249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6363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Manuelna evaluacija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Odnosi se na analiziranje dokumenata u projektu od strane učesnika</a:t>
            </a:r>
          </a:p>
          <a:p>
            <a:pPr lvl="1"/>
            <a:r>
              <a:rPr lang="sr-Latn-RS" dirty="0"/>
              <a:t>dokument je najčešće sam kod, ali može biti i specifikacija zahteva, model sistema, model podataka, plan aktivnosti, ...</a:t>
            </a:r>
          </a:p>
          <a:p>
            <a:r>
              <a:rPr lang="sr-Latn-RS" dirty="0"/>
              <a:t>Različite tehnike analize</a:t>
            </a:r>
          </a:p>
          <a:p>
            <a:pPr lvl="1"/>
            <a:r>
              <a:rPr lang="sr-Latn-RS" dirty="0"/>
              <a:t>razlikuju se po intenzitetu, formalnosti, potrebnim resursima i ciljevima</a:t>
            </a:r>
          </a:p>
          <a:p>
            <a:pPr lvl="1"/>
            <a:r>
              <a:rPr lang="sr-Latn-RS" dirty="0"/>
              <a:t>ne postoji jedinstvena terminologija za ove različite tehnike analize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471838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Pregled (</a:t>
            </a:r>
            <a:r>
              <a:rPr lang="sr-Latn-RS" i="1" dirty="0"/>
              <a:t>Review</a:t>
            </a:r>
            <a:r>
              <a:rPr lang="sr-Latn-RS" dirty="0"/>
              <a:t>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105400"/>
          </a:xfrm>
        </p:spPr>
        <p:txBody>
          <a:bodyPr>
            <a:normAutofit/>
          </a:bodyPr>
          <a:lstStyle/>
          <a:p>
            <a:r>
              <a:rPr lang="sr-Latn-RS" i="1" dirty="0"/>
              <a:t>Pregled</a:t>
            </a:r>
            <a:r>
              <a:rPr lang="sr-Latn-RS" dirty="0"/>
              <a:t> je generalni termin koji se ovde koristi za sve tehnike manuelnog statičkog testiranja</a:t>
            </a:r>
          </a:p>
          <a:p>
            <a:pPr lvl="1"/>
            <a:r>
              <a:rPr lang="sr-Latn-RS" dirty="0"/>
              <a:t>u praksi se najčešće koristi </a:t>
            </a:r>
            <a:r>
              <a:rPr lang="sr-Latn-RS" i="1" dirty="0"/>
              <a:t>review </a:t>
            </a:r>
            <a:r>
              <a:rPr lang="sr-Latn-RS" dirty="0"/>
              <a:t>ili </a:t>
            </a:r>
            <a:r>
              <a:rPr lang="sr-Latn-RS" i="1" dirty="0"/>
              <a:t>inspection </a:t>
            </a:r>
          </a:p>
          <a:p>
            <a:pPr lvl="1"/>
            <a:r>
              <a:rPr lang="sr-Latn-RS" dirty="0"/>
              <a:t>u pregledu najčešće učestvuje više ljudi</a:t>
            </a:r>
          </a:p>
          <a:p>
            <a:pPr lvl="2"/>
            <a:r>
              <a:rPr lang="sr-Latn-RS" i="1" dirty="0"/>
              <a:t>peer review</a:t>
            </a:r>
          </a:p>
          <a:p>
            <a:endParaRPr lang="sr-Latn-RS" dirty="0"/>
          </a:p>
          <a:p>
            <a:pPr lvl="1"/>
            <a:endParaRPr lang="en-GB" dirty="0"/>
          </a:p>
        </p:txBody>
      </p:sp>
      <p:pic>
        <p:nvPicPr>
          <p:cNvPr id="4098" name="Picture 2" descr="http://cf.jare.io/?u=http%3A%2F%2Fwww.yegor256.com%2Fimages%2F2015%2F02%2Fkim-jong-un-doing-code-review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3657600"/>
            <a:ext cx="4653915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09376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Prednosti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257800"/>
          </a:xfrm>
        </p:spPr>
        <p:txBody>
          <a:bodyPr>
            <a:normAutofit fontScale="92500"/>
          </a:bodyPr>
          <a:lstStyle/>
          <a:p>
            <a:r>
              <a:rPr lang="sr-Latn-RS" dirty="0"/>
              <a:t>Moguće prednosti pregleda</a:t>
            </a:r>
          </a:p>
          <a:p>
            <a:pPr lvl="1"/>
            <a:r>
              <a:rPr lang="sr-Latn-RS" dirty="0"/>
              <a:t>kao i svako otkrivanje nedostataka, poboljšava dalji proces razvoja</a:t>
            </a:r>
          </a:p>
          <a:p>
            <a:pPr lvl="2"/>
            <a:r>
              <a:rPr lang="sr-Latn-RS" dirty="0"/>
              <a:t>što se ranije nedostaci utvrde, tim bolje  </a:t>
            </a:r>
          </a:p>
          <a:p>
            <a:pPr lvl="1"/>
            <a:r>
              <a:rPr lang="sr-Latn-RS" dirty="0"/>
              <a:t>kvalitetnije rešenje jer je u razvoj rešenja uključeno više ljudi  </a:t>
            </a:r>
          </a:p>
          <a:p>
            <a:pPr lvl="1"/>
            <a:r>
              <a:rPr lang="sr-Latn-RS" dirty="0"/>
              <a:t>učesnici uče jedni od drugih</a:t>
            </a:r>
          </a:p>
          <a:p>
            <a:pPr lvl="1"/>
            <a:r>
              <a:rPr lang="sr-Latn-RS" dirty="0"/>
              <a:t>formalizacija i dokumentovanje rešenja</a:t>
            </a:r>
          </a:p>
          <a:p>
            <a:pPr lvl="2"/>
            <a:r>
              <a:rPr lang="sr-Latn-RS" dirty="0"/>
              <a:t>autor mora da iznese rešenje tako da drugim učesnicima bude čitljivo i razumljivo, kao i da obrazloži odluke donete pri razvoju</a:t>
            </a:r>
          </a:p>
          <a:p>
            <a:pPr lvl="1"/>
            <a:r>
              <a:rPr lang="sr-Latn-RS" dirty="0"/>
              <a:t>odgovornost se raspoređuje na sve učesnike</a:t>
            </a:r>
          </a:p>
          <a:p>
            <a:r>
              <a:rPr lang="sr-Latn-RS" dirty="0"/>
              <a:t>Iako troši resurse, pregled je neizostavan u razvoju jer značajno smanjuje broj kasnijih nedostataka i troškove otklanjanja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86192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Problemi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6019800" cy="2209800"/>
          </a:xfrm>
        </p:spPr>
        <p:txBody>
          <a:bodyPr/>
          <a:lstStyle/>
          <a:p>
            <a:r>
              <a:rPr lang="sr-Latn-RS" dirty="0"/>
              <a:t>Mogući problemi u pregledu</a:t>
            </a:r>
          </a:p>
          <a:p>
            <a:pPr lvl="1"/>
            <a:r>
              <a:rPr lang="sr-Latn-RS" dirty="0"/>
              <a:t>uglavnom su psihološke prirode</a:t>
            </a:r>
          </a:p>
          <a:p>
            <a:pPr lvl="1"/>
            <a:r>
              <a:rPr lang="sr-Latn-RS" dirty="0"/>
              <a:t>autor može imati utisak da je predmet analize i kritike on i njegov rad, a ne dokument</a:t>
            </a:r>
          </a:p>
        </p:txBody>
      </p:sp>
      <p:pic>
        <p:nvPicPr>
          <p:cNvPr id="3074" name="Picture 2" descr="http://mindbowser.com/wp-content/uploads/2016/07/Code-Review-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878997"/>
            <a:ext cx="2331914" cy="3024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939800" y="4267200"/>
            <a:ext cx="7772400" cy="22098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r-Latn-RS" dirty="0">
                <a:latin typeface="Arial" panose="020B0604020202020204" pitchFamily="34" charset="0"/>
                <a:cs typeface="Arial" panose="020B0604020202020204" pitchFamily="34" charset="0"/>
              </a:rPr>
              <a:t>Problemi se mogu ublažiti</a:t>
            </a:r>
          </a:p>
          <a:p>
            <a:pPr lvl="1"/>
            <a:r>
              <a:rPr lang="sr-Latn-RS" dirty="0">
                <a:latin typeface="Arial" panose="020B0604020202020204" pitchFamily="34" charset="0"/>
                <a:cs typeface="Arial" panose="020B0604020202020204" pitchFamily="34" charset="0"/>
              </a:rPr>
              <a:t>jasnim ciljem i dobrim upravljanjem svakim pregledom</a:t>
            </a:r>
          </a:p>
          <a:p>
            <a:pPr lvl="1"/>
            <a:r>
              <a:rPr lang="sr-Latn-RS" dirty="0">
                <a:latin typeface="Arial" panose="020B0604020202020204" pitchFamily="34" charset="0"/>
                <a:cs typeface="Arial" panose="020B0604020202020204" pitchFamily="34" charset="0"/>
              </a:rPr>
              <a:t>dobrim izborom učesnika u pregledu</a:t>
            </a:r>
          </a:p>
          <a:p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9676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Faze pregleda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Iako postoje različiti tipovi pregleda, obično postoje sledeće faze (implicitno ili eksplicitno izražene)</a:t>
            </a:r>
          </a:p>
          <a:p>
            <a:pPr marL="777240" lvl="1" indent="-457200">
              <a:buFont typeface="+mj-lt"/>
              <a:buAutoNum type="arabicPeriod"/>
            </a:pPr>
            <a:r>
              <a:rPr lang="sr-Latn-RS" dirty="0"/>
              <a:t>planiranje</a:t>
            </a:r>
          </a:p>
          <a:p>
            <a:pPr marL="777240" lvl="1" indent="-457200">
              <a:buFont typeface="+mj-lt"/>
              <a:buAutoNum type="arabicPeriod"/>
            </a:pPr>
            <a:r>
              <a:rPr lang="sr-Latn-RS" dirty="0"/>
              <a:t>informisanje</a:t>
            </a:r>
          </a:p>
          <a:p>
            <a:pPr marL="777240" lvl="1" indent="-457200">
              <a:buFont typeface="+mj-lt"/>
              <a:buAutoNum type="arabicPeriod"/>
            </a:pPr>
            <a:r>
              <a:rPr lang="sr-Latn-RS" dirty="0"/>
              <a:t>samostalna priprema</a:t>
            </a:r>
          </a:p>
          <a:p>
            <a:pPr marL="777240" lvl="1" indent="-457200">
              <a:buFont typeface="+mj-lt"/>
              <a:buAutoNum type="arabicPeriod"/>
            </a:pPr>
            <a:r>
              <a:rPr lang="sr-Latn-RS" dirty="0"/>
              <a:t>sastanak</a:t>
            </a:r>
          </a:p>
          <a:p>
            <a:pPr marL="777240" lvl="1" indent="-457200">
              <a:buFont typeface="+mj-lt"/>
              <a:buAutoNum type="arabicPeriod"/>
            </a:pPr>
            <a:r>
              <a:rPr lang="sr-Latn-RS" dirty="0"/>
              <a:t>ispravke</a:t>
            </a:r>
          </a:p>
          <a:p>
            <a:pPr marL="777240" lvl="1" indent="-457200">
              <a:buFont typeface="+mj-lt"/>
              <a:buAutoNum type="arabicPeriod"/>
            </a:pPr>
            <a:r>
              <a:rPr lang="sr-Latn-RS" dirty="0"/>
              <a:t>revizija</a:t>
            </a:r>
          </a:p>
          <a:p>
            <a:pPr marL="777240" lvl="1" indent="-457200">
              <a:buFont typeface="+mj-lt"/>
              <a:buAutoNum type="arabicPeriod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385039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Planiranje pregleda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953000"/>
          </a:xfrm>
        </p:spPr>
        <p:txBody>
          <a:bodyPr/>
          <a:lstStyle/>
          <a:p>
            <a:r>
              <a:rPr lang="sr-Latn-RS" dirty="0"/>
              <a:t>Na generalnom nivou</a:t>
            </a:r>
          </a:p>
          <a:p>
            <a:pPr lvl="1"/>
            <a:r>
              <a:rPr lang="sr-Latn-RS" dirty="0"/>
              <a:t>na nivou projekta se mora doneti odluka koji dokumenti se pregledaju</a:t>
            </a:r>
          </a:p>
          <a:p>
            <a:pPr lvl="1"/>
            <a:r>
              <a:rPr lang="sr-Latn-RS" dirty="0"/>
              <a:t>mora se u plan projekta uvrstiti i dinamika i troškovi tih pregleda</a:t>
            </a:r>
          </a:p>
          <a:p>
            <a:r>
              <a:rPr lang="sr-Latn-RS" dirty="0"/>
              <a:t>Na nivou jednog pregleda</a:t>
            </a:r>
          </a:p>
          <a:p>
            <a:pPr lvl="1"/>
            <a:r>
              <a:rPr lang="sr-Latn-RS" dirty="0"/>
              <a:t>pripremiti dokumente koji su predmet pregleda</a:t>
            </a:r>
          </a:p>
          <a:p>
            <a:pPr lvl="1"/>
            <a:r>
              <a:rPr lang="sr-Latn-RS" dirty="0"/>
              <a:t>izabrati učesnike u pregledu</a:t>
            </a:r>
          </a:p>
          <a:p>
            <a:pPr lvl="1"/>
            <a:r>
              <a:rPr lang="sr-Latn-RS" dirty="0"/>
              <a:t>obezbediti da je dokument spreman za pregled</a:t>
            </a:r>
          </a:p>
          <a:p>
            <a:pPr lvl="2"/>
            <a:r>
              <a:rPr lang="sr-Latn-RS" dirty="0"/>
              <a:t>da je završen na nivou predviđenom za tu fazu projekta</a:t>
            </a:r>
          </a:p>
          <a:p>
            <a:pPr lvl="1"/>
            <a:r>
              <a:rPr lang="sr-Latn-RS" dirty="0"/>
              <a:t>odrediti mesto i vreme sastanka i druge detalje potrebne za održavanje pregleda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870762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Informisanje o pregledu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543800" cy="4572000"/>
          </a:xfrm>
        </p:spPr>
        <p:txBody>
          <a:bodyPr/>
          <a:lstStyle/>
          <a:p>
            <a:r>
              <a:rPr lang="sr-Latn-RS" dirty="0"/>
              <a:t>Pre održavanja sastanka je potrebno</a:t>
            </a:r>
          </a:p>
          <a:p>
            <a:pPr lvl="1"/>
            <a:r>
              <a:rPr lang="sr-Latn-RS" dirty="0"/>
              <a:t>obavestiti učesnike o održavanju pregleda</a:t>
            </a:r>
          </a:p>
          <a:p>
            <a:pPr lvl="1"/>
            <a:r>
              <a:rPr lang="sr-Latn-RS" dirty="0"/>
              <a:t>obavestiti učesnike o temi i cilju pregleda</a:t>
            </a:r>
          </a:p>
          <a:p>
            <a:pPr lvl="1"/>
            <a:r>
              <a:rPr lang="sr-Latn-RS" dirty="0"/>
              <a:t>obezbediti učesnicima pristup dokumentima koji su tema pregleda</a:t>
            </a:r>
          </a:p>
          <a:p>
            <a:pPr lvl="1"/>
            <a:r>
              <a:rPr lang="sr-Latn-RS" dirty="0"/>
              <a:t>dati učesnicima dodatne informacije o dokumentima, ukoliko nisu potpuno upućeni</a:t>
            </a:r>
          </a:p>
          <a:p>
            <a:r>
              <a:rPr lang="sr-Latn-RS" dirty="0"/>
              <a:t>Ovo je moguće realizovati pisanim pozivom ili kratkim grupnim sastankom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87578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Samostalna priprema za pregled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Svaki učesnik bi trebao da se pripremi za sastanak analizom dokumenata koji su tema pregleda</a:t>
            </a:r>
          </a:p>
          <a:p>
            <a:pPr lvl="1"/>
            <a:r>
              <a:rPr lang="sr-Latn-RS" dirty="0"/>
              <a:t>trebao bi da pripremi komentare, zamerke i pitanja za druge učesnike</a:t>
            </a:r>
            <a:endParaRPr lang="en-GB" dirty="0"/>
          </a:p>
        </p:txBody>
      </p:sp>
      <p:pic>
        <p:nvPicPr>
          <p:cNvPr id="5122" name="Picture 2" descr="http://www.savagechickens.com/images/chickenprepare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352800"/>
            <a:ext cx="3276600" cy="3276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11930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Sastanak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181600"/>
          </a:xfrm>
        </p:spPr>
        <p:txBody>
          <a:bodyPr>
            <a:normAutofit fontScale="92500"/>
          </a:bodyPr>
          <a:lstStyle/>
          <a:p>
            <a:r>
              <a:rPr lang="sr-Latn-RS" dirty="0"/>
              <a:t>Sastanak je centralna aktivnost u pregledu</a:t>
            </a:r>
          </a:p>
          <a:p>
            <a:r>
              <a:rPr lang="sr-Latn-RS" dirty="0"/>
              <a:t>Istovremeno je i najveći izazov</a:t>
            </a:r>
          </a:p>
          <a:p>
            <a:pPr lvl="1"/>
            <a:r>
              <a:rPr lang="sr-Latn-RS" dirty="0"/>
              <a:t>potrebno je doneti odluke kroz diskusiju učesnika koji imaju različite stavove (nekad čak i ciljeve)</a:t>
            </a:r>
          </a:p>
          <a:p>
            <a:pPr lvl="1"/>
            <a:r>
              <a:rPr lang="sr-Latn-RS" dirty="0"/>
              <a:t>neophodno je sastanak unapred vremenski limitirati da bi dao rezultat</a:t>
            </a:r>
          </a:p>
          <a:p>
            <a:r>
              <a:rPr lang="sr-Latn-RS" dirty="0"/>
              <a:t>Važno je da jedna osoba vodi sastanak</a:t>
            </a:r>
          </a:p>
          <a:p>
            <a:pPr lvl="1"/>
            <a:r>
              <a:rPr lang="sr-Latn-RS" dirty="0"/>
              <a:t>obezbeđuje da sastanak ne odstupi od cilja i da komunikacija bude konstruktivna i sa što manje konflikta</a:t>
            </a:r>
          </a:p>
          <a:p>
            <a:pPr lvl="1"/>
            <a:r>
              <a:rPr lang="sr-Latn-RS" dirty="0"/>
              <a:t>korisno je voditi beleške</a:t>
            </a:r>
          </a:p>
          <a:p>
            <a:r>
              <a:rPr lang="sr-Latn-RS" dirty="0"/>
              <a:t>Sastanak mora završiti zaključkom</a:t>
            </a:r>
          </a:p>
          <a:p>
            <a:pPr lvl="1"/>
            <a:r>
              <a:rPr lang="sr-Latn-RS" dirty="0"/>
              <a:t>donosi se odluka da li se dokument prihvata, ispravlja ili odbacuje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849693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Ispravke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Nakon sastanka ili na samom sastanku donosi se odluka o izmenama u pregledanom dokumentu</a:t>
            </a:r>
          </a:p>
          <a:p>
            <a:pPr lvl="1"/>
            <a:r>
              <a:rPr lang="sr-Latn-RS" dirty="0"/>
              <a:t>najčešće je autor odgovoran da izvrši dogovorene izmene u dokumentu</a:t>
            </a:r>
            <a:endParaRPr lang="en-GB" dirty="0"/>
          </a:p>
        </p:txBody>
      </p:sp>
      <p:pic>
        <p:nvPicPr>
          <p:cNvPr id="7170" name="Picture 2" descr="https://davidwalsh.name/demo/code-review-2.jpg?preview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3124200"/>
            <a:ext cx="4686217" cy="3600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39544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Revizija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Nakon ispravki neophodno je izvršiti reviziju nove verzije dokumenta</a:t>
            </a:r>
          </a:p>
          <a:p>
            <a:r>
              <a:rPr lang="sr-Latn-RS" dirty="0"/>
              <a:t>Mora se obaviti novi pregled</a:t>
            </a:r>
          </a:p>
          <a:p>
            <a:pPr lvl="1"/>
            <a:r>
              <a:rPr lang="sr-Latn-RS" dirty="0"/>
              <a:t>procedura drugog pregleda može biti nešto kraća sa fokusom samo na modifikovane delove</a:t>
            </a:r>
          </a:p>
          <a:p>
            <a:r>
              <a:rPr lang="sr-Latn-RS" dirty="0"/>
              <a:t>Potrebno je evaluirati sam proces pregleda kako bi naredni pregled ispravio nedostatke u proceduri</a:t>
            </a:r>
          </a:p>
          <a:p>
            <a:pPr lvl="1"/>
            <a:r>
              <a:rPr lang="sr-Latn-RS" dirty="0"/>
              <a:t>identifikovati faktore koji mogu naredni pregled učiniti korisnijim i efikasnijim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195401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Uloge učesnika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105400"/>
          </a:xfrm>
        </p:spPr>
        <p:txBody>
          <a:bodyPr/>
          <a:lstStyle/>
          <a:p>
            <a:r>
              <a:rPr lang="sr-Latn-RS" dirty="0"/>
              <a:t>Možemo </a:t>
            </a:r>
            <a:r>
              <a:rPr lang="sr-Latn-RS"/>
              <a:t>identifikovati nekoliko </a:t>
            </a:r>
            <a:r>
              <a:rPr lang="sr-Latn-RS" dirty="0"/>
              <a:t>klasa učesnika</a:t>
            </a:r>
          </a:p>
          <a:p>
            <a:pPr lvl="1"/>
            <a:r>
              <a:rPr lang="sr-Latn-RS" dirty="0"/>
              <a:t>menadžer</a:t>
            </a:r>
          </a:p>
          <a:p>
            <a:pPr lvl="2"/>
            <a:r>
              <a:rPr lang="sr-Latn-RS" dirty="0"/>
              <a:t>upravlja procesom verifikacije sistema</a:t>
            </a:r>
          </a:p>
          <a:p>
            <a:pPr lvl="2"/>
            <a:r>
              <a:rPr lang="sr-Latn-RS" dirty="0"/>
              <a:t>upravlja pregledima na nivou generalnog plana i mesta pregleda u dinamici projekta</a:t>
            </a:r>
          </a:p>
          <a:p>
            <a:pPr lvl="2"/>
            <a:r>
              <a:rPr lang="sr-Latn-RS" dirty="0"/>
              <a:t>ne mora da učestvuje u pregledima jer često nije upućen u tehničke detalje koji se ne pregledima analiziraju</a:t>
            </a:r>
          </a:p>
          <a:p>
            <a:pPr lvl="1"/>
            <a:r>
              <a:rPr lang="sr-Latn-RS" dirty="0"/>
              <a:t>moderator</a:t>
            </a:r>
          </a:p>
          <a:p>
            <a:pPr lvl="2"/>
            <a:r>
              <a:rPr lang="sr-Latn-RS" dirty="0"/>
              <a:t>zadužen je za sprovođenje pregleda</a:t>
            </a:r>
          </a:p>
          <a:p>
            <a:pPr lvl="2"/>
            <a:r>
              <a:rPr lang="sr-Latn-RS" dirty="0"/>
              <a:t>vodi sve faze pregleda</a:t>
            </a:r>
          </a:p>
          <a:p>
            <a:pPr lvl="2"/>
            <a:r>
              <a:rPr lang="sr-Latn-RS" dirty="0"/>
              <a:t>evidentira dokumentaciju o pregledu</a:t>
            </a:r>
          </a:p>
          <a:p>
            <a:pPr lvl="2"/>
            <a:r>
              <a:rPr lang="sr-Latn-RS" dirty="0"/>
              <a:t>potrebno je da ima društvene veštine zbog usklađivanja učesnika u pregledu</a:t>
            </a:r>
          </a:p>
          <a:p>
            <a:pPr lvl="2"/>
            <a:r>
              <a:rPr lang="sr-Latn-RS" dirty="0"/>
              <a:t>trebao bi da zauzme neutralan stav na samom pregledu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528187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Uloge učesnika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029200"/>
          </a:xfrm>
        </p:spPr>
        <p:txBody>
          <a:bodyPr>
            <a:normAutofit lnSpcReduction="10000"/>
          </a:bodyPr>
          <a:lstStyle/>
          <a:p>
            <a:r>
              <a:rPr lang="sr-Latn-RS" dirty="0"/>
              <a:t>Tipovi učesnika (nastavak sa prethodnog slajda)</a:t>
            </a:r>
          </a:p>
          <a:p>
            <a:pPr lvl="1"/>
            <a:r>
              <a:rPr lang="sr-Latn-RS" dirty="0"/>
              <a:t>autor</a:t>
            </a:r>
          </a:p>
          <a:p>
            <a:pPr lvl="2"/>
            <a:r>
              <a:rPr lang="sr-Latn-RS" dirty="0"/>
              <a:t>osoba koja je kreirala dokument koji je predmet pregleda</a:t>
            </a:r>
          </a:p>
          <a:p>
            <a:pPr lvl="2"/>
            <a:r>
              <a:rPr lang="sr-Latn-RS" dirty="0"/>
              <a:t>kod timskog rada, može biti delegiran jedan od autora da učestvuje u pregledu ili prisustvuju svi </a:t>
            </a:r>
          </a:p>
          <a:p>
            <a:pPr lvl="2"/>
            <a:r>
              <a:rPr lang="sr-Latn-RS" dirty="0"/>
              <a:t>u pravilu najteže prihvata pregled jer se njegov rad evaluira</a:t>
            </a:r>
          </a:p>
          <a:p>
            <a:pPr lvl="1"/>
            <a:r>
              <a:rPr lang="sr-Latn-RS" dirty="0"/>
              <a:t>recenzenti</a:t>
            </a:r>
          </a:p>
          <a:p>
            <a:pPr lvl="2"/>
            <a:r>
              <a:rPr lang="sr-Latn-RS" dirty="0"/>
              <a:t>osobe koje vrše pregled dokumenta</a:t>
            </a:r>
          </a:p>
          <a:p>
            <a:pPr lvl="2"/>
            <a:r>
              <a:rPr lang="sr-Latn-RS" dirty="0"/>
              <a:t>identifikuju nedostatke u dokumentu</a:t>
            </a:r>
          </a:p>
          <a:p>
            <a:pPr lvl="2"/>
            <a:r>
              <a:rPr lang="sr-Latn-RS" dirty="0"/>
              <a:t>moraju da imaju tehničko znanje</a:t>
            </a:r>
          </a:p>
          <a:p>
            <a:pPr lvl="2"/>
            <a:r>
              <a:rPr lang="sr-Latn-RS" dirty="0"/>
              <a:t>mogu predstavljati različite aspekte projekta (ekonomski aspekt, arhitekturu, dizajn, zahteve, ...)</a:t>
            </a:r>
          </a:p>
          <a:p>
            <a:pPr lvl="1"/>
            <a:r>
              <a:rPr lang="sr-Latn-RS" dirty="0"/>
              <a:t>beležnik</a:t>
            </a:r>
          </a:p>
          <a:p>
            <a:pPr lvl="2"/>
            <a:r>
              <a:rPr lang="sr-Latn-RS" dirty="0"/>
              <a:t>zadužen da evidentira informacije iz pregleda (probleme, stavove, odluke, zaključke)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388876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Uloge učesnika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U praksi često isti ljudi preuzimaju različite tipove uloga</a:t>
            </a:r>
          </a:p>
          <a:p>
            <a:pPr lvl="1"/>
            <a:r>
              <a:rPr lang="sr-Latn-RS" dirty="0"/>
              <a:t>npr. menadžer je istovremeno i moderator, ali i recenzent koji aktivno učestvuje u donošenju odluka u pregledu</a:t>
            </a:r>
          </a:p>
          <a:p>
            <a:pPr lvl="1"/>
            <a:r>
              <a:rPr lang="sr-Latn-RS" dirty="0"/>
              <a:t>takođe, za vođenje beležaka može biti zadužen neko od članova tima</a:t>
            </a:r>
          </a:p>
          <a:p>
            <a:pPr lvl="2"/>
            <a:r>
              <a:rPr lang="sr-Latn-RS" dirty="0"/>
              <a:t>važno je da svi imaju uvid u zaključke pregleda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559080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Tipovi pregleda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sr-Latn-RS" dirty="0"/>
              <a:t>Razlikujemo dve grupe pregleda</a:t>
            </a:r>
          </a:p>
          <a:p>
            <a:pPr lvl="1"/>
            <a:r>
              <a:rPr lang="sr-Latn-RS" dirty="0"/>
              <a:t>pregledi namenjeni analizi karakteristika projekta</a:t>
            </a:r>
          </a:p>
          <a:p>
            <a:pPr lvl="2"/>
            <a:r>
              <a:rPr lang="sr-Latn-RS" dirty="0"/>
              <a:t>da li su funkcionalni i nefunkcionalni zahtevi realizovani</a:t>
            </a:r>
          </a:p>
          <a:p>
            <a:pPr lvl="1"/>
            <a:r>
              <a:rPr lang="sr-Latn-RS" dirty="0"/>
              <a:t>pregledi namenjeni analizi samog procesa razvoja projekta</a:t>
            </a:r>
          </a:p>
          <a:p>
            <a:pPr lvl="2"/>
            <a:r>
              <a:rPr lang="sr-Latn-RS" dirty="0"/>
              <a:t>analiziraju kvalitet upravljanja projektom, ispunjenost plana projekta i sl. </a:t>
            </a:r>
          </a:p>
          <a:p>
            <a:endParaRPr lang="sr-Latn-RS" dirty="0"/>
          </a:p>
          <a:p>
            <a:r>
              <a:rPr lang="sr-Latn-RS" dirty="0"/>
              <a:t>Iako nema opšteprihvaćene klasifikacije, u nastavku je jedna moguća klasifikacija tipova pregleda namenjenih analizi karakteristika projekta</a:t>
            </a:r>
          </a:p>
        </p:txBody>
      </p:sp>
    </p:spTree>
    <p:extLst>
      <p:ext uri="{BB962C8B-B14F-4D97-AF65-F5344CB8AC3E}">
        <p14:creationId xmlns:p14="http://schemas.microsoft.com/office/powerpoint/2010/main" val="3180267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sz="3200" dirty="0"/>
              <a:t>Prolazak kroz dokument (</a:t>
            </a:r>
            <a:r>
              <a:rPr lang="sr-Latn-RS" sz="3200" i="1" dirty="0"/>
              <a:t>walkthrough)</a:t>
            </a:r>
            <a:r>
              <a:rPr lang="sr-Latn-RS" sz="3200" dirty="0"/>
              <a:t> 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i="1" dirty="0"/>
              <a:t>Walkthrough </a:t>
            </a:r>
            <a:r>
              <a:rPr lang="sr-Latn-RS" dirty="0"/>
              <a:t>je neformalan pregled </a:t>
            </a:r>
            <a:r>
              <a:rPr lang="sr-Latn-RS"/>
              <a:t>sa ciljem </a:t>
            </a:r>
            <a:r>
              <a:rPr lang="sr-Latn-RS" dirty="0"/>
              <a:t>nalaženja nedostataka u dokumentu</a:t>
            </a:r>
          </a:p>
          <a:p>
            <a:pPr lvl="1"/>
            <a:r>
              <a:rPr lang="sr-Latn-RS" dirty="0"/>
              <a:t>vrši se kroz grupni sastanak</a:t>
            </a:r>
          </a:p>
          <a:p>
            <a:r>
              <a:rPr lang="sr-Latn-RS" dirty="0"/>
              <a:t>Cilj je i informisanje učesnika o delovima projekta</a:t>
            </a:r>
          </a:p>
          <a:p>
            <a:r>
              <a:rPr lang="sr-Latn-RS" dirty="0"/>
              <a:t>Vrši se bez posebne pripreme i planiranja</a:t>
            </a:r>
          </a:p>
          <a:p>
            <a:r>
              <a:rPr lang="sr-Latn-RS" dirty="0"/>
              <a:t>Nema formalnu proceduru</a:t>
            </a:r>
          </a:p>
          <a:p>
            <a:pPr lvl="1"/>
            <a:r>
              <a:rPr lang="sr-Latn-RS" dirty="0"/>
              <a:t>svodi se na razmenu mišljenja sa kolegama</a:t>
            </a:r>
          </a:p>
          <a:p>
            <a:pPr lvl="1"/>
            <a:r>
              <a:rPr lang="sr-Latn-RS" dirty="0"/>
              <a:t>brzo i lako se organizuje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809762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Inspekcija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Najviše formalan tip pregleda</a:t>
            </a:r>
          </a:p>
          <a:p>
            <a:r>
              <a:rPr lang="sr-Latn-RS" dirty="0"/>
              <a:t>Prati unapred određenu proceduru</a:t>
            </a:r>
          </a:p>
          <a:p>
            <a:pPr lvl="1"/>
            <a:r>
              <a:rPr lang="sr-Latn-RS" dirty="0"/>
              <a:t>uloge su striktno podeljene</a:t>
            </a:r>
          </a:p>
          <a:p>
            <a:pPr lvl="1"/>
            <a:r>
              <a:rPr lang="sr-Latn-RS" dirty="0"/>
              <a:t>recenzenti imaju spisak stavki koje proveravaju</a:t>
            </a:r>
          </a:p>
          <a:p>
            <a:pPr lvl="1"/>
            <a:r>
              <a:rPr lang="sr-Latn-RS" dirty="0"/>
              <a:t>pregled fokusiran na predefinisane aspekte</a:t>
            </a:r>
          </a:p>
          <a:p>
            <a:r>
              <a:rPr lang="sr-Latn-RS" dirty="0"/>
              <a:t>Cilj je usko postavljen na pronalaženje nedostataka u dokumentu</a:t>
            </a:r>
          </a:p>
          <a:p>
            <a:r>
              <a:rPr lang="sr-Latn-RS" dirty="0"/>
              <a:t>Prikupljeni podaci se formalno evidentiraju</a:t>
            </a:r>
          </a:p>
          <a:p>
            <a:pPr lvl="1"/>
            <a:r>
              <a:rPr lang="sr-Latn-RS" dirty="0"/>
              <a:t>mogu se koristiti za poboljšanje procesa razvoja i naredne inspekcije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88459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Tehnički pregled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181600"/>
          </a:xfrm>
        </p:spPr>
        <p:txBody>
          <a:bodyPr>
            <a:normAutofit/>
          </a:bodyPr>
          <a:lstStyle/>
          <a:p>
            <a:r>
              <a:rPr lang="sr-Latn-RS" dirty="0"/>
              <a:t>Tehnički pregled je fokusiran na tehničke aspekte sistema</a:t>
            </a:r>
          </a:p>
          <a:p>
            <a:pPr lvl="1"/>
            <a:r>
              <a:rPr lang="sr-Latn-RS" dirty="0"/>
              <a:t>usklađenost sa specifikacijom</a:t>
            </a:r>
          </a:p>
          <a:p>
            <a:pPr lvl="1"/>
            <a:r>
              <a:rPr lang="sr-Latn-RS" dirty="0"/>
              <a:t>ispunjenost svrhe zbog koje se razvija</a:t>
            </a:r>
          </a:p>
          <a:p>
            <a:pPr lvl="1"/>
            <a:r>
              <a:rPr lang="sr-Latn-RS" dirty="0"/>
              <a:t>usklađenost sa standardima</a:t>
            </a:r>
          </a:p>
          <a:p>
            <a:r>
              <a:rPr lang="sr-Latn-RS" dirty="0"/>
              <a:t>Osnov za pregled je isključivo zvanična specifikacija zahteva</a:t>
            </a:r>
          </a:p>
          <a:p>
            <a:r>
              <a:rPr lang="sr-Latn-RS" dirty="0"/>
              <a:t>Recenzenti poseduju tehničko znanje</a:t>
            </a:r>
          </a:p>
          <a:p>
            <a:r>
              <a:rPr lang="sr-Latn-RS" dirty="0"/>
              <a:t>Procedura može biti više ili manje formalno sprovedena</a:t>
            </a:r>
          </a:p>
          <a:p>
            <a:pPr lvl="1"/>
            <a:r>
              <a:rPr lang="sr-Latn-RS" dirty="0"/>
              <a:t>kod formalnog tehničkog pregleda, svi rezultati sve formalno evidentiraju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426836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Neformalni pregled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Svaki pregled dokumenta od strane osobe koja nije autor može se smatrati neformalnim pregledom</a:t>
            </a:r>
          </a:p>
          <a:p>
            <a:r>
              <a:rPr lang="sr-Latn-RS" dirty="0"/>
              <a:t>Različite faze pregleda su najčešće samo implicitno izražene</a:t>
            </a:r>
          </a:p>
          <a:p>
            <a:r>
              <a:rPr lang="sr-Latn-RS" dirty="0"/>
              <a:t>Ne mora da uključuje sastanak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870008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Izbor tipa pregleda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181600"/>
          </a:xfrm>
        </p:spPr>
        <p:txBody>
          <a:bodyPr>
            <a:normAutofit lnSpcReduction="10000"/>
          </a:bodyPr>
          <a:lstStyle/>
          <a:p>
            <a:r>
              <a:rPr lang="sr-Latn-RS" dirty="0"/>
              <a:t>Zavisi od konkretnog slučaja</a:t>
            </a:r>
          </a:p>
          <a:p>
            <a:r>
              <a:rPr lang="sr-Latn-RS" dirty="0"/>
              <a:t>Neke smernice za izbor </a:t>
            </a:r>
          </a:p>
          <a:p>
            <a:pPr lvl="1"/>
            <a:r>
              <a:rPr lang="sr-Latn-RS" dirty="0"/>
              <a:t>da li rezultati pregleda trebaju biti formalno dokumentovani</a:t>
            </a:r>
          </a:p>
          <a:p>
            <a:pPr lvl="1"/>
            <a:r>
              <a:rPr lang="sr-Latn-RS" dirty="0"/>
              <a:t>koliko je komplikovano organizovati grupni lični sastanak sa učesnicima</a:t>
            </a:r>
          </a:p>
          <a:p>
            <a:pPr lvl="1"/>
            <a:r>
              <a:rPr lang="sr-Latn-RS" dirty="0"/>
              <a:t>koliko tehničkog znanja je potrebno da učesnici poseduju</a:t>
            </a:r>
          </a:p>
          <a:p>
            <a:pPr lvl="1"/>
            <a:r>
              <a:rPr lang="sr-Latn-RS" dirty="0"/>
              <a:t>kakav je odnos resursa potrebnih za pripremu pregleda i koristi od rezultata pregleda </a:t>
            </a:r>
          </a:p>
          <a:p>
            <a:pPr lvl="1"/>
            <a:r>
              <a:rPr lang="sr-Latn-RS" dirty="0"/>
              <a:t>da li je predmet pregleda formalno specificiran da bi mogao biti analiziran programski</a:t>
            </a:r>
          </a:p>
          <a:p>
            <a:pPr lvl="1"/>
            <a:r>
              <a:rPr lang="sr-Latn-RS" dirty="0"/>
              <a:t>koliko je menadžment projekta obezbedio resursa za preglede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81981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1505930"/>
            <a:ext cx="8229600" cy="1470025"/>
          </a:xfrm>
        </p:spPr>
        <p:txBody>
          <a:bodyPr/>
          <a:lstStyle/>
          <a:p>
            <a:r>
              <a:rPr lang="sr-Latn-RS" dirty="0"/>
              <a:t>Programska statička analiza</a:t>
            </a:r>
            <a:endParaRPr lang="en-GB" dirty="0"/>
          </a:p>
        </p:txBody>
      </p:sp>
      <p:pic>
        <p:nvPicPr>
          <p:cNvPr id="12290" name="Picture 2" descr="http://hits1k.com/wp-content/uploads/2013/10/Robot-at-Computer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9300" y="3124200"/>
            <a:ext cx="2514600" cy="3439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3796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Programska statička analiza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029200"/>
          </a:xfrm>
        </p:spPr>
        <p:txBody>
          <a:bodyPr>
            <a:normAutofit lnSpcReduction="10000"/>
          </a:bodyPr>
          <a:lstStyle/>
          <a:p>
            <a:r>
              <a:rPr lang="sr-Latn-RS" dirty="0"/>
              <a:t>Cilj je pronalaženje nedostataka, ali i generalno unapređenje kvaliteta sistema</a:t>
            </a:r>
          </a:p>
          <a:p>
            <a:pPr lvl="1"/>
            <a:r>
              <a:rPr lang="sr-Latn-RS" dirty="0"/>
              <a:t>isto kao i kod manuelne analize</a:t>
            </a:r>
          </a:p>
          <a:p>
            <a:r>
              <a:rPr lang="sr-Latn-RS" dirty="0"/>
              <a:t>Ovog puta analizu vrši programski alat</a:t>
            </a:r>
          </a:p>
          <a:p>
            <a:r>
              <a:rPr lang="sr-Latn-RS" dirty="0"/>
              <a:t>Većina alata koji se koriste pri razvoju aplikacije (editori koda, grafički alati za modelovanje, ...) vrše analizu ispravnosti dokumenta</a:t>
            </a:r>
          </a:p>
          <a:p>
            <a:pPr lvl="1"/>
            <a:r>
              <a:rPr lang="sr-Latn-RS" dirty="0"/>
              <a:t>korisnik dobija komentare, upozorenja, greške</a:t>
            </a:r>
          </a:p>
          <a:p>
            <a:r>
              <a:rPr lang="sr-Latn-RS" dirty="0"/>
              <a:t>Koristi se u kombinaciji sa manuelnim pregledima</a:t>
            </a:r>
          </a:p>
          <a:p>
            <a:pPr lvl="1"/>
            <a:r>
              <a:rPr lang="sr-Latn-RS" dirty="0"/>
              <a:t>pre pregleda, dokument treba biti programski pregledan kako bi se smanjio broj nedostataka za ručnu analizu</a:t>
            </a:r>
          </a:p>
          <a:p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28064444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Programska statička analiza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181600"/>
          </a:xfrm>
        </p:spPr>
        <p:txBody>
          <a:bodyPr/>
          <a:lstStyle/>
          <a:p>
            <a:r>
              <a:rPr lang="sr-Latn-RS" dirty="0"/>
              <a:t>Programska analiza ima svoja ograničenja</a:t>
            </a:r>
          </a:p>
          <a:p>
            <a:pPr lvl="1"/>
            <a:r>
              <a:rPr lang="sr-Latn-RS" dirty="0"/>
              <a:t>većina nedostataka se može uočiti samo dinamičkim testiranjem</a:t>
            </a:r>
          </a:p>
          <a:p>
            <a:pPr lvl="2"/>
            <a:r>
              <a:rPr lang="sr-Latn-RS" dirty="0"/>
              <a:t>izvršavanjem test objekta</a:t>
            </a:r>
          </a:p>
          <a:p>
            <a:pPr lvl="1"/>
            <a:r>
              <a:rPr lang="sr-Latn-RS" dirty="0"/>
              <a:t>dokument mora biti mašinski čitljiv i imati strukturu</a:t>
            </a:r>
          </a:p>
          <a:p>
            <a:pPr lvl="1"/>
            <a:r>
              <a:rPr lang="sr-Latn-RS" dirty="0"/>
              <a:t>i pored stalnog usavršavanja, neke nedostatke i dalje može da uoči samo čovek</a:t>
            </a:r>
          </a:p>
          <a:p>
            <a:pPr lvl="2"/>
            <a:r>
              <a:rPr lang="sr-Latn-RS" dirty="0"/>
              <a:t>ovo se posebno odnosi na to kada se sa nivoa tehničkih detalja pređe na širu sliku</a:t>
            </a:r>
          </a:p>
          <a:p>
            <a:pPr lvl="2"/>
            <a:r>
              <a:rPr lang="sr-Latn-RS" dirty="0"/>
              <a:t>dizajn šabloni, arhitektura, proširivost, lakoća održavanja, ...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550181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Programska statička analiza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876800"/>
          </a:xfrm>
        </p:spPr>
        <p:txBody>
          <a:bodyPr>
            <a:normAutofit fontScale="92500"/>
          </a:bodyPr>
          <a:lstStyle/>
          <a:p>
            <a:r>
              <a:rPr lang="sr-Latn-RS" dirty="0"/>
              <a:t>Kompajler je najznačajniji alat za programsku analizu koda</a:t>
            </a:r>
          </a:p>
          <a:p>
            <a:pPr lvl="1"/>
            <a:r>
              <a:rPr lang="sr-Latn-RS" dirty="0"/>
              <a:t>prepoznaje sintaksne greške, ali i druge nedostatke (nekorišćene promenljive, nedostupan kod, ...)</a:t>
            </a:r>
          </a:p>
          <a:p>
            <a:r>
              <a:rPr lang="sr-Latn-RS" dirty="0"/>
              <a:t>Pored kompajlera, koriste se i posebni alati, tzv. analizatori</a:t>
            </a:r>
          </a:p>
          <a:p>
            <a:r>
              <a:rPr lang="sr-Latn-RS" dirty="0"/>
              <a:t>Programskom statičkom analizom se mogu utvrditi</a:t>
            </a:r>
          </a:p>
          <a:p>
            <a:pPr lvl="1"/>
            <a:r>
              <a:rPr lang="sr-Latn-RS" dirty="0"/>
              <a:t>sintaksni nedostaci</a:t>
            </a:r>
          </a:p>
          <a:p>
            <a:pPr lvl="1"/>
            <a:r>
              <a:rPr lang="sr-Latn-RS" dirty="0"/>
              <a:t>odstupanja od konvencija, pravila i standarda</a:t>
            </a:r>
          </a:p>
          <a:p>
            <a:pPr lvl="2"/>
            <a:r>
              <a:rPr lang="sr-Latn-RS" dirty="0"/>
              <a:t>pravila su često ugrađena u IDE za razvoj programa</a:t>
            </a:r>
          </a:p>
          <a:p>
            <a:pPr lvl="1"/>
            <a:r>
              <a:rPr lang="sr-Latn-RS" dirty="0"/>
              <a:t>nedostaci u kontroli toka programa</a:t>
            </a:r>
          </a:p>
          <a:p>
            <a:pPr lvl="1"/>
            <a:r>
              <a:rPr lang="sr-Latn-RS" dirty="0"/>
              <a:t>nedostaci u toku podataka u programu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778899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Analiza toka programa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5791200" cy="5029200"/>
          </a:xfrm>
        </p:spPr>
        <p:txBody>
          <a:bodyPr>
            <a:normAutofit fontScale="92500" lnSpcReduction="10000"/>
          </a:bodyPr>
          <a:lstStyle/>
          <a:p>
            <a:r>
              <a:rPr lang="sr-Latn-RS" dirty="0"/>
              <a:t>Programski utvrđuje nepravilnosti u toku programa</a:t>
            </a:r>
          </a:p>
          <a:p>
            <a:r>
              <a:rPr lang="sr-Latn-RS" dirty="0"/>
              <a:t>Izgrađuje graf toka programa</a:t>
            </a:r>
          </a:p>
          <a:p>
            <a:r>
              <a:rPr lang="sr-Latn-RS" dirty="0"/>
              <a:t>Može da</a:t>
            </a:r>
          </a:p>
          <a:p>
            <a:pPr lvl="1"/>
            <a:r>
              <a:rPr lang="sr-Latn-RS" dirty="0"/>
              <a:t>utvrdi da program ni u jednom scenariju neće izvršiti određeni deo koda (</a:t>
            </a:r>
            <a:r>
              <a:rPr lang="sr-Latn-RS" i="1" dirty="0"/>
              <a:t>unreachable code</a:t>
            </a:r>
            <a:r>
              <a:rPr lang="sr-Latn-RS" dirty="0"/>
              <a:t>)</a:t>
            </a:r>
          </a:p>
          <a:p>
            <a:pPr lvl="1"/>
            <a:r>
              <a:rPr lang="sr-Latn-RS" dirty="0"/>
              <a:t>utvrdi da tok programa nije u skladu sa konvencijama</a:t>
            </a:r>
          </a:p>
          <a:p>
            <a:pPr lvl="2"/>
            <a:r>
              <a:rPr lang="sr-Latn-RS" dirty="0"/>
              <a:t>npr. više tačaka izlaza iz funkcije</a:t>
            </a:r>
          </a:p>
          <a:p>
            <a:pPr lvl="1"/>
            <a:r>
              <a:rPr lang="sr-Latn-RS" dirty="0"/>
              <a:t>identifikuje potencijalne neželjene greške</a:t>
            </a:r>
          </a:p>
          <a:p>
            <a:pPr lvl="2"/>
            <a:r>
              <a:rPr lang="sr-Latn-RS" dirty="0"/>
              <a:t>npr. nedostatak </a:t>
            </a:r>
            <a:r>
              <a:rPr lang="sr-Latn-RS" i="1" dirty="0"/>
              <a:t>break</a:t>
            </a:r>
            <a:r>
              <a:rPr lang="sr-Latn-RS" dirty="0"/>
              <a:t> izraza u </a:t>
            </a:r>
            <a:r>
              <a:rPr lang="sr-Latn-RS" i="1" dirty="0"/>
              <a:t>case</a:t>
            </a:r>
            <a:r>
              <a:rPr lang="sr-Latn-RS" dirty="0"/>
              <a:t> labeli </a:t>
            </a:r>
            <a:r>
              <a:rPr lang="sr-Latn-RS" i="1" dirty="0"/>
              <a:t>switch</a:t>
            </a:r>
            <a:r>
              <a:rPr lang="sr-Latn-RS" dirty="0"/>
              <a:t> izraza</a:t>
            </a:r>
            <a:endParaRPr lang="en-GB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1143000"/>
            <a:ext cx="2348265" cy="365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189642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Merenje kompleksnosti koda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sr-Latn-RS" dirty="0"/>
                  <a:t>Programski se može proceniti i kompleksnost koda</a:t>
                </a:r>
              </a:p>
              <a:p>
                <a:pPr lvl="1"/>
                <a:r>
                  <a:rPr lang="sr-Latn-RS" dirty="0"/>
                  <a:t>prebrojavanjem broja linija koda</a:t>
                </a:r>
              </a:p>
              <a:p>
                <a:pPr lvl="1"/>
                <a:r>
                  <a:rPr lang="sr-Latn-RS" dirty="0"/>
                  <a:t>izračunavanjem ciklomatskog broja	</a:t>
                </a:r>
              </a:p>
              <a:p>
                <a:r>
                  <a:rPr lang="sr-Latn-RS" dirty="0"/>
                  <a:t>Ciklomatski broj</a:t>
                </a:r>
              </a:p>
              <a:p>
                <a:pPr lvl="1"/>
                <a:r>
                  <a:rPr lang="sr-Latn-RS" dirty="0"/>
                  <a:t>daje informaciju o kompleksnosti strukture koda</a:t>
                </a:r>
              </a:p>
              <a:p>
                <a:pPr lvl="2"/>
                <a:r>
                  <a:rPr lang="sr-Latn-RS" dirty="0"/>
                  <a:t>na osnovu broja mogućih grana u izvršavanju koda</a:t>
                </a:r>
              </a:p>
              <a:p>
                <a:pPr lvl="1"/>
                <a:r>
                  <a:rPr lang="sr-Latn-RS" dirty="0"/>
                  <a:t>računa se na osnovu grafa toka programa formulom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sr-Latn-RS" i="1" dirty="0" smtClean="0">
                        <a:latin typeface="Cambria Math"/>
                      </a:rPr>
                      <m:t>𝑣</m:t>
                    </m:r>
                    <m:d>
                      <m:dPr>
                        <m:ctrlPr>
                          <a:rPr lang="sr-Latn-R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r-Latn-RS" i="1" dirty="0" smtClean="0">
                            <a:latin typeface="Cambria Math"/>
                          </a:rPr>
                          <m:t>𝐺</m:t>
                        </m:r>
                      </m:e>
                    </m:d>
                    <m:r>
                      <a:rPr lang="sr-Latn-RS" i="1" dirty="0" smtClean="0">
                        <a:latin typeface="Cambria Math"/>
                      </a:rPr>
                      <m:t>= </m:t>
                    </m:r>
                    <m:r>
                      <a:rPr lang="sr-Latn-RS" i="1" dirty="0" smtClean="0">
                        <a:latin typeface="Cambria Math"/>
                      </a:rPr>
                      <m:t>𝑒</m:t>
                    </m:r>
                    <m:r>
                      <a:rPr lang="sr-Latn-RS" i="1" dirty="0" smtClean="0">
                        <a:latin typeface="Cambria Math"/>
                      </a:rPr>
                      <m:t> – </m:t>
                    </m:r>
                    <m:r>
                      <a:rPr lang="sr-Latn-RS" i="1" dirty="0" smtClean="0">
                        <a:latin typeface="Cambria Math"/>
                      </a:rPr>
                      <m:t>𝑛</m:t>
                    </m:r>
                    <m:r>
                      <a:rPr lang="sr-Latn-RS" i="1" dirty="0" smtClean="0">
                        <a:latin typeface="Cambria Math"/>
                      </a:rPr>
                      <m:t> + 2</m:t>
                    </m:r>
                  </m:oMath>
                </a14:m>
                <a:endParaRPr lang="sr-Latn-RS" dirty="0"/>
              </a:p>
              <a:p>
                <a:pPr lvl="2"/>
                <a14:m>
                  <m:oMath xmlns:m="http://schemas.openxmlformats.org/officeDocument/2006/math">
                    <m:r>
                      <a:rPr lang="sr-Latn-RS" i="1" dirty="0">
                        <a:latin typeface="Cambria Math"/>
                      </a:rPr>
                      <m:t>𝑒</m:t>
                    </m:r>
                  </m:oMath>
                </a14:m>
                <a:r>
                  <a:rPr lang="sr-Latn-RS" dirty="0"/>
                  <a:t> – broj grana u grafu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sr-Latn-RS" i="1" dirty="0">
                        <a:latin typeface="Cambria Math"/>
                      </a:rPr>
                      <m:t> </m:t>
                    </m:r>
                    <m:r>
                      <a:rPr lang="sr-Latn-RS" i="1" dirty="0">
                        <a:latin typeface="Cambria Math"/>
                      </a:rPr>
                      <m:t>𝑛</m:t>
                    </m:r>
                  </m:oMath>
                </a14:m>
                <a:r>
                  <a:rPr lang="sr-Latn-RS" dirty="0"/>
                  <a:t> – broj čvorova u grafu</a:t>
                </a:r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706" t="-1067" r="-784" b="-4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4800600"/>
            <a:ext cx="1174133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677302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SonarQube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A</a:t>
            </a:r>
            <a:r>
              <a:rPr lang="en-US" dirty="0" err="1"/>
              <a:t>lat</a:t>
            </a:r>
            <a:r>
              <a:rPr lang="en-US" dirty="0"/>
              <a:t> </a:t>
            </a:r>
            <a:r>
              <a:rPr lang="en-US" dirty="0" err="1"/>
              <a:t>za</a:t>
            </a:r>
            <a:r>
              <a:rPr lang="en-US" dirty="0"/>
              <a:t> </a:t>
            </a:r>
            <a:r>
              <a:rPr lang="en-US" dirty="0" err="1"/>
              <a:t>programsku</a:t>
            </a:r>
            <a:r>
              <a:rPr lang="en-US" dirty="0"/>
              <a:t> </a:t>
            </a:r>
            <a:r>
              <a:rPr lang="en-US" dirty="0" err="1"/>
              <a:t>analizu</a:t>
            </a:r>
            <a:r>
              <a:rPr lang="en-US" dirty="0"/>
              <a:t> </a:t>
            </a:r>
            <a:r>
              <a:rPr lang="sr-Latn-RS" dirty="0"/>
              <a:t>kvaliteta </a:t>
            </a:r>
            <a:r>
              <a:rPr lang="en-US" dirty="0" err="1"/>
              <a:t>koda</a:t>
            </a:r>
            <a:r>
              <a:rPr lang="sr-Latn-RS" dirty="0"/>
              <a:t> koji prepoznaje</a:t>
            </a:r>
          </a:p>
          <a:p>
            <a:pPr lvl="1"/>
            <a:r>
              <a:rPr lang="sr-Latn-RS" dirty="0"/>
              <a:t>odstupanje od standarda i konvencija</a:t>
            </a:r>
          </a:p>
          <a:p>
            <a:pPr lvl="1"/>
            <a:r>
              <a:rPr lang="sr-Latn-RS" dirty="0"/>
              <a:t>potencijalne nedostatke</a:t>
            </a:r>
          </a:p>
          <a:p>
            <a:pPr lvl="1"/>
            <a:r>
              <a:rPr lang="sr-Latn-RS" dirty="0"/>
              <a:t>kompleksnost koda</a:t>
            </a:r>
          </a:p>
          <a:p>
            <a:pPr lvl="1"/>
            <a:r>
              <a:rPr lang="sr-Latn-RS" dirty="0"/>
              <a:t>dupliranje koda</a:t>
            </a:r>
            <a:endParaRPr lang="en-US" dirty="0"/>
          </a:p>
          <a:p>
            <a:pPr lvl="1"/>
            <a:endParaRPr lang="sr-Latn-RS" dirty="0"/>
          </a:p>
          <a:p>
            <a:r>
              <a:rPr lang="sr-Latn-RS" dirty="0"/>
              <a:t>Podržava različite programske jezike, uključujući i Java i JavaScript</a:t>
            </a:r>
          </a:p>
          <a:p>
            <a:endParaRPr lang="en-GB" dirty="0"/>
          </a:p>
        </p:txBody>
      </p:sp>
      <p:pic>
        <p:nvPicPr>
          <p:cNvPr id="8194" name="Picture 2" descr="http://www.sonarqube.org/wp-content/themes/sonarsource.org/images/sonar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0400" y="533400"/>
            <a:ext cx="2971800" cy="713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54886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SonarQube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sr-Latn-RS" dirty="0"/>
              <a:t>Instalacija</a:t>
            </a:r>
          </a:p>
          <a:p>
            <a:pPr lvl="1"/>
            <a:r>
              <a:rPr lang="sr-Latn-RS" dirty="0"/>
              <a:t>potrebno je preuzeti i instalirati SonarQube server</a:t>
            </a:r>
          </a:p>
          <a:p>
            <a:pPr lvl="1"/>
            <a:r>
              <a:rPr lang="sr-Latn-RS" dirty="0"/>
              <a:t>može i na lokalnom računaru</a:t>
            </a:r>
          </a:p>
          <a:p>
            <a:r>
              <a:rPr lang="sr-Latn-RS" dirty="0"/>
              <a:t>Pokretanje na Windows OS</a:t>
            </a:r>
            <a:endParaRPr lang="en-US" dirty="0"/>
          </a:p>
          <a:p>
            <a:pPr lvl="1"/>
            <a:r>
              <a:rPr lang="en-US" dirty="0" err="1"/>
              <a:t>Pokrenuti</a:t>
            </a:r>
            <a:r>
              <a:rPr lang="en-US" dirty="0"/>
              <a:t> Command Prompt </a:t>
            </a:r>
            <a:r>
              <a:rPr lang="en-US" dirty="0" err="1"/>
              <a:t>kao</a:t>
            </a:r>
            <a:r>
              <a:rPr lang="en-US" dirty="0"/>
              <a:t> administrator</a:t>
            </a:r>
            <a:endParaRPr lang="sr-Latn-RS" dirty="0"/>
          </a:p>
          <a:p>
            <a:pPr lvl="1"/>
            <a:r>
              <a:rPr lang="en-US" dirty="0" err="1"/>
              <a:t>Pokrenuti</a:t>
            </a:r>
            <a:r>
              <a:rPr lang="sr-Latn-RS" dirty="0"/>
              <a:t> SonarQube </a:t>
            </a:r>
            <a:r>
              <a:rPr lang="en-US" dirty="0"/>
              <a:t>server</a:t>
            </a:r>
            <a:endParaRPr lang="sr-Latn-RS" dirty="0"/>
          </a:p>
          <a:p>
            <a:pPr lvl="2"/>
            <a:r>
              <a:rPr lang="en-US" sz="1600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sonar_dir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&gt;/bin/windows-x86-64/StartSonar.bat</a:t>
            </a:r>
          </a:p>
          <a:p>
            <a:r>
              <a:rPr lang="en-US" dirty="0"/>
              <a:t>Server je </a:t>
            </a:r>
            <a:r>
              <a:rPr lang="en-US" dirty="0" err="1"/>
              <a:t>dostupan</a:t>
            </a:r>
            <a:r>
              <a:rPr lang="en-US" dirty="0"/>
              <a:t> </a:t>
            </a:r>
            <a:r>
              <a:rPr lang="en-US" dirty="0" err="1"/>
              <a:t>na</a:t>
            </a:r>
            <a:endParaRPr lang="en-US" dirty="0"/>
          </a:p>
          <a:p>
            <a:pPr lvl="1"/>
            <a:r>
              <a:rPr lang="en-US" dirty="0">
                <a:hlinkClick r:id="rId2"/>
              </a:rPr>
              <a:t>http://localhost:9000</a:t>
            </a:r>
            <a:endParaRPr lang="en-US" dirty="0"/>
          </a:p>
          <a:p>
            <a:pPr lvl="1"/>
            <a:r>
              <a:rPr lang="en-US" dirty="0" err="1"/>
              <a:t>ako</a:t>
            </a:r>
            <a:r>
              <a:rPr lang="en-US" dirty="0"/>
              <a:t> je </a:t>
            </a:r>
            <a:r>
              <a:rPr lang="en-US" dirty="0" err="1"/>
              <a:t>instaliran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lokalnom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sr-Latn-RS" dirty="0"/>
              <a:t>čunaru</a:t>
            </a:r>
            <a:endParaRPr lang="en-US" dirty="0"/>
          </a:p>
          <a:p>
            <a:pPr lvl="1"/>
            <a:r>
              <a:rPr lang="en-US" dirty="0" err="1"/>
              <a:t>Ulogujemo</a:t>
            </a:r>
            <a:r>
              <a:rPr lang="en-US" dirty="0"/>
              <a:t> se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korisni</a:t>
            </a:r>
            <a:r>
              <a:rPr lang="sr-Latn-RS" dirty="0"/>
              <a:t>čkim imenom </a:t>
            </a:r>
            <a:r>
              <a:rPr lang="en-US" dirty="0"/>
              <a:t>admin</a:t>
            </a:r>
            <a:r>
              <a:rPr lang="sr-Latn-RS" dirty="0"/>
              <a:t> i šifrom admin</a:t>
            </a:r>
          </a:p>
          <a:p>
            <a:pPr lvl="1"/>
            <a:r>
              <a:rPr lang="sr-Latn-RS" dirty="0"/>
              <a:t>Na stranici </a:t>
            </a:r>
            <a:r>
              <a:rPr lang="en-US"/>
              <a:t>User -&gt; My Account -&gt; Security</a:t>
            </a:r>
            <a:r>
              <a:rPr lang="sr-Latn-RS" dirty="0"/>
              <a:t> izgenerisati authentikacioni token</a:t>
            </a:r>
          </a:p>
          <a:p>
            <a:endParaRPr lang="en-GB" dirty="0"/>
          </a:p>
        </p:txBody>
      </p:sp>
      <p:pic>
        <p:nvPicPr>
          <p:cNvPr id="8194" name="Picture 2" descr="http://www.sonarqube.org/wp-content/themes/sonarsource.org/images/sonar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0400" y="533400"/>
            <a:ext cx="2971800" cy="713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72279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SonarQube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181600"/>
          </a:xfrm>
        </p:spPr>
        <p:txBody>
          <a:bodyPr>
            <a:normAutofit fontScale="92500" lnSpcReduction="10000"/>
          </a:bodyPr>
          <a:lstStyle/>
          <a:p>
            <a:r>
              <a:rPr lang="sr-Latn-RS" dirty="0"/>
              <a:t>Analiza programskog koda</a:t>
            </a:r>
          </a:p>
          <a:p>
            <a:pPr lvl="1"/>
            <a:r>
              <a:rPr lang="sr-Latn-RS" dirty="0"/>
              <a:t>u folderu koji sadrži kod koji je potrebno analizirati se kreira fajl </a:t>
            </a:r>
            <a:r>
              <a:rPr lang="sr-Latn-RS" dirty="0">
                <a:latin typeface="Courier New" pitchFamily="49" charset="0"/>
                <a:cs typeface="Courier New" pitchFamily="49" charset="0"/>
              </a:rPr>
              <a:t>sonar-project.properties</a:t>
            </a:r>
          </a:p>
          <a:p>
            <a:pPr lvl="1"/>
            <a:r>
              <a:rPr lang="en-US" dirty="0"/>
              <a:t>p</a:t>
            </a:r>
            <a:r>
              <a:rPr lang="sr-Latn-RS" dirty="0"/>
              <a:t>rimer fajla</a:t>
            </a:r>
          </a:p>
          <a:p>
            <a:pPr lvl="2"/>
            <a:r>
              <a:rPr lang="sr-Latn-RS" dirty="0">
                <a:latin typeface="Courier New" pitchFamily="49" charset="0"/>
                <a:cs typeface="Courier New" pitchFamily="49" charset="0"/>
              </a:rPr>
              <a:t>students-testing/sonar-project.properties</a:t>
            </a:r>
          </a:p>
          <a:p>
            <a:pPr lvl="1"/>
            <a:r>
              <a:rPr lang="en-US" dirty="0" err="1"/>
              <a:t>iz</a:t>
            </a:r>
            <a:r>
              <a:rPr lang="en-US" dirty="0"/>
              <a:t> </a:t>
            </a:r>
            <a:r>
              <a:rPr lang="en-US" dirty="0" err="1"/>
              <a:t>komandne</a:t>
            </a:r>
            <a:r>
              <a:rPr lang="en-US" dirty="0"/>
              <a:t> </a:t>
            </a:r>
            <a:r>
              <a:rPr lang="en-US" dirty="0" err="1"/>
              <a:t>linije</a:t>
            </a:r>
            <a:r>
              <a:rPr lang="en-US" dirty="0"/>
              <a:t> se </a:t>
            </a:r>
            <a:r>
              <a:rPr lang="en-US" dirty="0" err="1"/>
              <a:t>pozicioniramo</a:t>
            </a:r>
            <a:r>
              <a:rPr lang="en-US" dirty="0"/>
              <a:t> u folder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izvornim</a:t>
            </a:r>
            <a:r>
              <a:rPr lang="en-US" dirty="0"/>
              <a:t> </a:t>
            </a:r>
            <a:r>
              <a:rPr lang="en-US" dirty="0" err="1"/>
              <a:t>kodom</a:t>
            </a:r>
            <a:endParaRPr lang="en-US" dirty="0"/>
          </a:p>
          <a:p>
            <a:pPr lvl="1"/>
            <a:r>
              <a:rPr lang="en-US" dirty="0"/>
              <a:t>I</a:t>
            </a:r>
            <a:r>
              <a:rPr lang="sr-Latn-RS" dirty="0"/>
              <a:t>zvršimo</a:t>
            </a:r>
          </a:p>
          <a:p>
            <a:pPr lvl="2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mvn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clean verify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sonar:sonar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Dsonar.projectKey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=Test-students 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Dsonar.projectName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='Test</a:t>
            </a:r>
            <a:r>
              <a:rPr lang="sr-Latn-RS" dirty="0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tudents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' -Dsonar.host.url=http://localhost:9000 -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Dsonar.token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sr-Latn-RS" dirty="0">
                <a:latin typeface="Courier New" panose="02070309020205020404" pitchFamily="49" charset="0"/>
                <a:cs typeface="Courier New" panose="02070309020205020404" pitchFamily="49" charset="0"/>
              </a:rPr>
              <a:t>abcdefghijkl</a:t>
            </a:r>
          </a:p>
          <a:p>
            <a:pPr lvl="2"/>
            <a:r>
              <a:rPr lang="sr-Latn-RS" dirty="0"/>
              <a:t>rezultati analize su dostupni u </a:t>
            </a:r>
            <a:r>
              <a:rPr lang="sr-Latn-RS" i="1" dirty="0"/>
              <a:t>browseru</a:t>
            </a:r>
            <a:r>
              <a:rPr lang="sr-Latn-RS" dirty="0"/>
              <a:t> na URL-u servera</a:t>
            </a:r>
          </a:p>
          <a:p>
            <a:pPr lvl="2"/>
            <a:r>
              <a:rPr lang="sr-Latn-RS" dirty="0"/>
              <a:t>npr. localhost:9000</a:t>
            </a:r>
          </a:p>
        </p:txBody>
      </p:sp>
      <p:pic>
        <p:nvPicPr>
          <p:cNvPr id="8194" name="Picture 2" descr="http://www.sonarqube.org/wp-content/themes/sonarsource.org/images/sonar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0400" y="533400"/>
            <a:ext cx="2971800" cy="713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60122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SonarLint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Eclipse i IntelliJ Plugin za SonarQube</a:t>
            </a:r>
          </a:p>
          <a:p>
            <a:r>
              <a:rPr lang="sr-Latn-RS" dirty="0"/>
              <a:t>Omogućuje prikaz osnovnih rezultata Sonar analize u IDE</a:t>
            </a:r>
          </a:p>
          <a:p>
            <a:r>
              <a:rPr lang="sr-Latn-RS" dirty="0"/>
              <a:t>Potrebno je imati instaliran SonarQube server i povezati se na njega u konfiguraciji SonarLint </a:t>
            </a:r>
            <a:r>
              <a:rPr lang="sr-Latn-RS"/>
              <a:t>u IDE</a:t>
            </a:r>
            <a:endParaRPr lang="en-GB" dirty="0"/>
          </a:p>
        </p:txBody>
      </p:sp>
      <p:pic>
        <p:nvPicPr>
          <p:cNvPr id="9218" name="Picture 2" descr="https://i1.visualstudiogallery.msdn.s-msft.com/47d1049d-bb27-454e-aab8-24566c85e548/image/file/169864/17/screenshot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000" b="34000"/>
          <a:stretch/>
        </p:blipFill>
        <p:spPr bwMode="auto">
          <a:xfrm>
            <a:off x="3962400" y="685800"/>
            <a:ext cx="1905000" cy="647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778642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55402</TotalTime>
  <Words>1819</Words>
  <Application>Microsoft Office PowerPoint</Application>
  <PresentationFormat>On-screen Show (4:3)</PresentationFormat>
  <Paragraphs>259</Paragraphs>
  <Slides>34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2" baseType="lpstr">
      <vt:lpstr>Arial</vt:lpstr>
      <vt:lpstr>Calibri</vt:lpstr>
      <vt:lpstr>Cambria Math</vt:lpstr>
      <vt:lpstr>Courier New</vt:lpstr>
      <vt:lpstr>Franklin Gothic Book</vt:lpstr>
      <vt:lpstr>Perpetua</vt:lpstr>
      <vt:lpstr>Wingdings 2</vt:lpstr>
      <vt:lpstr>Equity</vt:lpstr>
      <vt:lpstr>Statičko testiranje</vt:lpstr>
      <vt:lpstr>Statičko testiranje</vt:lpstr>
      <vt:lpstr>Statičko testiranje</vt:lpstr>
      <vt:lpstr>Manuelna evaluacija</vt:lpstr>
      <vt:lpstr>Manuelna evaluacija</vt:lpstr>
      <vt:lpstr>Pregled (Review)</vt:lpstr>
      <vt:lpstr>Prednosti</vt:lpstr>
      <vt:lpstr>Problemi</vt:lpstr>
      <vt:lpstr>Faze pregleda</vt:lpstr>
      <vt:lpstr>Planiranje pregleda</vt:lpstr>
      <vt:lpstr>Informisanje o pregledu</vt:lpstr>
      <vt:lpstr>Samostalna priprema za pregled</vt:lpstr>
      <vt:lpstr>Sastanak</vt:lpstr>
      <vt:lpstr>Ispravke</vt:lpstr>
      <vt:lpstr>Revizija</vt:lpstr>
      <vt:lpstr>Uloge učesnika</vt:lpstr>
      <vt:lpstr>Uloge učesnika</vt:lpstr>
      <vt:lpstr>Uloge učesnika</vt:lpstr>
      <vt:lpstr>Tipovi pregleda</vt:lpstr>
      <vt:lpstr>Prolazak kroz dokument (walkthrough) </vt:lpstr>
      <vt:lpstr>Inspekcija</vt:lpstr>
      <vt:lpstr>Tehnički pregled</vt:lpstr>
      <vt:lpstr>Neformalni pregled</vt:lpstr>
      <vt:lpstr>Izbor tipa pregleda</vt:lpstr>
      <vt:lpstr>Programska statička analiza</vt:lpstr>
      <vt:lpstr>Programska statička analiza</vt:lpstr>
      <vt:lpstr>Programska statička analiza</vt:lpstr>
      <vt:lpstr>Programska statička analiza</vt:lpstr>
      <vt:lpstr>Analiza toka programa</vt:lpstr>
      <vt:lpstr>Merenje kompleksnosti koda</vt:lpstr>
      <vt:lpstr>SonarQube</vt:lpstr>
      <vt:lpstr>SonarQube</vt:lpstr>
      <vt:lpstr>SonarQube</vt:lpstr>
      <vt:lpstr>SonarLint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radni okvir</dc:title>
  <dc:creator>Goran</dc:creator>
  <cp:lastModifiedBy>Goran Savic</cp:lastModifiedBy>
  <cp:revision>1142</cp:revision>
  <dcterms:created xsi:type="dcterms:W3CDTF">2016-06-17T10:29:53Z</dcterms:created>
  <dcterms:modified xsi:type="dcterms:W3CDTF">2024-11-29T10:51:39Z</dcterms:modified>
</cp:coreProperties>
</file>