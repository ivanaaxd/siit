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66" r:id="rId4"/>
    <p:sldId id="268" r:id="rId5"/>
    <p:sldId id="265" r:id="rId6"/>
    <p:sldId id="267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59" autoAdjust="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7702A-70EB-43AB-8204-0BAFCAB25EC0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6D97B-3060-44E6-8791-489FBDA25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354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R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F6D97B-3060-44E6-8791-489FBDA25CB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028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CB9000F-EE0F-42EF-8B29-4476EEC5D1F7}" type="datetimeFigureOut">
              <a:rPr lang="en-GB" smtClean="0"/>
              <a:pPr/>
              <a:t>04/10/2024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208E123-0141-482B-B907-5B828E8FF82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CB9000F-EE0F-42EF-8B29-4476EEC5D1F7}" type="datetimeFigureOut">
              <a:rPr lang="en-GB" smtClean="0"/>
              <a:t>04/10/2024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208E123-0141-482B-B907-5B828E8FF82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ina.medic@uns.ac.rs" TargetMode="External"/><Relationship Id="rId2" Type="http://schemas.openxmlformats.org/officeDocument/2006/relationships/hyperlink" Target="mailto:anica.djukic@uns.ac.r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5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jpeg"/><Relationship Id="rId10" Type="http://schemas.openxmlformats.org/officeDocument/2006/relationships/image" Target="../media/image11.jpeg"/><Relationship Id="rId19" Type="http://schemas.openxmlformats.org/officeDocument/2006/relationships/image" Target="../media/image20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jpe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predmetu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Testiranje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softvera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mage result for abou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727704"/>
            <a:ext cx="43434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72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Predavanja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Goran</a:t>
            </a:r>
            <a:r>
              <a:rPr lang="en-US" dirty="0"/>
              <a:t> </a:t>
            </a:r>
            <a:r>
              <a:rPr lang="en-US" dirty="0" err="1"/>
              <a:t>Savi</a:t>
            </a:r>
            <a:r>
              <a:rPr lang="sr-Latn-CS" dirty="0"/>
              <a:t>ć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E</a:t>
            </a:r>
            <a:r>
              <a:rPr lang="sr-Latn-CS" dirty="0"/>
              <a:t>-mail</a:t>
            </a:r>
            <a:r>
              <a:rPr lang="en-US" dirty="0"/>
              <a:t>: </a:t>
            </a:r>
            <a:r>
              <a:rPr lang="sr-Latn-CS" dirty="0"/>
              <a:t>savicg</a:t>
            </a:r>
            <a:r>
              <a:rPr lang="en-US" dirty="0"/>
              <a:t>@uns.ac.rs</a:t>
            </a:r>
          </a:p>
          <a:p>
            <a:pPr lvl="2">
              <a:lnSpc>
                <a:spcPct val="90000"/>
              </a:lnSpc>
            </a:pPr>
            <a:r>
              <a:rPr lang="en-US" dirty="0" err="1"/>
              <a:t>Kabinet</a:t>
            </a:r>
            <a:r>
              <a:rPr lang="en-US" dirty="0"/>
              <a:t>: NTP 337</a:t>
            </a:r>
          </a:p>
          <a:p>
            <a:pPr lvl="2">
              <a:lnSpc>
                <a:spcPct val="90000"/>
              </a:lnSpc>
            </a:pPr>
            <a:r>
              <a:rPr lang="en-US" dirty="0" err="1"/>
              <a:t>Konsultacije</a:t>
            </a:r>
            <a:r>
              <a:rPr lang="sr-Latn-RS" dirty="0"/>
              <a:t>: p</a:t>
            </a:r>
            <a:r>
              <a:rPr lang="en-US" dirty="0" err="1"/>
              <a:t>utem</a:t>
            </a:r>
            <a:r>
              <a:rPr lang="en-US" dirty="0"/>
              <a:t> e-mail, zoom </a:t>
            </a:r>
            <a:r>
              <a:rPr lang="en-US" dirty="0" err="1"/>
              <a:t>ili</a:t>
            </a:r>
            <a:r>
              <a:rPr lang="en-US" dirty="0"/>
              <a:t> u</a:t>
            </a:r>
            <a:r>
              <a:rPr lang="sr-Latn-RS" dirty="0"/>
              <a:t>živo u dogovorenim terminima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Ve</a:t>
            </a:r>
            <a:r>
              <a:rPr lang="sr-Latn-RS" dirty="0"/>
              <a:t>žbe</a:t>
            </a:r>
          </a:p>
          <a:p>
            <a:pPr lvl="1">
              <a:lnSpc>
                <a:spcPct val="90000"/>
              </a:lnSpc>
            </a:pPr>
            <a:r>
              <a:rPr lang="sr-Latn-RS" dirty="0"/>
              <a:t>Anica Đukić</a:t>
            </a:r>
          </a:p>
          <a:p>
            <a:pPr lvl="2">
              <a:lnSpc>
                <a:spcPct val="90000"/>
              </a:lnSpc>
            </a:pPr>
            <a:r>
              <a:rPr lang="sr-Latn-RS" dirty="0"/>
              <a:t>E-mail: </a:t>
            </a:r>
            <a:r>
              <a:rPr lang="sr-Latn-RS" dirty="0">
                <a:hlinkClick r:id="rId2"/>
              </a:rPr>
              <a:t>anica.djukic@uns.ac.rs</a:t>
            </a:r>
            <a:endParaRPr lang="sr-Latn-RS" dirty="0"/>
          </a:p>
          <a:p>
            <a:pPr lvl="1">
              <a:lnSpc>
                <a:spcPct val="90000"/>
              </a:lnSpc>
            </a:pPr>
            <a:r>
              <a:rPr lang="sr-Latn-RS" dirty="0"/>
              <a:t>Mina Vejnović</a:t>
            </a:r>
          </a:p>
          <a:p>
            <a:pPr lvl="2">
              <a:lnSpc>
                <a:spcPct val="90000"/>
              </a:lnSpc>
            </a:pPr>
            <a:r>
              <a:rPr lang="sr-Latn-RS" dirty="0"/>
              <a:t>E-mail: </a:t>
            </a:r>
            <a:r>
              <a:rPr lang="sr-Latn-RS" dirty="0">
                <a:hlinkClick r:id="rId3"/>
              </a:rPr>
              <a:t>mina.medic</a:t>
            </a:r>
            <a:r>
              <a:rPr lang="en-US">
                <a:hlinkClick r:id="rId3"/>
              </a:rPr>
              <a:t>@uns.ac.rs</a:t>
            </a:r>
            <a:r>
              <a:rPr lang="en-US"/>
              <a:t>	</a:t>
            </a:r>
            <a:endParaRPr lang="sr-Latn-C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 err="1"/>
              <a:t>Nastavnici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61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 predmeta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</a:t>
            </a:r>
          </a:p>
          <a:p>
            <a:pPr lvl="1"/>
            <a:r>
              <a:rPr lang="sr-Latn-RS" dirty="0"/>
              <a:t>pojam i vrste testiranja</a:t>
            </a:r>
          </a:p>
          <a:p>
            <a:pPr lvl="1"/>
            <a:r>
              <a:rPr lang="sr-Latn-RS" dirty="0"/>
              <a:t>statičko testiranje</a:t>
            </a:r>
          </a:p>
          <a:p>
            <a:pPr lvl="1"/>
            <a:r>
              <a:rPr lang="sr-Latn-RS" dirty="0"/>
              <a:t>dinamičko testiranje</a:t>
            </a:r>
          </a:p>
          <a:p>
            <a:pPr lvl="1"/>
            <a:r>
              <a:rPr lang="sr-Latn-RS" dirty="0"/>
              <a:t>serversko jedinično testiranje</a:t>
            </a:r>
          </a:p>
          <a:p>
            <a:pPr lvl="1"/>
            <a:r>
              <a:rPr lang="sr-Latn-RS" dirty="0"/>
              <a:t>klijentsko jedinično testiranje</a:t>
            </a:r>
          </a:p>
          <a:p>
            <a:pPr lvl="1"/>
            <a:r>
              <a:rPr lang="sr-Latn-RS" dirty="0"/>
              <a:t>testiranje „s kraja na kraj“</a:t>
            </a:r>
          </a:p>
          <a:p>
            <a:pPr lvl="1"/>
            <a:r>
              <a:rPr lang="sr-Latn-RS" dirty="0"/>
              <a:t>upravljanje procesom testiranja</a:t>
            </a:r>
          </a:p>
        </p:txBody>
      </p:sp>
    </p:spTree>
    <p:extLst>
      <p:ext uri="{BB962C8B-B14F-4D97-AF65-F5344CB8AC3E}">
        <p14:creationId xmlns:p14="http://schemas.microsoft.com/office/powerpoint/2010/main" val="409313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Literatura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Slajdovi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predavanja</a:t>
            </a:r>
            <a:endParaRPr lang="en-US" dirty="0"/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Spillner, A., Linz, T., Schaefer, H., </a:t>
            </a:r>
            <a:r>
              <a:rPr lang="sr-Latn-RS" b="1" dirty="0"/>
              <a:t>Software Testing Foundations</a:t>
            </a:r>
            <a:r>
              <a:rPr lang="sr-Latn-RS" dirty="0"/>
              <a:t>, 4th Edition, Rocky Nook, 2014</a:t>
            </a:r>
            <a:endParaRPr lang="en-GB" dirty="0"/>
          </a:p>
          <a:p>
            <a:r>
              <a:rPr lang="sr-Latn-RS" dirty="0"/>
              <a:t>Savić G., Segedinac M. (2018) </a:t>
            </a:r>
            <a:r>
              <a:rPr lang="sr-Latn-RS" b="1" dirty="0"/>
              <a:t>Tehnologije veb aplikacija</a:t>
            </a:r>
            <a:r>
              <a:rPr lang="sr-Latn-RS" dirty="0"/>
              <a:t>, FTN Izdavaštvo.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67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Način polaganja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TS semestar V pravila polaganja.docx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156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Stek tehnologija</a:t>
            </a:r>
            <a:endParaRPr lang="en-US" dirty="0"/>
          </a:p>
        </p:txBody>
      </p:sp>
      <p:pic>
        <p:nvPicPr>
          <p:cNvPr id="1026" name="Picture 2" descr="https://www.gallery.ca/sites/default/files/styles/ngc_crop_16x9_1600px/public/heronietzsche.jpg?itok=IKElHSZ-&amp;timestamp=155611020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84058"/>
            <a:ext cx="7696200" cy="384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972014" y="5334000"/>
            <a:ext cx="22098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Friedrich Nietzsche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(1844 – 1900)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291435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ko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među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ljudima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ne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želi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skapa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mora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naučiti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pije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iz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svih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čaša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ko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među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ljudima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želi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ostane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čist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mora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umeti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se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prljavom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vodom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pere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		          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Tako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je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govorio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Zaratustra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95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00" y="76200"/>
            <a:ext cx="8229600" cy="838200"/>
          </a:xfrm>
        </p:spPr>
        <p:txBody>
          <a:bodyPr/>
          <a:lstStyle/>
          <a:p>
            <a:r>
              <a:rPr lang="sr-Latn-RS" dirty="0"/>
              <a:t>Stek tehnologija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333499" y="1216227"/>
            <a:ext cx="3505199" cy="41939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1320798" y="817203"/>
            <a:ext cx="897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Server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6019800" y="1247208"/>
            <a:ext cx="2743200" cy="41629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6032500" y="822005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Klijent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6242050" y="156416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/>
              <a:t>Radni </a:t>
            </a:r>
            <a:r>
              <a:rPr lang="sr-Latn-RS" dirty="0"/>
              <a:t>okvir</a:t>
            </a:r>
            <a:endParaRPr lang="en-GB" dirty="0"/>
          </a:p>
        </p:txBody>
      </p:sp>
      <p:sp>
        <p:nvSpPr>
          <p:cNvPr id="14" name="Can 13"/>
          <p:cNvSpPr/>
          <p:nvPr/>
        </p:nvSpPr>
        <p:spPr>
          <a:xfrm>
            <a:off x="307974" y="3565245"/>
            <a:ext cx="682625" cy="697432"/>
          </a:xfrm>
          <a:prstGeom prst="can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-208365" y="4327531"/>
            <a:ext cx="17961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500" dirty="0"/>
              <a:t>Relaciona </a:t>
            </a:r>
            <a:endParaRPr lang="en-US" sz="1500" dirty="0"/>
          </a:p>
          <a:p>
            <a:pPr algn="ctr"/>
            <a:r>
              <a:rPr lang="sr-Latn-RS" sz="1500" dirty="0"/>
              <a:t>baza podataka</a:t>
            </a:r>
            <a:endParaRPr lang="en-GB" sz="1500" dirty="0"/>
          </a:p>
        </p:txBody>
      </p:sp>
      <p:cxnSp>
        <p:nvCxnSpPr>
          <p:cNvPr id="19" name="Elbow Connector 18"/>
          <p:cNvCxnSpPr>
            <a:stCxn id="6" idx="1"/>
            <a:endCxn id="14" idx="1"/>
          </p:cNvCxnSpPr>
          <p:nvPr/>
        </p:nvCxnSpPr>
        <p:spPr>
          <a:xfrm rot="10800000" flipV="1">
            <a:off x="649287" y="3313213"/>
            <a:ext cx="684212" cy="252031"/>
          </a:xfrm>
          <a:prstGeom prst="bentConnector2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242050" y="1986590"/>
            <a:ext cx="2292350" cy="243289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lbow Connector 23"/>
          <p:cNvCxnSpPr>
            <a:stCxn id="6" idx="3"/>
            <a:endCxn id="10" idx="1"/>
          </p:cNvCxnSpPr>
          <p:nvPr/>
        </p:nvCxnSpPr>
        <p:spPr>
          <a:xfrm>
            <a:off x="4838698" y="3313214"/>
            <a:ext cx="1181102" cy="1549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14901" y="2970946"/>
            <a:ext cx="1104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600" dirty="0"/>
              <a:t>Protokol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4752974" y="3422313"/>
            <a:ext cx="1352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sz="1600" dirty="0"/>
              <a:t>Format podataka</a:t>
            </a:r>
            <a:endParaRPr lang="en-GB" sz="1600" dirty="0"/>
          </a:p>
        </p:txBody>
      </p:sp>
      <p:sp>
        <p:nvSpPr>
          <p:cNvPr id="32" name="Rectangle 31"/>
          <p:cNvSpPr/>
          <p:nvPr/>
        </p:nvSpPr>
        <p:spPr>
          <a:xfrm>
            <a:off x="1539652" y="1760498"/>
            <a:ext cx="3092217" cy="2658987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1352548" y="1391166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r-Latn-RS" dirty="0"/>
              <a:t>Radni okvir</a:t>
            </a:r>
            <a:endParaRPr lang="en-GB" dirty="0"/>
          </a:p>
        </p:txBody>
      </p:sp>
      <p:sp>
        <p:nvSpPr>
          <p:cNvPr id="66" name="Rectangle 65"/>
          <p:cNvSpPr/>
          <p:nvPr/>
        </p:nvSpPr>
        <p:spPr>
          <a:xfrm>
            <a:off x="1666185" y="3524766"/>
            <a:ext cx="1915213" cy="730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r-Latn-RS" sz="1600" dirty="0"/>
              <a:t>Rukovanje podacima</a:t>
            </a:r>
            <a:endParaRPr lang="en-GB" sz="1600" dirty="0"/>
          </a:p>
        </p:txBody>
      </p:sp>
      <p:sp>
        <p:nvSpPr>
          <p:cNvPr id="69" name="Rectangle 68"/>
          <p:cNvSpPr/>
          <p:nvPr/>
        </p:nvSpPr>
        <p:spPr>
          <a:xfrm rot="16200000">
            <a:off x="2794519" y="2680049"/>
            <a:ext cx="2400299" cy="750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r-Latn-RS" dirty="0"/>
              <a:t>Sloj za </a:t>
            </a:r>
            <a:r>
              <a:rPr lang="sr-Latn-RS" sz="1600" dirty="0"/>
              <a:t>komunikaciju</a:t>
            </a:r>
            <a:endParaRPr lang="en-GB" dirty="0"/>
          </a:p>
        </p:txBody>
      </p:sp>
      <p:sp>
        <p:nvSpPr>
          <p:cNvPr id="73" name="Rectangle 72"/>
          <p:cNvSpPr/>
          <p:nvPr/>
        </p:nvSpPr>
        <p:spPr>
          <a:xfrm>
            <a:off x="1666185" y="1888123"/>
            <a:ext cx="1915213" cy="14480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r-Latn-RS" sz="1600" dirty="0"/>
              <a:t>Poslovna logika</a:t>
            </a:r>
            <a:endParaRPr lang="en-GB" sz="1600" dirty="0"/>
          </a:p>
        </p:txBody>
      </p:sp>
      <p:sp>
        <p:nvSpPr>
          <p:cNvPr id="90" name="Rectangle 89"/>
          <p:cNvSpPr/>
          <p:nvPr/>
        </p:nvSpPr>
        <p:spPr>
          <a:xfrm>
            <a:off x="1539652" y="4601187"/>
            <a:ext cx="3104917" cy="7305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r-Latn-RS" sz="1600" dirty="0"/>
              <a:t>Jedinično testiranje</a:t>
            </a:r>
            <a:endParaRPr lang="en-GB" sz="1600" dirty="0"/>
          </a:p>
        </p:txBody>
      </p:sp>
      <p:sp>
        <p:nvSpPr>
          <p:cNvPr id="92" name="Rectangle 91"/>
          <p:cNvSpPr/>
          <p:nvPr/>
        </p:nvSpPr>
        <p:spPr>
          <a:xfrm>
            <a:off x="6430618" y="2246868"/>
            <a:ext cx="1915213" cy="730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sr-Latn-RS" sz="1600" dirty="0"/>
              <a:t>Programska</a:t>
            </a:r>
          </a:p>
          <a:p>
            <a:r>
              <a:rPr lang="sr-Latn-RS" sz="1600" dirty="0"/>
              <a:t>logika</a:t>
            </a:r>
            <a:endParaRPr lang="en-GB" sz="1600" dirty="0"/>
          </a:p>
        </p:txBody>
      </p:sp>
      <p:sp>
        <p:nvSpPr>
          <p:cNvPr id="93" name="Rectangle 92"/>
          <p:cNvSpPr/>
          <p:nvPr/>
        </p:nvSpPr>
        <p:spPr>
          <a:xfrm>
            <a:off x="6430618" y="3076606"/>
            <a:ext cx="1915213" cy="11860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r-Latn-RS" sz="1600" dirty="0"/>
              <a:t>Grafički interfejs</a:t>
            </a:r>
            <a:endParaRPr lang="en-GB" sz="1600" dirty="0"/>
          </a:p>
        </p:txBody>
      </p:sp>
      <p:sp>
        <p:nvSpPr>
          <p:cNvPr id="94" name="Rectangle 93"/>
          <p:cNvSpPr/>
          <p:nvPr/>
        </p:nvSpPr>
        <p:spPr>
          <a:xfrm>
            <a:off x="6242050" y="4601188"/>
            <a:ext cx="2292350" cy="7305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r-Latn-RS" sz="1600" dirty="0"/>
              <a:t>Jedinično testiranje</a:t>
            </a:r>
            <a:endParaRPr lang="en-GB" sz="1600" dirty="0"/>
          </a:p>
        </p:txBody>
      </p:sp>
      <p:sp>
        <p:nvSpPr>
          <p:cNvPr id="96" name="Rectangle 95"/>
          <p:cNvSpPr/>
          <p:nvPr/>
        </p:nvSpPr>
        <p:spPr>
          <a:xfrm>
            <a:off x="1320799" y="5484185"/>
            <a:ext cx="7442201" cy="535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GB" sz="1600" i="1" dirty="0"/>
          </a:p>
        </p:txBody>
      </p:sp>
      <p:sp>
        <p:nvSpPr>
          <p:cNvPr id="97" name="Rectangle 96"/>
          <p:cNvSpPr/>
          <p:nvPr/>
        </p:nvSpPr>
        <p:spPr>
          <a:xfrm>
            <a:off x="1309133" y="6068960"/>
            <a:ext cx="7466567" cy="7150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GB" sz="1600" dirty="0"/>
          </a:p>
        </p:txBody>
      </p:sp>
      <p:sp>
        <p:nvSpPr>
          <p:cNvPr id="99" name="Rectangle 98"/>
          <p:cNvSpPr/>
          <p:nvPr/>
        </p:nvSpPr>
        <p:spPr>
          <a:xfrm>
            <a:off x="1352548" y="6172201"/>
            <a:ext cx="1390651" cy="534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sr-Latn-RS" sz="1400" dirty="0"/>
              <a:t>Izgradnja</a:t>
            </a:r>
            <a:endParaRPr lang="en-GB" sz="1400" dirty="0"/>
          </a:p>
        </p:txBody>
      </p:sp>
      <p:sp>
        <p:nvSpPr>
          <p:cNvPr id="100" name="Rectangle 99"/>
          <p:cNvSpPr/>
          <p:nvPr/>
        </p:nvSpPr>
        <p:spPr>
          <a:xfrm>
            <a:off x="4732438" y="6181294"/>
            <a:ext cx="1515962" cy="534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sr-Latn-RS" sz="1400" dirty="0"/>
              <a:t>Analiza koda</a:t>
            </a:r>
            <a:endParaRPr lang="en-GB" sz="1400" dirty="0"/>
          </a:p>
        </p:txBody>
      </p:sp>
      <p:sp>
        <p:nvSpPr>
          <p:cNvPr id="101" name="Rectangle 100"/>
          <p:cNvSpPr/>
          <p:nvPr/>
        </p:nvSpPr>
        <p:spPr>
          <a:xfrm>
            <a:off x="26304" y="5484185"/>
            <a:ext cx="1282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600" i="1" dirty="0"/>
              <a:t>end-to-end</a:t>
            </a:r>
            <a:r>
              <a:rPr lang="sr-Latn-RS" sz="1600" dirty="0"/>
              <a:t> testiranje</a:t>
            </a:r>
            <a:endParaRPr lang="en-GB" sz="1600" i="1" dirty="0"/>
          </a:p>
        </p:txBody>
      </p:sp>
      <p:sp>
        <p:nvSpPr>
          <p:cNvPr id="102" name="Rectangle 101"/>
          <p:cNvSpPr/>
          <p:nvPr/>
        </p:nvSpPr>
        <p:spPr>
          <a:xfrm>
            <a:off x="80373" y="6172200"/>
            <a:ext cx="11388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600" dirty="0"/>
              <a:t>Podrška za razvoj</a:t>
            </a:r>
            <a:endParaRPr lang="en-GB" sz="1600" dirty="0"/>
          </a:p>
        </p:txBody>
      </p:sp>
      <p:sp>
        <p:nvSpPr>
          <p:cNvPr id="103" name="Rectangle 102"/>
          <p:cNvSpPr/>
          <p:nvPr/>
        </p:nvSpPr>
        <p:spPr>
          <a:xfrm>
            <a:off x="2952747" y="6172201"/>
            <a:ext cx="1543053" cy="534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sr-Latn-RS" sz="1400" dirty="0"/>
              <a:t>Kontrola verzija</a:t>
            </a:r>
            <a:endParaRPr lang="en-GB" sz="1400" dirty="0"/>
          </a:p>
        </p:txBody>
      </p:sp>
      <p:sp>
        <p:nvSpPr>
          <p:cNvPr id="104" name="Rectangle 103"/>
          <p:cNvSpPr/>
          <p:nvPr/>
        </p:nvSpPr>
        <p:spPr>
          <a:xfrm>
            <a:off x="6470650" y="6176622"/>
            <a:ext cx="2216150" cy="534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sr-Latn-RS" sz="1400" dirty="0"/>
              <a:t>Kontinuirana integracija</a:t>
            </a:r>
            <a:endParaRPr lang="en-GB" sz="1400" dirty="0"/>
          </a:p>
        </p:txBody>
      </p:sp>
      <p:pic>
        <p:nvPicPr>
          <p:cNvPr id="2052" name="Picture 4" descr="https://upload.wikimedia.org/wikipedia/commons/thumb/e/e2/Google_Chrome_icon_(2011).svg/2000px-Google_Chrome_icon_(2011)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791374"/>
            <a:ext cx="394222" cy="39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www.mozilla.org/media/img/firefox/firefox-256.e2c1fc55681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762001"/>
            <a:ext cx="444174" cy="44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images.techhive.com/images/article/2015/04/microsoft-edge-100582336-larg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6981" y="762000"/>
            <a:ext cx="679522" cy="45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http://icons.iconarchive.com/icons/dakirby309/windows-8-metro/256/Apps-HTML-5-Metro-icon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290" y="3560313"/>
            <a:ext cx="479257" cy="479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http://www.codingdojo.com/blog/wp-content/uploads/css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1" y="3550207"/>
            <a:ext cx="569914" cy="50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https://encrypted-tbn1.gstatic.com/images?q=tbn:ANd9GcT94kQCRicqS4ckMNq9Vrbi1lzt9zQoZeU172qxZsZAhrZV4gzX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990" y="3485081"/>
            <a:ext cx="626920" cy="629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4" name="Picture 36" descr="https://avatars1.githubusercontent.com/u/3284117?v=3&amp;s=40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820930"/>
            <a:ext cx="510855" cy="51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6" name="Picture 48" descr="http://image.slidesharecdn.com/jasminekarmaintro-150204004011-conversion-gate01/95/unit-testing-javascript-jasmine-karma-intro-3-638.jpg?cb=1423010474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4" t="31282" r="10731" b="34899"/>
          <a:stretch/>
        </p:blipFill>
        <p:spPr bwMode="auto">
          <a:xfrm>
            <a:off x="7184968" y="4912306"/>
            <a:ext cx="1001158" cy="32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8" name="Picture 50" descr="https://upload.wikimedia.org/wikipedia/commons/thumb/5/5b/HTTP_logo.svg/1280px-HTTP_logo.svg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445" y="2653716"/>
            <a:ext cx="625035" cy="323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0" name="Picture 52" descr="https://qph.is.quoracdn.net/main-qimg-b753ad7f7a62c5e17ea0ab7c461b56c4?convert_to_webp=tru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214" y="3957584"/>
            <a:ext cx="776290" cy="32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2" name="Picture 54" descr="https://pbs.twimg.com/profile_images/1240079072/logo-mysql-170x170_400x400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23" y="3749620"/>
            <a:ext cx="415927" cy="41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4" name="Picture 56" descr="http://webapp.org.ua/wp-content/uploads/2011/11/apache-tomcat-install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367" y="731369"/>
            <a:ext cx="943664" cy="454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6" name="Picture 58" descr="http://www.javatpoint.com/images/spimages/spring1.pn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633" y="1268065"/>
            <a:ext cx="841375" cy="492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8" name="Picture 60" descr="http://3.bp.blogspot.com/-syuWABg8JRc/Vqt6WIMZaGI/AAAAAAAABqc/41gRstsDKVs/s1600/spring-boot-project-logo.png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5390" y="1370992"/>
            <a:ext cx="357010" cy="35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4" name="Picture 66" descr="http://www.automatedbusinesslogic.com/_/rsrc/1337879493791/tutorial/building-logic-tutorial---spring-data/Spring%20Data%20Logo.jpeg?height=96&amp;width=320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06" y="3804633"/>
            <a:ext cx="1234531" cy="371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6" name="Picture 68" descr="https://s3.amazonaws.com/media-p.slid.es/uploads/soaserele/images/245848/icon_Spring_HighRes.pn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572" y="2361778"/>
            <a:ext cx="755117" cy="56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2" name="Picture 74" descr="http://www.javacodegeeks.com/wp-content/uploads/2012/10/junit-logo.jpg"/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39" b="14823"/>
          <a:stretch/>
        </p:blipFill>
        <p:spPr bwMode="auto">
          <a:xfrm>
            <a:off x="1704285" y="4930180"/>
            <a:ext cx="616469" cy="34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8" name="Picture 70" descr="http://cdn.mysitemyway.com/etc-mysitemyway/icons/legacy-previews/icons-256/retro-green-floral-icons-business/086035-retro-green-floral-icon-business-gear2.pn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307" y="2031036"/>
            <a:ext cx="1289923" cy="128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0" name="Picture 72" descr="https://howtodoinjava.files.wordpress.com/2013/01/rest_logo.png"/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33" b="33684"/>
          <a:stretch/>
        </p:blipFill>
        <p:spPr bwMode="auto">
          <a:xfrm rot="16200000">
            <a:off x="3655685" y="2853478"/>
            <a:ext cx="899041" cy="30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4" name="Picture 76" descr="http://4.bp.blogspot.com/-TE9KddgZyrU/VI-aS8yLZYI/AAAAAAAABNk/XY8yrGTM9_k/s1600/testng-mini-logo.png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318" y="4647299"/>
            <a:ext cx="486428" cy="617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8" name="Picture 80" descr="http://pascalprecht.github.io/slides/e2e-testing-with-protractor/img/protractor-logo.png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681" y="5568730"/>
            <a:ext cx="1625599" cy="366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0" name="Picture 82" descr="http://www.seleniumtesting.in/images/logo.png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320" y="5552720"/>
            <a:ext cx="1283263" cy="439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2" name="Picture 84" descr="https://maven.apache.org/images/maven-logo-black-on-white.png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8193" y="6245769"/>
            <a:ext cx="865093" cy="21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4" name="Picture 86" descr="https://git-scm.com/images/logo@2x.png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517" y="6214770"/>
            <a:ext cx="611796" cy="25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6" name="Picture 88" descr="http://i0.wp.com/www.naturalborncoder.com/wp-content/uploads/2015/05/sonarqube_logo_720.png?resize=720%2C200"/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662" y="6193628"/>
            <a:ext cx="1073253" cy="29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8" name="Picture 90" descr="https://janikvonrotz.ch/wp-content/uploads/2015/11/Travis-CI-logo.jpg"/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861" y="6200307"/>
            <a:ext cx="846139" cy="282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angular"/>
          <p:cNvPicPr>
            <a:picLocks noChangeAspect="1" noChangeArrowheads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4" t="20339" r="20387" b="20141"/>
          <a:stretch/>
        </p:blipFill>
        <p:spPr bwMode="auto">
          <a:xfrm>
            <a:off x="7730062" y="1395893"/>
            <a:ext cx="501848" cy="54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typescript"/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471" y="2479635"/>
            <a:ext cx="554540" cy="39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24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 animBg="1"/>
      <p:bldP spid="11" grpId="0"/>
      <p:bldP spid="13" grpId="0"/>
      <p:bldP spid="14" grpId="0" animBg="1"/>
      <p:bldP spid="15" grpId="0"/>
      <p:bldP spid="31" grpId="0" animBg="1"/>
      <p:bldP spid="29" grpId="0"/>
      <p:bldP spid="30" grpId="0"/>
      <p:bldP spid="32" grpId="0" animBg="1"/>
      <p:bldP spid="33" grpId="0"/>
      <p:bldP spid="66" grpId="0" animBg="1"/>
      <p:bldP spid="69" grpId="0" animBg="1"/>
      <p:bldP spid="73" grpId="0" animBg="1"/>
      <p:bldP spid="90" grpId="0" animBg="1"/>
      <p:bldP spid="92" grpId="0" animBg="1"/>
      <p:bldP spid="93" grpId="0" animBg="1"/>
      <p:bldP spid="94" grpId="0" animBg="1"/>
      <p:bldP spid="96" grpId="0" animBg="1"/>
      <p:bldP spid="97" grpId="0" animBg="1"/>
      <p:bldP spid="99" grpId="0" animBg="1"/>
      <p:bldP spid="100" grpId="0" animBg="1"/>
      <p:bldP spid="101" grpId="0"/>
      <p:bldP spid="102" grpId="0"/>
      <p:bldP spid="103" grpId="0" animBg="1"/>
      <p:bldP spid="104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10357</TotalTime>
  <Words>240</Words>
  <Application>Microsoft Office PowerPoint</Application>
  <PresentationFormat>On-screen Show (4:3)</PresentationFormat>
  <Paragraphs>57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Franklin Gothic Book</vt:lpstr>
      <vt:lpstr>Perpetua</vt:lpstr>
      <vt:lpstr>Wingdings 2</vt:lpstr>
      <vt:lpstr>Equity</vt:lpstr>
      <vt:lpstr>Testiranje softvera</vt:lpstr>
      <vt:lpstr>Nastavnici</vt:lpstr>
      <vt:lpstr>Sadržaj predmeta</vt:lpstr>
      <vt:lpstr>Literatura</vt:lpstr>
      <vt:lpstr>Način polaganja</vt:lpstr>
      <vt:lpstr>Stek tehnologija</vt:lpstr>
      <vt:lpstr>Stek tehnologija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Goran</dc:creator>
  <cp:lastModifiedBy>Goran Savic</cp:lastModifiedBy>
  <cp:revision>151</cp:revision>
  <dcterms:created xsi:type="dcterms:W3CDTF">2016-06-13T09:44:29Z</dcterms:created>
  <dcterms:modified xsi:type="dcterms:W3CDTF">2024-10-04T10:07:52Z</dcterms:modified>
</cp:coreProperties>
</file>