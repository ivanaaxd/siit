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306" r:id="rId3"/>
    <p:sldId id="257" r:id="rId4"/>
    <p:sldId id="307" r:id="rId5"/>
    <p:sldId id="308" r:id="rId6"/>
    <p:sldId id="309" r:id="rId7"/>
    <p:sldId id="258" r:id="rId8"/>
    <p:sldId id="259" r:id="rId9"/>
    <p:sldId id="260" r:id="rId10"/>
    <p:sldId id="272" r:id="rId11"/>
    <p:sldId id="273" r:id="rId12"/>
    <p:sldId id="262" r:id="rId13"/>
    <p:sldId id="261" r:id="rId14"/>
    <p:sldId id="269" r:id="rId15"/>
    <p:sldId id="277" r:id="rId16"/>
    <p:sldId id="263" r:id="rId17"/>
    <p:sldId id="275" r:id="rId18"/>
    <p:sldId id="276" r:id="rId19"/>
    <p:sldId id="267" r:id="rId20"/>
    <p:sldId id="264" r:id="rId21"/>
    <p:sldId id="278" r:id="rId22"/>
    <p:sldId id="268" r:id="rId23"/>
    <p:sldId id="265" r:id="rId24"/>
    <p:sldId id="279" r:id="rId25"/>
    <p:sldId id="280" r:id="rId26"/>
    <p:sldId id="281" r:id="rId27"/>
    <p:sldId id="282" r:id="rId28"/>
    <p:sldId id="284" r:id="rId29"/>
    <p:sldId id="285" r:id="rId30"/>
    <p:sldId id="283" r:id="rId31"/>
    <p:sldId id="287" r:id="rId32"/>
    <p:sldId id="310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040" autoAdjust="0"/>
  </p:normalViewPr>
  <p:slideViewPr>
    <p:cSldViewPr>
      <p:cViewPr varScale="1">
        <p:scale>
          <a:sx n="75" d="100"/>
          <a:sy n="75" d="100"/>
        </p:scale>
        <p:origin x="1666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258"/>
    </p:cViewPr>
  </p:sorterViewPr>
  <p:notesViewPr>
    <p:cSldViewPr>
      <p:cViewPr varScale="1">
        <p:scale>
          <a:sx n="70" d="100"/>
          <a:sy n="70" d="100"/>
        </p:scale>
        <p:origin x="-323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1E5E08-6FDD-4025-8531-A3BB39BAD8F4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C20D4-52CC-4AE0-A8BD-CFB348CDB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932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C20D4-52CC-4AE0-A8BD-CFB348CDB199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4885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09/11/2023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09/11/2023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E4E63B4-66BE-45AF-B342-5BD675F621EF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5943600"/>
            <a:ext cx="6400800" cy="533400"/>
          </a:xfrm>
        </p:spPr>
        <p:txBody>
          <a:bodyPr/>
          <a:lstStyle/>
          <a:p>
            <a:pPr algn="r"/>
            <a:r>
              <a:rPr lang="sr-Latn-RS" dirty="0"/>
              <a:t>Autor: Goran Savić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Jedini</a:t>
            </a:r>
            <a:r>
              <a:rPr lang="sr-Latn-RS" dirty="0"/>
              <a:t>čno testiranje u programskom jeziku Java</a:t>
            </a:r>
            <a:endParaRPr lang="en-GB" dirty="0"/>
          </a:p>
        </p:txBody>
      </p:sp>
      <p:pic>
        <p:nvPicPr>
          <p:cNvPr id="4" name="Picture 2" descr="https://encrypted-tbn1.gstatic.com/images?q=tbn:ANd9GcQC9ZCpajZfs4_Krhxsouts_vjaf5XB68-eeqAPbon6rf8z5RCQ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3111500"/>
            <a:ext cx="3810000" cy="31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upload.wikimedia.org/wikipedia/en/8/88/Java_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399" y="3111500"/>
            <a:ext cx="2466975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416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3810000" y="4648200"/>
            <a:ext cx="2209800" cy="838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/>
              <a:buNone/>
            </a:pPr>
            <a:r>
              <a:rPr lang="sr-Latn-RS" sz="2000" dirty="0">
                <a:latin typeface="Calibri" panose="020F0502020204030204" pitchFamily="34" charset="0"/>
                <a:cs typeface="Calibri" panose="020F0502020204030204" pitchFamily="34" charset="0"/>
              </a:rPr>
              <a:t>Robert C. Martin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Font typeface="Wingdings 2"/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sr-Latn-RS" sz="2000" dirty="0">
                <a:latin typeface="Calibri" panose="020F0502020204030204" pitchFamily="34" charset="0"/>
                <a:cs typeface="Calibri" panose="020F0502020204030204" pitchFamily="34" charset="0"/>
              </a:rPr>
              <a:t>1952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8600" y="992155"/>
            <a:ext cx="4648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i="1" dirty="0">
                <a:latin typeface="Calibri" panose="020F0502020204030204" pitchFamily="34" charset="0"/>
                <a:cs typeface="Calibri" panose="020F0502020204030204" pitchFamily="34" charset="0"/>
              </a:rPr>
              <a:t>Test code is just as important as production code. It</a:t>
            </a:r>
            <a:r>
              <a:rPr lang="sr-Latn-RS" sz="20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i="1" dirty="0">
                <a:latin typeface="Calibri" panose="020F0502020204030204" pitchFamily="34" charset="0"/>
                <a:cs typeface="Calibri" panose="020F0502020204030204" pitchFamily="34" charset="0"/>
              </a:rPr>
              <a:t>is not a second-class citizen. It requires thought, design, and care. It must be kept as clean</a:t>
            </a:r>
            <a:r>
              <a:rPr lang="sr-Latn-RS" sz="20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i="1" dirty="0">
                <a:latin typeface="Calibri" panose="020F0502020204030204" pitchFamily="34" charset="0"/>
                <a:cs typeface="Calibri" panose="020F0502020204030204" pitchFamily="34" charset="0"/>
              </a:rPr>
              <a:t>as production code.</a:t>
            </a:r>
            <a:endParaRPr lang="sr-Latn-RS" sz="20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sr-Latn-R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Clean Code: A Handbook of Agile Software Craftsmanship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pic>
        <p:nvPicPr>
          <p:cNvPr id="1026" name="Picture 2" descr="Robert Cecil Marti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3291840" cy="4176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290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Jedinično testiranje u Javi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Vrši se pisanjem Java programskog koda</a:t>
            </a:r>
          </a:p>
          <a:p>
            <a:r>
              <a:rPr lang="sr-Latn-RS" i="1" dirty="0"/>
              <a:t>Build-operate-check</a:t>
            </a:r>
            <a:r>
              <a:rPr lang="sr-Latn-RS" dirty="0"/>
              <a:t> šablon</a:t>
            </a:r>
          </a:p>
          <a:p>
            <a:pPr marL="777240" lvl="1" indent="-457200">
              <a:buFont typeface="+mj-lt"/>
              <a:buAutoNum type="arabicPeriod"/>
            </a:pPr>
            <a:r>
              <a:rPr lang="sr-Latn-RS" dirty="0"/>
              <a:t>Kreiranje test podataka</a:t>
            </a:r>
          </a:p>
          <a:p>
            <a:pPr lvl="3"/>
            <a:r>
              <a:rPr lang="sr-Latn-RS" dirty="0"/>
              <a:t>U Javi je to najčešće instanciranje objekata</a:t>
            </a:r>
          </a:p>
          <a:p>
            <a:pPr marL="777240" lvl="1" indent="-457200">
              <a:buFont typeface="+mj-lt"/>
              <a:buAutoNum type="arabicPeriod"/>
            </a:pPr>
            <a:r>
              <a:rPr lang="sr-Latn-RS" dirty="0"/>
              <a:t>Operacija nad podacima</a:t>
            </a:r>
          </a:p>
          <a:p>
            <a:pPr lvl="3"/>
            <a:r>
              <a:rPr lang="sr-Latn-RS" dirty="0"/>
              <a:t>U Javi je to poziv funkcionalnosti objekta čije ponašanje testiramo</a:t>
            </a:r>
          </a:p>
          <a:p>
            <a:pPr marL="777240" lvl="1" indent="-457200">
              <a:buFont typeface="+mj-lt"/>
              <a:buAutoNum type="arabicPeriod"/>
            </a:pPr>
            <a:r>
              <a:rPr lang="sr-Latn-RS" dirty="0"/>
              <a:t>Provera podataka nakon operacije </a:t>
            </a:r>
          </a:p>
          <a:p>
            <a:pPr lvl="3"/>
            <a:r>
              <a:rPr lang="sr-Latn-RS" dirty="0"/>
              <a:t>U Javi je to poređenje stanja objekata sa očekivanim stanjem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7987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F.I.R.S.T. pravila za pisanje testova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Fast </a:t>
            </a:r>
          </a:p>
          <a:p>
            <a:pPr lvl="1"/>
            <a:r>
              <a:rPr lang="sr-Latn-RS" dirty="0"/>
              <a:t>Testovi trebaju biti takvi da se brzo izvršavaju</a:t>
            </a:r>
          </a:p>
          <a:p>
            <a:pPr lvl="1"/>
            <a:r>
              <a:rPr lang="sr-Latn-RS" dirty="0"/>
              <a:t>Ako se ne izvršavaju brzo, neće biti često pokretani, što će smanjiti kvalitet softvera</a:t>
            </a:r>
          </a:p>
          <a:p>
            <a:r>
              <a:rPr lang="sr-Latn-RS" dirty="0"/>
              <a:t>Independent</a:t>
            </a:r>
          </a:p>
          <a:p>
            <a:pPr lvl="1"/>
            <a:r>
              <a:rPr lang="sr-Latn-RS" dirty="0"/>
              <a:t>Testovi ne treba da zavise jedan od drugog</a:t>
            </a:r>
          </a:p>
          <a:p>
            <a:pPr lvl="1"/>
            <a:r>
              <a:rPr lang="sr-Latn-RS" dirty="0"/>
              <a:t>Jedan test ne treba da postavlja preduslove za neki drugi test</a:t>
            </a:r>
          </a:p>
          <a:p>
            <a:pPr lvl="1"/>
            <a:r>
              <a:rPr lang="sr-Latn-RS" dirty="0"/>
              <a:t>Testovi trebaju moći da se izvršavaju nezavisno u proizvoljnom redosledu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703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F.I.R.S.T. pravila za pisanje testova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Repeatable</a:t>
            </a:r>
          </a:p>
          <a:p>
            <a:pPr lvl="1"/>
            <a:r>
              <a:rPr lang="sr-Latn-RS" dirty="0"/>
              <a:t>Testovi trebaju moći ponovo da se izvrše u različitim okruženjima</a:t>
            </a:r>
          </a:p>
          <a:p>
            <a:pPr lvl="1"/>
            <a:r>
              <a:rPr lang="sr-Latn-RS" dirty="0"/>
              <a:t>U svakom okruženju u kojem se aplikacija razvija i koristi (produkcioni server, lokalni računar), test mora moći da se izvrši</a:t>
            </a:r>
          </a:p>
          <a:p>
            <a:r>
              <a:rPr lang="sr-Latn-RS" dirty="0"/>
              <a:t>Self-Validating</a:t>
            </a:r>
          </a:p>
          <a:p>
            <a:pPr lvl="1"/>
            <a:r>
              <a:rPr lang="sr-Latn-RS" dirty="0"/>
              <a:t>Test treba da ima jedan </a:t>
            </a:r>
            <a:r>
              <a:rPr lang="sr-Latn-RS" i="1" dirty="0"/>
              <a:t>boolean </a:t>
            </a:r>
            <a:r>
              <a:rPr lang="sr-Latn-RS" dirty="0"/>
              <a:t>rezultat (da li je prošao ili ne)</a:t>
            </a:r>
          </a:p>
          <a:p>
            <a:pPr lvl="1"/>
            <a:r>
              <a:rPr lang="sr-Latn-RS" dirty="0"/>
              <a:t>Rezultat treba da se dobije izvršavanjem testa, a ne ručnim poređenjem ili subjektivnom procenom</a:t>
            </a:r>
          </a:p>
        </p:txBody>
      </p:sp>
    </p:spTree>
    <p:extLst>
      <p:ext uri="{BB962C8B-B14F-4D97-AF65-F5344CB8AC3E}">
        <p14:creationId xmlns:p14="http://schemas.microsoft.com/office/powerpoint/2010/main" val="2457530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F.I.R.S.T. pravila za pisanje testova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Timely</a:t>
            </a:r>
          </a:p>
          <a:p>
            <a:pPr lvl="1"/>
            <a:r>
              <a:rPr lang="sr-Latn-RS" dirty="0"/>
              <a:t>Testove treba pisati blagovremeno</a:t>
            </a:r>
          </a:p>
          <a:p>
            <a:pPr lvl="1"/>
            <a:r>
              <a:rPr lang="sr-Latn-RS" dirty="0"/>
              <a:t>Test treba napisati </a:t>
            </a:r>
            <a:r>
              <a:rPr lang="sr-Latn-RS" b="1" dirty="0"/>
              <a:t>pre </a:t>
            </a:r>
            <a:r>
              <a:rPr lang="sr-Latn-RS" dirty="0"/>
              <a:t>koda koji će biti testiran</a:t>
            </a:r>
            <a:endParaRPr lang="sr-Latn-RS" b="1" dirty="0"/>
          </a:p>
        </p:txBody>
      </p:sp>
    </p:spTree>
    <p:extLst>
      <p:ext uri="{BB962C8B-B14F-4D97-AF65-F5344CB8AC3E}">
        <p14:creationId xmlns:p14="http://schemas.microsoft.com/office/powerpoint/2010/main" val="2429982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Radni okviri za testiranje u Javi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Postoje radni okviri koji pružaju pomoć u</a:t>
            </a:r>
          </a:p>
          <a:p>
            <a:pPr lvl="1"/>
            <a:r>
              <a:rPr lang="sr-Latn-RS" dirty="0"/>
              <a:t>pisanju koda za testiranje</a:t>
            </a:r>
          </a:p>
          <a:p>
            <a:pPr lvl="2"/>
            <a:r>
              <a:rPr lang="sr-Latn-RS" dirty="0"/>
              <a:t>sadrže biblioteke specijalizovane za testiranje</a:t>
            </a:r>
          </a:p>
          <a:p>
            <a:pPr lvl="1"/>
            <a:r>
              <a:rPr lang="sr-Latn-RS" dirty="0"/>
              <a:t>izvršavanju testova</a:t>
            </a:r>
          </a:p>
          <a:p>
            <a:pPr lvl="1"/>
            <a:r>
              <a:rPr lang="sr-Latn-RS" dirty="0"/>
              <a:t>izveštavanju o testovima</a:t>
            </a:r>
          </a:p>
          <a:p>
            <a:pPr lvl="1"/>
            <a:endParaRPr lang="sr-Latn-RS" dirty="0"/>
          </a:p>
          <a:p>
            <a:r>
              <a:rPr lang="sr-Latn-RS" dirty="0"/>
              <a:t>Najpopularniji radni okviri</a:t>
            </a:r>
          </a:p>
          <a:p>
            <a:pPr lvl="1"/>
            <a:r>
              <a:rPr lang="sr-Latn-RS" dirty="0"/>
              <a:t>JUnit</a:t>
            </a:r>
          </a:p>
          <a:p>
            <a:pPr lvl="1"/>
            <a:r>
              <a:rPr lang="sr-Latn-RS" dirty="0"/>
              <a:t>TestNG</a:t>
            </a:r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7273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JUnit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JUnit je radni okvir za testiranje Java programa</a:t>
            </a:r>
          </a:p>
          <a:p>
            <a:r>
              <a:rPr lang="sr-Latn-RS" dirty="0"/>
              <a:t>Poslednja verzija je JUnit </a:t>
            </a:r>
            <a:r>
              <a:rPr lang="en-US" dirty="0"/>
              <a:t>5</a:t>
            </a:r>
            <a:endParaRPr lang="sr-Latn-RS" dirty="0"/>
          </a:p>
          <a:p>
            <a:r>
              <a:rPr lang="sr-Latn-RS" dirty="0"/>
              <a:t>Prema jednom istraživanju, JUnit je najčešće uključivana eksterna biblioteka u Java projekte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0815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Asertacije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Najvažniji deo testa je verifikacija dobijenog rezultata</a:t>
            </a:r>
          </a:p>
          <a:p>
            <a:pPr lvl="1"/>
            <a:r>
              <a:rPr lang="sr-Latn-RS" dirty="0"/>
              <a:t>Poređenje očekivane i stvarne vrednosti</a:t>
            </a:r>
          </a:p>
          <a:p>
            <a:r>
              <a:rPr lang="sr-Latn-RS" dirty="0"/>
              <a:t>Vrši se asertacijama</a:t>
            </a:r>
          </a:p>
          <a:p>
            <a:r>
              <a:rPr lang="sr-Latn-RS" dirty="0"/>
              <a:t>Asertacija je deo koda u kojem se zahteva da određeni izraz bude istinit</a:t>
            </a:r>
          </a:p>
          <a:p>
            <a:pPr lvl="1"/>
            <a:r>
              <a:rPr lang="sr-Latn-RS" dirty="0"/>
              <a:t>ako to nije slučaj, program prestaje da radi ili se dešava izuzetak</a:t>
            </a:r>
          </a:p>
          <a:p>
            <a:r>
              <a:rPr lang="sr-Latn-RS" dirty="0"/>
              <a:t>Koristi se u testiranju pri utvrđivanju da li stvarna vrednost odgovara očekivanoj</a:t>
            </a:r>
          </a:p>
          <a:p>
            <a:pPr lvl="1"/>
            <a:r>
              <a:rPr lang="sr-Latn-RS" dirty="0"/>
              <a:t>ako to nije slučaj, test nije uspešan	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4918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1143000"/>
          </a:xfrm>
        </p:spPr>
        <p:txBody>
          <a:bodyPr/>
          <a:lstStyle/>
          <a:p>
            <a:r>
              <a:rPr lang="sr-Latn-RS" dirty="0"/>
              <a:t>JUnit asertacije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JUnit predviđa različite funkcije za asertaciju</a:t>
            </a:r>
          </a:p>
          <a:p>
            <a:pPr lvl="1"/>
            <a:r>
              <a:rPr lang="en-GB" dirty="0" err="1">
                <a:latin typeface="Courier New" pitchFamily="49" charset="0"/>
                <a:cs typeface="Courier New" pitchFamily="49" charset="0"/>
              </a:rPr>
              <a:t>assertTrue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()</a:t>
            </a:r>
            <a:endParaRPr lang="sr-Latn-RS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GB" dirty="0" err="1">
                <a:latin typeface="Courier New" pitchFamily="49" charset="0"/>
                <a:cs typeface="Courier New" pitchFamily="49" charset="0"/>
              </a:rPr>
              <a:t>assertFalse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1"/>
            <a:r>
              <a:rPr lang="en-GB" dirty="0" err="1">
                <a:latin typeface="Courier New" pitchFamily="49" charset="0"/>
                <a:cs typeface="Courier New" pitchFamily="49" charset="0"/>
              </a:rPr>
              <a:t>assertEquals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1"/>
            <a:r>
              <a:rPr lang="en-GB" dirty="0" err="1">
                <a:latin typeface="Courier New" pitchFamily="49" charset="0"/>
                <a:cs typeface="Courier New" pitchFamily="49" charset="0"/>
              </a:rPr>
              <a:t>assertArrayEquals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()</a:t>
            </a:r>
            <a:endParaRPr lang="sr-Latn-RS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sr-Latn-RS" dirty="0">
                <a:latin typeface="Courier New" pitchFamily="49" charset="0"/>
                <a:cs typeface="Courier New" pitchFamily="49" charset="0"/>
              </a:rPr>
              <a:t>assertNull()</a:t>
            </a:r>
          </a:p>
          <a:p>
            <a:pPr lvl="1"/>
            <a:r>
              <a:rPr lang="sr-Latn-RS">
                <a:latin typeface="Courier New" pitchFamily="49" charset="0"/>
                <a:cs typeface="Courier New" pitchFamily="49" charset="0"/>
              </a:rPr>
              <a:t>asertNotNull()</a:t>
            </a:r>
            <a:endParaRPr lang="en-GB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GB" dirty="0" err="1">
                <a:latin typeface="Courier New" pitchFamily="49" charset="0"/>
                <a:cs typeface="Courier New" pitchFamily="49" charset="0"/>
              </a:rPr>
              <a:t>assertSame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()</a:t>
            </a:r>
            <a:endParaRPr lang="sr-Latn-RS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GB" dirty="0" err="1">
                <a:latin typeface="Courier New" pitchFamily="49" charset="0"/>
                <a:cs typeface="Courier New" pitchFamily="49" charset="0"/>
              </a:rPr>
              <a:t>assertNotSame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()</a:t>
            </a:r>
            <a:endParaRPr lang="sr-Latn-RS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sr-Latn-RS" dirty="0">
                <a:latin typeface="Courier New" pitchFamily="49" charset="0"/>
                <a:cs typeface="Courier New" pitchFamily="49" charset="0"/>
              </a:rPr>
              <a:t>assertThat()</a:t>
            </a:r>
            <a:endParaRPr lang="en-GB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549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JUnit asertacije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Primer korišćenja asertacije</a:t>
            </a:r>
          </a:p>
          <a:p>
            <a:pPr marL="0" indent="0">
              <a:buNone/>
            </a:pPr>
            <a:r>
              <a:rPr lang="sr-Latn-RS" sz="1600" dirty="0">
                <a:latin typeface="Courier New" pitchFamily="49" charset="0"/>
                <a:cs typeface="Courier New" pitchFamily="49" charset="0"/>
              </a:rPr>
              <a:t>    //instanciranje objekta cije ponasanje testiramo</a:t>
            </a:r>
          </a:p>
          <a:p>
            <a:pPr marL="0" indent="0">
              <a:buNone/>
            </a:pPr>
            <a:r>
              <a:rPr lang="sr-Latn-RS" sz="1600" dirty="0">
                <a:latin typeface="Courier New" pitchFamily="49" charset="0"/>
                <a:cs typeface="Courier New" pitchFamily="49" charset="0"/>
              </a:rPr>
              <a:t>    E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xampleUnit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myUnit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ExampleUnit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();</a:t>
            </a:r>
            <a:endParaRPr lang="sr-Latn-RS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sr-Latn-RS" sz="1600" dirty="0">
                <a:latin typeface="Courier New" pitchFamily="49" charset="0"/>
                <a:cs typeface="Courier New" pitchFamily="49" charset="0"/>
              </a:rPr>
              <a:t>    //poziv testirane metode i preuzimanje stvarnog rezultata</a:t>
            </a:r>
            <a:endParaRPr lang="en-GB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    String result = 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myUnit.concatenate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("one", "two");</a:t>
            </a:r>
          </a:p>
          <a:p>
            <a:pPr marL="0" indent="0">
              <a:buNone/>
            </a:pPr>
            <a:r>
              <a:rPr lang="sr-Latn-RS" sz="1600" dirty="0">
                <a:latin typeface="Courier New" pitchFamily="49" charset="0"/>
                <a:cs typeface="Courier New" pitchFamily="49" charset="0"/>
              </a:rPr>
              <a:t>    //poredjenje ocekivane i stvarne vrednosti</a:t>
            </a:r>
          </a:p>
          <a:p>
            <a:pPr marL="0" indent="0">
              <a:buNone/>
            </a:pPr>
            <a:r>
              <a:rPr lang="sr-Latn-RS" sz="1600" dirty="0">
                <a:latin typeface="Courier New" pitchFamily="49" charset="0"/>
                <a:cs typeface="Courier New" pitchFamily="49" charset="0"/>
              </a:rPr>
              <a:t>    //ako vrednosti nisu jednake, test ne prolazi	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    </a:t>
            </a:r>
            <a:endParaRPr lang="sr-Latn-RS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sr-Latn-R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assertEquals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onetwo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", result);</a:t>
            </a:r>
            <a:endParaRPr lang="sr-Latn-RS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sr-Latn-R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sr-Latn-RS" dirty="0"/>
              <a:t>Primeri</a:t>
            </a:r>
          </a:p>
          <a:p>
            <a:pPr lvl="1"/>
            <a:r>
              <a:rPr lang="sr-Latn-RS" sz="1800" dirty="0">
                <a:latin typeface="Courier New" pitchFamily="49" charset="0"/>
                <a:cs typeface="Courier New" pitchFamily="49" charset="0"/>
              </a:rPr>
              <a:t>unit-testing</a:t>
            </a:r>
          </a:p>
          <a:p>
            <a:pPr lvl="2"/>
            <a:r>
              <a:rPr lang="sr-Latn-RS" sz="1600" dirty="0">
                <a:latin typeface="Courier New" pitchFamily="49" charset="0"/>
                <a:cs typeface="Courier New" pitchFamily="49" charset="0"/>
              </a:rPr>
              <a:t>unitesting.junit</a:t>
            </a:r>
          </a:p>
          <a:p>
            <a:pPr marL="0" indent="0">
              <a:buNone/>
            </a:pPr>
            <a:endParaRPr lang="en-GB" sz="16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" name="Picture 8" descr="http://www.toolkit2collaborate.ca/wp/wp-content/uploads/2014/02/ICON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32" y="4343400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391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Matchers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/>
              <a:t>JUnit pruža mogućnost definisanja asertacija i putem assertThat() metode</a:t>
            </a:r>
          </a:p>
          <a:p>
            <a:pPr lvl="1"/>
            <a:r>
              <a:rPr lang="sr-Latn-RS" dirty="0"/>
              <a:t>metoda prima Matcher izraze</a:t>
            </a:r>
          </a:p>
          <a:p>
            <a:r>
              <a:rPr lang="sr-Latn-RS" dirty="0"/>
              <a:t>Primer</a:t>
            </a:r>
          </a:p>
          <a:p>
            <a:pPr marL="320040" lvl="1" indent="0">
              <a:buNone/>
            </a:pPr>
            <a:r>
              <a:rPr lang="sr-Latn-RS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assertThat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("that", is(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equalTo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("that")));</a:t>
            </a:r>
            <a:endParaRPr lang="sr-Latn-RS" sz="1800" dirty="0">
              <a:latin typeface="Courier New" pitchFamily="49" charset="0"/>
              <a:cs typeface="Courier New" pitchFamily="49" charset="0"/>
            </a:endParaRPr>
          </a:p>
          <a:p>
            <a:pPr lvl="1"/>
            <a:endParaRPr lang="sr-Latn-RS" sz="18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sr-Latn-RS" sz="1800" dirty="0">
                <a:latin typeface="Courier New" pitchFamily="49" charset="0"/>
                <a:cs typeface="Courier New" pitchFamily="49" charset="0"/>
              </a:rPr>
              <a:t>unit-testing/unittesting.junit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sr-Latn-RS" sz="1800" dirty="0">
                <a:latin typeface="Courier New" pitchFamily="49" charset="0"/>
                <a:cs typeface="Courier New" pitchFamily="49" charset="0"/>
              </a:rPr>
              <a:t>AssertThatTest.java</a:t>
            </a:r>
          </a:p>
          <a:p>
            <a:r>
              <a:rPr lang="sr-Latn-RS" dirty="0"/>
              <a:t>Prednosti ovog načina asertacije</a:t>
            </a:r>
          </a:p>
          <a:p>
            <a:pPr lvl="1"/>
            <a:r>
              <a:rPr lang="sr-Latn-RS" dirty="0"/>
              <a:t>čitljivija sintaksa</a:t>
            </a:r>
          </a:p>
          <a:p>
            <a:pPr lvl="1"/>
            <a:r>
              <a:rPr lang="sr-Latn-RS" dirty="0"/>
              <a:t>asertacija se zadaje kroz subjekat, predikat i objekat</a:t>
            </a:r>
          </a:p>
          <a:p>
            <a:pPr lvl="1"/>
            <a:r>
              <a:rPr lang="sr-Latn-RS" dirty="0"/>
              <a:t>Matcher izrazi se mogu negirati i kombinovati konjukcijom ili disjunkcijom</a:t>
            </a:r>
          </a:p>
          <a:p>
            <a:pPr lvl="1"/>
            <a:r>
              <a:rPr lang="sr-Latn-RS" dirty="0"/>
              <a:t>čitljivije poruke o grešci kada test ne prolazi</a:t>
            </a:r>
          </a:p>
          <a:p>
            <a:r>
              <a:rPr lang="sr-Latn-RS" dirty="0"/>
              <a:t>Hamcrest projekat sadrži veliki broj Matcher izraza</a:t>
            </a:r>
          </a:p>
          <a:p>
            <a:pPr lvl="1"/>
            <a:r>
              <a:rPr lang="sr-Latn-RS" dirty="0"/>
              <a:t>najznačajniji su uključeni u JUnit	</a:t>
            </a:r>
          </a:p>
          <a:p>
            <a:endParaRPr lang="en-GB" sz="16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" name="Picture 8" descr="http://www.toolkit2collaborate.ca/wp/wp-content/uploads/2014/02/ICON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048001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9849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AssertJ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77200" cy="5181600"/>
          </a:xfrm>
        </p:spPr>
        <p:txBody>
          <a:bodyPr>
            <a:normAutofit/>
          </a:bodyPr>
          <a:lstStyle/>
          <a:p>
            <a:r>
              <a:rPr lang="sr-Latn-RS" dirty="0"/>
              <a:t>AssertJ pruža još fleksibilniji način definisanja asertacija koje koriste Matcher izraze</a:t>
            </a:r>
          </a:p>
          <a:p>
            <a:r>
              <a:rPr lang="sr-Latn-RS" dirty="0"/>
              <a:t>Različite metode za asertaciju koje vraćaju novi objekat nad kojim se može vršiti asertacija</a:t>
            </a:r>
          </a:p>
          <a:p>
            <a:pPr lvl="1"/>
            <a:r>
              <a:rPr lang="sr-Latn-RS" dirty="0"/>
              <a:t>Na ovaj način je obezbeđeno ulančavanje metoda za asertaciju</a:t>
            </a:r>
          </a:p>
          <a:p>
            <a:pPr lvl="1"/>
            <a:r>
              <a:rPr lang="sr-Latn-RS" dirty="0"/>
              <a:t>Može se koristiti IDE </a:t>
            </a:r>
            <a:r>
              <a:rPr lang="sr-Latn-RS" i="1" dirty="0"/>
              <a:t>code-completion</a:t>
            </a:r>
            <a:r>
              <a:rPr lang="sr-Latn-RS" dirty="0"/>
              <a:t> kao pomoć za korišćenje asertacije</a:t>
            </a:r>
          </a:p>
          <a:p>
            <a:pPr lvl="2"/>
            <a:r>
              <a:rPr lang="sr-Latn-RS" dirty="0"/>
              <a:t>zavisno od konkretnog objekta, različite metode za asertaciju su dostupne</a:t>
            </a:r>
          </a:p>
          <a:p>
            <a:r>
              <a:rPr lang="sr-Latn-RS" dirty="0"/>
              <a:t>Primer</a:t>
            </a:r>
          </a:p>
          <a:p>
            <a:pPr marL="320040" lvl="1" indent="0">
              <a:buNone/>
            </a:pP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assertThat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("that").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isEqualTo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("that");</a:t>
            </a:r>
            <a:endParaRPr lang="sr-Latn-RS" sz="18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sr-Latn-RS" sz="1800" dirty="0">
                <a:latin typeface="Courier New" pitchFamily="49" charset="0"/>
                <a:cs typeface="Courier New" pitchFamily="49" charset="0"/>
              </a:rPr>
              <a:t>unit-testing/unittesting.assertj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sr-Latn-RS" sz="1800" dirty="0">
                <a:latin typeface="Courier New" pitchFamily="49" charset="0"/>
                <a:cs typeface="Courier New" pitchFamily="49" charset="0"/>
              </a:rPr>
              <a:t>AssertThatTest.java</a:t>
            </a:r>
            <a:endParaRPr lang="en-GB" sz="18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" name="Picture 8" descr="http://www.toolkit2collaborate.ca/wp/wp-content/uploads/2014/02/ICON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334000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8455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Drugi popularan radni okvir za testiranje Java programa</a:t>
            </a:r>
          </a:p>
          <a:p>
            <a:r>
              <a:rPr lang="sr-Latn-RS" dirty="0"/>
              <a:t>Razvijen na osnovu JUnit da obezbedi naprednije upravljanje testiranjem u odnosu na JUnit</a:t>
            </a:r>
          </a:p>
          <a:p>
            <a:r>
              <a:rPr lang="sr-Latn-RS" dirty="0"/>
              <a:t>JUnit verzije 4 je implementirao većinu funkcija koje je ranije samo TestNG obezbeđivao</a:t>
            </a:r>
          </a:p>
          <a:p>
            <a:r>
              <a:rPr lang="sr-Latn-RS" dirty="0"/>
              <a:t>U nastavku su prikazane naprednije tehnike testiranja korišćenjem TestNG </a:t>
            </a:r>
          </a:p>
          <a:p>
            <a:pPr lvl="1"/>
            <a:r>
              <a:rPr lang="sr-Latn-RS" dirty="0"/>
              <a:t>većina toga može biti realizovana kroz J</a:t>
            </a:r>
            <a:r>
              <a:rPr lang="en-US"/>
              <a:t>U</a:t>
            </a:r>
            <a:r>
              <a:rPr lang="sr-Latn-RS"/>
              <a:t>nit </a:t>
            </a:r>
            <a:r>
              <a:rPr lang="sr-Latn-RS" dirty="0"/>
              <a:t>u neznatno drugačijoj sintaksi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2627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TestNG – Test Suite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Testovi</a:t>
            </a:r>
            <a:r>
              <a:rPr lang="en-US" dirty="0"/>
              <a:t> se </a:t>
            </a:r>
            <a:r>
              <a:rPr lang="en-US" dirty="0" err="1"/>
              <a:t>mogu</a:t>
            </a:r>
            <a:r>
              <a:rPr lang="en-US" dirty="0"/>
              <a:t> </a:t>
            </a:r>
            <a:r>
              <a:rPr lang="en-US" dirty="0" err="1"/>
              <a:t>grupisati</a:t>
            </a:r>
            <a:r>
              <a:rPr lang="en-US" dirty="0"/>
              <a:t> u Test Suite</a:t>
            </a:r>
          </a:p>
          <a:p>
            <a:pPr lvl="1"/>
            <a:r>
              <a:rPr lang="en-US" dirty="0"/>
              <a:t>U </a:t>
            </a:r>
            <a:r>
              <a:rPr lang="en-US" dirty="0" err="1"/>
              <a:t>istom</a:t>
            </a:r>
            <a:r>
              <a:rPr lang="en-US" dirty="0"/>
              <a:t> </a:t>
            </a:r>
            <a:r>
              <a:rPr lang="en-US" i="1" dirty="0"/>
              <a:t>suite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da se </a:t>
            </a:r>
            <a:r>
              <a:rPr lang="en-US" dirty="0" err="1"/>
              <a:t>na</a:t>
            </a:r>
            <a:r>
              <a:rPr lang="sr-Latn-RS" dirty="0"/>
              <a:t>đu logički srodni testovi</a:t>
            </a:r>
          </a:p>
          <a:p>
            <a:pPr lvl="1"/>
            <a:r>
              <a:rPr lang="sr-Latn-RS" dirty="0"/>
              <a:t>Ovi testovi se onda mogu izvršavati u grupi</a:t>
            </a:r>
          </a:p>
          <a:p>
            <a:r>
              <a:rPr lang="sr-Latn-RS" dirty="0"/>
              <a:t>Test Suite se definiše kao XML fajl</a:t>
            </a:r>
          </a:p>
          <a:p>
            <a:r>
              <a:rPr lang="sr-Latn-RS" dirty="0"/>
              <a:t>Sadrži niz testova koji se izvršavaju</a:t>
            </a:r>
          </a:p>
          <a:p>
            <a:r>
              <a:rPr lang="sr-Latn-RS" dirty="0"/>
              <a:t>Za svaki test se navode klase čije </a:t>
            </a:r>
            <a:r>
              <a:rPr lang="en-US" dirty="0"/>
              <a:t>@Test </a:t>
            </a:r>
            <a:r>
              <a:rPr lang="en-US" dirty="0" err="1"/>
              <a:t>metode</a:t>
            </a:r>
            <a:r>
              <a:rPr lang="en-US" dirty="0"/>
              <a:t> test </a:t>
            </a:r>
            <a:r>
              <a:rPr lang="en-US" dirty="0" err="1"/>
              <a:t>sadr</a:t>
            </a:r>
            <a:r>
              <a:rPr lang="sr-Latn-RS" dirty="0"/>
              <a:t>ži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3554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TestNG</a:t>
            </a:r>
            <a:r>
              <a:rPr lang="en-US" dirty="0"/>
              <a:t> – </a:t>
            </a:r>
            <a:r>
              <a:rPr lang="sr-Latn-RS" dirty="0"/>
              <a:t>Kategorizacija</a:t>
            </a:r>
            <a:r>
              <a:rPr lang="en-US" dirty="0"/>
              <a:t> </a:t>
            </a:r>
            <a:r>
              <a:rPr lang="en-US" dirty="0" err="1"/>
              <a:t>testova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77200" cy="5029200"/>
          </a:xfrm>
        </p:spPr>
        <p:txBody>
          <a:bodyPr>
            <a:normAutofit/>
          </a:bodyPr>
          <a:lstStyle/>
          <a:p>
            <a:r>
              <a:rPr lang="sr-Latn-RS" dirty="0"/>
              <a:t>Test se može dodeliti određenoj grupi (kategoriji)</a:t>
            </a:r>
          </a:p>
          <a:p>
            <a:pPr lvl="1"/>
            <a:r>
              <a:rPr lang="sr-Latn-RS" dirty="0"/>
              <a:t>moguće je onda izvršiti samo testove iz jedne grupe</a:t>
            </a:r>
          </a:p>
          <a:p>
            <a:r>
              <a:rPr lang="sr-Latn-RS" dirty="0"/>
              <a:t>Dodeljivanje testa u grupu</a:t>
            </a:r>
          </a:p>
          <a:p>
            <a:pPr lvl="1"/>
            <a:r>
              <a:rPr lang="en-GB" dirty="0">
                <a:latin typeface="Courier New" pitchFamily="49" charset="0"/>
                <a:cs typeface="Courier New" pitchFamily="49" charset="0"/>
              </a:rPr>
              <a:t>@Test(groups = {"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postgres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-test"})</a:t>
            </a:r>
          </a:p>
          <a:p>
            <a:pPr lvl="1"/>
            <a:r>
              <a:rPr lang="en-US" dirty="0" err="1"/>
              <a:t>jedan</a:t>
            </a:r>
            <a:r>
              <a:rPr lang="en-US" dirty="0"/>
              <a:t> test </a:t>
            </a:r>
            <a:r>
              <a:rPr lang="en-US" dirty="0" err="1"/>
              <a:t>mo</a:t>
            </a:r>
            <a:r>
              <a:rPr lang="sr-Latn-RS" dirty="0"/>
              <a:t>ž</a:t>
            </a:r>
            <a:r>
              <a:rPr lang="en-US" dirty="0"/>
              <a:t>e bit</a:t>
            </a:r>
            <a:r>
              <a:rPr lang="sr-Latn-RS" dirty="0"/>
              <a:t>i</a:t>
            </a:r>
            <a:r>
              <a:rPr lang="en-US" dirty="0"/>
              <a:t> u vi</a:t>
            </a:r>
            <a:r>
              <a:rPr lang="sr-Latn-RS" dirty="0"/>
              <a:t>š</a:t>
            </a:r>
            <a:r>
              <a:rPr lang="en-US" dirty="0"/>
              <a:t>e </a:t>
            </a:r>
            <a:r>
              <a:rPr lang="en-US" dirty="0" err="1"/>
              <a:t>grupa</a:t>
            </a:r>
            <a:endParaRPr lang="sr-Latn-RS" dirty="0"/>
          </a:p>
          <a:p>
            <a:pPr lvl="1"/>
            <a:r>
              <a:rPr lang="sr-Latn-RS" dirty="0"/>
              <a:t>ako se anotacija stavi nad klasom onda svi testovi u toj klasi pripadaju grupi</a:t>
            </a:r>
            <a:endParaRPr lang="sr-Cyrl-RS" dirty="0"/>
          </a:p>
          <a:p>
            <a:r>
              <a:rPr lang="sr-Latn-RS" dirty="0"/>
              <a:t>Izvršavanje određene grupe testova</a:t>
            </a:r>
          </a:p>
          <a:p>
            <a:pPr lvl="1"/>
            <a:r>
              <a:rPr lang="sr-Latn-RS" dirty="0"/>
              <a:t>u </a:t>
            </a:r>
            <a:r>
              <a:rPr lang="sr-Latn-RS" i="1" dirty="0"/>
              <a:t>test </a:t>
            </a:r>
            <a:r>
              <a:rPr lang="sr-Latn-RS" dirty="0"/>
              <a:t>suite se za test navodi na koje se grupe odnosi</a:t>
            </a:r>
            <a:endParaRPr lang="sr-Latn-RS" sz="2400" dirty="0"/>
          </a:p>
        </p:txBody>
      </p:sp>
    </p:spTree>
    <p:extLst>
      <p:ext uri="{BB962C8B-B14F-4D97-AF65-F5344CB8AC3E}">
        <p14:creationId xmlns:p14="http://schemas.microsoft.com/office/powerpoint/2010/main" val="686487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66700"/>
            <a:ext cx="7772400" cy="1143000"/>
          </a:xfrm>
        </p:spPr>
        <p:txBody>
          <a:bodyPr>
            <a:normAutofit/>
          </a:bodyPr>
          <a:lstStyle/>
          <a:p>
            <a:r>
              <a:rPr lang="en-US" sz="2800" dirty="0" err="1"/>
              <a:t>TestNG</a:t>
            </a:r>
            <a:r>
              <a:rPr lang="en-US" sz="2800" dirty="0"/>
              <a:t> – </a:t>
            </a:r>
            <a:r>
              <a:rPr lang="sr-Latn-RS" sz="2800" dirty="0"/>
              <a:t>Test Suite i kategorizacija</a:t>
            </a:r>
            <a:r>
              <a:rPr lang="en-US" sz="2800" dirty="0"/>
              <a:t> </a:t>
            </a:r>
            <a:r>
              <a:rPr lang="en-US" sz="2800" dirty="0" err="1"/>
              <a:t>testova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409700"/>
            <a:ext cx="8382000" cy="4572000"/>
          </a:xfrm>
        </p:spPr>
        <p:txBody>
          <a:bodyPr/>
          <a:lstStyle/>
          <a:p>
            <a:r>
              <a:rPr lang="en-US" dirty="0"/>
              <a:t>Primer </a:t>
            </a:r>
            <a:r>
              <a:rPr lang="sr-Latn-RS" dirty="0"/>
              <a:t>kategorizacije</a:t>
            </a:r>
            <a:endParaRPr lang="en-US" dirty="0"/>
          </a:p>
          <a:p>
            <a:pPr lvl="1"/>
            <a:r>
              <a:rPr lang="sr-Latn-RS" sz="1800" dirty="0">
                <a:latin typeface="Courier New" pitchFamily="49" charset="0"/>
                <a:cs typeface="Courier New" pitchFamily="49" charset="0"/>
              </a:rPr>
              <a:t>unit-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t</a:t>
            </a:r>
            <a:r>
              <a:rPr lang="sr-Latn-RS" sz="1800" dirty="0">
                <a:latin typeface="Courier New" pitchFamily="49" charset="0"/>
                <a:cs typeface="Courier New" pitchFamily="49" charset="0"/>
              </a:rPr>
              <a:t>esting/unittesting.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testng.groups.TestGroup</a:t>
            </a:r>
            <a:r>
              <a:rPr lang="sr-Latn-RS" sz="1800" dirty="0">
                <a:latin typeface="Courier New" pitchFamily="49" charset="0"/>
                <a:cs typeface="Courier New" pitchFamily="49" charset="0"/>
              </a:rPr>
              <a:t>.java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sr-Latn-RS" sz="1800" dirty="0">
                <a:latin typeface="Courier New" pitchFamily="49" charset="0"/>
                <a:cs typeface="Courier New" pitchFamily="49" charset="0"/>
              </a:rPr>
              <a:t>unit-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t</a:t>
            </a:r>
            <a:r>
              <a:rPr lang="sr-Latn-RS" sz="1800" dirty="0">
                <a:latin typeface="Courier New" pitchFamily="49" charset="0"/>
                <a:cs typeface="Courier New" pitchFamily="49" charset="0"/>
              </a:rPr>
              <a:t>esting/unittesting.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testng.groups.TestPostgres</a:t>
            </a:r>
            <a:r>
              <a:rPr lang="sr-Latn-RS" sz="1800" dirty="0">
                <a:latin typeface="Courier New" pitchFamily="49" charset="0"/>
                <a:cs typeface="Courier New" pitchFamily="49" charset="0"/>
              </a:rPr>
              <a:t>.java</a:t>
            </a:r>
            <a:endParaRPr lang="en-GB" sz="1800" dirty="0"/>
          </a:p>
          <a:p>
            <a:endParaRPr lang="en-US" sz="2200" dirty="0"/>
          </a:p>
          <a:p>
            <a:r>
              <a:rPr lang="en-US" dirty="0"/>
              <a:t>Primer suite</a:t>
            </a:r>
          </a:p>
          <a:p>
            <a:pPr lvl="1"/>
            <a:r>
              <a:rPr lang="sr-Latn-RS" sz="2000" dirty="0">
                <a:latin typeface="Courier New" pitchFamily="49" charset="0"/>
                <a:cs typeface="Courier New" pitchFamily="49" charset="0"/>
              </a:rPr>
              <a:t>unit-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testing/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postgres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-suite</a:t>
            </a:r>
            <a:r>
              <a:rPr lang="sr-Latn-RS" sz="2000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xml</a:t>
            </a:r>
            <a:endParaRPr lang="en-GB" sz="2000" dirty="0"/>
          </a:p>
          <a:p>
            <a:pPr lvl="1"/>
            <a:r>
              <a:rPr lang="sr-Latn-RS" sz="2000" dirty="0">
                <a:latin typeface="Courier New" pitchFamily="49" charset="0"/>
                <a:cs typeface="Courier New" pitchFamily="49" charset="0"/>
              </a:rPr>
              <a:t>unit-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testing/database-suite</a:t>
            </a:r>
            <a:r>
              <a:rPr lang="sr-Latn-RS" sz="2000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xml</a:t>
            </a:r>
            <a:endParaRPr lang="en-GB" sz="2000" dirty="0"/>
          </a:p>
          <a:p>
            <a:pPr lvl="1"/>
            <a:endParaRPr lang="en-US" sz="2000" dirty="0"/>
          </a:p>
          <a:p>
            <a:pPr lvl="1"/>
            <a:endParaRPr lang="en-GB" sz="2000" dirty="0"/>
          </a:p>
        </p:txBody>
      </p:sp>
      <p:pic>
        <p:nvPicPr>
          <p:cNvPr id="4" name="Picture 8" descr="http://www.toolkit2collaborate.ca/wp/wp-content/uploads/2014/02/ICON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71600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http://www.toolkit2collaborate.ca/wp/wp-content/uploads/2014/02/ICON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971800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817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TestNG</a:t>
            </a:r>
            <a:r>
              <a:rPr lang="en-US" dirty="0"/>
              <a:t> – </a:t>
            </a:r>
            <a:r>
              <a:rPr lang="en-US" dirty="0" err="1"/>
              <a:t>Doga</a:t>
            </a:r>
            <a:r>
              <a:rPr lang="sr-Latn-RS" dirty="0"/>
              <a:t>đ</a:t>
            </a:r>
            <a:r>
              <a:rPr lang="en-US" dirty="0" err="1"/>
              <a:t>aji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fontScale="85000" lnSpcReduction="20000"/>
          </a:bodyPr>
          <a:lstStyle/>
          <a:p>
            <a:r>
              <a:rPr lang="sr-Latn-RS" dirty="0"/>
              <a:t>Moguće je pri izvršavanju testova određene metode izvršiti na odgovarajućim mestima u životnom ciklusu izvršavanja testova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BeforeSuite,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AfterSuite</a:t>
            </a:r>
          </a:p>
          <a:p>
            <a:pPr lvl="2"/>
            <a:r>
              <a:rPr lang="sr-Latn-RS" dirty="0"/>
              <a:t>metoda se izvršava pre ili posle izvršavanja </a:t>
            </a:r>
            <a:r>
              <a:rPr lang="sr-Latn-RS" i="1" dirty="0"/>
              <a:t>suite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Before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Method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After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Method</a:t>
            </a:r>
            <a:endParaRPr lang="sr-Latn-RS" dirty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sr-Latn-RS" dirty="0"/>
              <a:t>metoda se izvršava pre ili posle svake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@Test</a:t>
            </a:r>
            <a:r>
              <a:rPr lang="en-US" dirty="0"/>
              <a:t> </a:t>
            </a:r>
            <a:r>
              <a:rPr lang="en-US" dirty="0" err="1"/>
              <a:t>metode</a:t>
            </a:r>
            <a:endParaRPr lang="en-US" dirty="0"/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Before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Test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After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Test</a:t>
            </a:r>
          </a:p>
          <a:p>
            <a:pPr lvl="2"/>
            <a:r>
              <a:rPr lang="en-US" dirty="0" err="1"/>
              <a:t>metoda</a:t>
            </a:r>
            <a:r>
              <a:rPr lang="en-US" dirty="0"/>
              <a:t> se </a:t>
            </a:r>
            <a:r>
              <a:rPr lang="en-US" dirty="0" err="1"/>
              <a:t>izvr</a:t>
            </a:r>
            <a:r>
              <a:rPr lang="sr-Latn-RS" dirty="0"/>
              <a:t>šava pre ili posle </a:t>
            </a:r>
            <a:r>
              <a:rPr lang="sr-Latn-RS" i="1" dirty="0"/>
              <a:t>test</a:t>
            </a:r>
            <a:r>
              <a:rPr lang="sr-Latn-RS" dirty="0"/>
              <a:t> taga u test </a:t>
            </a:r>
            <a:r>
              <a:rPr lang="sr-Latn-RS" i="1" dirty="0"/>
              <a:t>suite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BeforeGroups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AfterGroups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err="1"/>
              <a:t>metoda</a:t>
            </a:r>
            <a:r>
              <a:rPr lang="en-US" dirty="0"/>
              <a:t> se </a:t>
            </a:r>
            <a:r>
              <a:rPr lang="sr-Latn-RS" dirty="0"/>
              <a:t>izvršava pre ili posle izvršavanja određene grupe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BeforeClass,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AfterClass</a:t>
            </a:r>
          </a:p>
          <a:p>
            <a:pPr lvl="2"/>
            <a:r>
              <a:rPr lang="sr-Latn-RS" dirty="0"/>
              <a:t>metoda se izvršava pre prve ili nakon poslednje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@Test </a:t>
            </a:r>
            <a:r>
              <a:rPr lang="en-US" dirty="0" err="1"/>
              <a:t>metode</a:t>
            </a:r>
            <a:r>
              <a:rPr lang="en-US" dirty="0"/>
              <a:t> u </a:t>
            </a:r>
            <a:r>
              <a:rPr lang="en-US" dirty="0" err="1"/>
              <a:t>klasi</a:t>
            </a:r>
            <a:r>
              <a:rPr lang="sr-Latn-RS" dirty="0"/>
              <a:t> </a:t>
            </a:r>
          </a:p>
          <a:p>
            <a:r>
              <a:rPr lang="sr-Latn-RS" dirty="0"/>
              <a:t>Primer</a:t>
            </a:r>
          </a:p>
          <a:p>
            <a:pPr lvl="1"/>
            <a:r>
              <a:rPr lang="sr-Latn-RS" dirty="0">
                <a:latin typeface="Courier New" pitchFamily="49" charset="0"/>
                <a:cs typeface="Courier New" pitchFamily="49" charset="0"/>
              </a:rPr>
              <a:t>unit-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testing/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all-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suite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xml</a:t>
            </a:r>
            <a:endParaRPr lang="sr-Latn-RS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sr-Latn-RS" dirty="0">
                <a:latin typeface="Courier New" pitchFamily="49" charset="0"/>
                <a:cs typeface="Courier New" pitchFamily="49" charset="0"/>
              </a:rPr>
              <a:t>unit-testing/unitestting.testng.beforeafter.*</a:t>
            </a:r>
            <a:endParaRPr lang="sr-Latn-RS" dirty="0"/>
          </a:p>
          <a:p>
            <a:pPr lvl="1"/>
            <a:endParaRPr lang="en-GB" dirty="0"/>
          </a:p>
        </p:txBody>
      </p:sp>
      <p:pic>
        <p:nvPicPr>
          <p:cNvPr id="4" name="Picture 8" descr="http://www.toolkit2collaborate.ca/wp/wp-content/uploads/2014/02/ICON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105400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8988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TestNG – očekivani izuzeci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229600" cy="4572000"/>
          </a:xfrm>
        </p:spPr>
        <p:txBody>
          <a:bodyPr/>
          <a:lstStyle/>
          <a:p>
            <a:r>
              <a:rPr lang="sr-Latn-RS" dirty="0"/>
              <a:t>Test može da definiše da očekuje da se pri pozivu metode desi određeni izuzetak</a:t>
            </a:r>
          </a:p>
          <a:p>
            <a:pPr lvl="1"/>
            <a:r>
              <a:rPr lang="sr-Latn-RS" dirty="0"/>
              <a:t>test prolazi ako se takav izuzetak desi</a:t>
            </a:r>
          </a:p>
          <a:p>
            <a:pPr lvl="1"/>
            <a:r>
              <a:rPr lang="sr-Latn-RS" dirty="0"/>
              <a:t>ovo se koristi najčešće za negativne testove kada verifikujemo ponašanje na nevalidne ulaze</a:t>
            </a:r>
          </a:p>
          <a:p>
            <a:pPr lvl="1"/>
            <a:r>
              <a:rPr lang="sr-Latn-RS" dirty="0"/>
              <a:t>može se postaviti i da očekuje više izuzetaka</a:t>
            </a:r>
          </a:p>
          <a:p>
            <a:pPr lvl="2"/>
            <a:r>
              <a:rPr lang="sr-Latn-RS" dirty="0"/>
              <a:t>bilo koji izuzetak ako se desi, test prolazi</a:t>
            </a:r>
          </a:p>
          <a:p>
            <a:r>
              <a:rPr lang="sr-Latn-RS" dirty="0"/>
              <a:t>Primer</a:t>
            </a:r>
          </a:p>
          <a:p>
            <a:pPr lvl="1"/>
            <a:r>
              <a:rPr lang="sr-Latn-RS" sz="1600" dirty="0">
                <a:latin typeface="Courier New" pitchFamily="49" charset="0"/>
                <a:cs typeface="Courier New" pitchFamily="49" charset="0"/>
              </a:rPr>
              <a:t>@Test(expectedExceptions = IndexOutOfBoundsException.class)</a:t>
            </a:r>
          </a:p>
          <a:p>
            <a:pPr lvl="1"/>
            <a:r>
              <a:rPr lang="sr-Latn-RS" sz="1600" dirty="0">
                <a:latin typeface="Courier New" pitchFamily="49" charset="0"/>
                <a:cs typeface="Courier New" pitchFamily="49" charset="0"/>
              </a:rPr>
              <a:t>unit-testing/unittesting.testng.exceptions.TestException.java</a:t>
            </a:r>
          </a:p>
        </p:txBody>
      </p:sp>
      <p:pic>
        <p:nvPicPr>
          <p:cNvPr id="4" name="Picture 8" descr="http://www.toolkit2collaborate.ca/wp/wp-content/uploads/2014/02/ICON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4267200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0965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2800" dirty="0"/>
              <a:t>TestNG – Ograničenje vremena izvršavanja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153400" cy="4572000"/>
          </a:xfrm>
        </p:spPr>
        <p:txBody>
          <a:bodyPr/>
          <a:lstStyle/>
          <a:p>
            <a:r>
              <a:rPr lang="sr-Latn-RS" dirty="0"/>
              <a:t>Moguće je definisati maksimalno vreme za koje test mora biti izvršen da bi bio uspešan</a:t>
            </a:r>
          </a:p>
          <a:p>
            <a:pPr lvl="1"/>
            <a:r>
              <a:rPr lang="sr-Latn-RS" dirty="0"/>
              <a:t>vreme se navodi u milisekundama</a:t>
            </a:r>
          </a:p>
          <a:p>
            <a:r>
              <a:rPr lang="sr-Latn-RS" dirty="0"/>
              <a:t>Koristi se kod testiranja performansi</a:t>
            </a:r>
          </a:p>
          <a:p>
            <a:r>
              <a:rPr lang="sr-Latn-RS" dirty="0"/>
              <a:t>Primer</a:t>
            </a:r>
          </a:p>
          <a:p>
            <a:pPr lvl="1"/>
            <a:r>
              <a:rPr lang="en-GB" sz="2000" dirty="0">
                <a:latin typeface="Courier New" pitchFamily="49" charset="0"/>
                <a:cs typeface="Courier New" pitchFamily="49" charset="0"/>
              </a:rPr>
              <a:t>@Test(</a:t>
            </a:r>
            <a:r>
              <a:rPr lang="en-GB" sz="2000" dirty="0" err="1">
                <a:latin typeface="Courier New" pitchFamily="49" charset="0"/>
                <a:cs typeface="Courier New" pitchFamily="49" charset="0"/>
              </a:rPr>
              <a:t>timeOut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sr-Latn-RS" sz="2000" dirty="0">
                <a:latin typeface="Courier New" pitchFamily="49" charset="0"/>
                <a:cs typeface="Courier New" pitchFamily="49" charset="0"/>
              </a:rPr>
              <a:t>1000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)</a:t>
            </a:r>
            <a:endParaRPr lang="sr-Latn-RS" sz="20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sr-Latn-RS" sz="2000" dirty="0">
                <a:latin typeface="Courier New" pitchFamily="49" charset="0"/>
                <a:cs typeface="Courier New" pitchFamily="49" charset="0"/>
              </a:rPr>
              <a:t>unit-testing/unittesting.testng.time.TestTimeout</a:t>
            </a:r>
            <a:endParaRPr lang="en-GB" sz="20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" name="Picture 8" descr="http://www.toolkit2collaborate.ca/wp/wp-content/uploads/2014/02/ICON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3124200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5705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TestNG – Ignorisanje testova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229600" cy="4572000"/>
          </a:xfrm>
        </p:spPr>
        <p:txBody>
          <a:bodyPr/>
          <a:lstStyle/>
          <a:p>
            <a:r>
              <a:rPr lang="sr-Latn-RS" dirty="0"/>
              <a:t>Za određene testov</a:t>
            </a:r>
            <a:r>
              <a:rPr lang="en-US"/>
              <a:t>e</a:t>
            </a:r>
            <a:r>
              <a:rPr lang="sr-Latn-RS"/>
              <a:t> </a:t>
            </a:r>
            <a:r>
              <a:rPr lang="sr-Latn-RS" dirty="0"/>
              <a:t>se može definisati da se uopšte ne izvršavaju</a:t>
            </a:r>
          </a:p>
          <a:p>
            <a:r>
              <a:rPr lang="sr-Latn-RS" dirty="0"/>
              <a:t>Primer</a:t>
            </a:r>
          </a:p>
          <a:p>
            <a:pPr lvl="1"/>
            <a:r>
              <a:rPr lang="en-GB" sz="2000" dirty="0">
                <a:latin typeface="Courier New" pitchFamily="49" charset="0"/>
                <a:cs typeface="Courier New" pitchFamily="49" charset="0"/>
              </a:rPr>
              <a:t>@Test(enabled = false)</a:t>
            </a:r>
            <a:endParaRPr lang="sr-Latn-RS" sz="20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sr-Latn-RS" sz="2000" dirty="0">
                <a:latin typeface="Courier New" pitchFamily="49" charset="0"/>
                <a:cs typeface="Courier New" pitchFamily="49" charset="0"/>
              </a:rPr>
              <a:t>unit-testing/unittesting.testng.ignore.TestIgnore</a:t>
            </a:r>
            <a:endParaRPr lang="en-GB" sz="20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" name="Picture 8" descr="http://www.toolkit2collaborate.ca/wp/wp-content/uploads/2014/02/ICON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" y="2286000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93048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TestNG - Zavisnosti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Može se definisati da izvršavanje određenog testa zavisi od uspešnog izvršavanja drugih testova</a:t>
            </a:r>
          </a:p>
          <a:p>
            <a:pPr lvl="1"/>
            <a:r>
              <a:rPr lang="sr-Latn-RS" dirty="0"/>
              <a:t>test se ne izvršava ako zavisni testovi nisu prošli</a:t>
            </a:r>
          </a:p>
          <a:p>
            <a:r>
              <a:rPr lang="sr-Latn-RS" dirty="0"/>
              <a:t>Zavisnost od pojedinačnih testova</a:t>
            </a:r>
          </a:p>
          <a:p>
            <a:pPr lvl="1"/>
            <a:r>
              <a:rPr lang="sr-Latn-RS" sz="2000" dirty="0">
                <a:latin typeface="Courier New" pitchFamily="49" charset="0"/>
                <a:cs typeface="Courier New" pitchFamily="49" charset="0"/>
              </a:rPr>
              <a:t>@Test(dependsOnMethods = { "test1", "test2"})</a:t>
            </a:r>
          </a:p>
          <a:p>
            <a:r>
              <a:rPr lang="sr-Latn-RS" sz="2200" dirty="0"/>
              <a:t>Zavisnost od cele grupe</a:t>
            </a:r>
            <a:endParaRPr lang="sr-Latn-RS" sz="20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GB" sz="2000" dirty="0">
                <a:latin typeface="Courier New" pitchFamily="49" charset="0"/>
                <a:cs typeface="Courier New" pitchFamily="49" charset="0"/>
              </a:rPr>
              <a:t>@Test(</a:t>
            </a:r>
            <a:r>
              <a:rPr lang="en-GB" sz="2000" dirty="0" err="1">
                <a:latin typeface="Courier New" pitchFamily="49" charset="0"/>
                <a:cs typeface="Courier New" pitchFamily="49" charset="0"/>
              </a:rPr>
              <a:t>dependsOnGroups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 = {"gr</a:t>
            </a:r>
            <a:r>
              <a:rPr lang="sr-Latn-RS" sz="2000" dirty="0">
                <a:latin typeface="Courier New" pitchFamily="49" charset="0"/>
                <a:cs typeface="Courier New" pitchFamily="49" charset="0"/>
              </a:rPr>
              <a:t>oup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1","gr</a:t>
            </a:r>
            <a:r>
              <a:rPr lang="sr-Latn-RS" sz="2000" dirty="0">
                <a:latin typeface="Courier New" pitchFamily="49" charset="0"/>
                <a:cs typeface="Courier New" pitchFamily="49" charset="0"/>
              </a:rPr>
              <a:t>oup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2"})</a:t>
            </a:r>
            <a:r>
              <a:rPr lang="sr-Latn-RS" sz="2000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r>
              <a:rPr lang="sr-Latn-RS" sz="2200" dirty="0"/>
              <a:t>Primer</a:t>
            </a:r>
          </a:p>
          <a:p>
            <a:pPr lvl="1"/>
            <a:r>
              <a:rPr lang="sr-Latn-RS" sz="2000" dirty="0">
                <a:latin typeface="Courier New" pitchFamily="49" charset="0"/>
                <a:cs typeface="Courier New" pitchFamily="49" charset="0"/>
              </a:rPr>
              <a:t>unit-testing/unittesting.testng.depend.*	</a:t>
            </a:r>
          </a:p>
        </p:txBody>
      </p:sp>
      <p:pic>
        <p:nvPicPr>
          <p:cNvPr id="4" name="Picture 8" descr="http://www.toolkit2collaborate.ca/wp/wp-content/uploads/2014/02/ICON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" y="4648200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023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TestNG – Parametri testova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77200" cy="50292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Testovi mogu u toku izvršavanja da dobijaju parametre</a:t>
            </a:r>
          </a:p>
          <a:p>
            <a:r>
              <a:rPr lang="sr-Latn-RS" dirty="0"/>
              <a:t>Ako se pošalje lista parametara, TestNG će kreirati više instanci testova, pri čemu će svaka instanca dobijati naredni iz l</a:t>
            </a:r>
            <a:r>
              <a:rPr lang="en-US" dirty="0" err="1"/>
              <a:t>iste</a:t>
            </a:r>
            <a:endParaRPr lang="sr-Latn-RS" dirty="0"/>
          </a:p>
          <a:p>
            <a:r>
              <a:rPr lang="sr-Latn-RS" dirty="0"/>
              <a:t>Dva načina prosleđivanja parametara</a:t>
            </a:r>
          </a:p>
          <a:p>
            <a:r>
              <a:rPr lang="sr-Latn-RS" dirty="0"/>
              <a:t>Iz XML fajla</a:t>
            </a:r>
          </a:p>
          <a:p>
            <a:pPr lvl="1"/>
            <a:r>
              <a:rPr lang="sr-Latn-RS" dirty="0"/>
              <a:t>Primer</a:t>
            </a:r>
          </a:p>
          <a:p>
            <a:pPr lvl="2"/>
            <a:r>
              <a:rPr lang="sr-Latn-RS" sz="1900">
                <a:latin typeface="Courier New" pitchFamily="49" charset="0"/>
                <a:cs typeface="Courier New" pitchFamily="49" charset="0"/>
              </a:rPr>
              <a:t>unit-testing/unittesting.testng.param.TestParamXML</a:t>
            </a:r>
            <a:endParaRPr lang="sr-Latn-RS" sz="1900" dirty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sr-Latn-RS" sz="1900" dirty="0">
                <a:latin typeface="Courier New" pitchFamily="49" charset="0"/>
                <a:cs typeface="Courier New" pitchFamily="49" charset="0"/>
              </a:rPr>
              <a:t>unit-testing/unittesting.testng.param.parameter-test.xml</a:t>
            </a:r>
          </a:p>
          <a:p>
            <a:r>
              <a:rPr lang="sr-Latn-RS" dirty="0"/>
              <a:t>Iz programskog koda putem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DataProvider</a:t>
            </a:r>
            <a:r>
              <a:rPr lang="sr-Latn-RS" dirty="0"/>
              <a:t> anotacije</a:t>
            </a:r>
          </a:p>
          <a:p>
            <a:pPr lvl="1"/>
            <a:r>
              <a:rPr lang="sr-Latn-RS" dirty="0"/>
              <a:t>Primer</a:t>
            </a:r>
          </a:p>
          <a:p>
            <a:pPr lvl="2"/>
            <a:r>
              <a:rPr lang="sr-Latn-RS" sz="1900" dirty="0">
                <a:latin typeface="Courier New" pitchFamily="49" charset="0"/>
                <a:cs typeface="Courier New" pitchFamily="49" charset="0"/>
              </a:rPr>
              <a:t>unit-testing/unittesting.testng.param. TestParamDataProvider</a:t>
            </a:r>
            <a:endParaRPr lang="en-GB" sz="19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" name="Picture 8" descr="http://www.toolkit2collaborate.ca/wp/wp-content/uploads/2014/02/ICON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657600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http://www.toolkit2collaborate.ca/wp/wp-content/uploads/2014/02/ICON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5334000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398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Mocking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Mocking mehanizam omogućuje simulaciju ponašanja objekata koje testirani objekat koristi</a:t>
            </a:r>
          </a:p>
          <a:p>
            <a:pPr lvl="1"/>
            <a:r>
              <a:rPr lang="sr-Latn-RS" dirty="0"/>
              <a:t>da bi se testirani objekat testirao u izolaciji važno je da referencirani objekti ne unose grešku</a:t>
            </a:r>
          </a:p>
          <a:p>
            <a:pPr lvl="1"/>
            <a:r>
              <a:rPr lang="sr-Latn-RS" dirty="0"/>
              <a:t>potrebno je simulirati da referencirani objekti uvek rade ispravno</a:t>
            </a:r>
          </a:p>
          <a:p>
            <a:r>
              <a:rPr lang="sr-Latn-RS" dirty="0"/>
              <a:t>Umesto pravih objekata koje klasa referencira postavljaju se objekti dvojnici (</a:t>
            </a:r>
            <a:r>
              <a:rPr lang="sr-Latn-RS" i="1" dirty="0"/>
              <a:t>test doubles</a:t>
            </a:r>
            <a:r>
              <a:rPr lang="sr-Latn-RS" dirty="0"/>
              <a:t>) koji simuliraju ponašanje referenciranih objekata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5427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Java Mock objekti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01000" cy="5105400"/>
          </a:xfrm>
        </p:spPr>
        <p:txBody>
          <a:bodyPr>
            <a:normAutofit lnSpcReduction="10000"/>
          </a:bodyPr>
          <a:lstStyle/>
          <a:p>
            <a:endParaRPr lang="sr-Latn-RS" dirty="0"/>
          </a:p>
          <a:p>
            <a:r>
              <a:rPr lang="sr-Latn-RS" dirty="0"/>
              <a:t>Mockito</a:t>
            </a:r>
          </a:p>
          <a:p>
            <a:pPr lvl="1"/>
            <a:r>
              <a:rPr lang="sr-Latn-RS" dirty="0"/>
              <a:t>Najpopularniji radni okvir za implementaciju </a:t>
            </a:r>
            <a:r>
              <a:rPr lang="sr-Latn-RS" i="1" dirty="0"/>
              <a:t>mocking</a:t>
            </a:r>
            <a:r>
              <a:rPr lang="sr-Latn-RS" dirty="0"/>
              <a:t> mehanizma u testiranju Java programa</a:t>
            </a:r>
          </a:p>
          <a:p>
            <a:r>
              <a:rPr lang="sr-Latn-RS" dirty="0"/>
              <a:t>Omogućuje kreiranje objekta dvojnika</a:t>
            </a:r>
          </a:p>
          <a:p>
            <a:pPr lvl="1"/>
            <a:r>
              <a:rPr lang="sr-Latn-RS" dirty="0"/>
              <a:t>objekat ima isti interfejs kao originalni</a:t>
            </a:r>
          </a:p>
          <a:p>
            <a:pPr lvl="1"/>
            <a:r>
              <a:rPr lang="sr-Latn-RS" dirty="0"/>
              <a:t>metode se ne izvršavaju nad stvarnim objektom nego vraćaju simulirani rezultat koji mi odredimo</a:t>
            </a:r>
          </a:p>
          <a:p>
            <a:r>
              <a:rPr lang="sr-Latn-RS" i="1" dirty="0"/>
              <a:t>Mockito </a:t>
            </a:r>
            <a:r>
              <a:rPr lang="sr-Latn-RS" dirty="0"/>
              <a:t>sintaksno ne razlikuje </a:t>
            </a:r>
            <a:r>
              <a:rPr lang="sr-Latn-RS" i="1" dirty="0"/>
              <a:t>stub </a:t>
            </a:r>
            <a:r>
              <a:rPr lang="sr-Latn-RS" dirty="0"/>
              <a:t>od </a:t>
            </a:r>
            <a:r>
              <a:rPr lang="sr-Latn-RS" i="1" dirty="0"/>
              <a:t>mock </a:t>
            </a:r>
            <a:r>
              <a:rPr lang="sr-Latn-RS" dirty="0"/>
              <a:t>objekata</a:t>
            </a:r>
          </a:p>
          <a:p>
            <a:pPr lvl="1"/>
            <a:r>
              <a:rPr lang="sr-Latn-RS" dirty="0"/>
              <a:t>objekti se kreiraju metodom </a:t>
            </a:r>
            <a:r>
              <a:rPr lang="sr-Latn-RS" i="1" dirty="0"/>
              <a:t>mock()</a:t>
            </a:r>
          </a:p>
          <a:p>
            <a:pPr lvl="1"/>
            <a:r>
              <a:rPr lang="sr-Latn-RS" dirty="0"/>
              <a:t>kontekst korišćenja pravi razliku između ova dva tipa</a:t>
            </a:r>
            <a:endParaRPr lang="en-GB" dirty="0"/>
          </a:p>
        </p:txBody>
      </p:sp>
      <p:pic>
        <p:nvPicPr>
          <p:cNvPr id="3074" name="Picture 2" descr="https://raw.githubusercontent.com/mockito/mockito/master/src/javadoc/org/mockito/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300" y="1295400"/>
            <a:ext cx="26670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1510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Mockito – Mock objekat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fontScale="92500"/>
          </a:bodyPr>
          <a:lstStyle/>
          <a:p>
            <a:r>
              <a:rPr lang="sr-Latn-RS" dirty="0"/>
              <a:t>Kreiranje </a:t>
            </a:r>
            <a:r>
              <a:rPr lang="sr-Latn-RS" i="1" dirty="0"/>
              <a:t>mock </a:t>
            </a:r>
            <a:r>
              <a:rPr lang="sr-Latn-RS" dirty="0"/>
              <a:t>objekta</a:t>
            </a:r>
          </a:p>
          <a:p>
            <a:pPr lvl="1"/>
            <a:r>
              <a:rPr lang="sr-Latn-RS" dirty="0"/>
              <a:t>statičkoj </a:t>
            </a:r>
            <a:r>
              <a:rPr lang="sr-Latn-RS" i="1" dirty="0"/>
              <a:t>mock()</a:t>
            </a:r>
            <a:r>
              <a:rPr lang="sr-Latn-RS" dirty="0"/>
              <a:t> metodi se</a:t>
            </a:r>
            <a:r>
              <a:rPr lang="sr-Latn-RS" i="1" dirty="0"/>
              <a:t> </a:t>
            </a:r>
            <a:r>
              <a:rPr lang="sr-Latn-RS" dirty="0"/>
              <a:t>prosleđuje klasa čiji lažni objekat kreiramo</a:t>
            </a:r>
          </a:p>
          <a:p>
            <a:pPr marL="320040" lvl="1" indent="0">
              <a:buNone/>
            </a:pPr>
            <a:r>
              <a:rPr lang="sr-Latn-RS" sz="1800" dirty="0">
                <a:latin typeface="Courier New" pitchFamily="49" charset="0"/>
                <a:cs typeface="Courier New" pitchFamily="49" charset="0"/>
              </a:rPr>
              <a:t>LoginService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sr-Latn-RS" sz="1800" dirty="0">
                <a:latin typeface="Courier New" pitchFamily="49" charset="0"/>
                <a:cs typeface="Courier New" pitchFamily="49" charset="0"/>
              </a:rPr>
              <a:t>ls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Mockito.mock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sr-Latn-RS" sz="1800" dirty="0">
                <a:latin typeface="Courier New" pitchFamily="49" charset="0"/>
                <a:cs typeface="Courier New" pitchFamily="49" charset="0"/>
              </a:rPr>
              <a:t>LoginService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.class);</a:t>
            </a:r>
            <a:endParaRPr lang="sr-Latn-RS" sz="1800" dirty="0">
              <a:latin typeface="Courier New" pitchFamily="49" charset="0"/>
              <a:cs typeface="Courier New" pitchFamily="49" charset="0"/>
            </a:endParaRPr>
          </a:p>
          <a:p>
            <a:pPr marL="320040" lvl="1" indent="0">
              <a:buNone/>
            </a:pPr>
            <a:endParaRPr lang="sr-Latn-RS" sz="1800" dirty="0">
              <a:latin typeface="Courier New" pitchFamily="49" charset="0"/>
              <a:cs typeface="Courier New" pitchFamily="49" charset="0"/>
            </a:endParaRPr>
          </a:p>
          <a:p>
            <a:r>
              <a:rPr lang="sr-Latn-RS" dirty="0"/>
              <a:t>Za metode </a:t>
            </a:r>
            <a:r>
              <a:rPr lang="sr-Latn-RS" i="1" dirty="0"/>
              <a:t>mock </a:t>
            </a:r>
            <a:r>
              <a:rPr lang="sr-Latn-RS" dirty="0"/>
              <a:t>objekta se mora definisati ponašanje</a:t>
            </a:r>
          </a:p>
          <a:p>
            <a:pPr lvl="1"/>
            <a:r>
              <a:rPr lang="sr-Latn-RS" dirty="0"/>
              <a:t>koji rezultat određena metoda vraća za određene izlaze</a:t>
            </a:r>
          </a:p>
          <a:p>
            <a:pPr lvl="1"/>
            <a:r>
              <a:rPr lang="sr-Latn-RS" dirty="0"/>
              <a:t>metode za koje se ne navede lažno ponašanje vraćaju </a:t>
            </a:r>
            <a:r>
              <a:rPr lang="sr-Latn-RS" i="1" dirty="0"/>
              <a:t>null</a:t>
            </a:r>
          </a:p>
          <a:p>
            <a:pPr lvl="1"/>
            <a:r>
              <a:rPr lang="sr-Latn-RS" dirty="0"/>
              <a:t>u terminologiji testiranja, ovo odgovara </a:t>
            </a:r>
            <a:r>
              <a:rPr lang="sr-Latn-RS" i="1" dirty="0"/>
              <a:t>stub </a:t>
            </a:r>
            <a:r>
              <a:rPr lang="sr-Latn-RS" dirty="0"/>
              <a:t>objektu</a:t>
            </a:r>
            <a:endParaRPr lang="en-US" dirty="0"/>
          </a:p>
          <a:p>
            <a:pPr marL="320040" lvl="1" indent="0">
              <a:buNone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//primer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lazni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 login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koji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uvek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uspeva</a:t>
            </a:r>
            <a:endParaRPr lang="sr-Latn-RS" i="1" dirty="0">
              <a:latin typeface="Courier New" pitchFamily="49" charset="0"/>
              <a:cs typeface="Courier New" pitchFamily="49" charset="0"/>
            </a:endParaRPr>
          </a:p>
          <a:p>
            <a:pPr marL="320040" lvl="1" indent="0">
              <a:buNone/>
            </a:pPr>
            <a:r>
              <a:rPr lang="en-GB" sz="2200" dirty="0">
                <a:latin typeface="Courier New" pitchFamily="49" charset="0"/>
                <a:cs typeface="Courier New" pitchFamily="49" charset="0"/>
              </a:rPr>
              <a:t>when(</a:t>
            </a:r>
            <a:r>
              <a:rPr lang="sr-Latn-RS" sz="2200" dirty="0">
                <a:latin typeface="Courier New" pitchFamily="49" charset="0"/>
                <a:cs typeface="Courier New" pitchFamily="49" charset="0"/>
              </a:rPr>
              <a:t>ls</a:t>
            </a:r>
            <a:r>
              <a:rPr lang="en-GB" sz="2200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sr-Latn-RS" sz="2200" dirty="0">
                <a:latin typeface="Courier New" pitchFamily="49" charset="0"/>
                <a:cs typeface="Courier New" pitchFamily="49" charset="0"/>
              </a:rPr>
              <a:t>login</a:t>
            </a:r>
            <a:r>
              <a:rPr lang="en-GB" sz="2200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sr-Latn-RS" sz="2200" dirty="0">
                <a:latin typeface="Courier New" pitchFamily="49" charset="0"/>
                <a:cs typeface="Courier New" pitchFamily="49" charset="0"/>
              </a:rPr>
              <a:t>admin</a:t>
            </a:r>
            <a:r>
              <a:rPr lang="en-GB" sz="2200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sr-Latn-RS" sz="22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2200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sr-Latn-RS" sz="2200" dirty="0">
                <a:latin typeface="Courier New" pitchFamily="49" charset="0"/>
                <a:cs typeface="Courier New" pitchFamily="49" charset="0"/>
              </a:rPr>
              <a:t>admin</a:t>
            </a:r>
            <a:r>
              <a:rPr lang="en-GB" sz="2200" dirty="0">
                <a:latin typeface="Courier New" pitchFamily="49" charset="0"/>
                <a:cs typeface="Courier New" pitchFamily="49" charset="0"/>
              </a:rPr>
              <a:t>")).</a:t>
            </a:r>
            <a:r>
              <a:rPr lang="sr-Latn-RS" sz="2200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GB" sz="2200" dirty="0" err="1">
                <a:latin typeface="Courier New" pitchFamily="49" charset="0"/>
                <a:cs typeface="Courier New" pitchFamily="49" charset="0"/>
              </a:rPr>
              <a:t>thenReturn</a:t>
            </a:r>
            <a:r>
              <a:rPr lang="en-GB" sz="2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sr-Latn-RS" sz="2200" dirty="0">
                <a:latin typeface="Courier New" pitchFamily="49" charset="0"/>
                <a:cs typeface="Courier New" pitchFamily="49" charset="0"/>
              </a:rPr>
              <a:t>true</a:t>
            </a:r>
            <a:r>
              <a:rPr lang="en-GB" sz="2200" dirty="0">
                <a:latin typeface="Courier New" pitchFamily="49" charset="0"/>
                <a:cs typeface="Courier New" pitchFamily="49" charset="0"/>
              </a:rPr>
              <a:t>);</a:t>
            </a:r>
            <a:endParaRPr lang="sr-Latn-RS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" name="Picture 2" descr="https://raw.githubusercontent.com/mockito/mockito/master/src/javadoc/org/mockito/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52400"/>
            <a:ext cx="26670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13740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Mockito – Mock objekat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izvr</a:t>
            </a:r>
            <a:r>
              <a:rPr lang="sr-Latn-RS" dirty="0"/>
              <a:t>šavanju testa, </a:t>
            </a:r>
            <a:r>
              <a:rPr lang="sr-Latn-RS" i="1" dirty="0"/>
              <a:t>mock</a:t>
            </a:r>
            <a:r>
              <a:rPr lang="sr-Latn-RS" dirty="0"/>
              <a:t> objekat će se ponašati kako je specificirano</a:t>
            </a:r>
          </a:p>
          <a:p>
            <a:pPr marL="0" inden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sr-Latn-RS" sz="2400" dirty="0">
                <a:latin typeface="Courier New" pitchFamily="49" charset="0"/>
                <a:cs typeface="Courier New" pitchFamily="49" charset="0"/>
              </a:rPr>
              <a:t>assertTrue(ls.login("admin", "admin"));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sr-Latn-RS" sz="2400" dirty="0">
              <a:latin typeface="Courier New" pitchFamily="49" charset="0"/>
              <a:cs typeface="Courier New" pitchFamily="49" charset="0"/>
            </a:endParaRPr>
          </a:p>
          <a:p>
            <a:r>
              <a:rPr lang="sr-Latn-RS" dirty="0"/>
              <a:t>Metoda m</a:t>
            </a:r>
            <a:r>
              <a:rPr lang="en-US" dirty="0" err="1"/>
              <a:t>ock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sr-Latn-RS" dirty="0"/>
              <a:t>ta može da simulira izbacivanje određenog izuzetka za neke ulaze</a:t>
            </a:r>
          </a:p>
          <a:p>
            <a:pPr marL="0" indent="0">
              <a:buNone/>
            </a:pPr>
            <a:r>
              <a:rPr lang="sr-Latn-RS" sz="18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doThrow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(new </a:t>
            </a:r>
            <a:r>
              <a:rPr lang="sr-Latn-RS" sz="1800" dirty="0">
                <a:latin typeface="Courier New" pitchFamily="49" charset="0"/>
                <a:cs typeface="Courier New" pitchFamily="49" charset="0"/>
              </a:rPr>
              <a:t>UserNotFound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Exception()).</a:t>
            </a:r>
            <a:r>
              <a:rPr lang="sr-Latn-RS" sz="1800" dirty="0">
                <a:latin typeface="Courier New" pitchFamily="49" charset="0"/>
                <a:cs typeface="Courier New" pitchFamily="49" charset="0"/>
              </a:rPr>
              <a:t>    	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when(</a:t>
            </a:r>
            <a:r>
              <a:rPr lang="sr-Latn-RS" sz="1800" dirty="0">
                <a:latin typeface="Courier New" pitchFamily="49" charset="0"/>
                <a:cs typeface="Courier New" pitchFamily="49" charset="0"/>
              </a:rPr>
              <a:t>ls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).</a:t>
            </a:r>
            <a:r>
              <a:rPr lang="sr-Latn-RS" sz="1800" dirty="0">
                <a:latin typeface="Courier New" pitchFamily="49" charset="0"/>
                <a:cs typeface="Courier New" pitchFamily="49" charset="0"/>
              </a:rPr>
              <a:t>login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sr-Latn-RS" sz="1800" dirty="0">
                <a:latin typeface="Courier New" pitchFamily="49" charset="0"/>
                <a:cs typeface="Courier New" pitchFamily="49" charset="0"/>
              </a:rPr>
              <a:t>"", ""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);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err="1"/>
              <a:t>Primeri</a:t>
            </a:r>
            <a:endParaRPr lang="en-US" dirty="0"/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unit-testing/unittesting.mock.*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pic>
        <p:nvPicPr>
          <p:cNvPr id="6" name="Picture 2" descr="https://raw.githubusercontent.com/mockito/mockito/master/src/javadoc/org/mockito/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27000"/>
            <a:ext cx="26670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http://www.toolkit2collaborate.ca/wp/wp-content/uploads/2014/02/ICON_Exampl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724400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83870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Mockito – Spy objekat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r>
              <a:rPr lang="sr-Latn-RS" dirty="0"/>
              <a:t>Osim </a:t>
            </a:r>
            <a:r>
              <a:rPr lang="sr-Latn-RS" i="1" dirty="0"/>
              <a:t>mock</a:t>
            </a:r>
            <a:r>
              <a:rPr lang="sr-Latn-RS" dirty="0"/>
              <a:t> objekata </a:t>
            </a:r>
            <a:r>
              <a:rPr lang="sr-Latn-RS" i="1" dirty="0"/>
              <a:t>mockito</a:t>
            </a:r>
            <a:r>
              <a:rPr lang="sr-Latn-RS" dirty="0"/>
              <a:t> omogućuje i kreiranje </a:t>
            </a:r>
            <a:r>
              <a:rPr lang="sr-Latn-RS" i="1" dirty="0"/>
              <a:t>spy</a:t>
            </a:r>
            <a:r>
              <a:rPr lang="sr-Latn-RS" dirty="0"/>
              <a:t> objekata</a:t>
            </a:r>
            <a:endParaRPr lang="en-GB" dirty="0"/>
          </a:p>
          <a:p>
            <a:r>
              <a:rPr lang="sr-Latn-RS" i="1" dirty="0"/>
              <a:t>Spy </a:t>
            </a:r>
            <a:r>
              <a:rPr lang="sr-Latn-RS" dirty="0"/>
              <a:t>objekat</a:t>
            </a:r>
          </a:p>
          <a:p>
            <a:pPr lvl="1"/>
            <a:r>
              <a:rPr lang="sr-Latn-RS" dirty="0"/>
              <a:t>objekat kod kojeg se pozivaju stvarne metode, osim onih za koje je eksplicitno navedeno simulirano ponašanje</a:t>
            </a:r>
          </a:p>
          <a:p>
            <a:pPr lvl="1"/>
            <a:r>
              <a:rPr lang="sr-Latn-RS" dirty="0"/>
              <a:t>kod </a:t>
            </a:r>
            <a:r>
              <a:rPr lang="sr-Latn-RS" i="1" dirty="0"/>
              <a:t>mock </a:t>
            </a:r>
            <a:r>
              <a:rPr lang="sr-Latn-RS" dirty="0"/>
              <a:t>objekta metode za koje se ne navede ponašanje vraćaju</a:t>
            </a:r>
            <a:r>
              <a:rPr lang="sr-Latn-RS" i="1" dirty="0"/>
              <a:t> null</a:t>
            </a:r>
            <a:r>
              <a:rPr lang="sr-Latn-RS" dirty="0"/>
              <a:t>, a kod </a:t>
            </a:r>
            <a:r>
              <a:rPr lang="sr-Latn-RS" i="1" dirty="0"/>
              <a:t>spy </a:t>
            </a:r>
            <a:r>
              <a:rPr lang="sr-Latn-RS" dirty="0"/>
              <a:t>objekta pozvaće se stvarna metoda</a:t>
            </a:r>
          </a:p>
          <a:p>
            <a:pPr marL="320040" lvl="1" indent="0">
              <a:buNone/>
            </a:pPr>
            <a:endParaRPr lang="en-GB" sz="2000" i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6" name="Picture 2" descr="https://raw.githubusercontent.com/mockito/mockito/master/src/javadoc/org/mockito/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203200"/>
            <a:ext cx="26670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2464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Mockito – Spy objekat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Primer korišćenja spy objekta</a:t>
            </a:r>
          </a:p>
          <a:p>
            <a:pPr marL="320040" lvl="1" indent="0">
              <a:buNone/>
            </a:pPr>
            <a:r>
              <a:rPr lang="sr-Latn-RS" sz="2000" dirty="0">
                <a:latin typeface="Courier New" pitchFamily="49" charset="0"/>
                <a:cs typeface="Courier New" pitchFamily="49" charset="0"/>
              </a:rPr>
              <a:t>//spy objekat za Java ArrayListu</a:t>
            </a:r>
          </a:p>
          <a:p>
            <a:pPr marL="320040" lvl="1" indent="0">
              <a:buNone/>
            </a:pPr>
            <a:r>
              <a:rPr lang="sr-Latn-RS" sz="2000" dirty="0">
                <a:latin typeface="Courier New" pitchFamily="49" charset="0"/>
                <a:cs typeface="Courier New" pitchFamily="49" charset="0"/>
              </a:rPr>
              <a:t>ArrayList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&gt; list = new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ArrayList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&gt;();</a:t>
            </a:r>
            <a:endParaRPr lang="sr-Latn-RS" sz="2000" dirty="0">
              <a:latin typeface="Courier New" pitchFamily="49" charset="0"/>
              <a:cs typeface="Courier New" pitchFamily="49" charset="0"/>
            </a:endParaRPr>
          </a:p>
          <a:p>
            <a:pPr marL="320040" lvl="1" indent="0">
              <a:buNone/>
            </a:pPr>
            <a:r>
              <a:rPr lang="sr-Latn-RS" sz="2000" dirty="0">
                <a:latin typeface="Courier New" pitchFamily="49" charset="0"/>
                <a:cs typeface="Courier New" pitchFamily="49" charset="0"/>
              </a:rPr>
              <a:t>ArrayList spy = spy(list); </a:t>
            </a:r>
          </a:p>
          <a:p>
            <a:pPr marL="320040" lvl="1" indent="0">
              <a:buNone/>
            </a:pPr>
            <a:r>
              <a:rPr lang="sr-Latn-RS" sz="2000" dirty="0">
                <a:latin typeface="Courier New" pitchFamily="49" charset="0"/>
                <a:cs typeface="Courier New" pitchFamily="49" charset="0"/>
              </a:rPr>
              <a:t>//ubacimo u listu vrednosti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5</a:t>
            </a:r>
            <a:r>
              <a:rPr lang="sr-Latn-RS" sz="2000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5</a:t>
            </a:r>
            <a:r>
              <a:rPr lang="sr-Latn-RS" sz="2000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5</a:t>
            </a:r>
            <a:r>
              <a:rPr lang="sr-Latn-RS" sz="2000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5</a:t>
            </a:r>
            <a:endParaRPr lang="sr-Latn-RS" sz="2000" dirty="0">
              <a:latin typeface="Courier New" pitchFamily="49" charset="0"/>
              <a:cs typeface="Courier New" pitchFamily="49" charset="0"/>
            </a:endParaRPr>
          </a:p>
          <a:p>
            <a:pPr marL="320040" lvl="1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...</a:t>
            </a:r>
            <a:endParaRPr lang="sr-Latn-RS" sz="2000" dirty="0">
              <a:latin typeface="Courier New" pitchFamily="49" charset="0"/>
              <a:cs typeface="Courier New" pitchFamily="49" charset="0"/>
            </a:endParaRPr>
          </a:p>
          <a:p>
            <a:pPr marL="320040" lvl="1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//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lazno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ponasanje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za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preuzimanje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prvog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elementa</a:t>
            </a:r>
            <a:endParaRPr lang="en-GB" sz="2000" dirty="0">
              <a:latin typeface="Courier New" pitchFamily="49" charset="0"/>
              <a:cs typeface="Courier New" pitchFamily="49" charset="0"/>
            </a:endParaRPr>
          </a:p>
          <a:p>
            <a:pPr marL="320040" lvl="1" indent="0">
              <a:buNone/>
            </a:pPr>
            <a:r>
              <a:rPr lang="en-GB" sz="2000" dirty="0" err="1">
                <a:latin typeface="Courier New" pitchFamily="49" charset="0"/>
                <a:cs typeface="Courier New" pitchFamily="49" charset="0"/>
              </a:rPr>
              <a:t>doReturn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9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).when(spy).get(0);</a:t>
            </a:r>
            <a:r>
              <a:rPr lang="sr-Latn-R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sr-Latn-RS" sz="2000" i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320040" lvl="1" indent="0">
              <a:buNone/>
            </a:pPr>
            <a:r>
              <a:rPr lang="sr-Latn-RS" sz="2000" i="1" dirty="0">
                <a:latin typeface="Courier New" pitchFamily="49" charset="0"/>
                <a:cs typeface="Courier New" pitchFamily="49" charset="0"/>
              </a:rPr>
              <a:t>spy.get(0); //</a:t>
            </a:r>
            <a:r>
              <a:rPr lang="en-US" sz="2000" i="1" dirty="0" err="1">
                <a:latin typeface="Courier New" pitchFamily="49" charset="0"/>
                <a:cs typeface="Courier New" pitchFamily="49" charset="0"/>
              </a:rPr>
              <a:t>vraca</a:t>
            </a:r>
            <a:r>
              <a:rPr lang="sr-Latn-RS" sz="2000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i="1" dirty="0">
                <a:latin typeface="Courier New" pitchFamily="49" charset="0"/>
                <a:cs typeface="Courier New" pitchFamily="49" charset="0"/>
              </a:rPr>
              <a:t>9 </a:t>
            </a:r>
          </a:p>
          <a:p>
            <a:pPr marL="320040" lvl="1" indent="0">
              <a:buNone/>
            </a:pPr>
            <a:r>
              <a:rPr lang="en-US" sz="2000" i="1" dirty="0" err="1">
                <a:latin typeface="Courier New" pitchFamily="49" charset="0"/>
                <a:cs typeface="Courier New" pitchFamily="49" charset="0"/>
              </a:rPr>
              <a:t>spy.get</a:t>
            </a:r>
            <a:r>
              <a:rPr lang="en-US" sz="2000" i="1" dirty="0">
                <a:latin typeface="Courier New" pitchFamily="49" charset="0"/>
                <a:cs typeface="Courier New" pitchFamily="49" charset="0"/>
              </a:rPr>
              <a:t>(1); //</a:t>
            </a:r>
            <a:r>
              <a:rPr lang="en-US" sz="2000" i="1" dirty="0" err="1">
                <a:latin typeface="Courier New" pitchFamily="49" charset="0"/>
                <a:cs typeface="Courier New" pitchFamily="49" charset="0"/>
              </a:rPr>
              <a:t>vraca</a:t>
            </a:r>
            <a:r>
              <a:rPr lang="en-US" sz="2000" i="1" dirty="0">
                <a:latin typeface="Courier New" pitchFamily="49" charset="0"/>
                <a:cs typeface="Courier New" pitchFamily="49" charset="0"/>
              </a:rPr>
              <a:t> 5 </a:t>
            </a:r>
            <a:r>
              <a:rPr lang="en-US" sz="2000" i="1" dirty="0" err="1">
                <a:latin typeface="Courier New" pitchFamily="49" charset="0"/>
                <a:cs typeface="Courier New" pitchFamily="49" charset="0"/>
              </a:rPr>
              <a:t>jer</a:t>
            </a:r>
            <a:r>
              <a:rPr lang="en-US" sz="2000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i="1" dirty="0" err="1">
                <a:latin typeface="Courier New" pitchFamily="49" charset="0"/>
                <a:cs typeface="Courier New" pitchFamily="49" charset="0"/>
              </a:rPr>
              <a:t>poziva</a:t>
            </a:r>
            <a:r>
              <a:rPr lang="en-US" sz="2000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i="1" dirty="0" err="1">
                <a:latin typeface="Courier New" pitchFamily="49" charset="0"/>
                <a:cs typeface="Courier New" pitchFamily="49" charset="0"/>
              </a:rPr>
              <a:t>stvarnu</a:t>
            </a:r>
            <a:r>
              <a:rPr lang="en-US" sz="2000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i="1" dirty="0" err="1">
                <a:latin typeface="Courier New" pitchFamily="49" charset="0"/>
                <a:cs typeface="Courier New" pitchFamily="49" charset="0"/>
              </a:rPr>
              <a:t>metodu</a:t>
            </a:r>
            <a:endParaRPr lang="en-US" sz="2000" i="1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  <a:p>
            <a:r>
              <a:rPr lang="en-US" dirty="0" err="1"/>
              <a:t>Primeri</a:t>
            </a:r>
            <a:endParaRPr lang="en-US" dirty="0"/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unit-testing/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unittesting.mock.SpyTest</a:t>
            </a:r>
            <a:endParaRPr lang="en-GB" sz="2000" i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6" name="Picture 2" descr="https://raw.githubusercontent.com/mockito/mockito/master/src/javadoc/org/mockito/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203200"/>
            <a:ext cx="26670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http://www.toolkit2collaborate.ca/wp/wp-content/uploads/2014/02/ICON_Exampl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991098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1600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Mockito</a:t>
            </a:r>
            <a:r>
              <a:rPr lang="en-US" dirty="0"/>
              <a:t> - </a:t>
            </a:r>
            <a:r>
              <a:rPr lang="en-US" dirty="0" err="1"/>
              <a:t>Verifikacija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lnSpcReduction="10000"/>
          </a:bodyPr>
          <a:lstStyle/>
          <a:p>
            <a:r>
              <a:rPr lang="en-US" i="1" dirty="0" err="1"/>
              <a:t>Mockito</a:t>
            </a:r>
            <a:r>
              <a:rPr lang="en-US" dirty="0"/>
              <a:t> </a:t>
            </a:r>
            <a:r>
              <a:rPr lang="en-US" dirty="0" err="1"/>
              <a:t>omogu</a:t>
            </a:r>
            <a:r>
              <a:rPr lang="sr-Latn-RS" dirty="0"/>
              <a:t>ćuje i tehnike </a:t>
            </a:r>
            <a:r>
              <a:rPr lang="sr-Latn-RS" i="1" dirty="0"/>
              <a:t>white-box</a:t>
            </a:r>
            <a:r>
              <a:rPr lang="sr-Latn-RS" dirty="0"/>
              <a:t> testiranja korišćenjem lažnih objekata</a:t>
            </a:r>
          </a:p>
          <a:p>
            <a:r>
              <a:rPr lang="sr-Latn-RS" i="1" dirty="0"/>
              <a:t>Mockito </a:t>
            </a:r>
            <a:r>
              <a:rPr lang="sr-Latn-RS" dirty="0"/>
              <a:t>obezbeđuje informacije koliko puta je metoda lažnog objekta pozivana</a:t>
            </a:r>
          </a:p>
          <a:p>
            <a:r>
              <a:rPr lang="sr-Latn-RS" dirty="0"/>
              <a:t>Na ovaj način se osim stvarnog rezultata (kao kod </a:t>
            </a:r>
            <a:r>
              <a:rPr lang="sr-Latn-RS" i="1" dirty="0"/>
              <a:t>black-box</a:t>
            </a:r>
            <a:r>
              <a:rPr lang="sr-Latn-RS" dirty="0"/>
              <a:t> testiranja) može proveriti i da li testirani objekat referencira druge objekte na odgovarajući način</a:t>
            </a:r>
          </a:p>
          <a:p>
            <a:pPr lvl="1"/>
            <a:r>
              <a:rPr lang="sr-Latn-RS" dirty="0"/>
              <a:t>npr. ako smo putem </a:t>
            </a:r>
            <a:r>
              <a:rPr lang="sr-Latn-RS" i="1" dirty="0"/>
              <a:t>mock </a:t>
            </a:r>
            <a:r>
              <a:rPr lang="sr-Latn-RS" dirty="0"/>
              <a:t>objekta simulirali snimanje u bazu, možemo proveriti da li je metoda za snimanje pozvana tačno jednom</a:t>
            </a:r>
          </a:p>
          <a:p>
            <a:pPr lvl="1"/>
            <a:r>
              <a:rPr lang="sr-Latn-RS"/>
              <a:t>ako se </a:t>
            </a:r>
            <a:r>
              <a:rPr lang="sr-Latn-RS" i="1"/>
              <a:t>mock </a:t>
            </a:r>
            <a:r>
              <a:rPr lang="sr-Latn-RS"/>
              <a:t>objekat ovako koristi, to odgovara </a:t>
            </a:r>
            <a:r>
              <a:rPr lang="sr-Latn-RS" i="1"/>
              <a:t>mock </a:t>
            </a:r>
            <a:r>
              <a:rPr lang="sr-Latn-RS"/>
              <a:t>objektu u terminologiji testiranja</a:t>
            </a:r>
            <a:endParaRPr lang="en-GB" dirty="0"/>
          </a:p>
        </p:txBody>
      </p:sp>
      <p:pic>
        <p:nvPicPr>
          <p:cNvPr id="4" name="Picture 2" descr="https://raw.githubusercontent.com/mockito/mockito/master/src/javadoc/org/mockito/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203200"/>
            <a:ext cx="26670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3662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Mockito</a:t>
            </a:r>
            <a:r>
              <a:rPr lang="en-US" dirty="0"/>
              <a:t> - </a:t>
            </a:r>
            <a:r>
              <a:rPr lang="en-US" dirty="0" err="1"/>
              <a:t>Verifikacija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 fontScale="85000" lnSpcReduction="20000"/>
          </a:bodyPr>
          <a:lstStyle/>
          <a:p>
            <a:r>
              <a:rPr lang="sr-Latn-RS" dirty="0"/>
              <a:t>Koristi se 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verify()</a:t>
            </a:r>
            <a:r>
              <a:rPr lang="sr-Latn-RS" dirty="0"/>
              <a:t> metoda kojoj se prosleđuje</a:t>
            </a:r>
          </a:p>
          <a:p>
            <a:pPr lvl="1"/>
            <a:r>
              <a:rPr lang="sr-Latn-RS" dirty="0"/>
              <a:t>koji </a:t>
            </a:r>
            <a:r>
              <a:rPr lang="sr-Latn-RS" i="1" dirty="0"/>
              <a:t>mock</a:t>
            </a:r>
            <a:r>
              <a:rPr lang="sr-Latn-RS" dirty="0"/>
              <a:t> objekat verifikujemo</a:t>
            </a:r>
          </a:p>
          <a:p>
            <a:pPr lvl="1"/>
            <a:r>
              <a:rPr lang="sr-Latn-RS" dirty="0"/>
              <a:t>koju metodu tog objekta verifikujemo</a:t>
            </a:r>
          </a:p>
          <a:p>
            <a:pPr lvl="1"/>
            <a:r>
              <a:rPr lang="sr-Latn-RS" dirty="0"/>
              <a:t>broj očekivanih poziva te metode</a:t>
            </a:r>
          </a:p>
          <a:p>
            <a:r>
              <a:rPr lang="sr-Latn-RS" dirty="0"/>
              <a:t>Broj očekivanih poziva se zadaje kao</a:t>
            </a:r>
          </a:p>
          <a:p>
            <a:pPr lvl="1"/>
            <a:r>
              <a:rPr lang="sr-Latn-RS" dirty="0"/>
              <a:t>konkretan broj </a:t>
            </a:r>
          </a:p>
          <a:p>
            <a:pPr lvl="2"/>
            <a:r>
              <a:rPr lang="sr-Latn-RS" dirty="0">
                <a:latin typeface="Courier New" pitchFamily="49" charset="0"/>
                <a:cs typeface="Courier New" pitchFamily="49" charset="0"/>
              </a:rPr>
              <a:t>times(3)</a:t>
            </a:r>
          </a:p>
          <a:p>
            <a:pPr lvl="1"/>
            <a:r>
              <a:rPr lang="sr-Latn-RS" dirty="0"/>
              <a:t>implicitno bez navođenja</a:t>
            </a:r>
          </a:p>
          <a:p>
            <a:pPr lvl="2"/>
            <a:r>
              <a:rPr lang="sr-Latn-RS" dirty="0"/>
              <a:t>tada se smatra da se zahteva jedan poziv</a:t>
            </a:r>
          </a:p>
          <a:p>
            <a:pPr lvl="1"/>
            <a:r>
              <a:rPr lang="sr-Latn-RS" dirty="0"/>
              <a:t>nikad</a:t>
            </a:r>
          </a:p>
          <a:p>
            <a:pPr lvl="2"/>
            <a:r>
              <a:rPr lang="sr-Latn-RS" dirty="0">
                <a:latin typeface="Courier New" pitchFamily="49" charset="0"/>
                <a:cs typeface="Courier New" pitchFamily="49" charset="0"/>
              </a:rPr>
              <a:t>never()</a:t>
            </a:r>
          </a:p>
          <a:p>
            <a:pPr lvl="1"/>
            <a:r>
              <a:rPr lang="sr-Latn-RS" dirty="0"/>
              <a:t>minimalan/maksimalan broj poziva</a:t>
            </a:r>
          </a:p>
          <a:p>
            <a:pPr lvl="2"/>
            <a:r>
              <a:rPr lang="sr-Latn-RS" dirty="0">
                <a:latin typeface="Courier New" pitchFamily="49" charset="0"/>
                <a:cs typeface="Courier New" pitchFamily="49" charset="0"/>
              </a:rPr>
              <a:t>atLeastOnce()</a:t>
            </a:r>
          </a:p>
          <a:p>
            <a:pPr lvl="2"/>
            <a:r>
              <a:rPr lang="sr-Latn-RS" dirty="0">
                <a:latin typeface="Courier New" pitchFamily="49" charset="0"/>
                <a:cs typeface="Courier New" pitchFamily="49" charset="0"/>
              </a:rPr>
              <a:t>atLeast(3)</a:t>
            </a:r>
          </a:p>
          <a:p>
            <a:pPr lvl="2"/>
            <a:r>
              <a:rPr lang="sr-Latn-RS" dirty="0">
                <a:latin typeface="Courier New" pitchFamily="49" charset="0"/>
                <a:cs typeface="Courier New" pitchFamily="49" charset="0"/>
              </a:rPr>
              <a:t>atMost(6)</a:t>
            </a:r>
          </a:p>
          <a:p>
            <a:r>
              <a:rPr lang="en-US" dirty="0" err="1"/>
              <a:t>Primeri</a:t>
            </a:r>
            <a:endParaRPr lang="en-US" dirty="0"/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unit-testing/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unittesting.mock.SpyTest</a:t>
            </a:r>
            <a:endParaRPr lang="sr-Latn-RS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" name="Picture 2" descr="https://raw.githubusercontent.com/mockito/mockito/master/src/javadoc/org/mockito/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203200"/>
            <a:ext cx="26670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http://www.toolkit2collaborate.ca/wp/wp-content/uploads/2014/02/ICON_Exampl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638800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02151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Testiranje privatnih metoda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 dirty="0"/>
              <a:t>Privatnu metodu nije moguće pozvati direktno iz testa</a:t>
            </a:r>
          </a:p>
          <a:p>
            <a:r>
              <a:rPr lang="sr-Latn-RS" dirty="0"/>
              <a:t> Moguća rešenja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Ne testirati</a:t>
            </a:r>
          </a:p>
          <a:p>
            <a:pPr marL="1062990" lvl="2" indent="-514350"/>
            <a:r>
              <a:rPr lang="sr-Latn-RS" dirty="0"/>
              <a:t>Nije dobro jer je važno taj kod izolovano testirati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Promeniti modifikator pristupa metodi</a:t>
            </a:r>
          </a:p>
          <a:p>
            <a:pPr marL="1062990" lvl="2" indent="-514350"/>
            <a:r>
              <a:rPr lang="sr-Latn-RS" dirty="0"/>
              <a:t>Nije dobro jer je metoda sa razlogom privatna i ne treba menjati logiku enkapsulacije zbog testova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Ugraditi test klasu unutar klase koja se testira</a:t>
            </a:r>
          </a:p>
          <a:p>
            <a:pPr marL="1062990" lvl="2" indent="-514350"/>
            <a:r>
              <a:rPr lang="sr-Latn-RS" dirty="0"/>
              <a:t>Nije dobro, jer time nije razdvojen kod za testiranje od produkcionog koda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Korišćenje refleksije</a:t>
            </a:r>
          </a:p>
          <a:p>
            <a:pPr marL="1062990" lvl="2" indent="-514350"/>
            <a:r>
              <a:rPr lang="sr-Latn-RS" dirty="0"/>
              <a:t>Jedino prihvatljivo rešenje</a:t>
            </a:r>
          </a:p>
          <a:p>
            <a:pPr marL="1062990" lvl="2" indent="-514350"/>
            <a:r>
              <a:rPr lang="sr-Latn-RS" dirty="0"/>
              <a:t>Refleksijom se može pristupiti i privatnim metodama</a:t>
            </a:r>
          </a:p>
          <a:p>
            <a:pPr marL="788670" lvl="1" indent="-514350">
              <a:buFont typeface="+mj-lt"/>
              <a:buAutoNum type="arabicPeriod"/>
            </a:pPr>
            <a:endParaRPr lang="sr-Latn-R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2297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44807</TotalTime>
  <Words>1985</Words>
  <Application>Microsoft Office PowerPoint</Application>
  <PresentationFormat>On-screen Show (4:3)</PresentationFormat>
  <Paragraphs>280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Courier New</vt:lpstr>
      <vt:lpstr>Franklin Gothic Book</vt:lpstr>
      <vt:lpstr>Perpetua</vt:lpstr>
      <vt:lpstr>Wingdings 2</vt:lpstr>
      <vt:lpstr>Equity</vt:lpstr>
      <vt:lpstr>Jedinično testiranje u programskom jeziku Java</vt:lpstr>
      <vt:lpstr>PowerPoint Presentation</vt:lpstr>
      <vt:lpstr>Jedinično testiranje u Javi</vt:lpstr>
      <vt:lpstr>F.I.R.S.T. pravila za pisanje testova</vt:lpstr>
      <vt:lpstr>F.I.R.S.T. pravila za pisanje testova</vt:lpstr>
      <vt:lpstr>F.I.R.S.T. pravila za pisanje testova</vt:lpstr>
      <vt:lpstr>Radni okviri za testiranje u Javi</vt:lpstr>
      <vt:lpstr>JUnit</vt:lpstr>
      <vt:lpstr>Asertacije</vt:lpstr>
      <vt:lpstr>JUnit asertacije</vt:lpstr>
      <vt:lpstr>JUnit asertacije</vt:lpstr>
      <vt:lpstr>Matchers</vt:lpstr>
      <vt:lpstr>AssertJ</vt:lpstr>
      <vt:lpstr>TestNG</vt:lpstr>
      <vt:lpstr>TestNG – Test Suite</vt:lpstr>
      <vt:lpstr>TestNG – Kategorizacija testova</vt:lpstr>
      <vt:lpstr>TestNG – Test Suite i kategorizacija testova</vt:lpstr>
      <vt:lpstr>TestNG – Događaji</vt:lpstr>
      <vt:lpstr>TestNG – očekivani izuzeci</vt:lpstr>
      <vt:lpstr>TestNG – Ograničenje vremena izvršavanja</vt:lpstr>
      <vt:lpstr>TestNG – Ignorisanje testova</vt:lpstr>
      <vt:lpstr>TestNG - Zavisnosti </vt:lpstr>
      <vt:lpstr>TestNG – Parametri testova</vt:lpstr>
      <vt:lpstr>Mocking</vt:lpstr>
      <vt:lpstr>Java Mock objekti</vt:lpstr>
      <vt:lpstr>Mockito – Mock objekat</vt:lpstr>
      <vt:lpstr>Mockito – Mock objekat</vt:lpstr>
      <vt:lpstr>Mockito – Spy objekat</vt:lpstr>
      <vt:lpstr>Mockito – Spy objekat</vt:lpstr>
      <vt:lpstr>Mockito - Verifikacija</vt:lpstr>
      <vt:lpstr>Mockito - Verifikacija</vt:lpstr>
      <vt:lpstr>Testiranje privatnih metoda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radni okvir</dc:title>
  <dc:creator>Goran</dc:creator>
  <cp:lastModifiedBy>Goran</cp:lastModifiedBy>
  <cp:revision>1194</cp:revision>
  <dcterms:created xsi:type="dcterms:W3CDTF">2016-06-17T10:29:53Z</dcterms:created>
  <dcterms:modified xsi:type="dcterms:W3CDTF">2023-11-09T09:46:11Z</dcterms:modified>
</cp:coreProperties>
</file>