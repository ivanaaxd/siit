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93" r:id="rId4"/>
    <p:sldId id="294" r:id="rId5"/>
    <p:sldId id="295" r:id="rId6"/>
    <p:sldId id="299" r:id="rId7"/>
    <p:sldId id="300" r:id="rId8"/>
    <p:sldId id="301" r:id="rId9"/>
    <p:sldId id="302" r:id="rId10"/>
    <p:sldId id="303" r:id="rId11"/>
    <p:sldId id="296" r:id="rId12"/>
    <p:sldId id="298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66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10/13/2024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1117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8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3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623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56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9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7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0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8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10/13/2024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C502BD-3766-4D83-94CC-391A4CD4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background pattern&#10;&#10;Description automatically generated">
            <a:extLst>
              <a:ext uri="{FF2B5EF4-FFF2-40B4-BE49-F238E27FC236}">
                <a16:creationId xmlns:a16="http://schemas.microsoft.com/office/drawing/2014/main" id="{A8AA4BF6-E4AD-2B9E-673B-0AC2869F3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77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867CC89-052A-4B89-A1FF-972E522C6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E73AD-5D39-7FF2-CFED-B934C1AC6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651624"/>
            <a:ext cx="10668000" cy="1775010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DAAD-9C3E-EB83-0BE5-C8CBCB757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426635"/>
            <a:ext cx="10668000" cy="79786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STRUKTURE PODATAKA</a:t>
            </a:r>
          </a:p>
        </p:txBody>
      </p:sp>
    </p:spTree>
    <p:extLst>
      <p:ext uri="{BB962C8B-B14F-4D97-AF65-F5344CB8AC3E}">
        <p14:creationId xmlns:p14="http://schemas.microsoft.com/office/powerpoint/2010/main" val="1590701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DAEB-EB0A-91AC-43FA-8A784F00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Nizovi</a:t>
            </a:r>
            <a:endParaRPr lang="en-US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0FCD1-6118-70CF-33F4-AAD0680662E0}"/>
              </a:ext>
            </a:extLst>
          </p:cNvPr>
          <p:cNvSpPr txBox="1"/>
          <p:nvPr/>
        </p:nvSpPr>
        <p:spPr>
          <a:xfrm>
            <a:off x="1339702" y="1991980"/>
            <a:ext cx="932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Dve</a:t>
            </a:r>
            <a:r>
              <a:rPr lang="en-US" dirty="0"/>
              <a:t> </a:t>
            </a:r>
            <a:r>
              <a:rPr lang="en-US" dirty="0" err="1"/>
              <a:t>najva</a:t>
            </a:r>
            <a:r>
              <a:rPr lang="sr-Latn-RS" dirty="0" err="1"/>
              <a:t>žnije</a:t>
            </a:r>
            <a:r>
              <a:rPr lang="sr-Latn-RS" dirty="0"/>
              <a:t> strukture podataka u JS su nizovi i objekti.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29E83-EA38-7E74-8D15-CED8E65FD715}"/>
              </a:ext>
            </a:extLst>
          </p:cNvPr>
          <p:cNvSpPr txBox="1"/>
          <p:nvPr/>
        </p:nvSpPr>
        <p:spPr>
          <a:xfrm>
            <a:off x="1377802" y="2492364"/>
            <a:ext cx="93222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>
                <a:latin typeface="Consolas" panose="020B0609020204030204" pitchFamily="49" charset="0"/>
              </a:rPr>
              <a:t>const</a:t>
            </a:r>
            <a:r>
              <a:rPr lang="sr-Latn-RS" dirty="0">
                <a:latin typeface="Consolas" panose="020B0609020204030204" pitchFamily="49" charset="0"/>
              </a:rPr>
              <a:t> friend1</a:t>
            </a:r>
            <a:r>
              <a:rPr lang="sr-Cyrl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 “</a:t>
            </a:r>
            <a:r>
              <a:rPr lang="en-US" dirty="0" err="1">
                <a:latin typeface="Consolas" panose="020B0609020204030204" pitchFamily="49" charset="0"/>
              </a:rPr>
              <a:t>Pera</a:t>
            </a:r>
            <a:r>
              <a:rPr lang="en-US" dirty="0">
                <a:latin typeface="Consolas" panose="020B0609020204030204" pitchFamily="49" charset="0"/>
              </a:rPr>
              <a:t>”;</a:t>
            </a:r>
          </a:p>
          <a:p>
            <a:r>
              <a:rPr lang="en-US" dirty="0">
                <a:latin typeface="Consolas" panose="020B0609020204030204" pitchFamily="49" charset="0"/>
              </a:rPr>
              <a:t>const friend2 = “Mika”;</a:t>
            </a:r>
          </a:p>
          <a:p>
            <a:r>
              <a:rPr lang="en-US" dirty="0">
                <a:latin typeface="Consolas" panose="020B0609020204030204" pitchFamily="49" charset="0"/>
              </a:rPr>
              <a:t>const friend3 = “</a:t>
            </a:r>
            <a:r>
              <a:rPr lang="sr-Latn-RS" dirty="0">
                <a:latin typeface="Consolas" panose="020B0609020204030204" pitchFamily="49" charset="0"/>
              </a:rPr>
              <a:t>Žika</a:t>
            </a:r>
            <a:r>
              <a:rPr lang="en-US" dirty="0">
                <a:latin typeface="Consolas" panose="020B0609020204030204" pitchFamily="49" charset="0"/>
              </a:rPr>
              <a:t>”;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friends = [“</a:t>
            </a:r>
            <a:r>
              <a:rPr lang="en-US" dirty="0" err="1">
                <a:latin typeface="Consolas" panose="020B0609020204030204" pitchFamily="49" charset="0"/>
              </a:rPr>
              <a:t>Pera</a:t>
            </a:r>
            <a:r>
              <a:rPr lang="en-US" dirty="0">
                <a:latin typeface="Consolas" panose="020B0609020204030204" pitchFamily="49" charset="0"/>
              </a:rPr>
              <a:t>”, “Mika”, “</a:t>
            </a:r>
            <a:r>
              <a:rPr lang="sr-Latn-RS" dirty="0">
                <a:latin typeface="Consolas" panose="020B0609020204030204" pitchFamily="49" charset="0"/>
              </a:rPr>
              <a:t>Žika</a:t>
            </a:r>
            <a:r>
              <a:rPr lang="en-US" dirty="0">
                <a:latin typeface="Consolas" panose="020B0609020204030204" pitchFamily="49" charset="0"/>
              </a:rPr>
              <a:t>”]; - </a:t>
            </a:r>
            <a:r>
              <a:rPr lang="en-US" dirty="0" err="1">
                <a:latin typeface="Consolas" panose="020B0609020204030204" pitchFamily="49" charset="0"/>
              </a:rPr>
              <a:t>Prvi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</a:t>
            </a:r>
            <a:r>
              <a:rPr lang="sr-Latn-RS" dirty="0">
                <a:latin typeface="Consolas" panose="020B0609020204030204" pitchFamily="49" charset="0"/>
              </a:rPr>
              <a:t>čin </a:t>
            </a:r>
            <a:r>
              <a:rPr lang="en-US" dirty="0">
                <a:latin typeface="Consolas" panose="020B0609020204030204" pitchFamily="49" charset="0"/>
              </a:rPr>
              <a:t>– </a:t>
            </a:r>
            <a:r>
              <a:rPr lang="sr-Latn-RS" dirty="0">
                <a:latin typeface="Consolas" panose="020B0609020204030204" pitchFamily="49" charset="0"/>
              </a:rPr>
              <a:t>Češća sintaksa.</a:t>
            </a:r>
          </a:p>
          <a:p>
            <a:r>
              <a:rPr lang="sr-Latn-RS" dirty="0" err="1">
                <a:latin typeface="Consolas" panose="020B0609020204030204" pitchFamily="49" charset="0"/>
              </a:rPr>
              <a:t>const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friends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 new Array(200, 500, 700); - </a:t>
            </a:r>
            <a:r>
              <a:rPr lang="en-US" dirty="0" err="1">
                <a:latin typeface="Consolas" panose="020B0609020204030204" pitchFamily="49" charset="0"/>
              </a:rPr>
              <a:t>Drugi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</a:t>
            </a:r>
            <a:r>
              <a:rPr lang="sr-Latn-RS" dirty="0">
                <a:latin typeface="Consolas" panose="020B0609020204030204" pitchFamily="49" charset="0"/>
              </a:rPr>
              <a:t>čin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friends[0] – </a:t>
            </a:r>
            <a:r>
              <a:rPr lang="en-US" dirty="0" err="1">
                <a:latin typeface="Consolas" panose="020B0609020204030204" pitchFamily="49" charset="0"/>
              </a:rPr>
              <a:t>pristup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elementima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friends.length</a:t>
            </a:r>
            <a:r>
              <a:rPr lang="en-US" dirty="0">
                <a:latin typeface="Consolas" panose="020B0609020204030204" pitchFamily="49" charset="0"/>
              </a:rPr>
              <a:t> – </a:t>
            </a:r>
            <a:r>
              <a:rPr lang="en-US" dirty="0" err="1">
                <a:latin typeface="Consolas" panose="020B0609020204030204" pitchFamily="49" charset="0"/>
              </a:rPr>
              <a:t>veli</a:t>
            </a:r>
            <a:r>
              <a:rPr lang="sr-Latn-RS" dirty="0">
                <a:latin typeface="Consolas" panose="020B0609020204030204" pitchFamily="49" charset="0"/>
              </a:rPr>
              <a:t>čina niza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itd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sr-Latn-RS" dirty="0">
              <a:latin typeface="Consolas" panose="020B0609020204030204" pitchFamily="49" charset="0"/>
            </a:endParaRPr>
          </a:p>
          <a:p>
            <a:endParaRPr lang="sr-Latn-R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friends[2] = “Novi”; </a:t>
            </a:r>
          </a:p>
          <a:p>
            <a:r>
              <a:rPr lang="en-US" dirty="0" err="1">
                <a:latin typeface="Consolas" panose="020B0609020204030204" pitchFamily="49" charset="0"/>
              </a:rPr>
              <a:t>Va</a:t>
            </a:r>
            <a:r>
              <a:rPr lang="sr-Latn-RS" dirty="0" err="1">
                <a:latin typeface="Consolas" panose="020B0609020204030204" pitchFamily="49" charset="0"/>
              </a:rPr>
              <a:t>žno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b="1" dirty="0" err="1">
                <a:latin typeface="Consolas" panose="020B0609020204030204" pitchFamily="49" charset="0"/>
              </a:rPr>
              <a:t>Samo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primitivne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vrednosti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su</a:t>
            </a:r>
            <a:r>
              <a:rPr lang="en-US" b="1" dirty="0">
                <a:latin typeface="Consolas" panose="020B0609020204030204" pitchFamily="49" charset="0"/>
              </a:rPr>
              <a:t> immutable! </a:t>
            </a:r>
            <a:r>
              <a:rPr lang="en-US" dirty="0">
                <a:latin typeface="Consolas" panose="020B0609020204030204" pitchFamily="49" charset="0"/>
              </a:rPr>
              <a:t>Array </a:t>
            </a:r>
            <a:r>
              <a:rPr lang="en-US" dirty="0" err="1">
                <a:latin typeface="Consolas" panose="020B0609020204030204" pitchFamily="49" charset="0"/>
              </a:rPr>
              <a:t>nije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primitivna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vrednost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sr-Latn-R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37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2B4FE2-0D4C-C59B-DE0F-0B65B4DB1B6C}"/>
              </a:ext>
            </a:extLst>
          </p:cNvPr>
          <p:cNvSpPr txBox="1"/>
          <p:nvPr/>
        </p:nvSpPr>
        <p:spPr>
          <a:xfrm>
            <a:off x="1317172" y="2038393"/>
            <a:ext cx="9677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/>
              <a:t>const</a:t>
            </a:r>
            <a:r>
              <a:rPr lang="sr-Latn-RS" dirty="0"/>
              <a:t> </a:t>
            </a:r>
            <a:r>
              <a:rPr lang="sr-Latn-RS" dirty="0" err="1"/>
              <a:t>myInfo</a:t>
            </a:r>
            <a:r>
              <a:rPr lang="sr-Latn-RS" dirty="0"/>
              <a:t> </a:t>
            </a:r>
            <a:r>
              <a:rPr lang="en-US" dirty="0"/>
              <a:t>= [“Luka”, “Doric”, 2022 – 1998, </a:t>
            </a:r>
            <a:r>
              <a:rPr lang="en-US" b="1" dirty="0"/>
              <a:t>friends</a:t>
            </a:r>
            <a:r>
              <a:rPr lang="en-US" dirty="0"/>
              <a:t>] – </a:t>
            </a:r>
            <a:r>
              <a:rPr lang="en-US" dirty="0" err="1"/>
              <a:t>Niz</a:t>
            </a:r>
            <a:r>
              <a:rPr lang="en-US" dirty="0"/>
              <a:t> u </a:t>
            </a:r>
            <a:r>
              <a:rPr lang="en-US" dirty="0" err="1"/>
              <a:t>nizu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Po</a:t>
            </a:r>
            <a:r>
              <a:rPr lang="sr-Latn-RS" dirty="0" err="1"/>
              <a:t>činje</a:t>
            </a:r>
            <a:r>
              <a:rPr lang="sr-Latn-RS" dirty="0"/>
              <a:t> da liči na objekat</a:t>
            </a:r>
            <a:r>
              <a:rPr lang="en-US" dirty="0"/>
              <a:t>?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 err="1"/>
              <a:t>myInfo.push</a:t>
            </a:r>
            <a:r>
              <a:rPr lang="en-US" dirty="0"/>
              <a:t>(“developer”); // </a:t>
            </a:r>
            <a:r>
              <a:rPr lang="en-US" dirty="0" err="1"/>
              <a:t>vra</a:t>
            </a:r>
            <a:r>
              <a:rPr lang="sr-Latn-RS" dirty="0" err="1"/>
              <a:t>ća</a:t>
            </a:r>
            <a:r>
              <a:rPr lang="sr-Latn-RS" dirty="0"/>
              <a:t> veličinu novog niza nakon dodavanja.</a:t>
            </a:r>
          </a:p>
          <a:p>
            <a:r>
              <a:rPr lang="sr-Latn-RS" dirty="0" err="1"/>
              <a:t>myInfo.unshift</a:t>
            </a:r>
            <a:r>
              <a:rPr lang="en-US" dirty="0"/>
              <a:t>(“developer”); // </a:t>
            </a:r>
            <a:r>
              <a:rPr lang="en-US" dirty="0" err="1"/>
              <a:t>dodaje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po</a:t>
            </a:r>
            <a:r>
              <a:rPr lang="sr-Latn-RS" dirty="0" err="1"/>
              <a:t>četak</a:t>
            </a:r>
            <a:r>
              <a:rPr lang="sr-Latn-RS" dirty="0"/>
              <a:t> niza.</a:t>
            </a:r>
          </a:p>
          <a:p>
            <a:endParaRPr lang="sr-Latn-RS" dirty="0"/>
          </a:p>
          <a:p>
            <a:r>
              <a:rPr lang="sr-Latn-RS" dirty="0" err="1"/>
              <a:t>myInfo.pop</a:t>
            </a:r>
            <a:r>
              <a:rPr lang="sr-Latn-RS" dirty="0"/>
              <a:t>()</a:t>
            </a:r>
            <a:r>
              <a:rPr lang="en-US" dirty="0"/>
              <a:t>; // </a:t>
            </a:r>
            <a:r>
              <a:rPr lang="en-US" dirty="0" err="1"/>
              <a:t>vra</a:t>
            </a:r>
            <a:r>
              <a:rPr lang="sr-Latn-RS" dirty="0" err="1"/>
              <a:t>ća</a:t>
            </a:r>
            <a:r>
              <a:rPr lang="sr-Latn-RS" dirty="0"/>
              <a:t> element koji je obrisao.</a:t>
            </a:r>
          </a:p>
          <a:p>
            <a:endParaRPr lang="sr-Latn-RS" dirty="0"/>
          </a:p>
          <a:p>
            <a:r>
              <a:rPr lang="sr-Latn-RS" dirty="0" err="1"/>
              <a:t>myInfo.IndexOf</a:t>
            </a:r>
            <a:r>
              <a:rPr lang="sr-Latn-RS" dirty="0"/>
              <a:t>(</a:t>
            </a:r>
            <a:r>
              <a:rPr lang="en-US" dirty="0"/>
              <a:t>“Luka”);</a:t>
            </a:r>
          </a:p>
          <a:p>
            <a:r>
              <a:rPr lang="en-US" dirty="0" err="1"/>
              <a:t>myInfo.Includes</a:t>
            </a:r>
            <a:r>
              <a:rPr lang="en-US" dirty="0"/>
              <a:t>(“Luka”);</a:t>
            </a:r>
            <a:endParaRPr lang="sr-Latn-RS" dirty="0"/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1D326-5ACE-8C7E-A819-4BECD248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Nizovi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26424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967E0-4E85-85FE-B567-56DBF88EC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937657"/>
            <a:ext cx="2792839" cy="4161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sz="2400" dirty="0" err="1">
                <a:latin typeface="Consolas" panose="020B0609020204030204" pitchFamily="49" charset="0"/>
              </a:rPr>
              <a:t>const</a:t>
            </a:r>
            <a:r>
              <a:rPr lang="sr-Latn-RS" sz="2400" dirty="0">
                <a:latin typeface="Consolas" panose="020B0609020204030204" pitchFamily="49" charset="0"/>
              </a:rPr>
              <a:t> </a:t>
            </a:r>
            <a:r>
              <a:rPr lang="sr-Latn-RS" sz="2400" dirty="0" err="1">
                <a:latin typeface="Consolas" panose="020B0609020204030204" pitchFamily="49" charset="0"/>
              </a:rPr>
              <a:t>myInfo</a:t>
            </a:r>
            <a:r>
              <a:rPr lang="sr-Latn-R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=    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[“Luka”,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“Doric”,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2022 – 1998,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friends]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niz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E638E8E-67BE-1630-F844-8FB4AE9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Objekti</a:t>
            </a:r>
            <a:endParaRPr lang="en-US" sz="2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6BB588-CC0D-B7A0-E00E-F4871F7BC618}"/>
              </a:ext>
            </a:extLst>
          </p:cNvPr>
          <p:cNvSpPr txBox="1">
            <a:spLocks/>
          </p:cNvSpPr>
          <p:nvPr/>
        </p:nvSpPr>
        <p:spPr>
          <a:xfrm>
            <a:off x="5322461" y="1964819"/>
            <a:ext cx="5204025" cy="4223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venir Next LT Pro" panose="020B0504020202020204" pitchFamily="34" charset="0"/>
              <a:buNone/>
            </a:pPr>
            <a:r>
              <a:rPr lang="sr-Latn-RS" sz="2400" dirty="0" err="1">
                <a:latin typeface="Consolas" panose="020B0609020204030204" pitchFamily="49" charset="0"/>
              </a:rPr>
              <a:t>const</a:t>
            </a:r>
            <a:r>
              <a:rPr lang="sr-Latn-RS" sz="2400" dirty="0">
                <a:latin typeface="Consolas" panose="020B0609020204030204" pitchFamily="49" charset="0"/>
              </a:rPr>
              <a:t> </a:t>
            </a:r>
            <a:r>
              <a:rPr lang="sr-Latn-RS" sz="2400" dirty="0" err="1">
                <a:latin typeface="Consolas" panose="020B0609020204030204" pitchFamily="49" charset="0"/>
              </a:rPr>
              <a:t>myInfo</a:t>
            </a:r>
            <a:r>
              <a:rPr lang="sr-Latn-R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=    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400" dirty="0">
                <a:latin typeface="Consolas" panose="020B0609020204030204" pitchFamily="49" charset="0"/>
              </a:rPr>
              <a:t>{</a:t>
            </a:r>
            <a:r>
              <a:rPr lang="en-US" sz="2400" dirty="0" err="1">
                <a:latin typeface="Consolas" panose="020B0609020204030204" pitchFamily="49" charset="0"/>
              </a:rPr>
              <a:t>firstName</a:t>
            </a:r>
            <a:r>
              <a:rPr lang="en-US" sz="2400" dirty="0">
                <a:latin typeface="Consolas" panose="020B0609020204030204" pitchFamily="49" charset="0"/>
              </a:rPr>
              <a:t>: “Luka”,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lastName</a:t>
            </a:r>
            <a:r>
              <a:rPr lang="en-US" sz="2400" dirty="0">
                <a:latin typeface="Consolas" panose="020B0609020204030204" pitchFamily="49" charset="0"/>
              </a:rPr>
              <a:t>: “Doric”,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400" dirty="0">
                <a:latin typeface="Consolas" panose="020B0609020204030204" pitchFamily="49" charset="0"/>
              </a:rPr>
              <a:t> years: 2022 – 1998,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400" dirty="0">
                <a:latin typeface="Consolas" panose="020B0609020204030204" pitchFamily="49" charset="0"/>
              </a:rPr>
              <a:t> friends: Friends}</a:t>
            </a:r>
          </a:p>
          <a:p>
            <a:pPr marL="0" indent="0">
              <a:buFont typeface="Avenir Next LT Pro" panose="020B0504020202020204" pitchFamily="34" charset="0"/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objekat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08705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A0B60A-454F-9852-E80E-D9122EC6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2754739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Objekti</a:t>
            </a:r>
            <a:r>
              <a:rPr lang="en-US" sz="2600" dirty="0"/>
              <a:t> - </a:t>
            </a:r>
            <a:r>
              <a:rPr lang="en-US" sz="2600" dirty="0" err="1"/>
              <a:t>metode</a:t>
            </a:r>
            <a:endParaRPr lang="en-US" sz="2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8CCBD5-6CA7-7639-28AA-F2FC488E91FC}"/>
              </a:ext>
            </a:extLst>
          </p:cNvPr>
          <p:cNvSpPr txBox="1">
            <a:spLocks/>
          </p:cNvSpPr>
          <p:nvPr/>
        </p:nvSpPr>
        <p:spPr>
          <a:xfrm>
            <a:off x="1420312" y="1991979"/>
            <a:ext cx="4615817" cy="4228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venir Next LT Pro" panose="020B0504020202020204" pitchFamily="34" charset="0"/>
              <a:buNone/>
            </a:pPr>
            <a:r>
              <a:rPr lang="sr-Latn-RS" sz="2000" dirty="0" err="1">
                <a:latin typeface="Consolas" panose="020B0609020204030204" pitchFamily="49" charset="0"/>
              </a:rPr>
              <a:t>const</a:t>
            </a:r>
            <a:r>
              <a:rPr lang="sr-Latn-RS" sz="2000" dirty="0">
                <a:latin typeface="Consolas" panose="020B0609020204030204" pitchFamily="49" charset="0"/>
              </a:rPr>
              <a:t> </a:t>
            </a:r>
            <a:r>
              <a:rPr lang="sr-Latn-RS" sz="2000" dirty="0" err="1">
                <a:latin typeface="Consolas" panose="020B0609020204030204" pitchFamily="49" charset="0"/>
              </a:rPr>
              <a:t>myInfo</a:t>
            </a:r>
            <a:r>
              <a:rPr lang="sr-Latn-R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=    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  <a:r>
              <a:rPr lang="en-US" sz="2000" dirty="0" err="1">
                <a:latin typeface="Consolas" panose="020B0609020204030204" pitchFamily="49" charset="0"/>
              </a:rPr>
              <a:t>firstName</a:t>
            </a:r>
            <a:r>
              <a:rPr lang="en-US" sz="2000" dirty="0">
                <a:latin typeface="Consolas" panose="020B0609020204030204" pitchFamily="49" charset="0"/>
              </a:rPr>
              <a:t>: “Luka”,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</a:rPr>
              <a:t>: “Doric”,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calcAge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 function(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birthYear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return 2037 –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birthYear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}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F0DF72-954C-2296-CAFF-C3CD2ABF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7240" y="2207146"/>
            <a:ext cx="3436857" cy="1088571"/>
          </a:xfrm>
        </p:spPr>
        <p:txBody>
          <a:bodyPr/>
          <a:lstStyle/>
          <a:p>
            <a:pPr marL="0" indent="0">
              <a:buNone/>
            </a:pPr>
            <a:r>
              <a:rPr lang="sr-Latn-RS" dirty="0" err="1"/>
              <a:t>myInfo.firstName</a:t>
            </a:r>
            <a:r>
              <a:rPr lang="en-US" dirty="0"/>
              <a:t>;</a:t>
            </a:r>
            <a:endParaRPr lang="sr-Latn-RS" dirty="0"/>
          </a:p>
          <a:p>
            <a:pPr marL="0" indent="0">
              <a:buNone/>
            </a:pPr>
            <a:r>
              <a:rPr lang="sr-Latn-RS" dirty="0" err="1"/>
              <a:t>myInfo</a:t>
            </a:r>
            <a:r>
              <a:rPr lang="en-US" dirty="0"/>
              <a:t>[‘</a:t>
            </a:r>
            <a:r>
              <a:rPr lang="en-US" dirty="0" err="1"/>
              <a:t>firstName</a:t>
            </a:r>
            <a:r>
              <a:rPr lang="en-US" dirty="0"/>
              <a:t>’];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14B810-7539-DC0E-6A30-EC956AFAD95E}"/>
              </a:ext>
            </a:extLst>
          </p:cNvPr>
          <p:cNvSpPr txBox="1">
            <a:spLocks/>
          </p:cNvSpPr>
          <p:nvPr/>
        </p:nvSpPr>
        <p:spPr>
          <a:xfrm>
            <a:off x="6608834" y="1181354"/>
            <a:ext cx="3793671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/>
              <a:t>Pristup poljima objekta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938207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9F0BD-2F9F-FFDA-9F79-D7281C1A8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035630"/>
            <a:ext cx="3445982" cy="179614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let age = 31;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let </a:t>
            </a:r>
            <a:r>
              <a:rPr lang="en-US" dirty="0" err="1">
                <a:latin typeface="Consolas" panose="020B0609020204030204" pitchFamily="49" charset="0"/>
              </a:rPr>
              <a:t>newAge</a:t>
            </a:r>
            <a:r>
              <a:rPr lang="en-US" dirty="0">
                <a:latin typeface="Consolas" panose="020B0609020204030204" pitchFamily="49" charset="0"/>
              </a:rPr>
              <a:t> = age;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age = 32;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29BAF3-B53E-FBE3-5FDF-322DB294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Primitivne</a:t>
            </a:r>
            <a:r>
              <a:rPr lang="en-US" sz="2600" dirty="0"/>
              <a:t> </a:t>
            </a:r>
            <a:r>
              <a:rPr lang="en-US" sz="2600" dirty="0" err="1"/>
              <a:t>vrednosti</a:t>
            </a:r>
            <a:r>
              <a:rPr lang="en-US" sz="2600" dirty="0"/>
              <a:t> vs </a:t>
            </a:r>
            <a:r>
              <a:rPr lang="en-US" sz="2600" dirty="0" err="1"/>
              <a:t>objekti</a:t>
            </a:r>
            <a:endParaRPr lang="en-US" sz="2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5C91828-5531-4753-BA85-64C662AAA4B0}"/>
              </a:ext>
            </a:extLst>
          </p:cNvPr>
          <p:cNvSpPr txBox="1">
            <a:spLocks/>
          </p:cNvSpPr>
          <p:nvPr/>
        </p:nvSpPr>
        <p:spPr>
          <a:xfrm>
            <a:off x="6247747" y="2035630"/>
            <a:ext cx="3445982" cy="4076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const me = {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 name: “</a:t>
            </a:r>
            <a:r>
              <a:rPr lang="en-US" dirty="0" err="1">
                <a:latin typeface="Consolas" panose="020B0609020204030204" pitchFamily="49" charset="0"/>
              </a:rPr>
              <a:t>luka</a:t>
            </a:r>
            <a:r>
              <a:rPr lang="en-US" dirty="0">
                <a:latin typeface="Consolas" panose="020B0609020204030204" pitchFamily="49" charset="0"/>
              </a:rPr>
              <a:t>”,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 age: 24;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const friend = me;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 err="1">
                <a:latin typeface="Consolas" panose="020B0609020204030204" pitchFamily="49" charset="0"/>
              </a:rPr>
              <a:t>me.age</a:t>
            </a:r>
            <a:r>
              <a:rPr lang="en-US" dirty="0">
                <a:latin typeface="Consolas" panose="020B0609020204030204" pitchFamily="49" charset="0"/>
              </a:rPr>
              <a:t> = 25;</a:t>
            </a:r>
          </a:p>
        </p:txBody>
      </p:sp>
    </p:spTree>
    <p:extLst>
      <p:ext uri="{BB962C8B-B14F-4D97-AF65-F5344CB8AC3E}">
        <p14:creationId xmlns:p14="http://schemas.microsoft.com/office/powerpoint/2010/main" val="456630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C9861-AB65-EB99-0C94-DDD090243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991980"/>
            <a:ext cx="2235389" cy="4107068"/>
          </a:xfrm>
        </p:spPr>
        <p:txBody>
          <a:bodyPr/>
          <a:lstStyle/>
          <a:p>
            <a:r>
              <a:rPr lang="en-US" dirty="0"/>
              <a:t>Number</a:t>
            </a:r>
          </a:p>
          <a:p>
            <a:r>
              <a:rPr lang="en-US" dirty="0"/>
              <a:t>String</a:t>
            </a:r>
          </a:p>
          <a:p>
            <a:r>
              <a:rPr lang="en-US" dirty="0"/>
              <a:t>Boolean</a:t>
            </a:r>
          </a:p>
          <a:p>
            <a:r>
              <a:rPr lang="en-US" dirty="0" err="1"/>
              <a:t>Undefiend</a:t>
            </a:r>
            <a:endParaRPr lang="en-US" dirty="0"/>
          </a:p>
          <a:p>
            <a:r>
              <a:rPr lang="en-US" dirty="0"/>
              <a:t>Null</a:t>
            </a:r>
          </a:p>
          <a:p>
            <a:r>
              <a:rPr lang="en-US" dirty="0"/>
              <a:t>Symbol</a:t>
            </a:r>
          </a:p>
          <a:p>
            <a:r>
              <a:rPr lang="en-US" dirty="0" err="1"/>
              <a:t>BigInt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93C9A92-24A3-69A9-DDDE-34CB5DCF439D}"/>
              </a:ext>
            </a:extLst>
          </p:cNvPr>
          <p:cNvSpPr txBox="1">
            <a:spLocks/>
          </p:cNvSpPr>
          <p:nvPr/>
        </p:nvSpPr>
        <p:spPr>
          <a:xfrm>
            <a:off x="1517904" y="1181354"/>
            <a:ext cx="9144000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 err="1"/>
              <a:t>Primitivne</a:t>
            </a:r>
            <a:r>
              <a:rPr lang="en-US" sz="2600" dirty="0"/>
              <a:t> </a:t>
            </a:r>
            <a:r>
              <a:rPr lang="en-US" sz="2600" dirty="0" err="1"/>
              <a:t>vrednosti</a:t>
            </a:r>
            <a:r>
              <a:rPr lang="en-US" sz="2600" dirty="0"/>
              <a:t> vs </a:t>
            </a:r>
            <a:r>
              <a:rPr lang="en-US" sz="2600" dirty="0" err="1"/>
              <a:t>objekti</a:t>
            </a:r>
            <a:endParaRPr lang="en-US" sz="2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B0885C-BBB9-FC04-25F5-86A1ED21B930}"/>
              </a:ext>
            </a:extLst>
          </p:cNvPr>
          <p:cNvSpPr txBox="1">
            <a:spLocks/>
          </p:cNvSpPr>
          <p:nvPr/>
        </p:nvSpPr>
        <p:spPr>
          <a:xfrm>
            <a:off x="4615522" y="1991980"/>
            <a:ext cx="4305194" cy="4107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Objektni</a:t>
            </a:r>
            <a:r>
              <a:rPr lang="en-US" dirty="0"/>
              <a:t> literal</a:t>
            </a:r>
          </a:p>
          <a:p>
            <a:r>
              <a:rPr lang="en-US" dirty="0" err="1"/>
              <a:t>Nizovi</a:t>
            </a:r>
            <a:endParaRPr lang="en-US" dirty="0"/>
          </a:p>
          <a:p>
            <a:r>
              <a:rPr lang="en-US" dirty="0" err="1"/>
              <a:t>Funkcije</a:t>
            </a:r>
            <a:endParaRPr lang="en-US" dirty="0"/>
          </a:p>
          <a:p>
            <a:r>
              <a:rPr lang="en-US" dirty="0" err="1"/>
              <a:t>Itd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1225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8E54C-FDBB-C7AB-7B37-2665D07F8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030186"/>
            <a:ext cx="9144000" cy="4068862"/>
          </a:xfrm>
        </p:spPr>
        <p:txBody>
          <a:bodyPr/>
          <a:lstStyle/>
          <a:p>
            <a:r>
              <a:rPr lang="en-US" dirty="0" err="1"/>
              <a:t>Bitno</a:t>
            </a:r>
            <a:r>
              <a:rPr lang="en-US" dirty="0"/>
              <a:t>: </a:t>
            </a:r>
            <a:r>
              <a:rPr lang="en-US" dirty="0" err="1"/>
              <a:t>Objekti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primitivne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se </a:t>
            </a:r>
            <a:r>
              <a:rPr lang="en-US" dirty="0" err="1"/>
              <a:t>druga</a:t>
            </a:r>
            <a:r>
              <a:rPr lang="sr-Latn-RS" dirty="0"/>
              <a:t>čije skladište u memoriji.</a:t>
            </a:r>
          </a:p>
          <a:p>
            <a:r>
              <a:rPr lang="sr-Latn-RS" dirty="0"/>
              <a:t>Objekti se skladište u okviru </a:t>
            </a:r>
            <a:r>
              <a:rPr lang="sr-Latn-RS" dirty="0" err="1"/>
              <a:t>heap</a:t>
            </a:r>
            <a:r>
              <a:rPr lang="en-US" dirty="0"/>
              <a:t>-a.</a:t>
            </a:r>
          </a:p>
          <a:p>
            <a:r>
              <a:rPr lang="en-US" dirty="0" err="1"/>
              <a:t>Primitivne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se </a:t>
            </a:r>
            <a:r>
              <a:rPr lang="en-US" dirty="0" err="1"/>
              <a:t>skladi</a:t>
            </a:r>
            <a:r>
              <a:rPr lang="sr-Latn-RS" dirty="0" err="1"/>
              <a:t>šte</a:t>
            </a:r>
            <a:r>
              <a:rPr lang="sr-Latn-RS" dirty="0"/>
              <a:t> u okviru </a:t>
            </a:r>
            <a:r>
              <a:rPr lang="sr-Latn-RS" dirty="0" err="1"/>
              <a:t>call</a:t>
            </a:r>
            <a:r>
              <a:rPr lang="sr-Latn-RS" dirty="0"/>
              <a:t> </a:t>
            </a:r>
            <a:r>
              <a:rPr lang="sr-Latn-RS" dirty="0" err="1"/>
              <a:t>stack</a:t>
            </a:r>
            <a:r>
              <a:rPr lang="en-US" dirty="0"/>
              <a:t>-a.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E27A49-237E-AF47-D205-C2C2C244AF01}"/>
              </a:ext>
            </a:extLst>
          </p:cNvPr>
          <p:cNvSpPr txBox="1">
            <a:spLocks/>
          </p:cNvSpPr>
          <p:nvPr/>
        </p:nvSpPr>
        <p:spPr>
          <a:xfrm>
            <a:off x="1517904" y="1181354"/>
            <a:ext cx="9144000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 err="1"/>
              <a:t>Primitivne</a:t>
            </a:r>
            <a:r>
              <a:rPr lang="en-US" sz="2600" dirty="0"/>
              <a:t> </a:t>
            </a:r>
            <a:r>
              <a:rPr lang="en-US" sz="2600" dirty="0" err="1"/>
              <a:t>vrednosti</a:t>
            </a:r>
            <a:r>
              <a:rPr lang="en-US" sz="2600" dirty="0"/>
              <a:t> vs </a:t>
            </a:r>
            <a:r>
              <a:rPr lang="en-US" sz="2600" dirty="0" err="1"/>
              <a:t>objekti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437662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90CB72-3172-B77B-6006-5019E7744A50}"/>
              </a:ext>
            </a:extLst>
          </p:cNvPr>
          <p:cNvSpPr txBox="1">
            <a:spLocks/>
          </p:cNvSpPr>
          <p:nvPr/>
        </p:nvSpPr>
        <p:spPr>
          <a:xfrm>
            <a:off x="1517904" y="1181354"/>
            <a:ext cx="9144000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 err="1"/>
              <a:t>Primitivne</a:t>
            </a:r>
            <a:r>
              <a:rPr lang="en-US" sz="2600" dirty="0"/>
              <a:t> </a:t>
            </a:r>
            <a:r>
              <a:rPr lang="en-US" sz="2600" dirty="0" err="1"/>
              <a:t>vrednosti</a:t>
            </a:r>
            <a:r>
              <a:rPr lang="en-US" sz="2600" dirty="0"/>
              <a:t> vs </a:t>
            </a:r>
            <a:r>
              <a:rPr lang="en-US" sz="2600" dirty="0" err="1"/>
              <a:t>objekti</a:t>
            </a:r>
            <a:endParaRPr lang="en-US" sz="2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AB734-6E42-340C-AFE0-092A5D79D211}"/>
              </a:ext>
            </a:extLst>
          </p:cNvPr>
          <p:cNvSpPr/>
          <p:nvPr/>
        </p:nvSpPr>
        <p:spPr>
          <a:xfrm>
            <a:off x="4371821" y="1905000"/>
            <a:ext cx="6715279" cy="4675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EB83C2-D4E9-9B95-C225-044865AA5075}"/>
              </a:ext>
            </a:extLst>
          </p:cNvPr>
          <p:cNvSpPr/>
          <p:nvPr/>
        </p:nvSpPr>
        <p:spPr>
          <a:xfrm>
            <a:off x="4905765" y="2237015"/>
            <a:ext cx="2486448" cy="41420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775C6-95BF-5301-0CA0-2324C5F032AC}"/>
              </a:ext>
            </a:extLst>
          </p:cNvPr>
          <p:cNvSpPr/>
          <p:nvPr/>
        </p:nvSpPr>
        <p:spPr>
          <a:xfrm>
            <a:off x="7659887" y="2229240"/>
            <a:ext cx="3108547" cy="41420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39AA0-2F0C-B393-47C5-8A5FD3825377}"/>
              </a:ext>
            </a:extLst>
          </p:cNvPr>
          <p:cNvSpPr txBox="1"/>
          <p:nvPr/>
        </p:nvSpPr>
        <p:spPr>
          <a:xfrm>
            <a:off x="5071931" y="2362454"/>
            <a:ext cx="156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C02AE-91ED-4ECF-309D-E1AB4C74053D}"/>
              </a:ext>
            </a:extLst>
          </p:cNvPr>
          <p:cNvSpPr txBox="1"/>
          <p:nvPr/>
        </p:nvSpPr>
        <p:spPr>
          <a:xfrm>
            <a:off x="8819171" y="2351705"/>
            <a:ext cx="156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Heap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8C686D9-C6AB-2C0B-7AE9-760F69D7E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035630"/>
            <a:ext cx="2531582" cy="1393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let a = 31;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let b = a;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a = 32;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0584C23-BE3C-95B7-5189-DBF6B6E7A721}"/>
              </a:ext>
            </a:extLst>
          </p:cNvPr>
          <p:cNvSpPr txBox="1">
            <a:spLocks/>
          </p:cNvSpPr>
          <p:nvPr/>
        </p:nvSpPr>
        <p:spPr>
          <a:xfrm>
            <a:off x="1517904" y="3479581"/>
            <a:ext cx="3445982" cy="24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const me = {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 name: “</a:t>
            </a:r>
            <a:r>
              <a:rPr lang="en-US" sz="1800" dirty="0" err="1">
                <a:latin typeface="Consolas" panose="020B0609020204030204" pitchFamily="49" charset="0"/>
              </a:rPr>
              <a:t>luka</a:t>
            </a:r>
            <a:r>
              <a:rPr lang="en-US" sz="1800" dirty="0">
                <a:latin typeface="Consolas" panose="020B0609020204030204" pitchFamily="49" charset="0"/>
              </a:rPr>
              <a:t>”,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 age: 23;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const friend = me;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 err="1">
                <a:latin typeface="Consolas" panose="020B0609020204030204" pitchFamily="49" charset="0"/>
              </a:rPr>
              <a:t>me.age</a:t>
            </a:r>
            <a:r>
              <a:rPr lang="en-US" sz="1800" dirty="0">
                <a:latin typeface="Consolas" panose="020B0609020204030204" pitchFamily="49" charset="0"/>
              </a:rPr>
              <a:t> = 24;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428A7D-2A93-BD1B-E0F6-B370496A620D}"/>
              </a:ext>
            </a:extLst>
          </p:cNvPr>
          <p:cNvSpPr txBox="1"/>
          <p:nvPr/>
        </p:nvSpPr>
        <p:spPr>
          <a:xfrm>
            <a:off x="4976192" y="2878742"/>
            <a:ext cx="42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02B01-F944-4D0F-42D8-11FDBD4BD202}"/>
              </a:ext>
            </a:extLst>
          </p:cNvPr>
          <p:cNvSpPr txBox="1"/>
          <p:nvPr/>
        </p:nvSpPr>
        <p:spPr>
          <a:xfrm>
            <a:off x="5337515" y="2878742"/>
            <a:ext cx="1031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68D71-727D-3794-F7DC-131F0C376809}"/>
              </a:ext>
            </a:extLst>
          </p:cNvPr>
          <p:cNvSpPr txBox="1"/>
          <p:nvPr/>
        </p:nvSpPr>
        <p:spPr>
          <a:xfrm>
            <a:off x="5674006" y="3947951"/>
            <a:ext cx="76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1457EB-3476-A8A6-9A1D-4DD205603E7E}"/>
              </a:ext>
            </a:extLst>
          </p:cNvPr>
          <p:cNvSpPr txBox="1"/>
          <p:nvPr/>
        </p:nvSpPr>
        <p:spPr>
          <a:xfrm>
            <a:off x="5050504" y="3947951"/>
            <a:ext cx="336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8E3844-683F-EF69-CF39-0017204B11C9}"/>
              </a:ext>
            </a:extLst>
          </p:cNvPr>
          <p:cNvSpPr/>
          <p:nvPr/>
        </p:nvSpPr>
        <p:spPr>
          <a:xfrm>
            <a:off x="1517905" y="2085004"/>
            <a:ext cx="1937168" cy="2884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B2BCE9-D6A2-CFE0-A92E-7BC12927D1F8}"/>
              </a:ext>
            </a:extLst>
          </p:cNvPr>
          <p:cNvCxnSpPr>
            <a:cxnSpLocks/>
          </p:cNvCxnSpPr>
          <p:nvPr/>
        </p:nvCxnSpPr>
        <p:spPr>
          <a:xfrm>
            <a:off x="3820886" y="2198914"/>
            <a:ext cx="1229618" cy="122865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F2FC03C-D682-0EE7-2410-B60D5BC80564}"/>
              </a:ext>
            </a:extLst>
          </p:cNvPr>
          <p:cNvSpPr txBox="1"/>
          <p:nvPr/>
        </p:nvSpPr>
        <p:spPr>
          <a:xfrm>
            <a:off x="6299618" y="2878742"/>
            <a:ext cx="1031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3A4297-488D-9DEB-2D63-D8FA83F8D3A4}"/>
              </a:ext>
            </a:extLst>
          </p:cNvPr>
          <p:cNvSpPr txBox="1"/>
          <p:nvPr/>
        </p:nvSpPr>
        <p:spPr>
          <a:xfrm>
            <a:off x="6634684" y="3455432"/>
            <a:ext cx="515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9C46F2-7247-FB42-8EA1-2F08DD4314FD}"/>
              </a:ext>
            </a:extLst>
          </p:cNvPr>
          <p:cNvSpPr txBox="1"/>
          <p:nvPr/>
        </p:nvSpPr>
        <p:spPr>
          <a:xfrm>
            <a:off x="5050504" y="3445536"/>
            <a:ext cx="33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3306A0-4D7F-4F89-A9A5-9E3C15570090}"/>
              </a:ext>
            </a:extLst>
          </p:cNvPr>
          <p:cNvSpPr txBox="1"/>
          <p:nvPr/>
        </p:nvSpPr>
        <p:spPr>
          <a:xfrm>
            <a:off x="5687283" y="3472312"/>
            <a:ext cx="76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0001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1C6C96-2D12-AAD9-B379-6026E3DCE145}"/>
              </a:ext>
            </a:extLst>
          </p:cNvPr>
          <p:cNvCxnSpPr>
            <a:cxnSpLocks/>
          </p:cNvCxnSpPr>
          <p:nvPr/>
        </p:nvCxnSpPr>
        <p:spPr>
          <a:xfrm flipV="1">
            <a:off x="5444461" y="3814868"/>
            <a:ext cx="468256" cy="15685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B0AA95-BF6D-EFD5-D2D4-26F9903DEAEA}"/>
              </a:ext>
            </a:extLst>
          </p:cNvPr>
          <p:cNvCxnSpPr>
            <a:cxnSpLocks/>
          </p:cNvCxnSpPr>
          <p:nvPr/>
        </p:nvCxnSpPr>
        <p:spPr>
          <a:xfrm>
            <a:off x="5359665" y="3640098"/>
            <a:ext cx="642854" cy="399008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E01254D-2550-7F18-E6FD-3B0AE2FE9404}"/>
              </a:ext>
            </a:extLst>
          </p:cNvPr>
          <p:cNvSpPr txBox="1"/>
          <p:nvPr/>
        </p:nvSpPr>
        <p:spPr>
          <a:xfrm>
            <a:off x="6629710" y="3938690"/>
            <a:ext cx="515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C01602-06C5-3EF9-2630-0878B25F846C}"/>
              </a:ext>
            </a:extLst>
          </p:cNvPr>
          <p:cNvSpPr txBox="1"/>
          <p:nvPr/>
        </p:nvSpPr>
        <p:spPr>
          <a:xfrm>
            <a:off x="5050504" y="4447990"/>
            <a:ext cx="501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2C7F43-D930-A46E-147C-DEBD647B7DF5}"/>
              </a:ext>
            </a:extLst>
          </p:cNvPr>
          <p:cNvSpPr txBox="1"/>
          <p:nvPr/>
        </p:nvSpPr>
        <p:spPr>
          <a:xfrm>
            <a:off x="5666125" y="4429723"/>
            <a:ext cx="76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0003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84AFC1-0AC6-A51C-800F-1C91553BFC02}"/>
              </a:ext>
            </a:extLst>
          </p:cNvPr>
          <p:cNvSpPr txBox="1"/>
          <p:nvPr/>
        </p:nvSpPr>
        <p:spPr>
          <a:xfrm>
            <a:off x="6505694" y="4447990"/>
            <a:ext cx="76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D30F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3970E2-DF14-4F17-6A26-E2CD62A85789}"/>
              </a:ext>
            </a:extLst>
          </p:cNvPr>
          <p:cNvSpPr txBox="1"/>
          <p:nvPr/>
        </p:nvSpPr>
        <p:spPr>
          <a:xfrm>
            <a:off x="8016832" y="3470270"/>
            <a:ext cx="76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D30F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D243EA-C2A8-DD9B-383F-1C1CA21AB7BC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7266115" y="3839602"/>
            <a:ext cx="894824" cy="79305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D7A783D-CCFA-BF39-73B7-D2E3E689F971}"/>
              </a:ext>
            </a:extLst>
          </p:cNvPr>
          <p:cNvSpPr txBox="1"/>
          <p:nvPr/>
        </p:nvSpPr>
        <p:spPr>
          <a:xfrm>
            <a:off x="8990949" y="3443901"/>
            <a:ext cx="19226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const me = {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 name: “</a:t>
            </a:r>
            <a:r>
              <a:rPr lang="en-US" sz="1800" dirty="0" err="1">
                <a:latin typeface="Consolas" panose="020B0609020204030204" pitchFamily="49" charset="0"/>
              </a:rPr>
              <a:t>luka</a:t>
            </a:r>
            <a:r>
              <a:rPr lang="en-US" sz="1800" dirty="0">
                <a:latin typeface="Consolas" panose="020B0609020204030204" pitchFamily="49" charset="0"/>
              </a:rPr>
              <a:t>”,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 age: 23;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FF914F-3085-B8C7-607A-CB07C74653FC}"/>
              </a:ext>
            </a:extLst>
          </p:cNvPr>
          <p:cNvSpPr txBox="1"/>
          <p:nvPr/>
        </p:nvSpPr>
        <p:spPr>
          <a:xfrm>
            <a:off x="5025793" y="5039790"/>
            <a:ext cx="978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friend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D06669E-0280-CB10-6102-1471561180DE}"/>
              </a:ext>
            </a:extLst>
          </p:cNvPr>
          <p:cNvCxnSpPr>
            <a:cxnSpLocks/>
          </p:cNvCxnSpPr>
          <p:nvPr/>
        </p:nvCxnSpPr>
        <p:spPr>
          <a:xfrm flipV="1">
            <a:off x="5585960" y="4794091"/>
            <a:ext cx="343093" cy="260227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8FD9FFD1-7D23-19E5-76CA-FD98195D0021}"/>
              </a:ext>
            </a:extLst>
          </p:cNvPr>
          <p:cNvSpPr txBox="1">
            <a:spLocks/>
          </p:cNvSpPr>
          <p:nvPr/>
        </p:nvSpPr>
        <p:spPr>
          <a:xfrm>
            <a:off x="5497830" y="5532808"/>
            <a:ext cx="4976206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sz="2600" dirty="0"/>
              <a:t>Šta je poenta CONST kod </a:t>
            </a:r>
            <a:r>
              <a:rPr lang="sr-Latn-RS" sz="2600" dirty="0" err="1"/>
              <a:t>referenciranih</a:t>
            </a:r>
            <a:r>
              <a:rPr lang="sr-Latn-RS" sz="2600" dirty="0"/>
              <a:t> tipova</a:t>
            </a:r>
            <a:r>
              <a:rPr lang="en-US" sz="2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87348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 animBg="1"/>
      <p:bldP spid="20" grpId="0"/>
      <p:bldP spid="21" grpId="0"/>
      <p:bldP spid="22" grpId="0"/>
      <p:bldP spid="23" grpId="0"/>
      <p:bldP spid="28" grpId="0"/>
      <p:bldP spid="29" grpId="0"/>
      <p:bldP spid="30" grpId="0"/>
      <p:bldP spid="31" grpId="0"/>
      <p:bldP spid="32" grpId="0"/>
      <p:bldP spid="36" grpId="0"/>
      <p:bldP spid="41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68A13D9-9A7C-22E8-B79E-5CDF883C12E0}"/>
              </a:ext>
            </a:extLst>
          </p:cNvPr>
          <p:cNvSpPr txBox="1">
            <a:spLocks/>
          </p:cNvSpPr>
          <p:nvPr/>
        </p:nvSpPr>
        <p:spPr>
          <a:xfrm>
            <a:off x="1524000" y="1551468"/>
            <a:ext cx="9144000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 err="1">
                <a:solidFill>
                  <a:schemeClr val="accent2"/>
                </a:solidFill>
              </a:rPr>
              <a:t>object.assign</a:t>
            </a:r>
            <a:r>
              <a:rPr lang="en-US" sz="2600" dirty="0">
                <a:solidFill>
                  <a:schemeClr val="accent2"/>
                </a:solidFill>
              </a:rPr>
              <a:t>({}, me)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2D5D7D-B6F9-2F96-605A-7AAA7D486390}"/>
              </a:ext>
            </a:extLst>
          </p:cNvPr>
          <p:cNvSpPr txBox="1"/>
          <p:nvPr/>
        </p:nvSpPr>
        <p:spPr>
          <a:xfrm>
            <a:off x="1583220" y="2513173"/>
            <a:ext cx="85296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const me = {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 name: “</a:t>
            </a:r>
            <a:r>
              <a:rPr lang="en-US" sz="1800" dirty="0" err="1">
                <a:latin typeface="Consolas" panose="020B0609020204030204" pitchFamily="49" charset="0"/>
              </a:rPr>
              <a:t>luka</a:t>
            </a:r>
            <a:r>
              <a:rPr lang="en-US" sz="1800" dirty="0">
                <a:latin typeface="Consolas" panose="020B0609020204030204" pitchFamily="49" charset="0"/>
              </a:rPr>
              <a:t>”,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 age: 23;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venir Next LT Pro" panose="020B0504020202020204" pitchFamily="34" charset="0"/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meCopy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object.assign</a:t>
            </a:r>
            <a:r>
              <a:rPr lang="en-US" dirty="0">
                <a:latin typeface="Consolas" panose="020B0609020204030204" pitchFamily="49" charset="0"/>
              </a:rPr>
              <a:t>({}, me)</a:t>
            </a: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CD2E61-27E0-0F19-C32B-D10A112AB3C5}"/>
              </a:ext>
            </a:extLst>
          </p:cNvPr>
          <p:cNvSpPr txBox="1"/>
          <p:nvPr/>
        </p:nvSpPr>
        <p:spPr>
          <a:xfrm>
            <a:off x="1583220" y="4495800"/>
            <a:ext cx="5176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Šta ako imam objekat unutar objekta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99645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5EAA6-BC93-6D4F-25F3-91EB1AE8E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823251"/>
            <a:ext cx="9144000" cy="41070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- U </a:t>
            </a:r>
            <a:r>
              <a:rPr lang="en-US" dirty="0" err="1"/>
              <a:t>najjednostavnijem</a:t>
            </a:r>
            <a:r>
              <a:rPr lang="en-US" dirty="0"/>
              <a:t> </a:t>
            </a:r>
            <a:r>
              <a:rPr lang="en-US" dirty="0" err="1"/>
              <a:t>obliku</a:t>
            </a:r>
            <a:r>
              <a:rPr lang="en-US" dirty="0"/>
              <a:t> se </a:t>
            </a:r>
            <a:r>
              <a:rPr lang="en-US" dirty="0" err="1"/>
              <a:t>odnosi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objekat</a:t>
            </a:r>
            <a:r>
              <a:rPr lang="en-US" dirty="0"/>
              <a:t> koji je </a:t>
            </a:r>
            <a:r>
              <a:rPr lang="en-US" dirty="0" err="1"/>
              <a:t>pozvao</a:t>
            </a:r>
            <a:r>
              <a:rPr lang="en-US" dirty="0"/>
              <a:t> </a:t>
            </a:r>
            <a:r>
              <a:rPr lang="en-US" dirty="0" err="1"/>
              <a:t>metodu</a:t>
            </a:r>
            <a:r>
              <a:rPr lang="en-US" dirty="0"/>
              <a:t> (primer).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2A9094-78A2-2350-413E-65EF2EC1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this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9FF3F-7BF3-4DFC-1D5D-733B049092C4}"/>
              </a:ext>
            </a:extLst>
          </p:cNvPr>
          <p:cNvSpPr txBox="1">
            <a:spLocks/>
          </p:cNvSpPr>
          <p:nvPr/>
        </p:nvSpPr>
        <p:spPr>
          <a:xfrm>
            <a:off x="1530096" y="3234888"/>
            <a:ext cx="9144000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289065-09E5-F435-3D17-61E8DD7FF25C}"/>
              </a:ext>
            </a:extLst>
          </p:cNvPr>
          <p:cNvSpPr txBox="1">
            <a:spLocks/>
          </p:cNvSpPr>
          <p:nvPr/>
        </p:nvSpPr>
        <p:spPr>
          <a:xfrm>
            <a:off x="1530096" y="2762938"/>
            <a:ext cx="7351548" cy="4228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venir Next LT Pro" panose="020B0504020202020204" pitchFamily="34" charset="0"/>
              <a:buNone/>
            </a:pPr>
            <a:r>
              <a:rPr lang="sr-Latn-RS" dirty="0" err="1">
                <a:latin typeface="Consolas" panose="020B0609020204030204" pitchFamily="49" charset="0"/>
              </a:rPr>
              <a:t>const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myInfo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    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: “Luka”,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lastName</a:t>
            </a:r>
            <a:r>
              <a:rPr lang="en-US" dirty="0">
                <a:latin typeface="Consolas" panose="020B0609020204030204" pitchFamily="49" charset="0"/>
              </a:rPr>
              <a:t>: “Doric”, 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calcAge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 function() {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return 2037 –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this.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birthYear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}</a:t>
            </a:r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2286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23805-04DF-25BC-011C-7E4A96AC1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123" y="2378423"/>
            <a:ext cx="9685891" cy="35978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this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sr-Latn-RS" dirty="0" err="1"/>
              <a:t>čka</a:t>
            </a:r>
            <a:r>
              <a:rPr lang="sr-Latn-RS" dirty="0"/>
              <a:t>! Zavisi kako je funkcija pozvana.</a:t>
            </a:r>
            <a:endParaRPr lang="en-U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dirty="0"/>
              <a:t>Ako funkciju pozovemo nad objektom onda se</a:t>
            </a:r>
            <a:r>
              <a:rPr lang="sr-Latn-RS" b="1" dirty="0"/>
              <a:t> </a:t>
            </a:r>
            <a:r>
              <a:rPr lang="en-US" b="1" dirty="0"/>
              <a:t>this</a:t>
            </a:r>
            <a:r>
              <a:rPr lang="sr-Latn-RS" b="1" dirty="0"/>
              <a:t> </a:t>
            </a:r>
            <a:r>
              <a:rPr lang="sr-Latn-RS" dirty="0"/>
              <a:t>odnosi na taj objekta.</a:t>
            </a:r>
            <a:endParaRPr lang="en-U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dirty="0"/>
              <a:t>Ako funkciju pozovemo bez objekta onda je </a:t>
            </a:r>
            <a:r>
              <a:rPr lang="en-US" b="1" dirty="0"/>
              <a:t>this</a:t>
            </a:r>
            <a:r>
              <a:rPr lang="en-US" dirty="0"/>
              <a:t> </a:t>
            </a:r>
            <a:r>
              <a:rPr lang="sr-Latn-RS" dirty="0" err="1"/>
              <a:t>undefined</a:t>
            </a:r>
            <a:r>
              <a:rPr lang="en-US" dirty="0"/>
              <a:t> (</a:t>
            </a:r>
            <a:r>
              <a:rPr lang="en-US" dirty="0" err="1"/>
              <a:t>samo</a:t>
            </a:r>
            <a:r>
              <a:rPr lang="en-US" dirty="0"/>
              <a:t> za strict mode)</a:t>
            </a:r>
            <a:r>
              <a:rPr lang="sr-Latn-RS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uradimo</a:t>
            </a:r>
            <a:r>
              <a:rPr lang="en-US" dirty="0"/>
              <a:t> console.log(</a:t>
            </a:r>
            <a:r>
              <a:rPr lang="en-US" b="1" dirty="0"/>
              <a:t>this</a:t>
            </a:r>
            <a:r>
              <a:rPr lang="en-US" dirty="0"/>
              <a:t>) van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bi</a:t>
            </a:r>
            <a:r>
              <a:rPr lang="sr-Latn-RS" dirty="0"/>
              <a:t>će </a:t>
            </a:r>
            <a:r>
              <a:rPr lang="sr-Latn-RS" b="1" dirty="0"/>
              <a:t>global </a:t>
            </a:r>
            <a:r>
              <a:rPr lang="sr-Latn-RS" b="1" dirty="0" err="1"/>
              <a:t>object</a:t>
            </a:r>
            <a:r>
              <a:rPr lang="sr-Latn-RS" b="1" dirty="0"/>
              <a:t> </a:t>
            </a:r>
            <a:r>
              <a:rPr lang="sr-Latn-RS" b="1" dirty="0" err="1"/>
              <a:t>Window</a:t>
            </a:r>
            <a:r>
              <a:rPr lang="sr-Latn-RS" dirty="0"/>
              <a:t>.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3047D9-E7A3-13B9-DACE-EAD28214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this</a:t>
            </a:r>
          </a:p>
        </p:txBody>
      </p:sp>
    </p:spTree>
    <p:extLst>
      <p:ext uri="{BB962C8B-B14F-4D97-AF65-F5344CB8AC3E}">
        <p14:creationId xmlns:p14="http://schemas.microsoft.com/office/powerpoint/2010/main" val="2882110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240D9-0307-BD7C-FCE0-F2EE25368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866900"/>
            <a:ext cx="9404604" cy="4232148"/>
          </a:xfrm>
        </p:spPr>
        <p:txBody>
          <a:bodyPr/>
          <a:lstStyle/>
          <a:p>
            <a:r>
              <a:rPr lang="en-US" dirty="0"/>
              <a:t>Do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koristili</a:t>
            </a:r>
            <a:r>
              <a:rPr lang="en-US" dirty="0"/>
              <a:t> </a:t>
            </a:r>
            <a:r>
              <a:rPr lang="en-US" dirty="0" err="1"/>
              <a:t>objektne</a:t>
            </a:r>
            <a:r>
              <a:rPr lang="en-US" dirty="0"/>
              <a:t> </a:t>
            </a:r>
            <a:r>
              <a:rPr lang="en-US" dirty="0" err="1"/>
              <a:t>literale</a:t>
            </a:r>
            <a:r>
              <a:rPr lang="en-US" dirty="0"/>
              <a:t> (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instanciramo</a:t>
            </a:r>
            <a:r>
              <a:rPr lang="en-US" dirty="0"/>
              <a:t> </a:t>
            </a:r>
            <a:r>
              <a:rPr lang="en-US" dirty="0" err="1"/>
              <a:t>objekat</a:t>
            </a:r>
            <a:r>
              <a:rPr lang="en-US" dirty="0"/>
              <a:t>).</a:t>
            </a:r>
          </a:p>
          <a:p>
            <a:r>
              <a:rPr lang="en-US" dirty="0"/>
              <a:t>Java</a:t>
            </a:r>
            <a:r>
              <a:rPr lang="sr-Latn-RS" dirty="0" err="1"/>
              <a:t>Script</a:t>
            </a:r>
            <a:r>
              <a:rPr lang="en-US" dirty="0"/>
              <a:t> ne </a:t>
            </a:r>
            <a:r>
              <a:rPr lang="en-US" dirty="0" err="1"/>
              <a:t>podr</a:t>
            </a:r>
            <a:r>
              <a:rPr lang="sr-Latn-RS" dirty="0" err="1"/>
              <a:t>žava</a:t>
            </a:r>
            <a:r>
              <a:rPr lang="sr-Latn-RS" dirty="0"/>
              <a:t> klase kakve ste upoznali do sada (Java, C#).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9CD736-BCA1-733C-DBA5-81361B17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Objektno</a:t>
            </a:r>
            <a:r>
              <a:rPr lang="en-US" sz="2600" dirty="0"/>
              <a:t> </a:t>
            </a:r>
            <a:r>
              <a:rPr lang="en-US" sz="2600" dirty="0" err="1"/>
              <a:t>orijentisano</a:t>
            </a:r>
            <a:r>
              <a:rPr lang="en-US" sz="2600" dirty="0"/>
              <a:t> </a:t>
            </a:r>
            <a:r>
              <a:rPr lang="en-US" sz="2600" dirty="0" err="1"/>
              <a:t>programiranje</a:t>
            </a:r>
            <a:endParaRPr lang="en-US" sz="2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B28CA9-F3A7-A672-4324-08B6C22BB8DA}"/>
              </a:ext>
            </a:extLst>
          </p:cNvPr>
          <p:cNvSpPr/>
          <p:nvPr/>
        </p:nvSpPr>
        <p:spPr>
          <a:xfrm>
            <a:off x="2024743" y="4120243"/>
            <a:ext cx="2509157" cy="1153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Class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27B3C3-DCD5-1671-A370-8FD71528558A}"/>
              </a:ext>
            </a:extLst>
          </p:cNvPr>
          <p:cNvSpPr/>
          <p:nvPr/>
        </p:nvSpPr>
        <p:spPr>
          <a:xfrm>
            <a:off x="5559552" y="4907062"/>
            <a:ext cx="2509157" cy="115388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Instance#3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4696FC-1848-8B80-ACD5-BC2956C16C2F}"/>
              </a:ext>
            </a:extLst>
          </p:cNvPr>
          <p:cNvSpPr/>
          <p:nvPr/>
        </p:nvSpPr>
        <p:spPr>
          <a:xfrm>
            <a:off x="2865338" y="5060661"/>
            <a:ext cx="2509157" cy="115388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Instance#2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E9EF67-67B5-2356-A42B-15DFCDDFF70B}"/>
              </a:ext>
            </a:extLst>
          </p:cNvPr>
          <p:cNvSpPr/>
          <p:nvPr/>
        </p:nvSpPr>
        <p:spPr>
          <a:xfrm>
            <a:off x="4705023" y="3387308"/>
            <a:ext cx="2509157" cy="115388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Instance#1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702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7057-EFB7-84C9-4E64-7E4532711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095500"/>
            <a:ext cx="9144000" cy="2541814"/>
          </a:xfrm>
        </p:spPr>
        <p:txBody>
          <a:bodyPr>
            <a:normAutofit/>
          </a:bodyPr>
          <a:lstStyle/>
          <a:p>
            <a:r>
              <a:rPr lang="sr-Latn-RS" dirty="0" err="1"/>
              <a:t>Abstraction</a:t>
            </a:r>
            <a:endParaRPr lang="sr-Latn-RS" dirty="0"/>
          </a:p>
          <a:p>
            <a:r>
              <a:rPr lang="sr-Latn-RS" dirty="0" err="1"/>
              <a:t>Encapsulation</a:t>
            </a:r>
            <a:endParaRPr lang="sr-Latn-RS" dirty="0"/>
          </a:p>
          <a:p>
            <a:r>
              <a:rPr lang="sr-Latn-RS" dirty="0" err="1"/>
              <a:t>Inheritence</a:t>
            </a:r>
            <a:endParaRPr lang="sr-Latn-RS" dirty="0"/>
          </a:p>
          <a:p>
            <a:r>
              <a:rPr lang="sr-Latn-RS" dirty="0" err="1"/>
              <a:t>Polymorphism</a:t>
            </a:r>
            <a:endParaRPr lang="sr-Latn-R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1AE705-E9E7-96B8-5B57-7EFB14A6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Objektno</a:t>
            </a:r>
            <a:r>
              <a:rPr lang="en-US" sz="2600" dirty="0"/>
              <a:t> </a:t>
            </a:r>
            <a:r>
              <a:rPr lang="en-US" sz="2600" dirty="0" err="1"/>
              <a:t>orijentisano</a:t>
            </a:r>
            <a:r>
              <a:rPr lang="en-US" sz="2600" dirty="0"/>
              <a:t> </a:t>
            </a:r>
            <a:r>
              <a:rPr lang="en-US" sz="2600" dirty="0" err="1"/>
              <a:t>programiranje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596820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EE86-865C-DD55-BDA8-5AD8DEFB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209800"/>
            <a:ext cx="6717139" cy="3889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sz="2400" dirty="0"/>
              <a:t>U JS svaki </a:t>
            </a:r>
            <a:r>
              <a:rPr lang="sr-Latn-RS" sz="2400" b="1" dirty="0" err="1"/>
              <a:t>object</a:t>
            </a:r>
            <a:r>
              <a:rPr lang="sr-Latn-RS" sz="2400" dirty="0"/>
              <a:t> je uvezan za </a:t>
            </a:r>
            <a:r>
              <a:rPr lang="sr-Latn-RS" sz="2400" b="1" dirty="0" err="1"/>
              <a:t>protoype</a:t>
            </a:r>
            <a:r>
              <a:rPr lang="sr-Latn-RS" sz="2400" dirty="0"/>
              <a:t>.</a:t>
            </a:r>
          </a:p>
          <a:p>
            <a:pPr marL="0" indent="0">
              <a:buNone/>
            </a:pPr>
            <a:endParaRPr lang="sr-Latn-RS" sz="2400" dirty="0"/>
          </a:p>
          <a:p>
            <a:pPr marL="0" indent="0">
              <a:buNone/>
            </a:pPr>
            <a:r>
              <a:rPr lang="sr-Latn-RS" sz="2400" b="1" dirty="0" err="1"/>
              <a:t>Prototype</a:t>
            </a:r>
            <a:r>
              <a:rPr lang="sr-Latn-RS" sz="2400" dirty="0"/>
              <a:t> sadrži metode i polja koje ima svaki </a:t>
            </a:r>
            <a:r>
              <a:rPr lang="sr-Latn-RS" sz="2400" b="1" dirty="0" err="1"/>
              <a:t>object</a:t>
            </a:r>
            <a:r>
              <a:rPr lang="sr-Latn-RS" sz="2400" dirty="0"/>
              <a:t> koji je uvezan za taj </a:t>
            </a:r>
            <a:r>
              <a:rPr lang="sr-Latn-RS" sz="2400" b="1" dirty="0" err="1"/>
              <a:t>prototype</a:t>
            </a:r>
            <a:r>
              <a:rPr lang="sr-Latn-RS" sz="2400" dirty="0"/>
              <a:t>.</a:t>
            </a:r>
          </a:p>
          <a:p>
            <a:pPr marL="0" indent="0">
              <a:buNone/>
            </a:pPr>
            <a:r>
              <a:rPr lang="sr-Latn-RS" sz="2400" dirty="0"/>
              <a:t>Ovakva osobina u JS se naziva </a:t>
            </a:r>
            <a:r>
              <a:rPr lang="sr-Latn-RS" sz="2400" dirty="0" err="1"/>
              <a:t>prototype</a:t>
            </a:r>
            <a:r>
              <a:rPr lang="sr-Latn-RS" sz="2400" dirty="0"/>
              <a:t> </a:t>
            </a:r>
            <a:r>
              <a:rPr lang="sr-Latn-RS" sz="2400" dirty="0" err="1"/>
              <a:t>inheritance</a:t>
            </a:r>
            <a:r>
              <a:rPr lang="sr-Latn-RS" sz="2400" dirty="0"/>
              <a:t> (prototipsko nasleđivanje).</a:t>
            </a:r>
            <a:endParaRPr lang="en-US" sz="2400" dirty="0"/>
          </a:p>
          <a:p>
            <a:pPr marL="0" indent="0">
              <a:buNone/>
            </a:pPr>
            <a:endParaRPr lang="sr-Latn-RS" sz="2400" dirty="0"/>
          </a:p>
          <a:p>
            <a:pPr marL="0" indent="0">
              <a:buNone/>
            </a:pPr>
            <a:r>
              <a:rPr lang="sr-Latn-RS" sz="2400" dirty="0"/>
              <a:t>(</a:t>
            </a:r>
            <a:r>
              <a:rPr lang="en-US" sz="2400" dirty="0" err="1"/>
              <a:t>Pogledati</a:t>
            </a:r>
            <a:r>
              <a:rPr lang="en-US" sz="2400" dirty="0"/>
              <a:t> console.log(friends)</a:t>
            </a:r>
            <a:r>
              <a:rPr lang="sr-Latn-RS" sz="2400" dirty="0"/>
              <a:t>)</a:t>
            </a: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BF0426-5728-2AE1-4847-288E20C0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Objektno</a:t>
            </a:r>
            <a:r>
              <a:rPr lang="en-US" sz="2600" dirty="0"/>
              <a:t> </a:t>
            </a:r>
            <a:r>
              <a:rPr lang="en-US" sz="2600" dirty="0" err="1"/>
              <a:t>orijentisano</a:t>
            </a:r>
            <a:r>
              <a:rPr lang="en-US" sz="2600" dirty="0"/>
              <a:t> </a:t>
            </a:r>
            <a:r>
              <a:rPr lang="en-US" sz="2600" dirty="0" err="1"/>
              <a:t>programiranje</a:t>
            </a:r>
            <a:r>
              <a:rPr lang="sr-Latn-RS" sz="2600" dirty="0"/>
              <a:t> (JS)</a:t>
            </a:r>
            <a:endParaRPr lang="en-US" sz="2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0FC667-9813-41C5-44C1-97CA5B5EB8FF}"/>
              </a:ext>
            </a:extLst>
          </p:cNvPr>
          <p:cNvSpPr/>
          <p:nvPr/>
        </p:nvSpPr>
        <p:spPr>
          <a:xfrm>
            <a:off x="8496300" y="2209800"/>
            <a:ext cx="2226129" cy="5878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Prototype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198CD4-385D-5BF0-2467-1F924ADE703E}"/>
              </a:ext>
            </a:extLst>
          </p:cNvPr>
          <p:cNvSpPr/>
          <p:nvPr/>
        </p:nvSpPr>
        <p:spPr>
          <a:xfrm>
            <a:off x="8496300" y="4582886"/>
            <a:ext cx="2226129" cy="587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Object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CED085-047C-7076-141B-8027A284F2F7}"/>
              </a:ext>
            </a:extLst>
          </p:cNvPr>
          <p:cNvCxnSpPr/>
          <p:nvPr/>
        </p:nvCxnSpPr>
        <p:spPr>
          <a:xfrm flipV="1">
            <a:off x="9541329" y="3069771"/>
            <a:ext cx="0" cy="12300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126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43D1B-091E-3EDA-1F79-C2E9A1393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073729"/>
            <a:ext cx="9144000" cy="4025319"/>
          </a:xfrm>
        </p:spPr>
        <p:txBody>
          <a:bodyPr/>
          <a:lstStyle/>
          <a:p>
            <a:r>
              <a:rPr lang="en-US" dirty="0"/>
              <a:t>Constructor functions</a:t>
            </a:r>
          </a:p>
          <a:p>
            <a:r>
              <a:rPr lang="en-US" dirty="0"/>
              <a:t>ES6 </a:t>
            </a:r>
            <a:r>
              <a:rPr lang="en-US" dirty="0" err="1"/>
              <a:t>klase</a:t>
            </a:r>
            <a:endParaRPr lang="en-US" dirty="0"/>
          </a:p>
          <a:p>
            <a:r>
              <a:rPr lang="en-US" dirty="0" err="1"/>
              <a:t>Object.create</a:t>
            </a:r>
            <a:r>
              <a:rPr lang="en-US" dirty="0"/>
              <a:t>()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FAB2432-F38D-B89B-AB63-C4907B0E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/>
              <a:t>Kako da koristim </a:t>
            </a:r>
            <a:r>
              <a:rPr lang="sr-Latn-RS" sz="2600" dirty="0" err="1"/>
              <a:t>objektno</a:t>
            </a:r>
            <a:r>
              <a:rPr lang="sr-Latn-RS" sz="2600" dirty="0"/>
              <a:t> orijentisanu paradigmu u JS</a:t>
            </a:r>
            <a:r>
              <a:rPr lang="en-US" sz="2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08337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80C6E-5070-4538-8125-55A944264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892594"/>
            <a:ext cx="9144000" cy="45401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const Person = function(</a:t>
            </a:r>
            <a:r>
              <a:rPr lang="en-US" dirty="0" err="1"/>
              <a:t>firstName</a:t>
            </a:r>
            <a:r>
              <a:rPr lang="en-US" dirty="0"/>
              <a:t>, </a:t>
            </a:r>
            <a:r>
              <a:rPr lang="en-US" dirty="0" err="1"/>
              <a:t>birthYear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this.firstName</a:t>
            </a:r>
            <a:r>
              <a:rPr lang="en-US" dirty="0"/>
              <a:t> = </a:t>
            </a:r>
            <a:r>
              <a:rPr lang="en-US" dirty="0" err="1"/>
              <a:t>firstName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this.birthYear</a:t>
            </a:r>
            <a:r>
              <a:rPr lang="en-US" dirty="0"/>
              <a:t> = </a:t>
            </a:r>
            <a:r>
              <a:rPr lang="en-US" dirty="0" err="1"/>
              <a:t>birthYear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sr-Latn-RS" dirty="0" err="1"/>
              <a:t>const</a:t>
            </a:r>
            <a:r>
              <a:rPr lang="sr-Latn-RS" dirty="0"/>
              <a:t> me </a:t>
            </a:r>
            <a:r>
              <a:rPr lang="en-US" dirty="0"/>
              <a:t>= new Person(‘Luka’, 1998);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Prazan</a:t>
            </a:r>
            <a:r>
              <a:rPr lang="en-US" dirty="0"/>
              <a:t> </a:t>
            </a:r>
            <a:r>
              <a:rPr lang="en-US" dirty="0" err="1"/>
              <a:t>objekat</a:t>
            </a:r>
            <a:r>
              <a:rPr lang="en-US" dirty="0"/>
              <a:t> je </a:t>
            </a:r>
            <a:r>
              <a:rPr lang="en-US" dirty="0" err="1"/>
              <a:t>kreiran</a:t>
            </a:r>
            <a:r>
              <a:rPr lang="en-US" dirty="0"/>
              <a:t> {}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poziva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postavljen</a:t>
            </a:r>
            <a:r>
              <a:rPr lang="en-US" dirty="0"/>
              <a:t> je this </a:t>
            </a:r>
            <a:r>
              <a:rPr lang="en-US" dirty="0" err="1"/>
              <a:t>na</a:t>
            </a:r>
            <a:r>
              <a:rPr lang="en-US" dirty="0"/>
              <a:t> {} </a:t>
            </a:r>
            <a:r>
              <a:rPr lang="en-US" dirty="0" err="1"/>
              <a:t>objekat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Objekat</a:t>
            </a:r>
            <a:r>
              <a:rPr lang="en-US" dirty="0"/>
              <a:t> je </a:t>
            </a:r>
            <a:r>
              <a:rPr lang="en-US" dirty="0" err="1"/>
              <a:t>uvezan</a:t>
            </a:r>
            <a:r>
              <a:rPr lang="en-US" dirty="0"/>
              <a:t> za </a:t>
            </a:r>
            <a:r>
              <a:rPr lang="en-US" dirty="0" err="1"/>
              <a:t>prototip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automatski</a:t>
            </a:r>
            <a:r>
              <a:rPr lang="en-US" dirty="0"/>
              <a:t> </a:t>
            </a:r>
            <a:r>
              <a:rPr lang="en-US" dirty="0" err="1"/>
              <a:t>vra</a:t>
            </a:r>
            <a:r>
              <a:rPr lang="sr-Latn-RS" dirty="0" err="1"/>
              <a:t>ća</a:t>
            </a:r>
            <a:r>
              <a:rPr lang="en-US" dirty="0"/>
              <a:t> </a:t>
            </a:r>
            <a:r>
              <a:rPr lang="en-US" dirty="0" err="1"/>
              <a:t>popunjen</a:t>
            </a:r>
            <a:r>
              <a:rPr lang="en-US" dirty="0"/>
              <a:t> </a:t>
            </a:r>
            <a:r>
              <a:rPr lang="en-US" dirty="0" err="1"/>
              <a:t>objekat</a:t>
            </a:r>
            <a:r>
              <a:rPr lang="en-US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A4846-55A9-8ED4-3CC6-8ED6513B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Constructor functions</a:t>
            </a:r>
          </a:p>
        </p:txBody>
      </p:sp>
    </p:spTree>
    <p:extLst>
      <p:ext uri="{BB962C8B-B14F-4D97-AF65-F5344CB8AC3E}">
        <p14:creationId xmlns:p14="http://schemas.microsoft.com/office/powerpoint/2010/main" val="67796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48387-BCBF-061F-854C-E7728835A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126512"/>
            <a:ext cx="6281710" cy="25108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const Person = function(</a:t>
            </a:r>
            <a:r>
              <a:rPr lang="en-US" sz="1800" dirty="0" err="1">
                <a:latin typeface="Consolas" panose="020B0609020204030204" pitchFamily="49" charset="0"/>
              </a:rPr>
              <a:t>firstName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birthYear</a:t>
            </a:r>
            <a:r>
              <a:rPr lang="en-US" sz="18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this.firstName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firstName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this.birthYear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birthYear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this.calcAge</a:t>
            </a:r>
            <a:r>
              <a:rPr lang="en-US" sz="1800" dirty="0">
                <a:latin typeface="Consolas" panose="020B0609020204030204" pitchFamily="49" charset="0"/>
              </a:rPr>
              <a:t> = function ()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console.log(2037 – </a:t>
            </a:r>
            <a:r>
              <a:rPr lang="en-US" sz="1800" dirty="0" err="1">
                <a:latin typeface="Consolas" panose="020B0609020204030204" pitchFamily="49" charset="0"/>
              </a:rPr>
              <a:t>this.birthYear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};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B20FA0-3461-67D7-EA4F-76577F1CE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Gde</a:t>
            </a:r>
            <a:r>
              <a:rPr lang="en-US" sz="2600" dirty="0"/>
              <a:t> </a:t>
            </a:r>
            <a:r>
              <a:rPr lang="en-US" sz="2600" dirty="0" err="1"/>
              <a:t>su</a:t>
            </a:r>
            <a:r>
              <a:rPr lang="en-US" sz="2600" dirty="0"/>
              <a:t> </a:t>
            </a:r>
            <a:r>
              <a:rPr lang="en-US" sz="2600" dirty="0" err="1"/>
              <a:t>metode</a:t>
            </a:r>
            <a:r>
              <a:rPr lang="en-US" sz="2600" dirty="0"/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31E8E-47AB-F5FA-B402-33836B3FF159}"/>
              </a:ext>
            </a:extLst>
          </p:cNvPr>
          <p:cNvSpPr/>
          <p:nvPr/>
        </p:nvSpPr>
        <p:spPr>
          <a:xfrm rot="2614894">
            <a:off x="1442357" y="3199578"/>
            <a:ext cx="5176157" cy="3646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821DF2-A1C8-E6D5-0C97-B174544EC598}"/>
              </a:ext>
            </a:extLst>
          </p:cNvPr>
          <p:cNvSpPr/>
          <p:nvPr/>
        </p:nvSpPr>
        <p:spPr>
          <a:xfrm rot="8004471">
            <a:off x="1352827" y="3204534"/>
            <a:ext cx="5176157" cy="3646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64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2890-EB50-3338-2CD2-4CDC871BE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096" y="1779814"/>
            <a:ext cx="9144000" cy="42702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Person.prototype.calcAge</a:t>
            </a:r>
            <a:r>
              <a:rPr lang="en-US" dirty="0">
                <a:latin typeface="Consolas" panose="020B0609020204030204" pitchFamily="49" charset="0"/>
              </a:rPr>
              <a:t> = function ()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console.log(2037 – </a:t>
            </a:r>
            <a:r>
              <a:rPr lang="en-US" dirty="0" err="1">
                <a:latin typeface="Consolas" panose="020B0609020204030204" pitchFamily="49" charset="0"/>
              </a:rPr>
              <a:t>this.birthYear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Svaki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objekat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kreiran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kroz</a:t>
            </a:r>
            <a:r>
              <a:rPr lang="en-US" dirty="0">
                <a:latin typeface="Consolas" panose="020B0609020204030204" pitchFamily="49" charset="0"/>
              </a:rPr>
              <a:t> Person </a:t>
            </a:r>
            <a:r>
              <a:rPr lang="sr-Latn-RS" dirty="0">
                <a:latin typeface="Consolas" panose="020B0609020204030204" pitchFamily="49" charset="0"/>
              </a:rPr>
              <a:t>će biti uvezan za </a:t>
            </a:r>
            <a:r>
              <a:rPr lang="sr-Latn-RS" dirty="0" err="1">
                <a:latin typeface="Consolas" panose="020B0609020204030204" pitchFamily="49" charset="0"/>
              </a:rPr>
              <a:t>Person.property</a:t>
            </a:r>
            <a:r>
              <a:rPr lang="sr-Latn-RS" dirty="0">
                <a:latin typeface="Consolas" panose="020B0609020204030204" pitchFamily="49" charset="0"/>
              </a:rPr>
              <a:t> i imaće pristup njegovim metodama!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const me = new Person(‘</a:t>
            </a:r>
            <a:r>
              <a:rPr lang="en-US" sz="2200" dirty="0" err="1">
                <a:latin typeface="Consolas" panose="020B0609020204030204" pitchFamily="49" charset="0"/>
              </a:rPr>
              <a:t>luka</a:t>
            </a:r>
            <a:r>
              <a:rPr lang="en-US" sz="2200" dirty="0">
                <a:latin typeface="Consolas" panose="020B0609020204030204" pitchFamily="49" charset="0"/>
              </a:rPr>
              <a:t>’, 1998);</a:t>
            </a:r>
          </a:p>
          <a:p>
            <a:pPr marL="0" indent="0">
              <a:buNone/>
            </a:pPr>
            <a:r>
              <a:rPr lang="en-US" sz="2200" dirty="0" err="1">
                <a:latin typeface="Consolas" panose="020B0609020204030204" pitchFamily="49" charset="0"/>
              </a:rPr>
              <a:t>me.__proto</a:t>
            </a:r>
            <a:r>
              <a:rPr lang="en-US" sz="2200" dirty="0">
                <a:latin typeface="Consolas" panose="020B0609020204030204" pitchFamily="49" charset="0"/>
              </a:rPr>
              <a:t>__ === </a:t>
            </a:r>
            <a:r>
              <a:rPr lang="en-US" sz="2200" dirty="0" err="1">
                <a:latin typeface="Consolas" panose="020B0609020204030204" pitchFamily="49" charset="0"/>
              </a:rPr>
              <a:t>Person.Prototype</a:t>
            </a:r>
            <a:r>
              <a:rPr lang="en-US" sz="2200" dirty="0">
                <a:latin typeface="Consolas" panose="020B0609020204030204" pitchFamily="49" charset="0"/>
              </a:rPr>
              <a:t> // </a:t>
            </a:r>
            <a:r>
              <a:rPr lang="sr-Latn-RS" sz="2200" dirty="0" err="1">
                <a:latin typeface="Consolas" panose="020B0609020204030204" pitchFamily="49" charset="0"/>
              </a:rPr>
              <a:t>Person.Prototype</a:t>
            </a:r>
            <a:r>
              <a:rPr lang="en-US" sz="2200" dirty="0">
                <a:latin typeface="Consolas" panose="020B0609020204030204" pitchFamily="49" charset="0"/>
              </a:rPr>
              <a:t> je </a:t>
            </a:r>
            <a:r>
              <a:rPr lang="en-US" sz="2200" dirty="0" err="1">
                <a:latin typeface="Consolas" panose="020B0609020204030204" pitchFamily="49" charset="0"/>
              </a:rPr>
              <a:t>tako</a:t>
            </a:r>
            <a:r>
              <a:rPr lang="sr-Latn-RS" sz="2200" dirty="0" err="1">
                <a:latin typeface="Consolas" panose="020B0609020204030204" pitchFamily="49" charset="0"/>
              </a:rPr>
              <a:t>đe</a:t>
            </a:r>
            <a:r>
              <a:rPr lang="sr-Latn-RS" sz="2200" dirty="0">
                <a:latin typeface="Consolas" panose="020B0609020204030204" pitchFamily="49" charset="0"/>
              </a:rPr>
              <a:t> objekat</a:t>
            </a:r>
            <a:endParaRPr lang="en-US" sz="2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r-Latn-R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412C85-B358-79C3-D2C7-183F1308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Prototypes</a:t>
            </a:r>
          </a:p>
        </p:txBody>
      </p:sp>
    </p:spTree>
    <p:extLst>
      <p:ext uri="{BB962C8B-B14F-4D97-AF65-F5344CB8AC3E}">
        <p14:creationId xmlns:p14="http://schemas.microsoft.com/office/powerpoint/2010/main" val="82412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7EA88E-23A4-BAA6-BE09-CBA3EC46BFF2}"/>
              </a:ext>
            </a:extLst>
          </p:cNvPr>
          <p:cNvSpPr/>
          <p:nvPr/>
        </p:nvSpPr>
        <p:spPr>
          <a:xfrm>
            <a:off x="4223657" y="3256194"/>
            <a:ext cx="3584120" cy="123824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Prototype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dirty="0" err="1"/>
              <a:t>Person.prototype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__proto__: </a:t>
            </a:r>
            <a:r>
              <a:rPr lang="en-US" dirty="0" err="1"/>
              <a:t>Object.prototype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5B47DE-7C47-689D-A516-2D1D9999D053}"/>
              </a:ext>
            </a:extLst>
          </p:cNvPr>
          <p:cNvSpPr/>
          <p:nvPr/>
        </p:nvSpPr>
        <p:spPr>
          <a:xfrm>
            <a:off x="4195082" y="5203373"/>
            <a:ext cx="3584121" cy="1377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Object</a:t>
            </a:r>
            <a:r>
              <a:rPr lang="en-US" dirty="0"/>
              <a:t> (me)</a:t>
            </a:r>
          </a:p>
          <a:p>
            <a:pPr algn="ctr"/>
            <a:r>
              <a:rPr lang="en-US" dirty="0"/>
              <a:t>__proto__: </a:t>
            </a:r>
            <a:r>
              <a:rPr lang="en-US" dirty="0" err="1"/>
              <a:t>Person.protoype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BCB6876-A08C-0C66-BF90-68F46F79C7A4}"/>
              </a:ext>
            </a:extLst>
          </p:cNvPr>
          <p:cNvCxnSpPr>
            <a:cxnSpLocks/>
          </p:cNvCxnSpPr>
          <p:nvPr/>
        </p:nvCxnSpPr>
        <p:spPr>
          <a:xfrm flipH="1" flipV="1">
            <a:off x="5981699" y="4519611"/>
            <a:ext cx="10886" cy="6585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6CA000F-6CDC-0344-DAB8-0A0146290842}"/>
              </a:ext>
            </a:extLst>
          </p:cNvPr>
          <p:cNvSpPr/>
          <p:nvPr/>
        </p:nvSpPr>
        <p:spPr>
          <a:xfrm>
            <a:off x="1028700" y="3429000"/>
            <a:ext cx="2461531" cy="100148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Constructor Function</a:t>
            </a:r>
          </a:p>
          <a:p>
            <a:pPr algn="ctr"/>
            <a:r>
              <a:rPr lang="en-US" dirty="0"/>
              <a:t>(Person)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38BDC2-3C62-2882-CE2E-57215E5A23AB}"/>
              </a:ext>
            </a:extLst>
          </p:cNvPr>
          <p:cNvCxnSpPr>
            <a:cxnSpLocks/>
          </p:cNvCxnSpPr>
          <p:nvPr/>
        </p:nvCxnSpPr>
        <p:spPr>
          <a:xfrm>
            <a:off x="3554186" y="3875314"/>
            <a:ext cx="59735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CC1115F-1BF6-8615-B8BD-76C22ECEA2E4}"/>
              </a:ext>
            </a:extLst>
          </p:cNvPr>
          <p:cNvSpPr/>
          <p:nvPr/>
        </p:nvSpPr>
        <p:spPr>
          <a:xfrm>
            <a:off x="4195083" y="1221932"/>
            <a:ext cx="3584120" cy="123824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Prototype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dirty="0" err="1"/>
              <a:t>Object.prototype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__</a:t>
            </a:r>
            <a:r>
              <a:rPr lang="en-US" dirty="0" err="1"/>
              <a:t>proto__:null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77BDCD-9527-5E13-91B9-243B375EB2F9}"/>
              </a:ext>
            </a:extLst>
          </p:cNvPr>
          <p:cNvCxnSpPr>
            <a:cxnSpLocks/>
          </p:cNvCxnSpPr>
          <p:nvPr/>
        </p:nvCxnSpPr>
        <p:spPr>
          <a:xfrm flipH="1" flipV="1">
            <a:off x="5965370" y="2517323"/>
            <a:ext cx="10886" cy="6585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C8A601E-B5CC-0762-4D15-25A1DC22BC08}"/>
              </a:ext>
            </a:extLst>
          </p:cNvPr>
          <p:cNvSpPr/>
          <p:nvPr/>
        </p:nvSpPr>
        <p:spPr>
          <a:xfrm>
            <a:off x="1028699" y="1458686"/>
            <a:ext cx="2461531" cy="100148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Constructor Function</a:t>
            </a:r>
          </a:p>
          <a:p>
            <a:pPr algn="ctr"/>
            <a:r>
              <a:rPr lang="en-US" dirty="0"/>
              <a:t>(Object)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1370C0-6833-DF70-44BE-1A95FBC1C1DD}"/>
              </a:ext>
            </a:extLst>
          </p:cNvPr>
          <p:cNvCxnSpPr>
            <a:cxnSpLocks/>
          </p:cNvCxnSpPr>
          <p:nvPr/>
        </p:nvCxnSpPr>
        <p:spPr>
          <a:xfrm>
            <a:off x="3554186" y="1959429"/>
            <a:ext cx="59735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80EB24-606B-F273-BD90-33FDD77351B6}"/>
              </a:ext>
            </a:extLst>
          </p:cNvPr>
          <p:cNvSpPr txBox="1"/>
          <p:nvPr/>
        </p:nvSpPr>
        <p:spPr>
          <a:xfrm>
            <a:off x="8066801" y="3560411"/>
            <a:ext cx="3978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me.hasOwnProperty</a:t>
            </a:r>
            <a:r>
              <a:rPr lang="en-US" dirty="0"/>
              <a:t>(“name”)?</a:t>
            </a:r>
          </a:p>
        </p:txBody>
      </p:sp>
    </p:spTree>
    <p:extLst>
      <p:ext uri="{BB962C8B-B14F-4D97-AF65-F5344CB8AC3E}">
        <p14:creationId xmlns:p14="http://schemas.microsoft.com/office/powerpoint/2010/main" val="3501695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BAE36-B870-8AF0-2ECB-A372A2F9A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910443"/>
            <a:ext cx="9144000" cy="1088571"/>
          </a:xfrm>
        </p:spPr>
        <p:txBody>
          <a:bodyPr/>
          <a:lstStyle/>
          <a:p>
            <a:r>
              <a:rPr lang="en-US" dirty="0"/>
              <a:t>Le</a:t>
            </a:r>
            <a:r>
              <a:rPr lang="sr-Latn-RS" dirty="0" err="1"/>
              <a:t>pša</a:t>
            </a:r>
            <a:r>
              <a:rPr lang="sr-Latn-RS" dirty="0"/>
              <a:t> i modernija sintaksa</a:t>
            </a:r>
          </a:p>
          <a:p>
            <a:r>
              <a:rPr lang="sr-Latn-RS" dirty="0"/>
              <a:t>Samo </a:t>
            </a:r>
            <a:r>
              <a:rPr lang="sr-Latn-RS" dirty="0" err="1"/>
              <a:t>syntetic</a:t>
            </a:r>
            <a:r>
              <a:rPr lang="sr-Latn-RS" dirty="0"/>
              <a:t> </a:t>
            </a:r>
            <a:r>
              <a:rPr lang="sr-Latn-RS" dirty="0" err="1"/>
              <a:t>sugar</a:t>
            </a:r>
            <a:endParaRPr lang="sr-Latn-R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F92126-43AB-D91E-B214-5D4BF2C9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ES6 </a:t>
            </a:r>
            <a:r>
              <a:rPr lang="en-US" sz="2600" dirty="0" err="1"/>
              <a:t>klase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FDDFA-CFCA-901C-50BB-483D9FAE92A3}"/>
              </a:ext>
            </a:extLst>
          </p:cNvPr>
          <p:cNvSpPr txBox="1"/>
          <p:nvPr/>
        </p:nvSpPr>
        <p:spPr>
          <a:xfrm>
            <a:off x="1517904" y="3249386"/>
            <a:ext cx="89487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//class declaration</a:t>
            </a:r>
          </a:p>
          <a:p>
            <a:r>
              <a:rPr lang="sr-Latn-RS" dirty="0" err="1">
                <a:latin typeface="Consolas" panose="020B0609020204030204" pitchFamily="49" charset="0"/>
              </a:rPr>
              <a:t>class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Person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constructor(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this.firstName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this.birthyear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calcAge</a:t>
            </a:r>
            <a:r>
              <a:rPr lang="en-US" dirty="0"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latin typeface="Consolas" panose="020B0609020204030204" pitchFamily="49" charset="0"/>
              </a:rPr>
              <a:t>		console.log(2022 – </a:t>
            </a:r>
            <a:r>
              <a:rPr lang="en-US" dirty="0" err="1">
                <a:latin typeface="Consolas" panose="020B0609020204030204" pitchFamily="49" charset="0"/>
              </a:rPr>
              <a:t>this.birthYear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393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7288B0-A18A-EB3E-F386-57881F933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Getters/Setters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3AFFB-7ACE-B4AD-15BB-B95BAA542620}"/>
              </a:ext>
            </a:extLst>
          </p:cNvPr>
          <p:cNvSpPr txBox="1"/>
          <p:nvPr/>
        </p:nvSpPr>
        <p:spPr>
          <a:xfrm>
            <a:off x="1530096" y="1921223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sz="1600" dirty="0" err="1">
                <a:latin typeface="Consolas" panose="020B0609020204030204" pitchFamily="49" charset="0"/>
              </a:rPr>
              <a:t>class</a:t>
            </a:r>
            <a:r>
              <a:rPr lang="sr-Latn-RS" sz="1600" dirty="0">
                <a:latin typeface="Consolas" panose="020B0609020204030204" pitchFamily="49" charset="0"/>
              </a:rPr>
              <a:t> </a:t>
            </a:r>
            <a:r>
              <a:rPr lang="sr-Latn-RS" sz="1600" dirty="0" err="1">
                <a:latin typeface="Consolas" panose="020B0609020204030204" pitchFamily="49" charset="0"/>
              </a:rPr>
              <a:t>Person</a:t>
            </a:r>
            <a:r>
              <a:rPr lang="sr-Latn-R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constructor(</a:t>
            </a:r>
            <a:r>
              <a:rPr lang="en-US" sz="1600" dirty="0" err="1">
                <a:latin typeface="Consolas" panose="020B0609020204030204" pitchFamily="49" charset="0"/>
              </a:rPr>
              <a:t>firstName</a:t>
            </a:r>
            <a:r>
              <a:rPr lang="en-US" sz="1600" dirty="0">
                <a:latin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</a:rPr>
              <a:t>birthYear</a:t>
            </a:r>
            <a:r>
              <a:rPr lang="en-US" sz="16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	</a:t>
            </a:r>
            <a:r>
              <a:rPr lang="en-US" sz="1600" dirty="0" err="1">
                <a:latin typeface="Consolas" panose="020B0609020204030204" pitchFamily="49" charset="0"/>
              </a:rPr>
              <a:t>this.firstName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firstName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	</a:t>
            </a:r>
            <a:r>
              <a:rPr lang="en-US" sz="1600" dirty="0" err="1">
                <a:latin typeface="Consolas" panose="020B0609020204030204" pitchFamily="49" charset="0"/>
              </a:rPr>
              <a:t>this.birthyear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birthYear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</a:rPr>
              <a:t>calcAge</a:t>
            </a:r>
            <a:r>
              <a:rPr lang="en-US" sz="1600" dirty="0"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	console.log(2022 – 		</a:t>
            </a:r>
            <a:r>
              <a:rPr lang="en-US" sz="1600" dirty="0" err="1">
                <a:latin typeface="Consolas" panose="020B0609020204030204" pitchFamily="49" charset="0"/>
              </a:rPr>
              <a:t>this.birthYear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get </a:t>
            </a:r>
            <a:r>
              <a:rPr lang="en-US" sz="1600" dirty="0" err="1">
                <a:latin typeface="Consolas" panose="020B0609020204030204" pitchFamily="49" charset="0"/>
              </a:rPr>
              <a:t>firstName</a:t>
            </a:r>
            <a:r>
              <a:rPr lang="en-US" sz="1600" dirty="0"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	return this._</a:t>
            </a:r>
            <a:r>
              <a:rPr lang="en-US" sz="1600" dirty="0" err="1">
                <a:latin typeface="Consolas" panose="020B0609020204030204" pitchFamily="49" charset="0"/>
              </a:rPr>
              <a:t>firstName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set </a:t>
            </a:r>
            <a:r>
              <a:rPr lang="en-US" sz="1600" dirty="0" err="1">
                <a:latin typeface="Consolas" panose="020B0609020204030204" pitchFamily="49" charset="0"/>
              </a:rPr>
              <a:t>firstName</a:t>
            </a:r>
            <a:r>
              <a:rPr lang="en-US" sz="1600" dirty="0">
                <a:latin typeface="Consolas" panose="020B0609020204030204" pitchFamily="49" charset="0"/>
              </a:rPr>
              <a:t>(name)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	this._</a:t>
            </a:r>
            <a:r>
              <a:rPr lang="en-US" sz="1600" dirty="0" err="1">
                <a:latin typeface="Consolas" panose="020B0609020204030204" pitchFamily="49" charset="0"/>
              </a:rPr>
              <a:t>firstName</a:t>
            </a:r>
            <a:r>
              <a:rPr lang="en-US" sz="1600" dirty="0">
                <a:latin typeface="Consolas" panose="020B0609020204030204" pitchFamily="49" charset="0"/>
              </a:rPr>
              <a:t>(name);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7460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EFD606-3A46-C422-12B1-0B63685A8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Object.create</a:t>
            </a:r>
            <a:endParaRPr lang="en-US" sz="2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AE4E0B-8D50-6B58-7D72-FD418563AE33}"/>
              </a:ext>
            </a:extLst>
          </p:cNvPr>
          <p:cNvSpPr txBox="1"/>
          <p:nvPr/>
        </p:nvSpPr>
        <p:spPr>
          <a:xfrm>
            <a:off x="1517903" y="2019089"/>
            <a:ext cx="65157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dirty="0" err="1">
                <a:latin typeface="Consolas" panose="020B0609020204030204" pitchFamily="49" charset="0"/>
              </a:rPr>
              <a:t>PersonProto</a:t>
            </a:r>
            <a:r>
              <a:rPr lang="en-US" sz="1600" dirty="0">
                <a:latin typeface="Consolas" panose="020B0609020204030204" pitchFamily="49" charset="0"/>
              </a:rPr>
              <a:t> =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calcAge</a:t>
            </a:r>
            <a:r>
              <a:rPr lang="en-US" sz="1600" dirty="0">
                <a:latin typeface="Consolas" panose="020B0609020204030204" pitchFamily="49" charset="0"/>
              </a:rPr>
              <a:t>() {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console.log(2037 – </a:t>
            </a:r>
            <a:r>
              <a:rPr lang="en-US" sz="1600" dirty="0" err="1">
                <a:latin typeface="Consolas" panose="020B0609020204030204" pitchFamily="49" charset="0"/>
              </a:rPr>
              <a:t>this.birthYear</a:t>
            </a:r>
            <a:r>
              <a:rPr lang="en-US" sz="1600" dirty="0">
                <a:latin typeface="Consolas" panose="020B0609020204030204" pitchFamily="49" charset="0"/>
              </a:rPr>
              <a:t>);	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},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const me = </a:t>
            </a:r>
            <a:r>
              <a:rPr lang="en-US" sz="1600" dirty="0" err="1">
                <a:latin typeface="Consolas" panose="020B0609020204030204" pitchFamily="49" charset="0"/>
              </a:rPr>
              <a:t>Object.create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PersonProto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me.name = “Luka”;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me.birthYear</a:t>
            </a:r>
            <a:r>
              <a:rPr lang="en-US" sz="1600" dirty="0">
                <a:latin typeface="Consolas" panose="020B0609020204030204" pitchFamily="49" charset="0"/>
              </a:rPr>
              <a:t> = 1998;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Omogu</a:t>
            </a:r>
            <a:r>
              <a:rPr lang="sr-Latn-RS" sz="1600" dirty="0" err="1">
                <a:latin typeface="Consolas" panose="020B0609020204030204" pitchFamily="49" charset="0"/>
              </a:rPr>
              <a:t>ćava</a:t>
            </a:r>
            <a:r>
              <a:rPr lang="sr-Latn-RS" sz="1600" dirty="0">
                <a:latin typeface="Consolas" panose="020B0609020204030204" pitchFamily="49" charset="0"/>
              </a:rPr>
              <a:t> nam da sami prosledimo </a:t>
            </a:r>
            <a:r>
              <a:rPr lang="sr-Latn-RS" sz="1600" dirty="0" err="1">
                <a:latin typeface="Consolas" panose="020B0609020204030204" pitchFamily="49" charset="0"/>
              </a:rPr>
              <a:t>prototype</a:t>
            </a:r>
            <a:r>
              <a:rPr lang="sr-Latn-RS" sz="1600" dirty="0">
                <a:latin typeface="Consolas" panose="020B0609020204030204" pitchFamily="49" charset="0"/>
              </a:rPr>
              <a:t> koji želimo!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781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523855-C512-6BE7-7E47-D1425629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Nasle</a:t>
            </a:r>
            <a:r>
              <a:rPr lang="sr-Latn-RS" sz="2600" dirty="0" err="1"/>
              <a:t>đivanje</a:t>
            </a:r>
            <a:endParaRPr lang="en-US" sz="2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D456E6-FD14-AEF0-CF3A-7FEDC93831EF}"/>
              </a:ext>
            </a:extLst>
          </p:cNvPr>
          <p:cNvSpPr/>
          <p:nvPr/>
        </p:nvSpPr>
        <p:spPr>
          <a:xfrm>
            <a:off x="1823357" y="1861457"/>
            <a:ext cx="6901543" cy="162197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0EA097-2274-C7E3-E3C2-D60F10500D58}"/>
              </a:ext>
            </a:extLst>
          </p:cNvPr>
          <p:cNvSpPr/>
          <p:nvPr/>
        </p:nvSpPr>
        <p:spPr>
          <a:xfrm>
            <a:off x="1823357" y="3695700"/>
            <a:ext cx="6901543" cy="16219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F9F02-1C68-6493-2BEC-4970FD6EAF6F}"/>
              </a:ext>
            </a:extLst>
          </p:cNvPr>
          <p:cNvSpPr/>
          <p:nvPr/>
        </p:nvSpPr>
        <p:spPr>
          <a:xfrm>
            <a:off x="2378528" y="2335833"/>
            <a:ext cx="2367643" cy="672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Constructor</a:t>
            </a:r>
            <a:r>
              <a:rPr lang="sr-Latn-RS" dirty="0"/>
              <a:t> </a:t>
            </a:r>
            <a:r>
              <a:rPr lang="sr-Latn-RS" dirty="0" err="1"/>
              <a:t>function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150E6-9CC3-B104-3577-02342A6340F6}"/>
              </a:ext>
            </a:extLst>
          </p:cNvPr>
          <p:cNvSpPr/>
          <p:nvPr/>
        </p:nvSpPr>
        <p:spPr>
          <a:xfrm>
            <a:off x="5736772" y="2335833"/>
            <a:ext cx="2421418" cy="672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Prototype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B128F-EA48-0B0A-64F6-32588D6E4F8E}"/>
              </a:ext>
            </a:extLst>
          </p:cNvPr>
          <p:cNvSpPr/>
          <p:nvPr/>
        </p:nvSpPr>
        <p:spPr>
          <a:xfrm>
            <a:off x="2378528" y="4170436"/>
            <a:ext cx="2367643" cy="6725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Constructor</a:t>
            </a:r>
            <a:r>
              <a:rPr lang="sr-Latn-RS" dirty="0"/>
              <a:t> </a:t>
            </a:r>
            <a:r>
              <a:rPr lang="sr-Latn-RS" dirty="0" err="1"/>
              <a:t>function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5295ED-E026-E803-DC63-8DF162A9C7FC}"/>
              </a:ext>
            </a:extLst>
          </p:cNvPr>
          <p:cNvSpPr/>
          <p:nvPr/>
        </p:nvSpPr>
        <p:spPr>
          <a:xfrm>
            <a:off x="5790547" y="4170436"/>
            <a:ext cx="2367643" cy="6725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Prototype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E4FAFE-E40E-D221-F973-2C18C308791F}"/>
              </a:ext>
            </a:extLst>
          </p:cNvPr>
          <p:cNvCxnSpPr>
            <a:cxnSpLocks/>
          </p:cNvCxnSpPr>
          <p:nvPr/>
        </p:nvCxnSpPr>
        <p:spPr>
          <a:xfrm>
            <a:off x="4931229" y="2677885"/>
            <a:ext cx="597352" cy="0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3FF224-CC3D-2E13-2197-42CC853BEFEC}"/>
              </a:ext>
            </a:extLst>
          </p:cNvPr>
          <p:cNvCxnSpPr>
            <a:cxnSpLocks/>
          </p:cNvCxnSpPr>
          <p:nvPr/>
        </p:nvCxnSpPr>
        <p:spPr>
          <a:xfrm>
            <a:off x="4931229" y="4495800"/>
            <a:ext cx="597352" cy="0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A8F4C10-1FD3-C098-9C32-1749B228E694}"/>
              </a:ext>
            </a:extLst>
          </p:cNvPr>
          <p:cNvSpPr/>
          <p:nvPr/>
        </p:nvSpPr>
        <p:spPr>
          <a:xfrm>
            <a:off x="5834090" y="5792408"/>
            <a:ext cx="2367643" cy="6725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err="1"/>
              <a:t>Object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D73C7E-CB8D-0197-13C7-9BD1CA627613}"/>
              </a:ext>
            </a:extLst>
          </p:cNvPr>
          <p:cNvCxnSpPr>
            <a:cxnSpLocks/>
          </p:cNvCxnSpPr>
          <p:nvPr/>
        </p:nvCxnSpPr>
        <p:spPr>
          <a:xfrm flipV="1">
            <a:off x="6974368" y="5089072"/>
            <a:ext cx="0" cy="571499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6E7DFA-B699-C994-E0D6-B82E4336FA89}"/>
              </a:ext>
            </a:extLst>
          </p:cNvPr>
          <p:cNvCxnSpPr>
            <a:cxnSpLocks/>
          </p:cNvCxnSpPr>
          <p:nvPr/>
        </p:nvCxnSpPr>
        <p:spPr>
          <a:xfrm flipV="1">
            <a:off x="6900563" y="3287486"/>
            <a:ext cx="0" cy="571499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423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02ADD-C2F5-A059-4D54-15CF2A579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163" y="1948544"/>
            <a:ext cx="9420933" cy="4624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dirty="0" err="1">
                <a:latin typeface="Consolas" panose="020B0609020204030204" pitchFamily="49" charset="0"/>
              </a:rPr>
              <a:t>class</a:t>
            </a:r>
            <a:r>
              <a:rPr lang="sr-Latn-RS" dirty="0">
                <a:latin typeface="Consolas" panose="020B0609020204030204" pitchFamily="49" charset="0"/>
              </a:rPr>
              <a:t> Student </a:t>
            </a:r>
            <a:r>
              <a:rPr lang="sr-Latn-RS" dirty="0" err="1">
                <a:latin typeface="Consolas" panose="020B0609020204030204" pitchFamily="49" charset="0"/>
              </a:rPr>
              <a:t>extends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Person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constructor(name,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birthYear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, course) 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super(name,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birthYear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this.course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 course;</a:t>
            </a:r>
            <a:b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	introduce() {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	…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70434B-C3D8-3784-978D-98604A80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ES6 </a:t>
            </a:r>
            <a:r>
              <a:rPr lang="en-US" sz="2600" dirty="0" err="1"/>
              <a:t>Nasle</a:t>
            </a:r>
            <a:r>
              <a:rPr lang="sr-Latn-RS" sz="2600" dirty="0" err="1"/>
              <a:t>đivanje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123304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287C6-BABB-304D-432F-4B53878DF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557" y="1991980"/>
            <a:ext cx="9524347" cy="3325691"/>
          </a:xfrm>
        </p:spPr>
        <p:txBody>
          <a:bodyPr>
            <a:normAutofit/>
          </a:bodyPr>
          <a:lstStyle/>
          <a:p>
            <a:r>
              <a:rPr lang="en-US" dirty="0"/>
              <a:t>JS jo</a:t>
            </a:r>
            <a:r>
              <a:rPr lang="sr-Latn-RS" dirty="0"/>
              <a:t>š uvek ne podržava pravu </a:t>
            </a:r>
            <a:r>
              <a:rPr lang="sr-Latn-RS" dirty="0" err="1"/>
              <a:t>enkapsulaciju</a:t>
            </a:r>
            <a:endParaRPr lang="sr-Latn-RS" dirty="0"/>
          </a:p>
          <a:p>
            <a:r>
              <a:rPr lang="sr-Latn-RS" dirty="0"/>
              <a:t>Konvencija</a:t>
            </a:r>
            <a:r>
              <a:rPr lang="en-US" dirty="0"/>
              <a:t>: _ </a:t>
            </a:r>
            <a:r>
              <a:rPr lang="en-US" dirty="0" err="1"/>
              <a:t>ispred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 =&gt; polje je protected</a:t>
            </a:r>
          </a:p>
          <a:p>
            <a:r>
              <a:rPr lang="en-US" dirty="0" err="1"/>
              <a:t>Kada</a:t>
            </a:r>
            <a:r>
              <a:rPr lang="en-US" dirty="0"/>
              <a:t> polje </a:t>
            </a:r>
            <a:r>
              <a:rPr lang="en-US" dirty="0" err="1"/>
              <a:t>ima</a:t>
            </a:r>
            <a:r>
              <a:rPr lang="en-US" dirty="0"/>
              <a:t> _ </a:t>
            </a:r>
            <a:r>
              <a:rPr lang="en-US" dirty="0" err="1"/>
              <a:t>ispred</a:t>
            </a:r>
            <a:r>
              <a:rPr lang="en-US" dirty="0"/>
              <a:t> </a:t>
            </a:r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kreirati</a:t>
            </a:r>
            <a:r>
              <a:rPr lang="en-US" dirty="0"/>
              <a:t> </a:t>
            </a:r>
            <a:r>
              <a:rPr lang="en-US" dirty="0" err="1"/>
              <a:t>getere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setere</a:t>
            </a:r>
            <a:r>
              <a:rPr lang="en-US" dirty="0"/>
              <a:t> za </a:t>
            </a:r>
            <a:r>
              <a:rPr lang="en-US" dirty="0" err="1"/>
              <a:t>njega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F83551-1FCC-2F9D-1A1D-3FBC0528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Enkapsulacija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24505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smatic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2E4E8"/>
      </a:lt2>
      <a:accent1>
        <a:srgbClr val="C29B28"/>
      </a:accent1>
      <a:accent2>
        <a:srgbClr val="CF581D"/>
      </a:accent2>
      <a:accent3>
        <a:srgbClr val="E12F3E"/>
      </a:accent3>
      <a:accent4>
        <a:srgbClr val="CF1D76"/>
      </a:accent4>
      <a:accent5>
        <a:srgbClr val="E12FD2"/>
      </a:accent5>
      <a:accent6>
        <a:srgbClr val="931DCF"/>
      </a:accent6>
      <a:hlink>
        <a:srgbClr val="BF3F9F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4214</TotalTime>
  <Words>1266</Words>
  <Application>Microsoft Office PowerPoint</Application>
  <PresentationFormat>Widescreen</PresentationFormat>
  <Paragraphs>273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Aharoni</vt:lpstr>
      <vt:lpstr>Arial</vt:lpstr>
      <vt:lpstr>Avenir Next LT Pro</vt:lpstr>
      <vt:lpstr>Consolas</vt:lpstr>
      <vt:lpstr>PrismaticVTI</vt:lpstr>
      <vt:lpstr>JavaScript</vt:lpstr>
      <vt:lpstr>Nizovi</vt:lpstr>
      <vt:lpstr>Nizovi</vt:lpstr>
      <vt:lpstr>Objekti</vt:lpstr>
      <vt:lpstr>Objekti - metode</vt:lpstr>
      <vt:lpstr>Primitivne vrednosti vs objekti</vt:lpstr>
      <vt:lpstr>PowerPoint Presentation</vt:lpstr>
      <vt:lpstr>PowerPoint Presentation</vt:lpstr>
      <vt:lpstr>PowerPoint Presentation</vt:lpstr>
      <vt:lpstr>PowerPoint Presentation</vt:lpstr>
      <vt:lpstr>this</vt:lpstr>
      <vt:lpstr>this</vt:lpstr>
      <vt:lpstr>Objektno orijentisano programiranje</vt:lpstr>
      <vt:lpstr>Objektno orijentisano programiranje</vt:lpstr>
      <vt:lpstr>Objektno orijentisano programiranje (JS)</vt:lpstr>
      <vt:lpstr>Kako da koristim objektno orijentisanu paradigmu u JS?</vt:lpstr>
      <vt:lpstr>Constructor functions</vt:lpstr>
      <vt:lpstr>Gde su metode?</vt:lpstr>
      <vt:lpstr>Prototypes</vt:lpstr>
      <vt:lpstr>PowerPoint Presentation</vt:lpstr>
      <vt:lpstr>ES6 klase</vt:lpstr>
      <vt:lpstr>Getters/Setters</vt:lpstr>
      <vt:lpstr>Object.create</vt:lpstr>
      <vt:lpstr>Nasleđivanje</vt:lpstr>
      <vt:lpstr>ES6 Nasleđivanje</vt:lpstr>
      <vt:lpstr>Enkapsulacija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Luka Doric</dc:creator>
  <cp:lastModifiedBy>Luka Doric</cp:lastModifiedBy>
  <cp:revision>78</cp:revision>
  <dcterms:created xsi:type="dcterms:W3CDTF">2022-08-08T12:25:14Z</dcterms:created>
  <dcterms:modified xsi:type="dcterms:W3CDTF">2024-10-13T21:04:20Z</dcterms:modified>
</cp:coreProperties>
</file>