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318" r:id="rId4"/>
    <p:sldId id="293" r:id="rId5"/>
    <p:sldId id="319" r:id="rId6"/>
    <p:sldId id="320" r:id="rId7"/>
    <p:sldId id="331" r:id="rId8"/>
    <p:sldId id="321" r:id="rId9"/>
    <p:sldId id="343" r:id="rId10"/>
    <p:sldId id="330" r:id="rId11"/>
    <p:sldId id="322" r:id="rId12"/>
    <p:sldId id="324" r:id="rId13"/>
    <p:sldId id="323" r:id="rId14"/>
    <p:sldId id="332" r:id="rId15"/>
    <p:sldId id="327" r:id="rId16"/>
    <p:sldId id="329" r:id="rId17"/>
    <p:sldId id="333" r:id="rId18"/>
    <p:sldId id="334" r:id="rId19"/>
    <p:sldId id="335" r:id="rId20"/>
    <p:sldId id="336" r:id="rId21"/>
    <p:sldId id="341" r:id="rId22"/>
    <p:sldId id="342" r:id="rId23"/>
    <p:sldId id="337" r:id="rId24"/>
    <p:sldId id="338" r:id="rId25"/>
    <p:sldId id="339" r:id="rId26"/>
    <p:sldId id="340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547" autoAdjust="0"/>
    <p:restoredTop sz="94660"/>
  </p:normalViewPr>
  <p:slideViewPr>
    <p:cSldViewPr snapToGrid="0">
      <p:cViewPr varScale="1">
        <p:scale>
          <a:sx n="84" d="100"/>
          <a:sy n="84" d="100"/>
        </p:scale>
        <p:origin x="69" y="1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9EA1E-98C4-4A2E-AAC3-800E357DC9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904" y="1517904"/>
            <a:ext cx="9144000" cy="2798064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96B1FA-5AE6-4D57-B37B-4AA021600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7904" y="4572000"/>
            <a:ext cx="9144000" cy="1527048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F49B66-DBC3-45EE-A6E1-DE10A6C18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10/19/2024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1085F0-1967-4B4F-9824-58E9F2E05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EDEE5-31B5-4868-8C16-47FF43E27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911171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C5BB2-C09C-49B0-BAFA-DE1801CD3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47C21-944D-47FE-9519-A25518837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CE36D-6B7B-4D5E-831E-34A4286D6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AD668-6E19-425C-88F7-AF4220662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05C53-CF7C-4936-9E35-1BEBD6836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5159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46C78-A717-4E1F-A742-FD5AECA03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1270D-CCAE-4437-A0C0-052D111DF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4" y="4572000"/>
            <a:ext cx="91440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F006A-7EEE-4DB0-8F92-D34C0D46C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3F2ED-2B0E-44A9-8603-286CA0634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D801C-6B4E-40B6-9D6E-558192264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787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446AA-9418-4C3E-901B-8E2806122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97482-2CA6-4707-976E-6FD4B57BFE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17904" y="2980944"/>
            <a:ext cx="4334256" cy="31181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909652-DD12-479C-B639-9452CBA8C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792" y="2980944"/>
            <a:ext cx="4334256" cy="31181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EC7A6-AFB1-4989-A0B4-B422D5B2C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10/19/2024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2117C-B497-4647-A66B-1887750FB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8C7AF-5092-416B-B61C-F41D3C573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8332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90CDE0-3FEB-42A0-8BCC-7DADE7D4A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5" y="2944368"/>
            <a:ext cx="4334256" cy="606026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778B8B-E9A3-44BE-85A6-3E316659A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17904" y="3644987"/>
            <a:ext cx="4334256" cy="2449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BF1BCA-A435-4779-A6FE-15207141F5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36792" y="2944368"/>
            <a:ext cx="4334256" cy="606026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9B1923-9749-49E3-88FA-75C326E671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36792" y="3644987"/>
            <a:ext cx="4334256" cy="2449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3A70F0-5AFA-4C5A-812B-220C6A38D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6AF721-83FE-4B57-B910-C395D23FD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6A5893-52F1-44A1-AE8E-CF094DB41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9D22302-83E3-4E22-93DF-1E5D463B6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6239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D85A6-A4E6-4160-BE43-8146A9894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A24A80-0792-4B3B-BB5A-8B2BD9109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26116E-7A6D-485F-9FA2-25F94D4F4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09ADCC-C5F2-4D90-B153-93DF55858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0156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862271-51F6-4122-9709-D279042F8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CFE08-03FE-487B-8963-9FAD3049C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35A50-18AE-4CB1-BB10-1CBDD8A7C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3567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1F683-796D-458C-9B32-A385D60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3145536" cy="1792224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1F0BD-641B-4148-BCB3-2704218C8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952" y="1517904"/>
            <a:ext cx="5330952" cy="45811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28C843-B846-4456-9720-71B7D4FF4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17904" y="3483864"/>
            <a:ext cx="3145536" cy="261518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A3A03-31BD-4E7E-879A-A1C718497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A39078-7D38-4851-A363-B6BC179A5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1FF25E-A25D-47AA-94EB-580A74F01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3193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E83B4-9B31-4F73-9767-163636522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3145536" cy="1792224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7CFC30-8163-47A0-A97F-3F2C3A3BE7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49240" y="764032"/>
            <a:ext cx="6089904" cy="533095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F1B390-0C23-466E-987C-26420A5F09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17904" y="3483864"/>
            <a:ext cx="3145536" cy="261518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C9CA7C-B9D0-4A72-8061-1E02AA15F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3EFC84-C9FE-4BFA-9B4E-4516A1362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01A469-3EFC-4F94-8482-378582E1C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8735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F9454-6F74-46A8-B299-4AF451BFB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F55CA9-A0BD-4609-9307-BAF987B262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E4293-851E-4FA2-BFF2-B646A4236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907F5-F26D-4A91-8D70-AB54F8B43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ACBD8-D942-449E-A2B8-358CD1365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9016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A50897-0C2E-420B-9A38-A8D5C1D727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450317" y="1517904"/>
            <a:ext cx="2220731" cy="454678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DB2173-32A5-4677-A08F-DAB8FD430D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17904" y="1517904"/>
            <a:ext cx="6562553" cy="454678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B124D-B801-4A6A-9DAF-EBC1B98F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AF8DF-2544-45A5-B62B-BB7948FCC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C232D-131E-4BE6-8E2E-BAF5A3084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280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B1D84C-7934-4E5B-B6E4-A1D6EC299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13441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A990F-40AC-447A-964A-840C94A64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4" y="2971800"/>
            <a:ext cx="9144000" cy="3127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832A1-FFBA-48B6-B2D0-E5414F1283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3F9AFA87-1417-4992-ABD9-27C3BC8CC883}" type="datetimeFigureOut">
              <a:rPr lang="en-US" smtClean="0"/>
              <a:pPr algn="r"/>
              <a:t>10/19/2024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33EC1-4EE2-4453-841C-CFDFE70894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EBA78-E732-44EF-BA0B-FC42F7931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CB1E4CB7-CB13-4810-BF18-BE31AFC64F93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9306479-8C4D-4E4A-A330-DFC80A8A01BE}"/>
              </a:ext>
            </a:extLst>
          </p:cNvPr>
          <p:cNvSpPr/>
          <p:nvPr/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74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42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5760" indent="-365760" algn="l" defTabSz="914400" rtl="0" eaLnBrk="1" latinLnBrk="0" hangingPunct="1">
        <a:lnSpc>
          <a:spcPct val="105000"/>
        </a:lnSpc>
        <a:spcBef>
          <a:spcPts val="900"/>
        </a:spcBef>
        <a:buClr>
          <a:schemeClr val="accent5"/>
        </a:buClr>
        <a:buFont typeface="Avenir Next LT Pro" panose="020B0504020202020204" pitchFamily="34" charset="0"/>
        <a:buChar char="+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0" algn="l" defTabSz="914400" rtl="0" eaLnBrk="1" latinLnBrk="0" hangingPunct="1">
        <a:lnSpc>
          <a:spcPct val="105000"/>
        </a:lnSpc>
        <a:spcBef>
          <a:spcPts val="900"/>
        </a:spcBef>
        <a:buFont typeface="Arial" panose="020B0604020202020204" pitchFamily="34" charset="0"/>
        <a:buNone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40080" indent="-274320" algn="l" defTabSz="914400" rtl="0" eaLnBrk="1" latinLnBrk="0" hangingPunct="1">
        <a:lnSpc>
          <a:spcPct val="105000"/>
        </a:lnSpc>
        <a:spcBef>
          <a:spcPts val="6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0" algn="l" defTabSz="914400" rtl="0" eaLnBrk="1" latinLnBrk="0" hangingPunct="1">
        <a:lnSpc>
          <a:spcPct val="105000"/>
        </a:lnSpc>
        <a:spcBef>
          <a:spcPts val="600"/>
        </a:spcBef>
        <a:buFontTx/>
        <a:buNone/>
        <a:defRPr sz="1800" i="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886968" indent="-274320" algn="l" defTabSz="914400" rtl="0" eaLnBrk="1" latinLnBrk="0" hangingPunct="1">
        <a:lnSpc>
          <a:spcPct val="105000"/>
        </a:lnSpc>
        <a:spcBef>
          <a:spcPts val="6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igitalocean.com/community/tutorials/understanding-arrow-functions-in-javascript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EC502BD-3766-4D83-94CC-391A4CD4E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hart, background pattern&#10;&#10;Description automatically generated">
            <a:extLst>
              <a:ext uri="{FF2B5EF4-FFF2-40B4-BE49-F238E27FC236}">
                <a16:creationId xmlns:a16="http://schemas.microsoft.com/office/drawing/2014/main" id="{A8AA4BF6-E4AD-2B9E-673B-0AC2869F37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20" y="10"/>
            <a:ext cx="12191977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2867CC89-052A-4B89-A1FF-972E522C6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8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2E73AD-5D39-7FF2-CFED-B934C1AC69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3651624"/>
            <a:ext cx="10668000" cy="1775010"/>
          </a:xfrm>
        </p:spPr>
        <p:txBody>
          <a:bodyPr>
            <a:norm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JavaScript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22DAAD-9C3E-EB83-0BE5-C8CBCB7576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5426635"/>
            <a:ext cx="10668000" cy="797860"/>
          </a:xfrm>
        </p:spPr>
        <p:txBody>
          <a:bodyPr>
            <a:normAutofit/>
          </a:bodyPr>
          <a:lstStyle/>
          <a:p>
            <a:pPr algn="l"/>
            <a:r>
              <a:rPr lang="en-US" dirty="0" err="1">
                <a:solidFill>
                  <a:schemeClr val="bg1"/>
                </a:solidFill>
              </a:rPr>
              <a:t>Funkcije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strukture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podataka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moderni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operatori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07017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CDAEB-EB0A-91AC-43FA-8A784F008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 err="1"/>
              <a:t>Funkcije</a:t>
            </a:r>
            <a:endParaRPr lang="en-US" sz="2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429E83-EA38-7E74-8D15-CED8E65FD715}"/>
              </a:ext>
            </a:extLst>
          </p:cNvPr>
          <p:cNvSpPr txBox="1"/>
          <p:nvPr/>
        </p:nvSpPr>
        <p:spPr>
          <a:xfrm>
            <a:off x="1372123" y="2265184"/>
            <a:ext cx="975755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 err="1">
                <a:latin typeface="Consolas" panose="020B0609020204030204" pitchFamily="49" charset="0"/>
              </a:rPr>
              <a:t>function</a:t>
            </a:r>
            <a:r>
              <a:rPr lang="sr-Latn-RS" dirty="0">
                <a:latin typeface="Consolas" panose="020B0609020204030204" pitchFamily="49" charset="0"/>
              </a:rPr>
              <a:t> </a:t>
            </a:r>
            <a:r>
              <a:rPr lang="sr-Latn-RS" dirty="0" err="1">
                <a:latin typeface="Consolas" panose="020B0609020204030204" pitchFamily="49" charset="0"/>
              </a:rPr>
              <a:t>logger</a:t>
            </a:r>
            <a:r>
              <a:rPr lang="sr-Latn-RS" dirty="0">
                <a:latin typeface="Consolas" panose="020B0609020204030204" pitchFamily="49" charset="0"/>
              </a:rPr>
              <a:t>(</a:t>
            </a:r>
            <a:r>
              <a:rPr lang="en-US" dirty="0">
                <a:latin typeface="Consolas" panose="020B0609020204030204" pitchFamily="49" charset="0"/>
              </a:rPr>
              <a:t>test</a:t>
            </a:r>
            <a:r>
              <a:rPr lang="sr-Latn-RS" dirty="0">
                <a:latin typeface="Consolas" panose="020B0609020204030204" pitchFamily="49" charset="0"/>
              </a:rPr>
              <a:t>) </a:t>
            </a:r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</a:rPr>
              <a:t>	console.log(test);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function juicer(apple, oranges) {</a:t>
            </a:r>
          </a:p>
          <a:p>
            <a:r>
              <a:rPr lang="en-US" dirty="0">
                <a:latin typeface="Consolas" panose="020B0609020204030204" pitchFamily="49" charset="0"/>
              </a:rPr>
              <a:t>	const juice =  `Juice with ${apple} apples and ${oranges} oranges`;</a:t>
            </a:r>
          </a:p>
          <a:p>
            <a:r>
              <a:rPr lang="en-US" dirty="0">
                <a:latin typeface="Consolas" panose="020B0609020204030204" pitchFamily="49" charset="0"/>
              </a:rPr>
              <a:t>	return juice;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05370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28F9234-7C47-7921-7893-B82CE80BD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 err="1"/>
              <a:t>Funkcije</a:t>
            </a:r>
            <a:endParaRPr lang="en-US" sz="2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DDD2EF-EEEA-2EAA-E7CD-4187B2C153BD}"/>
              </a:ext>
            </a:extLst>
          </p:cNvPr>
          <p:cNvSpPr txBox="1"/>
          <p:nvPr/>
        </p:nvSpPr>
        <p:spPr>
          <a:xfrm>
            <a:off x="1149844" y="2097097"/>
            <a:ext cx="968059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function juicer(apple, oranges) {</a:t>
            </a:r>
          </a:p>
          <a:p>
            <a:r>
              <a:rPr lang="en-US" dirty="0">
                <a:latin typeface="Consolas" panose="020B0609020204030204" pitchFamily="49" charset="0"/>
              </a:rPr>
              <a:t>	const juice =  `Juice with ${apple} apples and ${oranges} oranges`;</a:t>
            </a:r>
          </a:p>
          <a:p>
            <a:r>
              <a:rPr lang="en-US" dirty="0">
                <a:latin typeface="Consolas" panose="020B0609020204030204" pitchFamily="49" charset="0"/>
              </a:rPr>
              <a:t>	return juice;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juicer(5, 10) – </a:t>
            </a:r>
            <a:r>
              <a:rPr lang="en-US" dirty="0" err="1">
                <a:latin typeface="Consolas" panose="020B0609020204030204" pitchFamily="49" charset="0"/>
              </a:rPr>
              <a:t>funkciji</a:t>
            </a:r>
            <a:r>
              <a:rPr lang="en-US" dirty="0">
                <a:latin typeface="Consolas" panose="020B0609020204030204" pitchFamily="49" charset="0"/>
              </a:rPr>
              <a:t> se </a:t>
            </a:r>
            <a:r>
              <a:rPr lang="en-US" dirty="0" err="1">
                <a:latin typeface="Consolas" panose="020B0609020204030204" pitchFamily="49" charset="0"/>
              </a:rPr>
              <a:t>mogu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proslediti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bilo</a:t>
            </a:r>
            <a:r>
              <a:rPr lang="en-US" dirty="0">
                <a:latin typeface="Consolas" panose="020B0609020204030204" pitchFamily="49" charset="0"/>
              </a:rPr>
              <a:t> koji </a:t>
            </a:r>
            <a:r>
              <a:rPr lang="en-US" dirty="0" err="1">
                <a:latin typeface="Consolas" panose="020B0609020204030204" pitchFamily="49" charset="0"/>
              </a:rPr>
              <a:t>tipovi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kao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parametri</a:t>
            </a:r>
            <a:r>
              <a:rPr lang="en-US" dirty="0">
                <a:latin typeface="Consolas" panose="020B0609020204030204" pitchFamily="49" charset="0"/>
              </a:rPr>
              <a:t>.</a:t>
            </a:r>
            <a:endParaRPr lang="sr-Latn-R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juicer() – </a:t>
            </a:r>
            <a:r>
              <a:rPr lang="en-US" dirty="0" err="1">
                <a:latin typeface="Consolas" panose="020B0609020204030204" pitchFamily="49" charset="0"/>
              </a:rPr>
              <a:t>funkcija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koja</a:t>
            </a:r>
            <a:r>
              <a:rPr lang="en-US" dirty="0">
                <a:latin typeface="Consolas" panose="020B0609020204030204" pitchFamily="49" charset="0"/>
              </a:rPr>
              <a:t> o</a:t>
            </a:r>
            <a:r>
              <a:rPr lang="sr-Latn-RS" dirty="0" err="1">
                <a:latin typeface="Consolas" panose="020B0609020204030204" pitchFamily="49" charset="0"/>
              </a:rPr>
              <a:t>čekuje</a:t>
            </a:r>
            <a:r>
              <a:rPr lang="sr-Latn-RS" dirty="0">
                <a:latin typeface="Consolas" panose="020B0609020204030204" pitchFamily="49" charset="0"/>
              </a:rPr>
              <a:t> parametre može da se pozove i bez parametara tada oni postaju unutar funkcije </a:t>
            </a:r>
            <a:r>
              <a:rPr lang="sr-Latn-RS" dirty="0" err="1">
                <a:latin typeface="Consolas" panose="020B0609020204030204" pitchFamily="49" charset="0"/>
              </a:rPr>
              <a:t>undefined</a:t>
            </a:r>
            <a:r>
              <a:rPr lang="sr-Latn-RS" dirty="0">
                <a:latin typeface="Consolas" panose="020B0609020204030204" pitchFamily="49" charset="0"/>
              </a:rPr>
              <a:t>.</a:t>
            </a:r>
            <a:endParaRPr lang="en-US" dirty="0">
              <a:latin typeface="Consolas" panose="020B06090202040302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7330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62B4FE2-0D4C-C59B-DE0F-0B65B4DB1B6C}"/>
              </a:ext>
            </a:extLst>
          </p:cNvPr>
          <p:cNvSpPr txBox="1"/>
          <p:nvPr/>
        </p:nvSpPr>
        <p:spPr>
          <a:xfrm>
            <a:off x="1317172" y="2038393"/>
            <a:ext cx="96774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DECLARATION : </a:t>
            </a:r>
            <a:r>
              <a:rPr lang="sr-Latn-RS" dirty="0" err="1">
                <a:latin typeface="Consolas" panose="020B0609020204030204" pitchFamily="49" charset="0"/>
              </a:rPr>
              <a:t>function</a:t>
            </a:r>
            <a:r>
              <a:rPr lang="sr-Latn-RS" dirty="0">
                <a:latin typeface="Consolas" panose="020B0609020204030204" pitchFamily="49" charset="0"/>
              </a:rPr>
              <a:t> </a:t>
            </a:r>
            <a:r>
              <a:rPr lang="sr-Latn-RS" dirty="0" err="1">
                <a:latin typeface="Consolas" panose="020B0609020204030204" pitchFamily="49" charset="0"/>
              </a:rPr>
              <a:t>logger</a:t>
            </a:r>
            <a:r>
              <a:rPr lang="sr-Latn-RS" dirty="0">
                <a:latin typeface="Consolas" panose="020B0609020204030204" pitchFamily="49" charset="0"/>
              </a:rPr>
              <a:t>(</a:t>
            </a:r>
            <a:r>
              <a:rPr lang="en-US" dirty="0">
                <a:latin typeface="Consolas" panose="020B0609020204030204" pitchFamily="49" charset="0"/>
              </a:rPr>
              <a:t>test</a:t>
            </a:r>
            <a:r>
              <a:rPr lang="sr-Latn-RS" dirty="0">
                <a:latin typeface="Consolas" panose="020B0609020204030204" pitchFamily="49" charset="0"/>
              </a:rPr>
              <a:t>) </a:t>
            </a:r>
            <a:r>
              <a:rPr lang="en-US" dirty="0">
                <a:latin typeface="Consolas" panose="020B0609020204030204" pitchFamily="49" charset="0"/>
              </a:rPr>
              <a:t>{ </a:t>
            </a:r>
          </a:p>
          <a:p>
            <a:r>
              <a:rPr lang="en-US" dirty="0">
                <a:latin typeface="Consolas" panose="020B0609020204030204" pitchFamily="49" charset="0"/>
              </a:rPr>
              <a:t>			console.log(test);</a:t>
            </a:r>
          </a:p>
          <a:p>
            <a:r>
              <a:rPr lang="en-US" dirty="0">
                <a:latin typeface="Consolas" panose="020B0609020204030204" pitchFamily="49" charset="0"/>
              </a:rPr>
              <a:t>		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EXPRESSION : const </a:t>
            </a:r>
            <a:r>
              <a:rPr lang="en-US" dirty="0" err="1">
                <a:latin typeface="Consolas" panose="020B0609020204030204" pitchFamily="49" charset="0"/>
              </a:rPr>
              <a:t>calcAge</a:t>
            </a:r>
            <a:r>
              <a:rPr lang="en-US" dirty="0">
                <a:latin typeface="Consolas" panose="020B0609020204030204" pitchFamily="49" charset="0"/>
              </a:rPr>
              <a:t> = function(</a:t>
            </a:r>
            <a:r>
              <a:rPr lang="en-US" dirty="0" err="1">
                <a:latin typeface="Consolas" panose="020B0609020204030204" pitchFamily="49" charset="0"/>
              </a:rPr>
              <a:t>birthYear</a:t>
            </a:r>
            <a:r>
              <a:rPr lang="en-US" dirty="0"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latin typeface="Consolas" panose="020B0609020204030204" pitchFamily="49" charset="0"/>
              </a:rPr>
              <a:t>			return 2022 - </a:t>
            </a:r>
            <a:r>
              <a:rPr lang="en-US" dirty="0" err="1">
                <a:latin typeface="Consolas" panose="020B0609020204030204" pitchFamily="49" charset="0"/>
              </a:rPr>
              <a:t>birthYear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</a:rPr>
              <a:t>		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	      </a:t>
            </a:r>
            <a:r>
              <a:rPr lang="en-US" dirty="0" err="1">
                <a:latin typeface="Consolas" panose="020B0609020204030204" pitchFamily="49" charset="0"/>
              </a:rPr>
              <a:t>calcAge</a:t>
            </a:r>
            <a:r>
              <a:rPr lang="en-US" dirty="0">
                <a:latin typeface="Consolas" panose="020B0609020204030204" pitchFamily="49" charset="0"/>
              </a:rPr>
              <a:t>(1998);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U JavaScript-u </a:t>
            </a:r>
            <a:r>
              <a:rPr lang="en-US" dirty="0" err="1">
                <a:latin typeface="Consolas" panose="020B0609020204030204" pitchFamily="49" charset="0"/>
              </a:rPr>
              <a:t>funkcije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su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samo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vrednosti</a:t>
            </a:r>
            <a:r>
              <a:rPr lang="en-US" dirty="0">
                <a:latin typeface="Consolas" panose="020B0609020204030204" pitchFamily="49" charset="0"/>
              </a:rPr>
              <a:t>.</a:t>
            </a:r>
            <a:endParaRPr lang="sr-Latn-R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Function declaration </a:t>
            </a:r>
            <a:r>
              <a:rPr lang="en-US" dirty="0" err="1">
                <a:latin typeface="Consolas" panose="020B0609020204030204" pitchFamily="49" charset="0"/>
              </a:rPr>
              <a:t>mo</a:t>
            </a:r>
            <a:r>
              <a:rPr lang="sr-Latn-RS" dirty="0" err="1">
                <a:latin typeface="Consolas" panose="020B0609020204030204" pitchFamily="49" charset="0"/>
              </a:rPr>
              <a:t>že</a:t>
            </a:r>
            <a:r>
              <a:rPr lang="sr-Latn-RS" dirty="0">
                <a:latin typeface="Consolas" panose="020B0609020204030204" pitchFamily="49" charset="0"/>
              </a:rPr>
              <a:t> biti pozvan pre deklaracije u kodu (</a:t>
            </a:r>
            <a:r>
              <a:rPr lang="sr-Latn-RS" dirty="0" err="1">
                <a:latin typeface="Consolas" panose="020B0609020204030204" pitchFamily="49" charset="0"/>
              </a:rPr>
              <a:t>hoisting</a:t>
            </a:r>
            <a:r>
              <a:rPr lang="sr-Latn-RS" dirty="0">
                <a:latin typeface="Consolas" panose="020B0609020204030204" pitchFamily="49" charset="0"/>
              </a:rPr>
              <a:t>).</a:t>
            </a:r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sr-Latn-R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61D326-5ACE-8C7E-A819-4BECD248D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/>
              <a:t>Declaration vs Expression</a:t>
            </a:r>
          </a:p>
        </p:txBody>
      </p:sp>
    </p:spTree>
    <p:extLst>
      <p:ext uri="{BB962C8B-B14F-4D97-AF65-F5344CB8AC3E}">
        <p14:creationId xmlns:p14="http://schemas.microsoft.com/office/powerpoint/2010/main" val="24264247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4F50F33-A1B3-FE42-90F4-4942536DE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/>
              <a:t>Arrow functions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6446EA-7BA3-5444-BC80-1891D0180FA3}"/>
              </a:ext>
            </a:extLst>
          </p:cNvPr>
          <p:cNvSpPr txBox="1"/>
          <p:nvPr/>
        </p:nvSpPr>
        <p:spPr>
          <a:xfrm>
            <a:off x="1517904" y="1827275"/>
            <a:ext cx="96774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const </a:t>
            </a:r>
            <a:r>
              <a:rPr lang="en-US" dirty="0" err="1">
                <a:latin typeface="Consolas" panose="020B0609020204030204" pitchFamily="49" charset="0"/>
              </a:rPr>
              <a:t>calcAge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birthYear</a:t>
            </a:r>
            <a:r>
              <a:rPr lang="en-US" dirty="0">
                <a:latin typeface="Consolas" panose="020B0609020204030204" pitchFamily="49" charset="0"/>
              </a:rPr>
              <a:t> =&gt; 2022 – </a:t>
            </a:r>
            <a:r>
              <a:rPr lang="en-US" dirty="0" err="1">
                <a:latin typeface="Consolas" panose="020B0609020204030204" pitchFamily="49" charset="0"/>
              </a:rPr>
              <a:t>birthYear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 err="1">
                <a:latin typeface="Consolas" panose="020B0609020204030204" pitchFamily="49" charset="0"/>
              </a:rPr>
              <a:t>calcAge</a:t>
            </a:r>
            <a:r>
              <a:rPr lang="en-US" dirty="0">
                <a:latin typeface="Consolas" panose="020B0609020204030204" pitchFamily="49" charset="0"/>
              </a:rPr>
              <a:t>(1998);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sr-Latn-RS" dirty="0">
                <a:latin typeface="Consolas" panose="020B0609020204030204" pitchFamily="49" charset="0"/>
              </a:rPr>
              <a:t>Šta ako imamo više parametara i kompleksniju logiku</a:t>
            </a:r>
            <a:r>
              <a:rPr lang="en-US" dirty="0">
                <a:latin typeface="Consolas" panose="020B0609020204030204" pitchFamily="49" charset="0"/>
              </a:rPr>
              <a:t>?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sr-Latn-RS" dirty="0" err="1">
                <a:latin typeface="Consolas" panose="020B0609020204030204" pitchFamily="49" charset="0"/>
              </a:rPr>
              <a:t>const</a:t>
            </a:r>
            <a:r>
              <a:rPr lang="sr-Latn-R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yearsUntilRetirement</a:t>
            </a:r>
            <a:r>
              <a:rPr lang="en-US" dirty="0">
                <a:latin typeface="Consolas" panose="020B0609020204030204" pitchFamily="49" charset="0"/>
              </a:rPr>
              <a:t> = (</a:t>
            </a:r>
            <a:r>
              <a:rPr lang="en-US" dirty="0" err="1">
                <a:latin typeface="Consolas" panose="020B0609020204030204" pitchFamily="49" charset="0"/>
              </a:rPr>
              <a:t>birthYear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firstName</a:t>
            </a:r>
            <a:r>
              <a:rPr lang="en-US" dirty="0">
                <a:latin typeface="Consolas" panose="020B0609020204030204" pitchFamily="49" charset="0"/>
              </a:rPr>
              <a:t>) =&gt; {</a:t>
            </a:r>
          </a:p>
          <a:p>
            <a:r>
              <a:rPr lang="en-US" dirty="0">
                <a:latin typeface="Consolas" panose="020B0609020204030204" pitchFamily="49" charset="0"/>
              </a:rPr>
              <a:t>	const age = 2037 – </a:t>
            </a:r>
            <a:r>
              <a:rPr lang="en-US" dirty="0" err="1">
                <a:latin typeface="Consolas" panose="020B0609020204030204" pitchFamily="49" charset="0"/>
              </a:rPr>
              <a:t>birthYear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</a:rPr>
              <a:t>	const retirement = 65 – age;</a:t>
            </a:r>
          </a:p>
          <a:p>
            <a:r>
              <a:rPr lang="en-US" dirty="0">
                <a:latin typeface="Consolas" panose="020B0609020204030204" pitchFamily="49" charset="0"/>
              </a:rPr>
              <a:t>	return `${</a:t>
            </a:r>
            <a:r>
              <a:rPr lang="en-US" dirty="0" err="1">
                <a:latin typeface="Consolas" panose="020B0609020204030204" pitchFamily="49" charset="0"/>
              </a:rPr>
              <a:t>firstName</a:t>
            </a:r>
            <a:r>
              <a:rPr lang="en-US" dirty="0">
                <a:latin typeface="Consolas" panose="020B0609020204030204" pitchFamily="49" charset="0"/>
              </a:rPr>
              <a:t>} retires in ${retirement} years`;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/>
          </a:p>
          <a:p>
            <a:r>
              <a:rPr lang="sr-Latn-RS" dirty="0">
                <a:latin typeface="Consolas" panose="020B0609020204030204" pitchFamily="49" charset="0"/>
              </a:rPr>
              <a:t>Šta ako koristimo </a:t>
            </a:r>
            <a:r>
              <a:rPr lang="sr-Latn-RS" dirty="0" err="1">
                <a:latin typeface="Consolas" panose="020B0609020204030204" pitchFamily="49" charset="0"/>
              </a:rPr>
              <a:t>arrow</a:t>
            </a:r>
            <a:r>
              <a:rPr lang="sr-Latn-RS" dirty="0">
                <a:latin typeface="Consolas" panose="020B0609020204030204" pitchFamily="49" charset="0"/>
              </a:rPr>
              <a:t> u okviru objekta (</a:t>
            </a:r>
            <a:r>
              <a:rPr lang="sr-Latn-RS" dirty="0" err="1">
                <a:latin typeface="Consolas" panose="020B0609020204030204" pitchFamily="49" charset="0"/>
              </a:rPr>
              <a:t>objektnog</a:t>
            </a:r>
            <a:r>
              <a:rPr lang="sr-Latn-RS" dirty="0">
                <a:latin typeface="Consolas" panose="020B0609020204030204" pitchFamily="49" charset="0"/>
              </a:rPr>
              <a:t> </a:t>
            </a:r>
            <a:r>
              <a:rPr lang="sr-Latn-RS" dirty="0" err="1">
                <a:latin typeface="Consolas" panose="020B0609020204030204" pitchFamily="49" charset="0"/>
              </a:rPr>
              <a:t>literala</a:t>
            </a:r>
            <a:r>
              <a:rPr lang="sr-Latn-RS" dirty="0">
                <a:latin typeface="Consolas" panose="020B0609020204030204" pitchFamily="49" charset="0"/>
              </a:rPr>
              <a:t>)</a:t>
            </a:r>
            <a:r>
              <a:rPr lang="en-US" dirty="0">
                <a:latin typeface="Consolas" panose="020B0609020204030204" pitchFamily="49" charset="0"/>
              </a:rPr>
              <a:t>?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sr-Latn-RS" dirty="0">
                <a:latin typeface="Consolas" panose="020B0609020204030204" pitchFamily="49" charset="0"/>
                <a:hlinkClick r:id="rId2"/>
              </a:rPr>
              <a:t>https://www.digitalocean.com/community/tutorials/understanding-arrow-functions-in-javascript</a:t>
            </a:r>
            <a:endParaRPr lang="sr-Latn-RS" dirty="0">
              <a:latin typeface="Consolas" panose="020B0609020204030204" pitchFamily="49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1036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3955B34-4465-C292-8CE1-CAA3F01AC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sr-Latn-RS" sz="2600" dirty="0" err="1"/>
              <a:t>Scope</a:t>
            </a:r>
            <a:r>
              <a:rPr lang="sr-Latn-RS" sz="2600" dirty="0"/>
              <a:t> koncept</a:t>
            </a:r>
            <a:endParaRPr lang="en-US" sz="2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E30A64-AEBB-6BDC-A183-7F73F5F609F2}"/>
              </a:ext>
            </a:extLst>
          </p:cNvPr>
          <p:cNvSpPr txBox="1"/>
          <p:nvPr/>
        </p:nvSpPr>
        <p:spPr>
          <a:xfrm>
            <a:off x="1517904" y="2047398"/>
            <a:ext cx="96774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 err="1">
                <a:latin typeface="Consolas" panose="020B0609020204030204" pitchFamily="49" charset="0"/>
              </a:rPr>
              <a:t>Scoping</a:t>
            </a:r>
            <a:r>
              <a:rPr lang="sr-Latn-RS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– </a:t>
            </a:r>
            <a:r>
              <a:rPr lang="en-US" dirty="0" err="1">
                <a:latin typeface="Consolas" panose="020B0609020204030204" pitchFamily="49" charset="0"/>
              </a:rPr>
              <a:t>kako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su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varijable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na</a:t>
            </a:r>
            <a:r>
              <a:rPr lang="sr-Latn-RS" dirty="0" err="1">
                <a:latin typeface="Consolas" panose="020B0609020204030204" pitchFamily="49" charset="0"/>
              </a:rPr>
              <a:t>šeg</a:t>
            </a:r>
            <a:r>
              <a:rPr lang="sr-Latn-RS" dirty="0">
                <a:latin typeface="Consolas" panose="020B0609020204030204" pitchFamily="49" charset="0"/>
              </a:rPr>
              <a:t> programa organizovane i kako im se pristupa.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Gde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moje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varijable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sr-Latn-RS" dirty="0">
                <a:latin typeface="Consolas" panose="020B0609020204030204" pitchFamily="49" charset="0"/>
              </a:rPr>
              <a:t>žive</a:t>
            </a:r>
            <a:r>
              <a:rPr lang="en-US" dirty="0">
                <a:latin typeface="Consolas" panose="020B0609020204030204" pitchFamily="49" charset="0"/>
              </a:rPr>
              <a:t>?</a:t>
            </a:r>
            <a:endParaRPr lang="sr-Latn-RS" dirty="0">
              <a:latin typeface="Consolas" panose="020B0609020204030204" pitchFamily="49" charset="0"/>
            </a:endParaRPr>
          </a:p>
          <a:p>
            <a:endParaRPr lang="sr-Latn-RS" dirty="0">
              <a:latin typeface="Consolas" panose="020B0609020204030204" pitchFamily="49" charset="0"/>
            </a:endParaRPr>
          </a:p>
          <a:p>
            <a:r>
              <a:rPr lang="sr-Latn-RS" dirty="0" err="1">
                <a:latin typeface="Consolas" panose="020B0609020204030204" pitchFamily="49" charset="0"/>
              </a:rPr>
              <a:t>Scope</a:t>
            </a:r>
            <a:r>
              <a:rPr lang="sr-Latn-RS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– </a:t>
            </a:r>
            <a:r>
              <a:rPr lang="en-US" dirty="0" err="1">
                <a:latin typeface="Consolas" panose="020B0609020204030204" pitchFamily="49" charset="0"/>
              </a:rPr>
              <a:t>prostor</a:t>
            </a:r>
            <a:r>
              <a:rPr lang="en-US" dirty="0">
                <a:latin typeface="Consolas" panose="020B0609020204030204" pitchFamily="49" charset="0"/>
              </a:rPr>
              <a:t> (region) u </a:t>
            </a:r>
            <a:r>
              <a:rPr lang="en-US" dirty="0" err="1">
                <a:latin typeface="Consolas" panose="020B0609020204030204" pitchFamily="49" charset="0"/>
              </a:rPr>
              <a:t>okviru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kog</a:t>
            </a:r>
            <a:r>
              <a:rPr lang="en-US" dirty="0">
                <a:latin typeface="Consolas" panose="020B0609020204030204" pitchFamily="49" charset="0"/>
              </a:rPr>
              <a:t> je </a:t>
            </a:r>
            <a:r>
              <a:rPr lang="en-US" dirty="0" err="1">
                <a:latin typeface="Consolas" panose="020B0609020204030204" pitchFamily="49" charset="0"/>
              </a:rPr>
              <a:t>varijabla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deklarisana</a:t>
            </a:r>
            <a:r>
              <a:rPr lang="en-US" dirty="0">
                <a:latin typeface="Consolas" panose="020B0609020204030204" pitchFamily="49" charset="0"/>
              </a:rPr>
              <a:t>. </a:t>
            </a:r>
            <a:r>
              <a:rPr lang="en-US" dirty="0" err="1">
                <a:latin typeface="Consolas" panose="020B0609020204030204" pitchFamily="49" charset="0"/>
              </a:rPr>
              <a:t>Postoji</a:t>
            </a:r>
            <a:r>
              <a:rPr lang="en-US" dirty="0">
                <a:latin typeface="Consolas" panose="020B0609020204030204" pitchFamily="49" charset="0"/>
              </a:rPr>
              <a:t> global scope, function scope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block scope</a:t>
            </a:r>
            <a:r>
              <a:rPr lang="sr-Latn-RS" dirty="0">
                <a:latin typeface="Consolas" panose="020B0609020204030204" pitchFamily="49" charset="0"/>
              </a:rPr>
              <a:t> (</a:t>
            </a:r>
            <a:r>
              <a:rPr lang="en-US" dirty="0" err="1">
                <a:latin typeface="Consolas" panose="020B0609020204030204" pitchFamily="49" charset="0"/>
              </a:rPr>
              <a:t>uveden</a:t>
            </a:r>
            <a:r>
              <a:rPr lang="en-US" dirty="0">
                <a:latin typeface="Consolas" panose="020B0609020204030204" pitchFamily="49" charset="0"/>
              </a:rPr>
              <a:t> u </a:t>
            </a:r>
            <a:r>
              <a:rPr lang="sr-Latn-RS" dirty="0">
                <a:latin typeface="Consolas" panose="020B0609020204030204" pitchFamily="49" charset="0"/>
              </a:rPr>
              <a:t>ES6)</a:t>
            </a:r>
            <a:r>
              <a:rPr lang="en-US" dirty="0">
                <a:latin typeface="Consolas" panose="020B0609020204030204" pitchFamily="49" charset="0"/>
              </a:rPr>
              <a:t>.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Variable scope – </a:t>
            </a:r>
            <a:r>
              <a:rPr lang="en-US" dirty="0" err="1">
                <a:latin typeface="Consolas" panose="020B0609020204030204" pitchFamily="49" charset="0"/>
              </a:rPr>
              <a:t>prostor</a:t>
            </a:r>
            <a:r>
              <a:rPr lang="en-US" dirty="0">
                <a:latin typeface="Consolas" panose="020B0609020204030204" pitchFamily="49" charset="0"/>
              </a:rPr>
              <a:t> (region) </a:t>
            </a:r>
            <a:r>
              <a:rPr lang="en-US" dirty="0" err="1">
                <a:latin typeface="Consolas" panose="020B0609020204030204" pitchFamily="49" charset="0"/>
              </a:rPr>
              <a:t>koda</a:t>
            </a:r>
            <a:r>
              <a:rPr lang="en-US" dirty="0">
                <a:latin typeface="Consolas" panose="020B0609020204030204" pitchFamily="49" charset="0"/>
              </a:rPr>
              <a:t> u </a:t>
            </a:r>
            <a:r>
              <a:rPr lang="en-US" dirty="0" err="1">
                <a:latin typeface="Consolas" panose="020B0609020204030204" pitchFamily="49" charset="0"/>
              </a:rPr>
              <a:t>okviru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kog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mo</a:t>
            </a:r>
            <a:r>
              <a:rPr lang="sr-Latn-RS" dirty="0" err="1">
                <a:latin typeface="Consolas" panose="020B0609020204030204" pitchFamily="49" charset="0"/>
              </a:rPr>
              <a:t>žemo</a:t>
            </a:r>
            <a:r>
              <a:rPr lang="sr-Latn-RS" dirty="0">
                <a:latin typeface="Consolas" panose="020B0609020204030204" pitchFamily="49" charset="0"/>
              </a:rPr>
              <a:t> pristupiti određenoj varijabli.</a:t>
            </a:r>
          </a:p>
          <a:p>
            <a:endParaRPr lang="sr-Latn-RS" dirty="0">
              <a:latin typeface="Consolas" panose="020B0609020204030204" pitchFamily="49" charset="0"/>
            </a:endParaRPr>
          </a:p>
          <a:p>
            <a:r>
              <a:rPr lang="sr-Latn-RS" dirty="0">
                <a:latin typeface="Consolas" panose="020B0609020204030204" pitchFamily="49" charset="0"/>
              </a:rPr>
              <a:t>Podsećanje</a:t>
            </a:r>
            <a:r>
              <a:rPr lang="en-US" dirty="0">
                <a:latin typeface="Consolas" panose="020B0609020204030204" pitchFamily="49" charset="0"/>
              </a:rPr>
              <a:t>: SAMO LET I CONST POZNAJU BLOCK SCOPE.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sr-Latn-R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1297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66DECC7-B43F-0F41-8FB4-82C9BE5F5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 fontScale="90000"/>
          </a:bodyPr>
          <a:lstStyle/>
          <a:p>
            <a:r>
              <a:rPr lang="en-US" sz="2600" dirty="0"/>
              <a:t>Global scope               Function scope                Block scope (ES6)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ACA391-3496-6B28-57A7-6A1C1EE89717}"/>
              </a:ext>
            </a:extLst>
          </p:cNvPr>
          <p:cNvSpPr txBox="1"/>
          <p:nvPr/>
        </p:nvSpPr>
        <p:spPr>
          <a:xfrm>
            <a:off x="4328160" y="2144380"/>
            <a:ext cx="32410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function </a:t>
            </a:r>
            <a:r>
              <a:rPr lang="en-US" dirty="0" err="1"/>
              <a:t>calcAge</a:t>
            </a:r>
            <a:r>
              <a:rPr lang="en-US" dirty="0"/>
              <a:t>(</a:t>
            </a:r>
            <a:r>
              <a:rPr lang="en-US" dirty="0" err="1"/>
              <a:t>birthYear</a:t>
            </a:r>
            <a:r>
              <a:rPr lang="en-US" dirty="0"/>
              <a:t>) {</a:t>
            </a:r>
          </a:p>
          <a:p>
            <a:r>
              <a:rPr lang="en-US" dirty="0"/>
              <a:t> const now = 2037;</a:t>
            </a:r>
          </a:p>
          <a:p>
            <a:r>
              <a:rPr lang="en-US" dirty="0"/>
              <a:t> const age = now – </a:t>
            </a:r>
            <a:r>
              <a:rPr lang="en-US" dirty="0" err="1"/>
              <a:t>birthYear</a:t>
            </a:r>
            <a:endParaRPr lang="en-US" dirty="0"/>
          </a:p>
          <a:p>
            <a:r>
              <a:rPr lang="en-US" dirty="0"/>
              <a:t> return age;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 err="1"/>
              <a:t>Varijable</a:t>
            </a:r>
            <a:r>
              <a:rPr lang="en-US" dirty="0"/>
              <a:t> </a:t>
            </a:r>
            <a:r>
              <a:rPr lang="en-US" dirty="0" err="1"/>
              <a:t>dostupne</a:t>
            </a:r>
            <a:r>
              <a:rPr lang="en-US" dirty="0"/>
              <a:t> </a:t>
            </a:r>
            <a:r>
              <a:rPr lang="en-US" dirty="0" err="1"/>
              <a:t>samo</a:t>
            </a:r>
            <a:r>
              <a:rPr lang="en-US" dirty="0"/>
              <a:t> </a:t>
            </a:r>
            <a:r>
              <a:rPr lang="en-US" dirty="0" err="1"/>
              <a:t>unutar</a:t>
            </a:r>
            <a:r>
              <a:rPr lang="en-US" dirty="0"/>
              <a:t> </a:t>
            </a:r>
            <a:r>
              <a:rPr lang="en-US" dirty="0" err="1"/>
              <a:t>funkcije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538C24-DB12-BF68-1617-A31C192B4416}"/>
              </a:ext>
            </a:extLst>
          </p:cNvPr>
          <p:cNvSpPr txBox="1"/>
          <p:nvPr/>
        </p:nvSpPr>
        <p:spPr>
          <a:xfrm>
            <a:off x="1517904" y="3368322"/>
            <a:ext cx="28102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Van </a:t>
            </a:r>
            <a:r>
              <a:rPr lang="en-US" dirty="0" err="1"/>
              <a:t>bilo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funkcije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bloka</a:t>
            </a:r>
            <a:r>
              <a:rPr lang="en-US" dirty="0"/>
              <a:t>.</a:t>
            </a:r>
          </a:p>
          <a:p>
            <a:r>
              <a:rPr lang="en-US" dirty="0" err="1"/>
              <a:t>Dostupne</a:t>
            </a:r>
            <a:r>
              <a:rPr lang="en-US" dirty="0"/>
              <a:t> </a:t>
            </a:r>
            <a:r>
              <a:rPr lang="en-US" dirty="0" err="1"/>
              <a:t>bilo</a:t>
            </a:r>
            <a:r>
              <a:rPr lang="en-US" dirty="0"/>
              <a:t> </a:t>
            </a:r>
            <a:r>
              <a:rPr lang="en-US" dirty="0" err="1"/>
              <a:t>gde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4376BE-845B-A600-B994-3BD666E20ED6}"/>
              </a:ext>
            </a:extLst>
          </p:cNvPr>
          <p:cNvSpPr txBox="1"/>
          <p:nvPr/>
        </p:nvSpPr>
        <p:spPr>
          <a:xfrm>
            <a:off x="1670304" y="2144380"/>
            <a:ext cx="28102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const me = ‘Luka’</a:t>
            </a:r>
          </a:p>
          <a:p>
            <a:r>
              <a:rPr lang="en-US" dirty="0"/>
              <a:t>const job = ‘teacher’</a:t>
            </a:r>
          </a:p>
          <a:p>
            <a:r>
              <a:rPr lang="en-US" dirty="0"/>
              <a:t>const year = 1998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945D4F-EE3F-F758-46B6-A87755B8C1D5}"/>
              </a:ext>
            </a:extLst>
          </p:cNvPr>
          <p:cNvSpPr txBox="1"/>
          <p:nvPr/>
        </p:nvSpPr>
        <p:spPr>
          <a:xfrm>
            <a:off x="7569200" y="2144380"/>
            <a:ext cx="324104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if (year &gt; 1998) {</a:t>
            </a:r>
          </a:p>
          <a:p>
            <a:r>
              <a:rPr lang="en-US" dirty="0"/>
              <a:t> …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 err="1"/>
              <a:t>Varijable</a:t>
            </a:r>
            <a:r>
              <a:rPr lang="en-US" dirty="0"/>
              <a:t> </a:t>
            </a:r>
            <a:r>
              <a:rPr lang="en-US" dirty="0" err="1"/>
              <a:t>dostupne</a:t>
            </a:r>
            <a:r>
              <a:rPr lang="en-US" dirty="0"/>
              <a:t> </a:t>
            </a:r>
            <a:r>
              <a:rPr lang="en-US" dirty="0" err="1"/>
              <a:t>samo</a:t>
            </a:r>
            <a:r>
              <a:rPr lang="en-US" dirty="0"/>
              <a:t> </a:t>
            </a:r>
            <a:r>
              <a:rPr lang="en-US" dirty="0" err="1"/>
              <a:t>unutar</a:t>
            </a:r>
            <a:r>
              <a:rPr lang="en-US" dirty="0"/>
              <a:t> </a:t>
            </a:r>
            <a:r>
              <a:rPr lang="en-US" dirty="0" err="1"/>
              <a:t>bloka</a:t>
            </a:r>
            <a:r>
              <a:rPr lang="en-US" dirty="0"/>
              <a:t>. SAMO ZA LET I CONST.</a:t>
            </a:r>
          </a:p>
          <a:p>
            <a:endParaRPr lang="en-US" dirty="0"/>
          </a:p>
          <a:p>
            <a:r>
              <a:rPr lang="en-US" dirty="0" err="1"/>
              <a:t>Funkcije</a:t>
            </a:r>
            <a:r>
              <a:rPr lang="en-US" dirty="0"/>
              <a:t> se </a:t>
            </a:r>
            <a:r>
              <a:rPr lang="en-US" dirty="0" err="1"/>
              <a:t>pona</a:t>
            </a:r>
            <a:r>
              <a:rPr lang="sr-Latn-RS" dirty="0" err="1"/>
              <a:t>šaju</a:t>
            </a:r>
            <a:r>
              <a:rPr lang="sr-Latn-RS" dirty="0"/>
              <a:t> kao </a:t>
            </a:r>
            <a:r>
              <a:rPr lang="sr-Latn-RS" dirty="0" err="1"/>
              <a:t>block</a:t>
            </a:r>
            <a:r>
              <a:rPr lang="sr-Latn-RS" dirty="0"/>
              <a:t> </a:t>
            </a:r>
            <a:r>
              <a:rPr lang="sr-Latn-RS" dirty="0" err="1"/>
              <a:t>scoped</a:t>
            </a:r>
            <a:r>
              <a:rPr lang="sr-Latn-RS" dirty="0"/>
              <a:t> samo u STRICT MODE</a:t>
            </a:r>
            <a:r>
              <a:rPr lang="en-US" dirty="0"/>
              <a:t>-u.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722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EA50F15-04F3-6349-2877-958A3F65A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2954"/>
            <a:ext cx="12192000" cy="5732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8982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9B7099-DAB2-DDFB-7A7A-BB472D52F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9" y="1272049"/>
            <a:ext cx="9942561" cy="4757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0565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698A78A-4004-E5A2-8F1E-6D28D9584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/>
              <a:t>Default parameters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59C3BE-B86D-D706-A05A-4BB766C19714}"/>
              </a:ext>
            </a:extLst>
          </p:cNvPr>
          <p:cNvSpPr txBox="1"/>
          <p:nvPr/>
        </p:nvSpPr>
        <p:spPr>
          <a:xfrm>
            <a:off x="1517904" y="1991980"/>
            <a:ext cx="96774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const </a:t>
            </a:r>
            <a:r>
              <a:rPr lang="en-US" dirty="0" err="1">
                <a:latin typeface="Consolas" panose="020B0609020204030204" pitchFamily="49" charset="0"/>
              </a:rPr>
              <a:t>createBooking</a:t>
            </a:r>
            <a:r>
              <a:rPr lang="en-US" dirty="0">
                <a:latin typeface="Consolas" panose="020B0609020204030204" pitchFamily="49" charset="0"/>
              </a:rPr>
              <a:t> = function(</a:t>
            </a:r>
            <a:r>
              <a:rPr lang="en-US" dirty="0" err="1">
                <a:latin typeface="Consolas" panose="020B0609020204030204" pitchFamily="49" charset="0"/>
              </a:rPr>
              <a:t>flightNum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numPassengers</a:t>
            </a:r>
            <a:r>
              <a:rPr lang="en-US" dirty="0">
                <a:latin typeface="Consolas" panose="020B0609020204030204" pitchFamily="49" charset="0"/>
              </a:rPr>
              <a:t> = 1, price = 100) {</a:t>
            </a:r>
          </a:p>
          <a:p>
            <a:r>
              <a:rPr lang="en-US" dirty="0">
                <a:latin typeface="Consolas" panose="020B0609020204030204" pitchFamily="49" charset="0"/>
              </a:rPr>
              <a:t> const booking = {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fligthtNum</a:t>
            </a:r>
            <a:r>
              <a:rPr lang="en-US" dirty="0">
                <a:latin typeface="Consolas" panose="020B0609020204030204" pitchFamily="49" charset="0"/>
              </a:rPr>
              <a:t>: </a:t>
            </a:r>
            <a:r>
              <a:rPr lang="en-US" dirty="0" err="1">
                <a:latin typeface="Consolas" panose="020B0609020204030204" pitchFamily="49" charset="0"/>
              </a:rPr>
              <a:t>flightNum</a:t>
            </a:r>
            <a:r>
              <a:rPr lang="en-US" dirty="0">
                <a:latin typeface="Consolas" panose="020B0609020204030204" pitchFamily="49" charset="0"/>
              </a:rPr>
              <a:t>,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numPassengers</a:t>
            </a:r>
            <a:r>
              <a:rPr lang="en-US" dirty="0">
                <a:latin typeface="Consolas" panose="020B0609020204030204" pitchFamily="49" charset="0"/>
              </a:rPr>
              <a:t>: </a:t>
            </a:r>
            <a:r>
              <a:rPr lang="en-US" dirty="0" err="1">
                <a:latin typeface="Consolas" panose="020B0609020204030204" pitchFamily="49" charset="0"/>
              </a:rPr>
              <a:t>numPassengers</a:t>
            </a:r>
            <a:r>
              <a:rPr lang="en-US" dirty="0">
                <a:latin typeface="Consolas" panose="020B0609020204030204" pitchFamily="49" charset="0"/>
              </a:rPr>
              <a:t>,</a:t>
            </a:r>
          </a:p>
          <a:p>
            <a:r>
              <a:rPr lang="en-US" dirty="0">
                <a:latin typeface="Consolas" panose="020B0609020204030204" pitchFamily="49" charset="0"/>
              </a:rPr>
              <a:t>  price: price,</a:t>
            </a:r>
          </a:p>
          <a:p>
            <a:r>
              <a:rPr lang="en-US" dirty="0">
                <a:latin typeface="Consolas" panose="020B0609020204030204" pitchFamily="49" charset="0"/>
              </a:rPr>
              <a:t>};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console.log(booking);</a:t>
            </a:r>
          </a:p>
          <a:p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bookings.push</a:t>
            </a:r>
            <a:r>
              <a:rPr lang="en-US" dirty="0">
                <a:latin typeface="Consolas" panose="020B0609020204030204" pitchFamily="49" charset="0"/>
              </a:rPr>
              <a:t>(booking);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</a:rPr>
              <a:t>createBooking</a:t>
            </a:r>
            <a:r>
              <a:rPr lang="en-US" dirty="0">
                <a:latin typeface="Consolas" panose="020B0609020204030204" pitchFamily="49" charset="0"/>
              </a:rPr>
              <a:t>(“LH123”);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sr-Latn-RS" dirty="0">
                <a:latin typeface="Consolas" panose="020B0609020204030204" pitchFamily="49" charset="0"/>
              </a:rPr>
              <a:t>Šta će biti ispisano za polja koja nisu postavljena kroz poziv funkcije</a:t>
            </a:r>
            <a:r>
              <a:rPr lang="en-US" dirty="0">
                <a:latin typeface="Consolas" panose="020B0609020204030204" pitchFamily="49" charset="0"/>
              </a:rPr>
              <a:t>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82332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DEA6CF2-7344-7896-85DF-0F11F6C4C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/>
              <a:t>First-Class, High-Order </a:t>
            </a:r>
            <a:r>
              <a:rPr lang="en-US" sz="2600" dirty="0" err="1"/>
              <a:t>funkcije</a:t>
            </a:r>
            <a:endParaRPr lang="en-US" sz="2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FE8836-2AAD-F7D3-885D-DEBA7A925807}"/>
              </a:ext>
            </a:extLst>
          </p:cNvPr>
          <p:cNvSpPr txBox="1"/>
          <p:nvPr/>
        </p:nvSpPr>
        <p:spPr>
          <a:xfrm>
            <a:off x="1517904" y="2047398"/>
            <a:ext cx="96774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First-Class </a:t>
            </a:r>
            <a:r>
              <a:rPr lang="en-US" dirty="0" err="1">
                <a:latin typeface="Consolas" panose="020B0609020204030204" pitchFamily="49" charset="0"/>
              </a:rPr>
              <a:t>zna</a:t>
            </a:r>
            <a:r>
              <a:rPr lang="sr-Latn-RS" dirty="0" err="1">
                <a:latin typeface="Consolas" panose="020B0609020204030204" pitchFamily="49" charset="0"/>
              </a:rPr>
              <a:t>či</a:t>
            </a:r>
            <a:r>
              <a:rPr lang="sr-Latn-RS" dirty="0">
                <a:latin typeface="Consolas" panose="020B0609020204030204" pitchFamily="49" charset="0"/>
              </a:rPr>
              <a:t> da </a:t>
            </a:r>
            <a:r>
              <a:rPr lang="en-US" dirty="0">
                <a:latin typeface="Consolas" panose="020B0609020204030204" pitchFamily="49" charset="0"/>
              </a:rPr>
              <a:t>JavaScript </a:t>
            </a:r>
            <a:r>
              <a:rPr lang="en-US" dirty="0" err="1">
                <a:latin typeface="Consolas" panose="020B0609020204030204" pitchFamily="49" charset="0"/>
              </a:rPr>
              <a:t>tretira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funkcije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kao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vrednosti</a:t>
            </a:r>
            <a:r>
              <a:rPr lang="en-US" dirty="0">
                <a:latin typeface="Consolas" panose="020B0609020204030204" pitchFamily="49" charset="0"/>
              </a:rPr>
              <a:t>.</a:t>
            </a:r>
          </a:p>
          <a:p>
            <a:r>
              <a:rPr lang="en-US" dirty="0" err="1">
                <a:latin typeface="Consolas" panose="020B0609020204030204" pitchFamily="49" charset="0"/>
              </a:rPr>
              <a:t>Odnosno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funkcije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su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samo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objekti</a:t>
            </a:r>
            <a:r>
              <a:rPr lang="en-US" dirty="0">
                <a:latin typeface="Consolas" panose="020B0609020204030204" pitchFamily="49" charset="0"/>
              </a:rPr>
              <a:t>.</a:t>
            </a:r>
            <a:endParaRPr lang="sr-Latn-RS" dirty="0">
              <a:latin typeface="Consolas" panose="020B0609020204030204" pitchFamily="49" charset="0"/>
            </a:endParaRPr>
          </a:p>
          <a:p>
            <a:endParaRPr lang="sr-Latn-RS" dirty="0">
              <a:latin typeface="Consolas" panose="020B0609020204030204" pitchFamily="49" charset="0"/>
            </a:endParaRPr>
          </a:p>
          <a:p>
            <a:r>
              <a:rPr lang="sr-Latn-RS" dirty="0" err="1">
                <a:latin typeface="Consolas" panose="020B0609020204030204" pitchFamily="49" charset="0"/>
              </a:rPr>
              <a:t>High</a:t>
            </a:r>
            <a:r>
              <a:rPr lang="en-US" dirty="0">
                <a:latin typeface="Consolas" panose="020B0609020204030204" pitchFamily="49" charset="0"/>
              </a:rPr>
              <a:t>-Order </a:t>
            </a:r>
            <a:r>
              <a:rPr lang="en-US" dirty="0" err="1">
                <a:latin typeface="Consolas" panose="020B0609020204030204" pitchFamily="49" charset="0"/>
              </a:rPr>
              <a:t>funkcije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su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funkcije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koje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primaju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drugu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funkciju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kao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parametar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ili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vra</a:t>
            </a:r>
            <a:r>
              <a:rPr lang="sr-Latn-RS" dirty="0" err="1">
                <a:latin typeface="Consolas" panose="020B0609020204030204" pitchFamily="49" charset="0"/>
              </a:rPr>
              <a:t>ćaju</a:t>
            </a:r>
            <a:r>
              <a:rPr lang="sr-Latn-RS" dirty="0">
                <a:latin typeface="Consolas" panose="020B0609020204030204" pitchFamily="49" charset="0"/>
              </a:rPr>
              <a:t> neku funkciju kao odgovor ili rade oba u isto vreme. Ovo je moguće jer funkcije u </a:t>
            </a:r>
            <a:r>
              <a:rPr lang="sr-Latn-RS" dirty="0" err="1">
                <a:latin typeface="Consolas" panose="020B0609020204030204" pitchFamily="49" charset="0"/>
              </a:rPr>
              <a:t>JavaScript</a:t>
            </a:r>
            <a:r>
              <a:rPr lang="en-US" dirty="0">
                <a:latin typeface="Consolas" panose="020B0609020204030204" pitchFamily="49" charset="0"/>
              </a:rPr>
              <a:t>-u </a:t>
            </a:r>
            <a:r>
              <a:rPr lang="en-US" dirty="0" err="1">
                <a:latin typeface="Consolas" panose="020B0609020204030204" pitchFamily="49" charset="0"/>
              </a:rPr>
              <a:t>tretiramo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kao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vrednosti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objekte</a:t>
            </a:r>
            <a:r>
              <a:rPr lang="en-US" dirty="0">
                <a:latin typeface="Consolas" panose="020B0609020204030204" pitchFamily="49" charset="0"/>
              </a:rPr>
              <a:t>) </a:t>
            </a:r>
            <a:r>
              <a:rPr lang="en-US" dirty="0" err="1">
                <a:latin typeface="Consolas" panose="020B0609020204030204" pitchFamily="49" charset="0"/>
              </a:rPr>
              <a:t>koje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mo</a:t>
            </a:r>
            <a:r>
              <a:rPr lang="sr-Latn-RS" dirty="0" err="1">
                <a:latin typeface="Consolas" panose="020B0609020204030204" pitchFamily="49" charset="0"/>
              </a:rPr>
              <a:t>žemo</a:t>
            </a:r>
            <a:r>
              <a:rPr lang="sr-Latn-RS" dirty="0">
                <a:latin typeface="Consolas" panose="020B0609020204030204" pitchFamily="49" charset="0"/>
              </a:rPr>
              <a:t> da prosleđujemo i vraćamo kao odgovor drugih funkcija.</a:t>
            </a:r>
            <a:endParaRPr lang="en-US" dirty="0">
              <a:latin typeface="Consolas" panose="020B0609020204030204" pitchFamily="49" charset="0"/>
            </a:endParaRPr>
          </a:p>
          <a:p>
            <a:endParaRPr lang="sr-Latn-RS" dirty="0">
              <a:latin typeface="Consolas" panose="020B0609020204030204" pitchFamily="49" charset="0"/>
            </a:endParaRPr>
          </a:p>
          <a:p>
            <a:r>
              <a:rPr lang="sr-Latn-RS" dirty="0">
                <a:latin typeface="Consolas" panose="020B0609020204030204" pitchFamily="49" charset="0"/>
              </a:rPr>
              <a:t>Kako su funkcije objekti i nad njima je moguće pozvati metode. (više o ovome u nastavku vežbi)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sr-Latn-R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300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301A99B-B8D5-123F-6A1D-5261CA0DA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/>
              <a:t>High-Order </a:t>
            </a:r>
            <a:r>
              <a:rPr lang="en-US" sz="2600" dirty="0" err="1"/>
              <a:t>funkcije</a:t>
            </a:r>
            <a:endParaRPr lang="en-US" sz="2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37367C-3795-1456-5CF9-30062E6B9A25}"/>
              </a:ext>
            </a:extLst>
          </p:cNvPr>
          <p:cNvSpPr txBox="1"/>
          <p:nvPr/>
        </p:nvSpPr>
        <p:spPr>
          <a:xfrm>
            <a:off x="1468919" y="1991980"/>
            <a:ext cx="96774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>
                <a:latin typeface="Consolas" panose="020B0609020204030204" pitchFamily="49" charset="0"/>
              </a:rPr>
              <a:t>Primer </a:t>
            </a:r>
            <a:r>
              <a:rPr lang="sr-Latn-RS" dirty="0" err="1">
                <a:latin typeface="Consolas" panose="020B0609020204030204" pitchFamily="49" charset="0"/>
              </a:rPr>
              <a:t>High</a:t>
            </a:r>
            <a:r>
              <a:rPr lang="en-US" dirty="0">
                <a:latin typeface="Consolas" panose="020B0609020204030204" pitchFamily="49" charset="0"/>
              </a:rPr>
              <a:t>-Order </a:t>
            </a:r>
            <a:r>
              <a:rPr lang="en-US" dirty="0" err="1">
                <a:latin typeface="Consolas" panose="020B0609020204030204" pitchFamily="49" charset="0"/>
              </a:rPr>
              <a:t>funkcije</a:t>
            </a:r>
            <a:r>
              <a:rPr lang="en-US" dirty="0">
                <a:latin typeface="Consolas" panose="020B0609020204030204" pitchFamily="49" charset="0"/>
              </a:rPr>
              <a:t>.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</a:rPr>
              <a:t>btn.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addEventListener</a:t>
            </a:r>
            <a:r>
              <a:rPr lang="en-US" dirty="0">
                <a:latin typeface="Consolas" panose="020B0609020204030204" pitchFamily="49" charset="0"/>
              </a:rPr>
              <a:t>(‘click’,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greet</a:t>
            </a:r>
            <a:r>
              <a:rPr lang="en-US" dirty="0">
                <a:latin typeface="Consolas" panose="020B0609020204030204" pitchFamily="49" charset="0"/>
              </a:rPr>
              <a:t>);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greet </a:t>
            </a:r>
            <a:r>
              <a:rPr lang="en-US" dirty="0" err="1">
                <a:latin typeface="Consolas" panose="020B0609020204030204" pitchFamily="49" charset="0"/>
              </a:rPr>
              <a:t>funkcija</a:t>
            </a:r>
            <a:r>
              <a:rPr lang="en-US" dirty="0">
                <a:latin typeface="Consolas" panose="020B0609020204030204" pitchFamily="49" charset="0"/>
              </a:rPr>
              <a:t> je </a:t>
            </a:r>
            <a:r>
              <a:rPr lang="en-US" dirty="0" err="1">
                <a:latin typeface="Consolas" panose="020B0609020204030204" pitchFamily="49" charset="0"/>
              </a:rPr>
              <a:t>prosle</a:t>
            </a:r>
            <a:r>
              <a:rPr lang="sr-Latn-RS" dirty="0" err="1">
                <a:latin typeface="Consolas" panose="020B0609020204030204" pitchFamily="49" charset="0"/>
              </a:rPr>
              <a:t>đena</a:t>
            </a:r>
            <a:r>
              <a:rPr lang="sr-Latn-RS" dirty="0">
                <a:latin typeface="Consolas" panose="020B0609020204030204" pitchFamily="49" charset="0"/>
              </a:rPr>
              <a:t> </a:t>
            </a:r>
            <a:r>
              <a:rPr lang="sr-Latn-RS" dirty="0" err="1">
                <a:latin typeface="Consolas" panose="020B0609020204030204" pitchFamily="49" charset="0"/>
              </a:rPr>
              <a:t>addEventListener</a:t>
            </a:r>
            <a:r>
              <a:rPr lang="sr-Latn-RS" dirty="0">
                <a:latin typeface="Consolas" panose="020B0609020204030204" pitchFamily="49" charset="0"/>
              </a:rPr>
              <a:t> funkciji kao parametar.</a:t>
            </a:r>
          </a:p>
          <a:p>
            <a:r>
              <a:rPr lang="sr-Latn-RS" dirty="0" err="1">
                <a:latin typeface="Consolas" panose="020B0609020204030204" pitchFamily="49" charset="0"/>
              </a:rPr>
              <a:t>greet</a:t>
            </a:r>
            <a:r>
              <a:rPr lang="sr-Latn-RS" dirty="0">
                <a:latin typeface="Consolas" panose="020B0609020204030204" pitchFamily="49" charset="0"/>
              </a:rPr>
              <a:t> se u ovom slučaju naziva </a:t>
            </a:r>
            <a:r>
              <a:rPr lang="sr-Latn-RS" dirty="0" err="1">
                <a:latin typeface="Consolas" panose="020B0609020204030204" pitchFamily="49" charset="0"/>
              </a:rPr>
              <a:t>Call</a:t>
            </a:r>
            <a:r>
              <a:rPr lang="en-US" dirty="0">
                <a:latin typeface="Consolas" panose="020B0609020204030204" pitchFamily="49" charset="0"/>
              </a:rPr>
              <a:t>b</a:t>
            </a:r>
            <a:r>
              <a:rPr lang="sr-Latn-RS" dirty="0" err="1">
                <a:latin typeface="Consolas" panose="020B0609020204030204" pitchFamily="49" charset="0"/>
              </a:rPr>
              <a:t>ack</a:t>
            </a:r>
            <a:r>
              <a:rPr lang="sr-Latn-RS" dirty="0">
                <a:latin typeface="Consolas" panose="020B0609020204030204" pitchFamily="49" charset="0"/>
              </a:rPr>
              <a:t> funkcija jer će naknadno biti pozvana kroz </a:t>
            </a:r>
            <a:r>
              <a:rPr lang="sr-Latn-RS" dirty="0" err="1">
                <a:latin typeface="Consolas" panose="020B0609020204030204" pitchFamily="49" charset="0"/>
              </a:rPr>
              <a:t>addEventListener</a:t>
            </a:r>
            <a:r>
              <a:rPr lang="sr-Latn-RS" dirty="0">
                <a:latin typeface="Consolas" panose="020B0609020204030204" pitchFamily="49" charset="0"/>
              </a:rPr>
              <a:t> funkciju.</a:t>
            </a:r>
          </a:p>
          <a:p>
            <a:endParaRPr lang="sr-Latn-R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sr-Latn-R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7056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75FEB11-D800-24CC-0F4E-B83C3298C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/>
              <a:t>Call, apply, bind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4F0DF9-D770-01BB-F201-24D273330E7A}"/>
              </a:ext>
            </a:extLst>
          </p:cNvPr>
          <p:cNvSpPr txBox="1"/>
          <p:nvPr/>
        </p:nvSpPr>
        <p:spPr>
          <a:xfrm>
            <a:off x="1468919" y="1991980"/>
            <a:ext cx="967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>
                <a:latin typeface="Consolas" panose="020B0609020204030204" pitchFamily="49" charset="0"/>
              </a:rPr>
              <a:t>Kako da prosledim </a:t>
            </a:r>
            <a:r>
              <a:rPr lang="en-US" dirty="0">
                <a:latin typeface="Consolas" panose="020B0609020204030204" pitchFamily="49" charset="0"/>
              </a:rPr>
              <a:t>“this” </a:t>
            </a:r>
            <a:r>
              <a:rPr lang="en-US" dirty="0" err="1">
                <a:latin typeface="Consolas" panose="020B0609020204030204" pitchFamily="49" charset="0"/>
              </a:rPr>
              <a:t>nekoj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funkciji</a:t>
            </a:r>
            <a:r>
              <a:rPr lang="en-US" dirty="0">
                <a:latin typeface="Consolas" panose="020B0609020204030204" pitchFamily="49" charset="0"/>
              </a:rPr>
              <a:t>?</a:t>
            </a:r>
          </a:p>
          <a:p>
            <a:r>
              <a:rPr lang="en-US" dirty="0">
                <a:latin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Pogledati</a:t>
            </a:r>
            <a:r>
              <a:rPr lang="en-US" dirty="0">
                <a:latin typeface="Consolas" panose="020B0609020204030204" pitchFamily="49" charset="0"/>
              </a:rPr>
              <a:t> primer …)</a:t>
            </a:r>
          </a:p>
          <a:p>
            <a:endParaRPr lang="sr-Latn-R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0581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DAD0316-9CBA-9EBF-3EF0-091D4AF50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 err="1"/>
              <a:t>Funkcije</a:t>
            </a:r>
            <a:r>
              <a:rPr lang="en-US" sz="2600" dirty="0"/>
              <a:t> </a:t>
            </a:r>
            <a:r>
              <a:rPr lang="en-US" sz="2600" dirty="0" err="1"/>
              <a:t>koje</a:t>
            </a:r>
            <a:r>
              <a:rPr lang="en-US" sz="2600" dirty="0"/>
              <a:t> se </a:t>
            </a:r>
            <a:r>
              <a:rPr lang="en-US" sz="2600" dirty="0" err="1"/>
              <a:t>izvr</a:t>
            </a:r>
            <a:r>
              <a:rPr lang="sr-Latn-RS" sz="2600" dirty="0" err="1"/>
              <a:t>šavaju</a:t>
            </a:r>
            <a:r>
              <a:rPr lang="sr-Latn-RS" sz="2600" dirty="0"/>
              <a:t> samo jednom</a:t>
            </a:r>
            <a:endParaRPr lang="en-US" sz="2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E22B3D-92F3-22AD-8D66-BFC649B050A7}"/>
              </a:ext>
            </a:extLst>
          </p:cNvPr>
          <p:cNvSpPr txBox="1"/>
          <p:nvPr/>
        </p:nvSpPr>
        <p:spPr>
          <a:xfrm>
            <a:off x="1251204" y="2077533"/>
            <a:ext cx="967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/>
              <a:t>(</a:t>
            </a:r>
            <a:r>
              <a:rPr lang="sr-Latn-RS" dirty="0" err="1"/>
              <a:t>function</a:t>
            </a:r>
            <a:r>
              <a:rPr lang="sr-Latn-RS" dirty="0"/>
              <a:t> () </a:t>
            </a:r>
            <a:r>
              <a:rPr lang="en-US" dirty="0"/>
              <a:t>{</a:t>
            </a:r>
          </a:p>
          <a:p>
            <a:r>
              <a:rPr lang="en-US" dirty="0"/>
              <a:t>    console.log(“run once”);</a:t>
            </a:r>
          </a:p>
          <a:p>
            <a:r>
              <a:rPr lang="en-US" dirty="0"/>
              <a:t>  }</a:t>
            </a:r>
            <a:endParaRPr lang="sr-Latn-RS" dirty="0"/>
          </a:p>
          <a:p>
            <a:r>
              <a:rPr lang="sr-Latn-RS" dirty="0"/>
              <a:t>)</a:t>
            </a:r>
            <a:r>
              <a:rPr lang="en-US"/>
              <a:t> ();</a:t>
            </a:r>
            <a:endParaRPr lang="sr-Latn-R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141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860154F-E17F-B940-3229-20CFF46B9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/>
              <a:t>Closure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F35268-2F39-94FA-1EF8-58E5CD78F622}"/>
              </a:ext>
            </a:extLst>
          </p:cNvPr>
          <p:cNvSpPr txBox="1"/>
          <p:nvPr/>
        </p:nvSpPr>
        <p:spPr>
          <a:xfrm>
            <a:off x="1468919" y="1991980"/>
            <a:ext cx="96774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const </a:t>
            </a:r>
            <a:r>
              <a:rPr lang="en-US" dirty="0" err="1"/>
              <a:t>secureBooking</a:t>
            </a:r>
            <a:r>
              <a:rPr lang="en-US" dirty="0"/>
              <a:t> = function () {</a:t>
            </a:r>
          </a:p>
          <a:p>
            <a:r>
              <a:rPr lang="en-US" dirty="0"/>
              <a:t>    let </a:t>
            </a:r>
            <a:r>
              <a:rPr lang="en-US" dirty="0" err="1"/>
              <a:t>passengerCount</a:t>
            </a:r>
            <a:r>
              <a:rPr lang="en-US" dirty="0"/>
              <a:t> = 0</a:t>
            </a:r>
          </a:p>
          <a:p>
            <a:endParaRPr lang="en-US" dirty="0"/>
          </a:p>
          <a:p>
            <a:r>
              <a:rPr lang="en-US" dirty="0"/>
              <a:t>    return function () {</a:t>
            </a:r>
          </a:p>
          <a:p>
            <a:r>
              <a:rPr lang="en-US" dirty="0"/>
              <a:t>        </a:t>
            </a:r>
            <a:r>
              <a:rPr lang="en-US" dirty="0" err="1"/>
              <a:t>passengerCount</a:t>
            </a:r>
            <a:r>
              <a:rPr lang="en-US" dirty="0"/>
              <a:t>++;</a:t>
            </a:r>
          </a:p>
          <a:p>
            <a:r>
              <a:rPr lang="en-US" dirty="0"/>
              <a:t>        console.log(</a:t>
            </a:r>
            <a:br>
              <a:rPr lang="en-US" dirty="0"/>
            </a:br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sr-Latn-RS" dirty="0"/>
              <a:t>Karakteristika funkcije da zapamti stanje na njenom nastanku.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Bilo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funkcija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pristup</a:t>
            </a:r>
            <a:r>
              <a:rPr lang="en-US" dirty="0"/>
              <a:t> </a:t>
            </a:r>
            <a:r>
              <a:rPr lang="en-US" dirty="0" err="1"/>
              <a:t>svim</a:t>
            </a:r>
            <a:r>
              <a:rPr lang="en-US" dirty="0"/>
              <a:t> </a:t>
            </a:r>
            <a:r>
              <a:rPr lang="en-US" dirty="0" err="1"/>
              <a:t>varijablama</a:t>
            </a:r>
            <a:r>
              <a:rPr lang="en-US" dirty="0"/>
              <a:t> u </a:t>
            </a:r>
            <a:r>
              <a:rPr lang="en-US" dirty="0" err="1"/>
              <a:t>kontekstu</a:t>
            </a:r>
            <a:r>
              <a:rPr lang="en-US" dirty="0"/>
              <a:t> u </a:t>
            </a:r>
            <a:r>
              <a:rPr lang="en-US" dirty="0" err="1"/>
              <a:t>kom</a:t>
            </a:r>
            <a:r>
              <a:rPr lang="en-US" dirty="0"/>
              <a:t> je </a:t>
            </a:r>
            <a:r>
              <a:rPr lang="en-US" dirty="0" err="1"/>
              <a:t>nastala</a:t>
            </a:r>
            <a:r>
              <a:rPr lang="en-US" dirty="0"/>
              <a:t> </a:t>
            </a:r>
            <a:r>
              <a:rPr lang="sr-Latn-RS" dirty="0"/>
              <a:t>čak i kada taj kontekst </a:t>
            </a:r>
            <a:r>
              <a:rPr lang="en-US" dirty="0"/>
              <a:t>“</a:t>
            </a:r>
            <a:r>
              <a:rPr lang="en-US" dirty="0" err="1"/>
              <a:t>nestane</a:t>
            </a:r>
            <a:r>
              <a:rPr lang="en-US" dirty="0"/>
              <a:t>”.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9808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7121AFF-BF4A-A1C1-6DC2-7F3D83D44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 err="1"/>
              <a:t>Destrukturiranje</a:t>
            </a:r>
            <a:r>
              <a:rPr lang="en-US" sz="2600" dirty="0"/>
              <a:t> </a:t>
            </a:r>
            <a:r>
              <a:rPr lang="en-US" sz="2600" dirty="0" err="1"/>
              <a:t>nizova</a:t>
            </a:r>
            <a:endParaRPr lang="en-US" sz="2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91ABE4-0264-38BD-A9E1-3604862A8FD1}"/>
              </a:ext>
            </a:extLst>
          </p:cNvPr>
          <p:cNvSpPr txBox="1"/>
          <p:nvPr/>
        </p:nvSpPr>
        <p:spPr>
          <a:xfrm>
            <a:off x="1149844" y="2097097"/>
            <a:ext cx="968059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const </a:t>
            </a:r>
            <a:r>
              <a:rPr lang="en-US" dirty="0" err="1">
                <a:latin typeface="Consolas" panose="020B0609020204030204" pitchFamily="49" charset="0"/>
              </a:rPr>
              <a:t>niz</a:t>
            </a:r>
            <a:r>
              <a:rPr lang="en-US" dirty="0">
                <a:latin typeface="Consolas" panose="020B0609020204030204" pitchFamily="49" charset="0"/>
              </a:rPr>
              <a:t> = [5, 6, 7];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const [x, y, z] = </a:t>
            </a:r>
            <a:r>
              <a:rPr lang="en-US" dirty="0" err="1">
                <a:latin typeface="Consolas" panose="020B0609020204030204" pitchFamily="49" charset="0"/>
              </a:rPr>
              <a:t>niz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sr-Latn-RS" dirty="0">
                <a:latin typeface="Consolas" panose="020B0609020204030204" pitchFamily="49" charset="0"/>
              </a:rPr>
              <a:t>Šta ako hoću samo prvi i </a:t>
            </a:r>
            <a:r>
              <a:rPr lang="en-US" dirty="0" err="1">
                <a:latin typeface="Consolas" panose="020B0609020204030204" pitchFamily="49" charset="0"/>
              </a:rPr>
              <a:t>tre</a:t>
            </a:r>
            <a:r>
              <a:rPr lang="sr-Latn-RS" dirty="0" err="1">
                <a:latin typeface="Consolas" panose="020B0609020204030204" pitchFamily="49" charset="0"/>
              </a:rPr>
              <a:t>ći</a:t>
            </a:r>
            <a:r>
              <a:rPr lang="en-US" dirty="0">
                <a:latin typeface="Consolas" panose="020B0609020204030204" pitchFamily="49" charset="0"/>
              </a:rPr>
              <a:t>?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const [x, , z] = </a:t>
            </a:r>
            <a:r>
              <a:rPr lang="sr-Latn-RS" dirty="0">
                <a:latin typeface="Consolas" panose="020B0609020204030204" pitchFamily="49" charset="0"/>
              </a:rPr>
              <a:t>niz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sr-Latn-RS" dirty="0">
                <a:latin typeface="Consolas" panose="020B0609020204030204" pitchFamily="49" charset="0"/>
              </a:rPr>
              <a:t>Šta nam ovo omogućava</a:t>
            </a:r>
            <a:r>
              <a:rPr lang="en-US" dirty="0">
                <a:latin typeface="Consolas" panose="020B0609020204030204" pitchFamily="49" charset="0"/>
              </a:rPr>
              <a:t>?</a:t>
            </a:r>
            <a:r>
              <a:rPr lang="sr-Latn-RS" dirty="0">
                <a:latin typeface="Consolas" panose="020B0609020204030204" pitchFamily="49" charset="0"/>
              </a:rPr>
              <a:t> (vraćanje više vrednosti iz jedne funkcije!)</a:t>
            </a:r>
            <a:endParaRPr lang="en-US" dirty="0">
              <a:latin typeface="Consolas" panose="020B06090202040302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8472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AC59923-B917-4793-617B-75731A4FC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 err="1"/>
              <a:t>Destrukturiranje</a:t>
            </a:r>
            <a:r>
              <a:rPr lang="en-US" sz="2600" dirty="0"/>
              <a:t> </a:t>
            </a:r>
            <a:r>
              <a:rPr lang="en-US" sz="2600" dirty="0" err="1"/>
              <a:t>objekata</a:t>
            </a:r>
            <a:endParaRPr lang="en-US" sz="2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7D05E1-D12A-3F4E-08B5-A32C91BBC604}"/>
              </a:ext>
            </a:extLst>
          </p:cNvPr>
          <p:cNvSpPr txBox="1"/>
          <p:nvPr/>
        </p:nvSpPr>
        <p:spPr>
          <a:xfrm>
            <a:off x="1149844" y="2097097"/>
            <a:ext cx="968059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const me = {</a:t>
            </a:r>
          </a:p>
          <a:p>
            <a:r>
              <a:rPr lang="en-US" dirty="0"/>
              <a:t>    name: “Luka”,</a:t>
            </a:r>
          </a:p>
          <a:p>
            <a:r>
              <a:rPr lang="en-US" dirty="0"/>
              <a:t>    year: 1998,</a:t>
            </a:r>
          </a:p>
          <a:p>
            <a:r>
              <a:rPr lang="en-US" dirty="0"/>
              <a:t>    friends: friends,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const {name, friends} = me; (friends = [] – za default </a:t>
            </a:r>
            <a:r>
              <a:rPr lang="en-US" dirty="0" err="1"/>
              <a:t>vrednost</a:t>
            </a:r>
            <a:r>
              <a:rPr lang="en-US" dirty="0"/>
              <a:t> </a:t>
            </a:r>
            <a:r>
              <a:rPr lang="en-US" dirty="0" err="1"/>
              <a:t>ukoliko</a:t>
            </a:r>
            <a:r>
              <a:rPr lang="en-US" dirty="0"/>
              <a:t> ne </a:t>
            </a:r>
            <a:r>
              <a:rPr lang="en-US" dirty="0" err="1"/>
              <a:t>postoji</a:t>
            </a:r>
            <a:r>
              <a:rPr lang="en-US" dirty="0"/>
              <a:t> u </a:t>
            </a:r>
            <a:r>
              <a:rPr lang="en-US" dirty="0" err="1"/>
              <a:t>okviru</a:t>
            </a:r>
            <a:r>
              <a:rPr lang="en-US" dirty="0"/>
              <a:t> </a:t>
            </a:r>
            <a:r>
              <a:rPr lang="en-US" dirty="0" err="1"/>
              <a:t>objekta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const {name: </a:t>
            </a:r>
            <a:r>
              <a:rPr lang="en-US" dirty="0" err="1"/>
              <a:t>firstName</a:t>
            </a:r>
            <a:r>
              <a:rPr lang="en-US" dirty="0"/>
              <a:t>} = me; - </a:t>
            </a:r>
            <a:r>
              <a:rPr lang="en-US" dirty="0" err="1"/>
              <a:t>nazivanje</a:t>
            </a:r>
            <a:r>
              <a:rPr lang="en-US" dirty="0"/>
              <a:t> </a:t>
            </a:r>
            <a:r>
              <a:rPr lang="en-US" dirty="0" err="1"/>
              <a:t>parametara</a:t>
            </a:r>
            <a:r>
              <a:rPr lang="en-US" dirty="0"/>
              <a:t> </a:t>
            </a:r>
            <a:r>
              <a:rPr lang="en-US" dirty="0" err="1"/>
              <a:t>druga</a:t>
            </a:r>
            <a:r>
              <a:rPr lang="sr-Latn-RS" dirty="0"/>
              <a:t>čije od originala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4251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90BEB42-2B2D-8779-B5FB-06C7A8EC2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/>
              <a:t>Spread operator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277210-082D-009A-AF91-109DD07F92E8}"/>
              </a:ext>
            </a:extLst>
          </p:cNvPr>
          <p:cNvSpPr txBox="1"/>
          <p:nvPr/>
        </p:nvSpPr>
        <p:spPr>
          <a:xfrm>
            <a:off x="1149844" y="2097097"/>
            <a:ext cx="968059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const </a:t>
            </a:r>
            <a:r>
              <a:rPr lang="en-US" dirty="0" err="1"/>
              <a:t>arr</a:t>
            </a:r>
            <a:r>
              <a:rPr lang="en-US" dirty="0"/>
              <a:t> = [0, 1, 2];</a:t>
            </a:r>
          </a:p>
          <a:p>
            <a:endParaRPr lang="en-US" dirty="0"/>
          </a:p>
          <a:p>
            <a:r>
              <a:rPr lang="en-US" dirty="0"/>
              <a:t>const </a:t>
            </a:r>
            <a:r>
              <a:rPr lang="en-US" dirty="0" err="1"/>
              <a:t>badNewArr</a:t>
            </a:r>
            <a:r>
              <a:rPr lang="en-US" dirty="0"/>
              <a:t> = [1, 2, </a:t>
            </a:r>
            <a:r>
              <a:rPr lang="en-US" dirty="0" err="1"/>
              <a:t>arr</a:t>
            </a:r>
            <a:r>
              <a:rPr lang="en-US" dirty="0"/>
              <a:t>[0], </a:t>
            </a:r>
            <a:r>
              <a:rPr lang="en-US" dirty="0" err="1"/>
              <a:t>arr</a:t>
            </a:r>
            <a:r>
              <a:rPr lang="en-US" dirty="0"/>
              <a:t>[1], </a:t>
            </a:r>
            <a:r>
              <a:rPr lang="en-US" dirty="0" err="1"/>
              <a:t>arr</a:t>
            </a:r>
            <a:r>
              <a:rPr lang="en-US" dirty="0"/>
              <a:t>[2]];</a:t>
            </a:r>
          </a:p>
          <a:p>
            <a:endParaRPr lang="en-US" dirty="0"/>
          </a:p>
          <a:p>
            <a:r>
              <a:rPr lang="en-US" dirty="0"/>
              <a:t>const </a:t>
            </a:r>
            <a:r>
              <a:rPr lang="en-US" dirty="0" err="1"/>
              <a:t>newArr</a:t>
            </a:r>
            <a:r>
              <a:rPr lang="en-US" dirty="0"/>
              <a:t> = [1, 2, …</a:t>
            </a:r>
            <a:r>
              <a:rPr lang="en-US" dirty="0" err="1"/>
              <a:t>arr</a:t>
            </a:r>
            <a:r>
              <a:rPr lang="en-US" dirty="0"/>
              <a:t>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8898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0F77FE2-0ED6-80AD-7C83-69D59C1B8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/>
              <a:t>Rest pattern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8D51FE-0375-DBC5-EE30-70DCAA61680D}"/>
              </a:ext>
            </a:extLst>
          </p:cNvPr>
          <p:cNvSpPr txBox="1"/>
          <p:nvPr/>
        </p:nvSpPr>
        <p:spPr>
          <a:xfrm>
            <a:off x="1249607" y="2057341"/>
            <a:ext cx="96805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const </a:t>
            </a:r>
            <a:r>
              <a:rPr lang="en-US" dirty="0" err="1"/>
              <a:t>arr</a:t>
            </a:r>
            <a:r>
              <a:rPr lang="en-US" dirty="0"/>
              <a:t> = [1, 2, …[3, 4]] - </a:t>
            </a:r>
            <a:r>
              <a:rPr lang="en-US" dirty="0" err="1"/>
              <a:t>destrukturiranje</a:t>
            </a:r>
            <a:endParaRPr lang="en-US" dirty="0"/>
          </a:p>
          <a:p>
            <a:endParaRPr lang="en-US" dirty="0"/>
          </a:p>
          <a:p>
            <a:r>
              <a:rPr lang="en-US" dirty="0"/>
              <a:t>const [a, b, …others] = [1, 2, 3, 4, 5] – </a:t>
            </a:r>
            <a:r>
              <a:rPr lang="en-US" dirty="0" err="1"/>
              <a:t>prikupi</a:t>
            </a:r>
            <a:r>
              <a:rPr lang="en-US" dirty="0"/>
              <a:t> </a:t>
            </a:r>
            <a:r>
              <a:rPr lang="en-US" dirty="0" err="1"/>
              <a:t>elementi</a:t>
            </a:r>
            <a:r>
              <a:rPr lang="en-US" dirty="0"/>
              <a:t> koji </a:t>
            </a:r>
            <a:r>
              <a:rPr lang="en-US" dirty="0" err="1"/>
              <a:t>nisu</a:t>
            </a:r>
            <a:r>
              <a:rPr lang="en-US" dirty="0"/>
              <a:t> </a:t>
            </a:r>
            <a:r>
              <a:rPr lang="en-US" dirty="0" err="1"/>
              <a:t>iskori</a:t>
            </a:r>
            <a:r>
              <a:rPr lang="sr-Latn-RS" dirty="0"/>
              <a:t>šćeni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F8C8040-C7D6-543B-9549-DE1ADDEB9F3D}"/>
              </a:ext>
            </a:extLst>
          </p:cNvPr>
          <p:cNvSpPr txBox="1">
            <a:spLocks/>
          </p:cNvSpPr>
          <p:nvPr/>
        </p:nvSpPr>
        <p:spPr>
          <a:xfrm>
            <a:off x="1517904" y="3432261"/>
            <a:ext cx="9144000" cy="8106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42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/>
              <a:t>Rest pattern</a:t>
            </a:r>
            <a:r>
              <a:rPr lang="sr-Latn-RS" sz="2600" dirty="0"/>
              <a:t> </a:t>
            </a:r>
            <a:r>
              <a:rPr lang="en-US" sz="2600" dirty="0"/>
              <a:t>– </a:t>
            </a:r>
            <a:r>
              <a:rPr lang="en-US" sz="2600" dirty="0" err="1"/>
              <a:t>funkcije</a:t>
            </a:r>
            <a:endParaRPr lang="en-US" sz="2600" dirty="0"/>
          </a:p>
          <a:p>
            <a:endParaRPr lang="en-US" sz="2600" dirty="0"/>
          </a:p>
          <a:p>
            <a:endParaRPr lang="en-US" sz="2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FFA674-C15D-2764-C508-88434942D7B6}"/>
              </a:ext>
            </a:extLst>
          </p:cNvPr>
          <p:cNvSpPr txBox="1"/>
          <p:nvPr/>
        </p:nvSpPr>
        <p:spPr>
          <a:xfrm>
            <a:off x="1249607" y="4148147"/>
            <a:ext cx="968059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const add = function(…numbers) {</a:t>
            </a:r>
          </a:p>
          <a:p>
            <a:r>
              <a:rPr lang="en-US" dirty="0"/>
              <a:t>    sum = 0;</a:t>
            </a:r>
          </a:p>
          <a:p>
            <a:r>
              <a:rPr lang="en-US" dirty="0"/>
              <a:t>    for () {…}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add(2, 3);</a:t>
            </a:r>
          </a:p>
          <a:p>
            <a:r>
              <a:rPr lang="en-US" dirty="0"/>
              <a:t>add(4, 5, 6, 7);</a:t>
            </a:r>
          </a:p>
          <a:p>
            <a:r>
              <a:rPr lang="en-US" dirty="0"/>
              <a:t>add(5)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47037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ACF5E62-82FB-4425-B3F9-B6BA38B21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/>
              <a:t>Short circuiting (AND OR)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7C8D7E-BD13-C349-6973-49D453C790CD}"/>
              </a:ext>
            </a:extLst>
          </p:cNvPr>
          <p:cNvSpPr txBox="1"/>
          <p:nvPr/>
        </p:nvSpPr>
        <p:spPr>
          <a:xfrm>
            <a:off x="1149844" y="2097097"/>
            <a:ext cx="968059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console.log(3 || ‘</a:t>
            </a:r>
            <a:r>
              <a:rPr lang="en-US" dirty="0" err="1"/>
              <a:t>NekoIme</a:t>
            </a:r>
            <a:r>
              <a:rPr lang="en-US" dirty="0"/>
              <a:t>’)</a:t>
            </a:r>
          </a:p>
          <a:p>
            <a:r>
              <a:rPr lang="en-US" dirty="0"/>
              <a:t>console.log(‘’ || ‘</a:t>
            </a:r>
            <a:r>
              <a:rPr lang="en-US" dirty="0" err="1"/>
              <a:t>NekoIme</a:t>
            </a:r>
            <a:r>
              <a:rPr lang="en-US" dirty="0"/>
              <a:t>’)</a:t>
            </a:r>
          </a:p>
          <a:p>
            <a:r>
              <a:rPr lang="en-US" dirty="0"/>
              <a:t>console.log(true || 0)</a:t>
            </a:r>
          </a:p>
          <a:p>
            <a:r>
              <a:rPr lang="en-US" dirty="0"/>
              <a:t>console.log(undefined || null)</a:t>
            </a:r>
          </a:p>
          <a:p>
            <a:endParaRPr lang="en-US" dirty="0"/>
          </a:p>
          <a:p>
            <a:r>
              <a:rPr lang="sr-Latn-RS" dirty="0"/>
              <a:t>Šta će biti ispisano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/>
              <a:t>OR – </a:t>
            </a:r>
            <a:r>
              <a:rPr lang="en-US" dirty="0" err="1"/>
              <a:t>vra</a:t>
            </a:r>
            <a:r>
              <a:rPr lang="sr-Latn-RS" dirty="0" err="1"/>
              <a:t>ća</a:t>
            </a:r>
            <a:r>
              <a:rPr lang="sr-Latn-RS" dirty="0"/>
              <a:t> prvu </a:t>
            </a:r>
            <a:r>
              <a:rPr lang="sr-Latn-RS" dirty="0" err="1"/>
              <a:t>truthy</a:t>
            </a:r>
            <a:r>
              <a:rPr lang="sr-Latn-RS" dirty="0"/>
              <a:t> vrednost (ili poslednju ukoliko su sve </a:t>
            </a:r>
            <a:r>
              <a:rPr lang="sr-Latn-RS" dirty="0" err="1"/>
              <a:t>falsy</a:t>
            </a:r>
            <a:r>
              <a:rPr lang="sr-Latn-RS" dirty="0"/>
              <a:t>)</a:t>
            </a:r>
          </a:p>
          <a:p>
            <a:r>
              <a:rPr lang="sr-Latn-RS" dirty="0"/>
              <a:t>AND </a:t>
            </a:r>
            <a:r>
              <a:rPr lang="en-US" dirty="0"/>
              <a:t>– </a:t>
            </a:r>
            <a:r>
              <a:rPr lang="en-US" dirty="0" err="1"/>
              <a:t>vra</a:t>
            </a:r>
            <a:r>
              <a:rPr lang="sr-Latn-RS" dirty="0" err="1"/>
              <a:t>ća</a:t>
            </a:r>
            <a:r>
              <a:rPr lang="sr-Latn-RS" dirty="0"/>
              <a:t> prvu </a:t>
            </a:r>
            <a:r>
              <a:rPr lang="sr-Latn-RS" dirty="0" err="1"/>
              <a:t>falsy</a:t>
            </a:r>
            <a:r>
              <a:rPr lang="sr-Latn-RS" dirty="0"/>
              <a:t> vrednost (ili poslednju ukoliko su sve </a:t>
            </a:r>
            <a:r>
              <a:rPr lang="sr-Latn-RS" dirty="0" err="1"/>
              <a:t>truthy</a:t>
            </a:r>
            <a:r>
              <a:rPr lang="sr-Latn-RS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7599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962D42F-8EBC-8B39-31E2-02AFE0603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 err="1"/>
              <a:t>Nullish</a:t>
            </a:r>
            <a:r>
              <a:rPr lang="en-US" sz="2600" dirty="0"/>
              <a:t> Coalescing Operator (ES2020)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2362F4-4153-DF69-5E22-818C9501BBFC}"/>
              </a:ext>
            </a:extLst>
          </p:cNvPr>
          <p:cNvSpPr txBox="1"/>
          <p:nvPr/>
        </p:nvSpPr>
        <p:spPr>
          <a:xfrm>
            <a:off x="1149844" y="2097097"/>
            <a:ext cx="968059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Nullish</a:t>
            </a:r>
            <a:r>
              <a:rPr lang="en-US" dirty="0"/>
              <a:t> </a:t>
            </a:r>
            <a:r>
              <a:rPr lang="en-US" dirty="0" err="1"/>
              <a:t>vrednosti</a:t>
            </a:r>
            <a:r>
              <a:rPr lang="en-US" dirty="0"/>
              <a:t> – null </a:t>
            </a:r>
            <a:r>
              <a:rPr lang="en-US" dirty="0" err="1"/>
              <a:t>i</a:t>
            </a:r>
            <a:r>
              <a:rPr lang="en-US" dirty="0"/>
              <a:t> undefined (NEMA 0 </a:t>
            </a:r>
            <a:r>
              <a:rPr lang="en-US" dirty="0" err="1"/>
              <a:t>i</a:t>
            </a:r>
            <a:r>
              <a:rPr lang="en-US" dirty="0"/>
              <a:t> “”)</a:t>
            </a:r>
          </a:p>
          <a:p>
            <a:endParaRPr lang="en-US" dirty="0"/>
          </a:p>
          <a:p>
            <a:r>
              <a:rPr lang="en-US" dirty="0"/>
              <a:t>const guests = </a:t>
            </a:r>
            <a:r>
              <a:rPr lang="en-US" dirty="0" err="1"/>
              <a:t>restaurant.guests</a:t>
            </a:r>
            <a:r>
              <a:rPr lang="en-US" dirty="0"/>
              <a:t> ?? 5;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5046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5989BDB-5EFA-B067-6B6A-D3A58FE15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/>
              <a:t>Logical assignment operators (ES2021)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F7959C-38B6-957E-0AA9-9505C1B9FA84}"/>
              </a:ext>
            </a:extLst>
          </p:cNvPr>
          <p:cNvSpPr txBox="1"/>
          <p:nvPr/>
        </p:nvSpPr>
        <p:spPr>
          <a:xfrm>
            <a:off x="1149844" y="2097097"/>
            <a:ext cx="968059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rest.guests</a:t>
            </a:r>
            <a:r>
              <a:rPr lang="en-US" dirty="0"/>
              <a:t> = </a:t>
            </a:r>
            <a:r>
              <a:rPr lang="en-US" dirty="0" err="1"/>
              <a:t>rest.guests</a:t>
            </a:r>
            <a:r>
              <a:rPr lang="en-US" dirty="0"/>
              <a:t> || 10;</a:t>
            </a:r>
          </a:p>
          <a:p>
            <a:endParaRPr lang="en-US" dirty="0"/>
          </a:p>
          <a:p>
            <a:r>
              <a:rPr lang="en-US" dirty="0" err="1"/>
              <a:t>rest.guests</a:t>
            </a:r>
            <a:r>
              <a:rPr lang="en-US" dirty="0"/>
              <a:t> ||= </a:t>
            </a:r>
            <a:r>
              <a:rPr lang="en-US" dirty="0" err="1"/>
              <a:t>rest.guests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 err="1"/>
              <a:t>rest.guests</a:t>
            </a:r>
            <a:r>
              <a:rPr lang="en-US" dirty="0"/>
              <a:t> ??= </a:t>
            </a:r>
            <a:r>
              <a:rPr lang="en-US" dirty="0" err="1"/>
              <a:t>rest.guests</a:t>
            </a:r>
            <a:r>
              <a:rPr lang="en-US" dirty="0"/>
              <a:t>;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6708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CCF9C64-0898-F863-FB93-D80A59105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/>
              <a:t>For-of loop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67B468-A971-9BF6-DB94-C160ED62158A}"/>
              </a:ext>
            </a:extLst>
          </p:cNvPr>
          <p:cNvSpPr txBox="1"/>
          <p:nvPr/>
        </p:nvSpPr>
        <p:spPr>
          <a:xfrm>
            <a:off x="1422894" y="2003699"/>
            <a:ext cx="96805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for (const item of menu) {</a:t>
            </a:r>
          </a:p>
          <a:p>
            <a:r>
              <a:rPr lang="en-US" dirty="0"/>
              <a:t>    console.log(item)</a:t>
            </a:r>
          </a:p>
          <a:p>
            <a:r>
              <a:rPr lang="en-US" dirty="0"/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7081CF-5D17-5966-D411-CD8F6084CD0B}"/>
              </a:ext>
            </a:extLst>
          </p:cNvPr>
          <p:cNvSpPr txBox="1"/>
          <p:nvPr/>
        </p:nvSpPr>
        <p:spPr>
          <a:xfrm>
            <a:off x="1422894" y="3273699"/>
            <a:ext cx="96805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for (const item of </a:t>
            </a:r>
            <a:r>
              <a:rPr lang="en-US" dirty="0" err="1"/>
              <a:t>menu.entries</a:t>
            </a:r>
            <a:r>
              <a:rPr lang="en-US" dirty="0"/>
              <a:t>()) { // </a:t>
            </a:r>
            <a:r>
              <a:rPr lang="en-US" dirty="0" err="1"/>
              <a:t>Kako</a:t>
            </a:r>
            <a:r>
              <a:rPr lang="en-US" dirty="0"/>
              <a:t> </a:t>
            </a:r>
            <a:r>
              <a:rPr lang="en-US" dirty="0" err="1"/>
              <a:t>ovo</a:t>
            </a:r>
            <a:r>
              <a:rPr lang="en-US" dirty="0"/>
              <a:t> da </a:t>
            </a:r>
            <a:r>
              <a:rPr lang="en-US" dirty="0" err="1"/>
              <a:t>pojednostavimo</a:t>
            </a:r>
            <a:r>
              <a:rPr lang="en-US" dirty="0"/>
              <a:t>? [</a:t>
            </a:r>
            <a:r>
              <a:rPr lang="en-US" dirty="0" err="1"/>
              <a:t>i</a:t>
            </a:r>
            <a:r>
              <a:rPr lang="en-US" dirty="0"/>
              <a:t>, </a:t>
            </a:r>
            <a:r>
              <a:rPr lang="en-US" dirty="0" err="1"/>
              <a:t>el</a:t>
            </a:r>
            <a:r>
              <a:rPr lang="en-US" dirty="0"/>
              <a:t>]</a:t>
            </a:r>
          </a:p>
          <a:p>
            <a:r>
              <a:rPr lang="en-US" dirty="0"/>
              <a:t>    console.log(item)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402022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A111FF1-EDDE-3270-2E0E-53C4F789E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 err="1"/>
              <a:t>Iteriranje</a:t>
            </a:r>
            <a:r>
              <a:rPr lang="en-US" sz="2600" dirty="0"/>
              <a:t> po </a:t>
            </a:r>
            <a:r>
              <a:rPr lang="en-US" sz="2600" dirty="0" err="1"/>
              <a:t>objektu</a:t>
            </a:r>
            <a:endParaRPr lang="en-US" sz="2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679123-885B-2AC7-BC47-904D4728FE8F}"/>
              </a:ext>
            </a:extLst>
          </p:cNvPr>
          <p:cNvSpPr txBox="1"/>
          <p:nvPr/>
        </p:nvSpPr>
        <p:spPr>
          <a:xfrm>
            <a:off x="1422894" y="2003699"/>
            <a:ext cx="968059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for (const </a:t>
            </a:r>
            <a:r>
              <a:rPr lang="en-US" dirty="0" err="1"/>
              <a:t>restaurantItem</a:t>
            </a:r>
            <a:r>
              <a:rPr lang="en-US" dirty="0"/>
              <a:t> of </a:t>
            </a:r>
            <a:r>
              <a:rPr lang="en-US" dirty="0" err="1"/>
              <a:t>Object.keys</a:t>
            </a:r>
            <a:r>
              <a:rPr lang="en-US" dirty="0"/>
              <a:t>(restaurant)) {</a:t>
            </a:r>
          </a:p>
          <a:p>
            <a:r>
              <a:rPr lang="en-US" dirty="0"/>
              <a:t>    console.log(</a:t>
            </a:r>
            <a:r>
              <a:rPr lang="en-US" dirty="0" err="1"/>
              <a:t>restaurantItem</a:t>
            </a:r>
            <a:r>
              <a:rPr lang="en-US" dirty="0"/>
              <a:t>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for (const day of </a:t>
            </a:r>
            <a:r>
              <a:rPr lang="en-US" dirty="0" err="1"/>
              <a:t>Object.values</a:t>
            </a:r>
            <a:r>
              <a:rPr lang="en-US" dirty="0"/>
              <a:t>(restaurant)) {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for (const day of </a:t>
            </a:r>
            <a:r>
              <a:rPr lang="en-US" dirty="0" err="1"/>
              <a:t>Object.entries</a:t>
            </a:r>
            <a:r>
              <a:rPr lang="en-US" dirty="0"/>
              <a:t>(restaurant)) {</a:t>
            </a:r>
            <a:br>
              <a:rPr lang="en-US" dirty="0"/>
            </a:b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045822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87FE54E-7F58-43B4-D368-0C57534F0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 err="1"/>
              <a:t>Setovi</a:t>
            </a:r>
            <a:endParaRPr lang="en-US" sz="2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4AF7D8-A95C-FBF5-CF49-07A4F50061ED}"/>
              </a:ext>
            </a:extLst>
          </p:cNvPr>
          <p:cNvSpPr txBox="1"/>
          <p:nvPr/>
        </p:nvSpPr>
        <p:spPr>
          <a:xfrm>
            <a:off x="1422894" y="2003699"/>
            <a:ext cx="968059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Kolekcija</a:t>
            </a:r>
            <a:r>
              <a:rPr lang="en-US" dirty="0"/>
              <a:t> unique </a:t>
            </a:r>
            <a:r>
              <a:rPr lang="en-US" dirty="0" err="1"/>
              <a:t>elemenata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const set = new Set([“Pasta”, “Pizza”,”</a:t>
            </a:r>
            <a:r>
              <a:rPr lang="en-US" dirty="0" err="1"/>
              <a:t>Piletina</a:t>
            </a:r>
            <a:r>
              <a:rPr lang="en-US" dirty="0"/>
              <a:t>”]);</a:t>
            </a:r>
          </a:p>
          <a:p>
            <a:r>
              <a:rPr lang="sr-Latn-RS" dirty="0"/>
              <a:t>Šta će biti ispis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/>
              <a:t>console.log(new Set(‘Luka’));</a:t>
            </a:r>
          </a:p>
          <a:p>
            <a:endParaRPr lang="en-US" dirty="0"/>
          </a:p>
          <a:p>
            <a:r>
              <a:rPr lang="en-US" dirty="0" err="1"/>
              <a:t>set.size</a:t>
            </a:r>
            <a:r>
              <a:rPr lang="en-US" dirty="0"/>
              <a:t>;</a:t>
            </a:r>
          </a:p>
          <a:p>
            <a:r>
              <a:rPr lang="en-US" dirty="0" err="1"/>
              <a:t>set.has</a:t>
            </a:r>
            <a:r>
              <a:rPr lang="en-US" dirty="0"/>
              <a:t>(“Pizza”);</a:t>
            </a:r>
          </a:p>
          <a:p>
            <a:r>
              <a:rPr lang="en-US" dirty="0" err="1"/>
              <a:t>set.add</a:t>
            </a:r>
            <a:r>
              <a:rPr lang="en-US" dirty="0"/>
              <a:t>(“Garlic bread”);</a:t>
            </a:r>
          </a:p>
          <a:p>
            <a:r>
              <a:rPr lang="en-US" dirty="0" err="1"/>
              <a:t>set.add</a:t>
            </a:r>
            <a:r>
              <a:rPr lang="en-US" dirty="0"/>
              <a:t>(“Garlic bread”);</a:t>
            </a:r>
          </a:p>
          <a:p>
            <a:r>
              <a:rPr lang="en-US" dirty="0" err="1"/>
              <a:t>set.delete</a:t>
            </a:r>
            <a:r>
              <a:rPr lang="en-US" dirty="0"/>
              <a:t>(“Pizza”);</a:t>
            </a:r>
          </a:p>
          <a:p>
            <a:endParaRPr lang="en-US" dirty="0"/>
          </a:p>
          <a:p>
            <a:r>
              <a:rPr lang="sr-Latn-RS" dirty="0"/>
              <a:t>Elementu seta se ne može pristupiti preko indeksa. Set uglavnom služi samo da proverimo da li se neki element nalazi u njemu ili ne.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2322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A962E7B-934E-60B2-4B79-60645D390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sr-Latn-RS" sz="2600" dirty="0"/>
              <a:t>Mape</a:t>
            </a:r>
            <a:endParaRPr lang="en-US" sz="2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95537C-A68D-3582-EABE-D0534C81EF5F}"/>
              </a:ext>
            </a:extLst>
          </p:cNvPr>
          <p:cNvSpPr txBox="1"/>
          <p:nvPr/>
        </p:nvSpPr>
        <p:spPr>
          <a:xfrm>
            <a:off x="1422894" y="2003699"/>
            <a:ext cx="968059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const rest = new Map();</a:t>
            </a:r>
          </a:p>
          <a:p>
            <a:endParaRPr lang="en-US" dirty="0"/>
          </a:p>
          <a:p>
            <a:r>
              <a:rPr lang="en-US" dirty="0" err="1"/>
              <a:t>rest.set</a:t>
            </a:r>
            <a:r>
              <a:rPr lang="en-US" dirty="0"/>
              <a:t>(1, ‘Firenze, Italy’);</a:t>
            </a:r>
          </a:p>
          <a:p>
            <a:r>
              <a:rPr lang="en-US" dirty="0" err="1"/>
              <a:t>rest.set</a:t>
            </a:r>
            <a:r>
              <a:rPr lang="en-US" dirty="0"/>
              <a:t>(2, ‘Rome, Italy’);</a:t>
            </a:r>
          </a:p>
          <a:p>
            <a:endParaRPr lang="en-US" dirty="0"/>
          </a:p>
          <a:p>
            <a:r>
              <a:rPr lang="en-US" dirty="0" err="1"/>
              <a:t>rest.get</a:t>
            </a:r>
            <a:r>
              <a:rPr lang="en-US" dirty="0"/>
              <a:t>(1);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9598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rismaticVTI">
  <a:themeElements>
    <a:clrScheme name="AnalogousFromDarkSeedLeftStep">
      <a:dk1>
        <a:srgbClr val="000000"/>
      </a:dk1>
      <a:lt1>
        <a:srgbClr val="FFFFFF"/>
      </a:lt1>
      <a:dk2>
        <a:srgbClr val="1D2A34"/>
      </a:dk2>
      <a:lt2>
        <a:srgbClr val="E2E4E8"/>
      </a:lt2>
      <a:accent1>
        <a:srgbClr val="C29B28"/>
      </a:accent1>
      <a:accent2>
        <a:srgbClr val="CF581D"/>
      </a:accent2>
      <a:accent3>
        <a:srgbClr val="E12F3E"/>
      </a:accent3>
      <a:accent4>
        <a:srgbClr val="CF1D76"/>
      </a:accent4>
      <a:accent5>
        <a:srgbClr val="E12FD2"/>
      </a:accent5>
      <a:accent6>
        <a:srgbClr val="931DCF"/>
      </a:accent6>
      <a:hlink>
        <a:srgbClr val="BF3F9F"/>
      </a:hlink>
      <a:folHlink>
        <a:srgbClr val="7F7F7F"/>
      </a:folHlink>
    </a:clrScheme>
    <a:fontScheme name="Custom 166">
      <a:majorFont>
        <a:latin typeface="Aharon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ismaticVTI" id="{DA44D624-A564-4DE8-8446-0CD5C485C979}" vid="{8B2B1550-B69C-4156-BAEC-B2E559F94BD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9531</TotalTime>
  <Words>1369</Words>
  <Application>Microsoft Office PowerPoint</Application>
  <PresentationFormat>Widescreen</PresentationFormat>
  <Paragraphs>285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Aharoni</vt:lpstr>
      <vt:lpstr>Arial</vt:lpstr>
      <vt:lpstr>Avenir Next LT Pro</vt:lpstr>
      <vt:lpstr>Consolas</vt:lpstr>
      <vt:lpstr>PrismaticVTI</vt:lpstr>
      <vt:lpstr>JavaScript</vt:lpstr>
      <vt:lpstr>Funkcije</vt:lpstr>
      <vt:lpstr>Funkcije</vt:lpstr>
      <vt:lpstr>Declaration vs Expression</vt:lpstr>
      <vt:lpstr>Arrow functions</vt:lpstr>
      <vt:lpstr>Scope koncept</vt:lpstr>
      <vt:lpstr>Global scope               Function scope                Block scope (ES6)</vt:lpstr>
      <vt:lpstr>PowerPoint Presentation</vt:lpstr>
      <vt:lpstr>PowerPoint Presentation</vt:lpstr>
      <vt:lpstr>Default parameters</vt:lpstr>
      <vt:lpstr>First-Class, High-Order funkcije</vt:lpstr>
      <vt:lpstr>High-Order funkcije</vt:lpstr>
      <vt:lpstr>Call, apply, bind</vt:lpstr>
      <vt:lpstr>Funkcije koje se izvršavaju samo jednom</vt:lpstr>
      <vt:lpstr>Closure</vt:lpstr>
      <vt:lpstr>Destrukturiranje nizova</vt:lpstr>
      <vt:lpstr>Destrukturiranje objekata</vt:lpstr>
      <vt:lpstr>Spread operator</vt:lpstr>
      <vt:lpstr>Rest pattern</vt:lpstr>
      <vt:lpstr>Short circuiting (AND OR)</vt:lpstr>
      <vt:lpstr>Nullish Coalescing Operator (ES2020)</vt:lpstr>
      <vt:lpstr>Logical assignment operators (ES2021)</vt:lpstr>
      <vt:lpstr>For-of loop</vt:lpstr>
      <vt:lpstr>Iteriranje po objektu</vt:lpstr>
      <vt:lpstr>Setovi</vt:lpstr>
      <vt:lpstr>Mape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</dc:title>
  <dc:creator>Luka Doric</dc:creator>
  <cp:lastModifiedBy>Luka Doric</cp:lastModifiedBy>
  <cp:revision>140</cp:revision>
  <dcterms:created xsi:type="dcterms:W3CDTF">2022-08-08T12:25:14Z</dcterms:created>
  <dcterms:modified xsi:type="dcterms:W3CDTF">2024-10-21T11:56:27Z</dcterms:modified>
</cp:coreProperties>
</file>